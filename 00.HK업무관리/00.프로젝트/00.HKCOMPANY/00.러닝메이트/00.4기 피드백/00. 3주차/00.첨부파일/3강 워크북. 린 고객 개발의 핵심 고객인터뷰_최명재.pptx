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3" r:id="rId7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8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2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680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883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3CA17C-BD34-AFF9-78CF-53B3DF07B6C5}"/>
              </a:ext>
            </a:extLst>
          </p:cNvPr>
          <p:cNvSpPr txBox="1"/>
          <p:nvPr/>
        </p:nvSpPr>
        <p:spPr>
          <a:xfrm>
            <a:off x="3752602" y="2505694"/>
            <a:ext cx="1053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출장 프로세스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08A68-E16A-892B-D6F7-6DB776F416DA}"/>
              </a:ext>
            </a:extLst>
          </p:cNvPr>
          <p:cNvSpPr txBox="1"/>
          <p:nvPr/>
        </p:nvSpPr>
        <p:spPr>
          <a:xfrm>
            <a:off x="3752602" y="3800104"/>
            <a:ext cx="1005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각 기업별 출장 프로세스를 확인하기 위해 진행한다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23177-DCD1-AD5A-8B69-CC91599F27C0}"/>
              </a:ext>
            </a:extLst>
          </p:cNvPr>
          <p:cNvSpPr txBox="1"/>
          <p:nvPr/>
        </p:nvSpPr>
        <p:spPr>
          <a:xfrm>
            <a:off x="3859481" y="5593278"/>
            <a:ext cx="6578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현재 직장을 다니고 있는 직장인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61D87B-D799-F018-9259-367EA41026D0}"/>
              </a:ext>
            </a:extLst>
          </p:cNvPr>
          <p:cNvSpPr txBox="1"/>
          <p:nvPr/>
        </p:nvSpPr>
        <p:spPr>
          <a:xfrm>
            <a:off x="3859481" y="7422078"/>
            <a:ext cx="590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비대면으로 진행한다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5C4272-2A82-CF22-5D2D-A0C1BAC82989}"/>
              </a:ext>
            </a:extLst>
          </p:cNvPr>
          <p:cNvSpPr txBox="1"/>
          <p:nvPr/>
        </p:nvSpPr>
        <p:spPr>
          <a:xfrm>
            <a:off x="3847605" y="2683823"/>
            <a:ext cx="8657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IPO</a:t>
            </a:r>
            <a:r>
              <a:rPr kumimoji="1" lang="ko-KR" altLang="en-US" dirty="0"/>
              <a:t> 기업 회계 직원</a:t>
            </a:r>
            <a:endParaRPr kumimoji="1" lang="en-US" altLang="ko-KR" dirty="0"/>
          </a:p>
          <a:p>
            <a:r>
              <a:rPr kumimoji="1" lang="ko-KR" altLang="en-US" dirty="0"/>
              <a:t>출장 경험이 있는 직원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78926-820A-9C9B-F96F-D7B274AB08B7}"/>
              </a:ext>
            </a:extLst>
          </p:cNvPr>
          <p:cNvSpPr txBox="1"/>
          <p:nvPr/>
        </p:nvSpPr>
        <p:spPr>
          <a:xfrm>
            <a:off x="3847605" y="5676405"/>
            <a:ext cx="8918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출장 전 이동수단 및 숙박 예약을 어떻게 진행하는가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예약을 진행한 후 어떻게 보고를 올리는가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보고를 올리는 과정까지 소요시간이 얼마나 걸리는가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출장 중 영수증 처리는 어떻게 진행하는가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AI</a:t>
            </a:r>
            <a:r>
              <a:rPr kumimoji="1" lang="ko-KR" altLang="en-US" dirty="0"/>
              <a:t>가 이 과정을 자동화 해준다면 사용할 의향이 있는가</a:t>
            </a:r>
            <a:r>
              <a:rPr kumimoji="1" lang="en-US" altLang="ko-KR" dirty="0"/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7F6EFC-4002-54BE-9AAE-EA7D6C32F527}"/>
              </a:ext>
            </a:extLst>
          </p:cNvPr>
          <p:cNvSpPr txBox="1"/>
          <p:nvPr/>
        </p:nvSpPr>
        <p:spPr>
          <a:xfrm>
            <a:off x="3705101" y="1460665"/>
            <a:ext cx="7778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25.05.01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25.05.02/</a:t>
            </a:r>
            <a:r>
              <a:rPr kumimoji="1" lang="ko-KR" altLang="en-US" dirty="0"/>
              <a:t> </a:t>
            </a:r>
            <a:r>
              <a:rPr kumimoji="1" lang="en-US" altLang="ko-KR" dirty="0"/>
              <a:t>10</a:t>
            </a:r>
            <a:r>
              <a:rPr kumimoji="1" lang="ko-KR" altLang="en-US" dirty="0"/>
              <a:t>명</a:t>
            </a:r>
            <a:r>
              <a:rPr kumimoji="1" lang="en-US" altLang="ko-KR" dirty="0"/>
              <a:t>/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비대면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07B76-55FF-402B-37E7-AA49EDD3FFDB}"/>
              </a:ext>
            </a:extLst>
          </p:cNvPr>
          <p:cNvSpPr txBox="1"/>
          <p:nvPr/>
        </p:nvSpPr>
        <p:spPr>
          <a:xfrm>
            <a:off x="3657600" y="2375065"/>
            <a:ext cx="711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출장 준비 과정에서 시간이 오래 걸릴 것이다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8C90B-CDDB-2AAF-0D95-61AC533F4F0D}"/>
              </a:ext>
            </a:extLst>
          </p:cNvPr>
          <p:cNvSpPr txBox="1"/>
          <p:nvPr/>
        </p:nvSpPr>
        <p:spPr>
          <a:xfrm>
            <a:off x="5308270" y="3467595"/>
            <a:ext cx="75052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ko-KR" altLang="en-US" b="0" i="0" dirty="0">
                <a:effectLst/>
                <a:latin typeface="fkGroteskNeue"/>
              </a:rPr>
              <a:t>고객</a:t>
            </a:r>
            <a:r>
              <a:rPr lang="en-US" altLang="ko-KR" b="0" i="0" dirty="0">
                <a:effectLst/>
                <a:latin typeface="fkGroteskNeue"/>
              </a:rPr>
              <a:t>(</a:t>
            </a:r>
            <a:r>
              <a:rPr lang="ko-KR" altLang="en-US" b="0" i="0" dirty="0">
                <a:effectLst/>
                <a:latin typeface="fkGroteskNeue"/>
              </a:rPr>
              <a:t>기업</a:t>
            </a:r>
            <a:r>
              <a:rPr lang="en-US" altLang="ko-KR" b="0" i="0" dirty="0">
                <a:effectLst/>
                <a:latin typeface="fkGroteskNeue"/>
              </a:rPr>
              <a:t>)</a:t>
            </a:r>
            <a:r>
              <a:rPr lang="ko-KR" altLang="en-US" b="0" i="0" dirty="0">
                <a:effectLst/>
                <a:latin typeface="fkGroteskNeue"/>
              </a:rPr>
              <a:t>은 출장 예약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경비 정산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영수증 관리 등 전 과정을 자동화하면 </a:t>
            </a:r>
            <a:r>
              <a:rPr lang="en-US" altLang="ko-KR" b="0" i="0" dirty="0">
                <a:effectLst/>
                <a:latin typeface="fkGroteskNeue"/>
              </a:rPr>
              <a:t>50% </a:t>
            </a:r>
            <a:r>
              <a:rPr lang="ko-KR" altLang="en-US" b="0" i="0" dirty="0">
                <a:effectLst/>
                <a:latin typeface="fkGroteskNeue"/>
              </a:rPr>
              <a:t>이상의 관리 비용과 시간을 절감할 수 있다</a:t>
            </a:r>
            <a:r>
              <a:rPr lang="en-US" altLang="ko-KR" b="0" i="0" dirty="0">
                <a:effectLst/>
                <a:latin typeface="fkGroteskNeue"/>
              </a:rPr>
              <a:t>.(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Myungjo" pitchFamily="2" charset="-127"/>
                <a:ea typeface="AppleMyungjo" pitchFamily="2" charset="-127"/>
              </a:rPr>
              <a:t>△</a:t>
            </a:r>
            <a:r>
              <a:rPr lang="en-US" altLang="ko-KR" dirty="0">
                <a:solidFill>
                  <a:srgbClr val="000000"/>
                </a:solidFill>
                <a:effectLst/>
                <a:latin typeface="AppleMyungjo" pitchFamily="2" charset="-127"/>
                <a:ea typeface="AppleMyungjo" pitchFamily="2" charset="-127"/>
              </a:rPr>
              <a:t>)</a:t>
            </a:r>
            <a:endParaRPr lang="en-US" altLang="ko-KR" b="0" i="0" dirty="0">
              <a:effectLst/>
              <a:latin typeface="fkGroteskNeue"/>
            </a:endParaRPr>
          </a:p>
          <a:p>
            <a:pPr marL="342900" indent="-342900">
              <a:buFontTx/>
              <a:buAutoNum type="arabicPeriod"/>
            </a:pPr>
            <a:r>
              <a:rPr lang="ko-KR" altLang="en-US" b="0" i="0" dirty="0">
                <a:effectLst/>
                <a:latin typeface="fkGroteskNeue"/>
              </a:rPr>
              <a:t>출장자의 </a:t>
            </a:r>
            <a:r>
              <a:rPr lang="en-US" altLang="ko-KR" b="0" i="0" dirty="0">
                <a:effectLst/>
                <a:latin typeface="fkGroteskNeue"/>
              </a:rPr>
              <a:t>80% </a:t>
            </a:r>
            <a:r>
              <a:rPr lang="ko-KR" altLang="en-US" b="0" i="0" dirty="0">
                <a:effectLst/>
                <a:latin typeface="fkGroteskNeue"/>
              </a:rPr>
              <a:t>이상이 모바일 기반 영수증 업로드 및 자동 정리 기능을 선호할 것이다</a:t>
            </a:r>
            <a:r>
              <a:rPr lang="en-US" altLang="ko-KR" b="0" i="0" dirty="0">
                <a:effectLst/>
                <a:latin typeface="fkGroteskNeue"/>
              </a:rPr>
              <a:t>. (</a:t>
            </a:r>
            <a:r>
              <a:rPr lang="en-US" altLang="ko-KR" b="0" i="0" dirty="0">
                <a:solidFill>
                  <a:srgbClr val="000000"/>
                </a:solidFill>
                <a:latin typeface="AppleMyungjo" pitchFamily="2" charset="-127"/>
                <a:ea typeface="AppleMyungjo" pitchFamily="2" charset="-127"/>
              </a:rPr>
              <a:t>O</a:t>
            </a:r>
            <a:r>
              <a:rPr lang="en-US" altLang="ko-KR" dirty="0">
                <a:solidFill>
                  <a:srgbClr val="000000"/>
                </a:solidFill>
                <a:effectLst/>
                <a:latin typeface="AppleMyungjo" pitchFamily="2" charset="-127"/>
                <a:ea typeface="AppleMyungjo" pitchFamily="2" charset="-127"/>
              </a:rPr>
              <a:t>)</a:t>
            </a:r>
            <a:endParaRPr kumimoji="1" lang="en-US" altLang="ko-KR" dirty="0">
              <a:solidFill>
                <a:srgbClr val="000000"/>
              </a:solidFill>
              <a:latin typeface="fkGroteskNeue"/>
              <a:ea typeface="AppleMyungjo" pitchFamily="2" charset="-127"/>
            </a:endParaRPr>
          </a:p>
          <a:p>
            <a:pPr marL="342900" indent="-342900">
              <a:buFontTx/>
              <a:buAutoNum type="arabicPeriod"/>
            </a:pPr>
            <a:r>
              <a:rPr lang="ko-KR" altLang="en-US" b="0" i="0" dirty="0">
                <a:effectLst/>
                <a:latin typeface="fkGroteskNeue"/>
              </a:rPr>
              <a:t>출장 자동화 서비스를 도입한 기업의 </a:t>
            </a:r>
            <a:r>
              <a:rPr lang="en-US" altLang="ko-KR" b="0" i="0" dirty="0">
                <a:effectLst/>
                <a:latin typeface="fkGroteskNeue"/>
              </a:rPr>
              <a:t>70% </a:t>
            </a:r>
            <a:r>
              <a:rPr lang="ko-KR" altLang="en-US" b="0" i="0" dirty="0">
                <a:effectLst/>
                <a:latin typeface="fkGroteskNeue"/>
              </a:rPr>
              <a:t>이상이 서비스 도입 후 </a:t>
            </a:r>
            <a:r>
              <a:rPr lang="en-US" altLang="ko-KR" b="0" i="0" dirty="0">
                <a:effectLst/>
                <a:latin typeface="fkGroteskNeue"/>
              </a:rPr>
              <a:t>3</a:t>
            </a:r>
            <a:r>
              <a:rPr lang="ko-KR" altLang="en-US" b="0" i="0" dirty="0">
                <a:effectLst/>
                <a:latin typeface="fkGroteskNeue"/>
              </a:rPr>
              <a:t>개월 이내에 재계약 의사를 보일 것이다</a:t>
            </a:r>
            <a:r>
              <a:rPr lang="en-US" altLang="ko-KR" b="0" i="0" dirty="0">
                <a:effectLst/>
                <a:latin typeface="fkGroteskNeue"/>
              </a:rPr>
              <a:t>. (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Myungjo" pitchFamily="2" charset="-127"/>
                <a:ea typeface="AppleMyungjo" pitchFamily="2" charset="-127"/>
              </a:rPr>
              <a:t>△</a:t>
            </a:r>
            <a:r>
              <a:rPr lang="en-US" altLang="ko-KR" dirty="0">
                <a:solidFill>
                  <a:srgbClr val="000000"/>
                </a:solidFill>
                <a:effectLst/>
                <a:latin typeface="AppleMyungjo" pitchFamily="2" charset="-127"/>
                <a:ea typeface="AppleMyungjo" pitchFamily="2" charset="-127"/>
              </a:rPr>
              <a:t>)</a:t>
            </a:r>
            <a:endParaRPr kumimoji="1" lang="ko-KR" altLang="en-US" dirty="0"/>
          </a:p>
          <a:p>
            <a:pPr marL="342900" indent="-342900">
              <a:buFontTx/>
              <a:buAutoNum type="arabicPeriod"/>
            </a:pPr>
            <a:endParaRPr kumimoji="1" lang="ko-KR" altLang="en-US" dirty="0"/>
          </a:p>
          <a:p>
            <a:pPr marL="342900" indent="-342900">
              <a:buAutoNum type="arabicPeriod"/>
            </a:pP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02387-3192-C25C-2FD1-E01744C7BB6A}"/>
              </a:ext>
            </a:extLst>
          </p:cNvPr>
          <p:cNvSpPr txBox="1"/>
          <p:nvPr/>
        </p:nvSpPr>
        <p:spPr>
          <a:xfrm>
            <a:off x="3942608" y="6056416"/>
            <a:ext cx="55576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/>
              <a:t>대기업은 출장 관리 부서가 따로 있어서 출장자는 아무 서류를 작성하지 않아도 되는 곳이 있다</a:t>
            </a:r>
            <a:r>
              <a:rPr kumimoji="1"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kumimoji="1" lang="en-US" altLang="ko-KR" dirty="0"/>
              <a:t>10</a:t>
            </a:r>
            <a:r>
              <a:rPr kumimoji="1" lang="ko-KR" altLang="en-US" dirty="0"/>
              <a:t>명을 인터뷰한 결과 </a:t>
            </a:r>
            <a:r>
              <a:rPr kumimoji="1" lang="en-US" altLang="ko-KR" dirty="0"/>
              <a:t>10</a:t>
            </a:r>
            <a:r>
              <a:rPr kumimoji="1" lang="ko-KR" altLang="en-US" dirty="0"/>
              <a:t> 명 모두 다른 워크 스페이스를 사용한다</a:t>
            </a:r>
            <a:r>
              <a:rPr kumimoji="1"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kumimoji="1" lang="ko-KR" altLang="en-US" dirty="0"/>
              <a:t>자동화 선호도가 매우 높았다</a:t>
            </a:r>
            <a:r>
              <a:rPr kumimoji="1" lang="en-US" altLang="ko-KR" dirty="0"/>
              <a:t>.(90%)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944DB0-4176-A2FD-8221-AFFE88A79580}"/>
              </a:ext>
            </a:extLst>
          </p:cNvPr>
          <p:cNvSpPr txBox="1"/>
          <p:nvPr/>
        </p:nvSpPr>
        <p:spPr>
          <a:xfrm>
            <a:off x="10402784" y="5937543"/>
            <a:ext cx="5510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 err="1"/>
              <a:t>스타트업을</a:t>
            </a:r>
            <a:r>
              <a:rPr kumimoji="1" lang="ko-KR" altLang="en-US" dirty="0"/>
              <a:t> 대상으로 </a:t>
            </a:r>
            <a:r>
              <a:rPr kumimoji="1" lang="ko-KR" altLang="en-US" dirty="0" err="1"/>
              <a:t>슬랙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노션</a:t>
            </a:r>
            <a:r>
              <a:rPr kumimoji="1" lang="en-US" altLang="ko-KR" dirty="0"/>
              <a:t>,</a:t>
            </a:r>
            <a:r>
              <a:rPr kumimoji="1" lang="ko-KR" altLang="en-US" dirty="0"/>
              <a:t> 지라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가지 워크스페이스로 줄인다</a:t>
            </a:r>
            <a:r>
              <a:rPr kumimoji="1"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kumimoji="1" lang="ko-KR" altLang="en-US" dirty="0"/>
              <a:t>완전 자동화 기능 선호도가 높은 만큼 정확성의 중요도가 올라간다</a:t>
            </a:r>
            <a:r>
              <a:rPr kumimoji="1" lang="en-US" altLang="ko-KR"/>
              <a:t>.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217</Words>
  <Application>Microsoft Macintosh PowerPoint</Application>
  <PresentationFormat>사용자 지정</PresentationFormat>
  <Paragraphs>23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AppleMyungjo</vt:lpstr>
      <vt:lpstr>fkGroteskNeue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최명재</cp:lastModifiedBy>
  <cp:revision>2</cp:revision>
  <dcterms:created xsi:type="dcterms:W3CDTF">2025-04-24T06:43:19Z</dcterms:created>
  <dcterms:modified xsi:type="dcterms:W3CDTF">2025-05-02T05:48:05Z</dcterms:modified>
</cp:coreProperties>
</file>