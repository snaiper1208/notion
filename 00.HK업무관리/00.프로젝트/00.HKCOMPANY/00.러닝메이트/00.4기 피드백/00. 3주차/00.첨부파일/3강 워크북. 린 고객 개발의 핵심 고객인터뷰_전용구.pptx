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39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64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885179-C3E7-CB71-FC0A-74EA147E9622}"/>
              </a:ext>
            </a:extLst>
          </p:cNvPr>
          <p:cNvSpPr txBox="1"/>
          <p:nvPr/>
        </p:nvSpPr>
        <p:spPr>
          <a:xfrm>
            <a:off x="3699932" y="3415664"/>
            <a:ext cx="9889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소비자는 </a:t>
            </a:r>
            <a:r>
              <a:rPr lang="ko-KR" altLang="en-US" b="1" dirty="0"/>
              <a:t>기상 직후 스마트폰 콘텐츠 소비를 루틴 지연의 문제로 인식하고 있는지 탐색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그 행동이 감정적 비용</a:t>
            </a:r>
            <a:r>
              <a:rPr lang="en-US" altLang="ko-KR" dirty="0"/>
              <a:t>(</a:t>
            </a:r>
            <a:r>
              <a:rPr lang="ko-KR" altLang="en-US" dirty="0"/>
              <a:t>후회</a:t>
            </a:r>
            <a:r>
              <a:rPr lang="en-US" altLang="ko-KR" dirty="0"/>
              <a:t>, </a:t>
            </a:r>
            <a:r>
              <a:rPr lang="ko-KR" altLang="en-US" dirty="0"/>
              <a:t>무기력</a:t>
            </a:r>
            <a:r>
              <a:rPr lang="en-US" altLang="ko-KR" dirty="0"/>
              <a:t>)</a:t>
            </a:r>
            <a:r>
              <a:rPr lang="ko-KR" altLang="en-US" dirty="0"/>
              <a:t>이나 실질적 손해</a:t>
            </a:r>
            <a:r>
              <a:rPr lang="en-US" altLang="ko-KR" dirty="0"/>
              <a:t>(</a:t>
            </a:r>
            <a:r>
              <a:rPr lang="ko-KR" altLang="en-US" dirty="0"/>
              <a:t>지각</a:t>
            </a:r>
            <a:r>
              <a:rPr lang="en-US" altLang="ko-KR" dirty="0"/>
              <a:t>, </a:t>
            </a:r>
            <a:r>
              <a:rPr lang="ko-KR" altLang="en-US" dirty="0"/>
              <a:t>일정 지연 등</a:t>
            </a:r>
            <a:r>
              <a:rPr lang="en-US" altLang="ko-KR" dirty="0"/>
              <a:t>)</a:t>
            </a:r>
            <a:r>
              <a:rPr lang="ko-KR" altLang="en-US" dirty="0"/>
              <a:t>를 일으키는지 탐색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문제 해결을 위해 </a:t>
            </a:r>
            <a:r>
              <a:rPr lang="ko-KR" altLang="en-US" b="1" dirty="0"/>
              <a:t>기존에 어떤 행동을 했는지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앱</a:t>
            </a:r>
            <a:r>
              <a:rPr lang="en-US" altLang="ko-KR" dirty="0"/>
              <a:t>, </a:t>
            </a:r>
            <a:r>
              <a:rPr lang="ko-KR" altLang="en-US" dirty="0"/>
              <a:t>명상</a:t>
            </a:r>
            <a:r>
              <a:rPr lang="en-US" altLang="ko-KR" dirty="0"/>
              <a:t>, </a:t>
            </a:r>
            <a:r>
              <a:rPr lang="ko-KR" altLang="en-US" dirty="0"/>
              <a:t>알람 등</a:t>
            </a:r>
            <a:r>
              <a:rPr lang="en-US" altLang="ko-KR" dirty="0"/>
              <a:t>) </a:t>
            </a:r>
            <a:r>
              <a:rPr lang="ko-KR" altLang="en-US" dirty="0"/>
              <a:t>탐색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그 시도들이 왜 실패했는지</a:t>
            </a:r>
            <a:r>
              <a:rPr lang="en-US" altLang="ko-KR" dirty="0"/>
              <a:t>, </a:t>
            </a:r>
            <a:r>
              <a:rPr lang="ko-KR" altLang="en-US" b="1" dirty="0"/>
              <a:t>불만족 지점은 어디였는지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 돈을 쓰거나 시간</a:t>
            </a:r>
            <a:r>
              <a:rPr lang="en-US" altLang="ko-KR" b="1" dirty="0"/>
              <a:t>/</a:t>
            </a:r>
            <a:r>
              <a:rPr lang="ko-KR" altLang="en-US" b="1" dirty="0"/>
              <a:t>행동을 투자한 적이 있는지</a:t>
            </a:r>
            <a:r>
              <a:rPr lang="ko-KR" altLang="en-US" dirty="0"/>
              <a:t> 여부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6378-5334-9A56-49B9-A23BE9F64B55}"/>
              </a:ext>
            </a:extLst>
          </p:cNvPr>
          <p:cNvSpPr txBox="1"/>
          <p:nvPr/>
        </p:nvSpPr>
        <p:spPr>
          <a:xfrm>
            <a:off x="3699932" y="5201389"/>
            <a:ext cx="9889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웨어러블 디바이스에 익숙하고 자기관리 의지가 있는 </a:t>
            </a:r>
            <a:r>
              <a:rPr lang="en-US" altLang="ko-KR" dirty="0"/>
              <a:t>20~39</a:t>
            </a:r>
            <a:r>
              <a:rPr lang="ko-KR" altLang="en-US" dirty="0"/>
              <a:t>세 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en-US" dirty="0"/>
              <a:t>평일 아침 </a:t>
            </a:r>
            <a:r>
              <a:rPr lang="en-US" altLang="ko-KR" dirty="0"/>
              <a:t>7~9</a:t>
            </a:r>
            <a:r>
              <a:rPr lang="ko-KR" altLang="en-US" dirty="0"/>
              <a:t>시 사이 스마트폰 콘텐츠 소비 경험 보유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en-US" dirty="0"/>
              <a:t>기상 후 콘텐츠 소비로 인해 다음 루틴</a:t>
            </a:r>
            <a:r>
              <a:rPr lang="en-US" altLang="ko-KR" dirty="0"/>
              <a:t>(</a:t>
            </a:r>
            <a:r>
              <a:rPr lang="ko-KR" altLang="en-US" dirty="0"/>
              <a:t>출근</a:t>
            </a:r>
            <a:r>
              <a:rPr lang="en-US" altLang="ko-KR" dirty="0"/>
              <a:t>/</a:t>
            </a:r>
            <a:r>
              <a:rPr lang="ko-KR" altLang="en-US" dirty="0"/>
              <a:t>운동 등</a:t>
            </a:r>
            <a:r>
              <a:rPr lang="en-US" altLang="ko-KR" dirty="0"/>
              <a:t>)</a:t>
            </a:r>
            <a:r>
              <a:rPr lang="ko-KR" altLang="en-US" dirty="0"/>
              <a:t>이 미뤄진 경험 보유 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명상 앱</a:t>
            </a:r>
            <a:r>
              <a:rPr lang="en-US" altLang="ko-KR" dirty="0"/>
              <a:t>, </a:t>
            </a:r>
            <a:r>
              <a:rPr lang="ko-KR" altLang="en-US" dirty="0"/>
              <a:t>루틴 앱</a:t>
            </a:r>
            <a:r>
              <a:rPr lang="en-US" altLang="ko-KR" dirty="0"/>
              <a:t>, </a:t>
            </a:r>
            <a:r>
              <a:rPr lang="ko-KR" altLang="en-US" dirty="0"/>
              <a:t>알람 앱 등 사용 경험 보유 </a:t>
            </a:r>
            <a:r>
              <a:rPr lang="en-US" altLang="ko-KR" dirty="0"/>
              <a:t>(</a:t>
            </a:r>
            <a:r>
              <a:rPr lang="ko-KR" altLang="en-US" dirty="0"/>
              <a:t>그 외 독서</a:t>
            </a:r>
            <a:r>
              <a:rPr lang="en-US" altLang="ko-KR" dirty="0"/>
              <a:t>, </a:t>
            </a:r>
            <a:r>
              <a:rPr lang="ko-KR" altLang="en-US" dirty="0"/>
              <a:t>시간관리 서적 등 다양한 시도 경험 보유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65B8E-1A62-5622-8C88-DB16FA0AE9A3}"/>
              </a:ext>
            </a:extLst>
          </p:cNvPr>
          <p:cNvSpPr txBox="1"/>
          <p:nvPr/>
        </p:nvSpPr>
        <p:spPr>
          <a:xfrm>
            <a:off x="3699932" y="2542250"/>
            <a:ext cx="988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아침을 지배하는 습관 </a:t>
            </a:r>
            <a:r>
              <a:rPr lang="en-US" altLang="ko-KR" dirty="0"/>
              <a:t>: </a:t>
            </a:r>
            <a:r>
              <a:rPr lang="ko-KR" altLang="en-US" dirty="0"/>
              <a:t>기상 직후 스마트폰 사용이 하루에 미치는 영향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F3013-7418-2D57-7E4D-E1C59AFCB6DD}"/>
              </a:ext>
            </a:extLst>
          </p:cNvPr>
          <p:cNvSpPr txBox="1"/>
          <p:nvPr/>
        </p:nvSpPr>
        <p:spPr>
          <a:xfrm>
            <a:off x="3699932" y="7167349"/>
            <a:ext cx="9889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대면 </a:t>
            </a:r>
            <a:r>
              <a:rPr lang="en-US" altLang="ko-KR" dirty="0"/>
              <a:t>/ </a:t>
            </a:r>
            <a:r>
              <a:rPr lang="ko-KR" altLang="en-US" dirty="0"/>
              <a:t>통화로 진행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en-US" dirty="0"/>
              <a:t>질문지를 미리 만들어 </a:t>
            </a:r>
            <a:r>
              <a:rPr lang="en-US" altLang="ko-KR" dirty="0"/>
              <a:t>20~30</a:t>
            </a:r>
            <a:r>
              <a:rPr lang="ko-KR" altLang="en-US" dirty="0"/>
              <a:t>분 동안 심층 인터뷰 진행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5/2~5/3 </a:t>
            </a:r>
            <a:r>
              <a:rPr lang="ko-KR" altLang="en-US" dirty="0"/>
              <a:t>각 </a:t>
            </a:r>
            <a:r>
              <a:rPr lang="en-US" altLang="ko-KR" dirty="0"/>
              <a:t>1</a:t>
            </a:r>
            <a:r>
              <a:rPr lang="ko-KR" altLang="en-US" dirty="0"/>
              <a:t>명 씩 진행 예정</a:t>
            </a:r>
            <a:endParaRPr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2F962E-2308-0E82-0BEA-35B74CEF4A2F}"/>
              </a:ext>
            </a:extLst>
          </p:cNvPr>
          <p:cNvSpPr txBox="1"/>
          <p:nvPr/>
        </p:nvSpPr>
        <p:spPr>
          <a:xfrm>
            <a:off x="3699933" y="5201389"/>
            <a:ext cx="745066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 err="1"/>
              <a:t>아이스브레이킹</a:t>
            </a:r>
            <a:r>
              <a:rPr lang="en-US" altLang="ko-KR" sz="1600" dirty="0"/>
              <a:t>,</a:t>
            </a:r>
            <a:r>
              <a:rPr lang="ko-KR" altLang="en-US" sz="1600" dirty="0"/>
              <a:t> 콘텐츠 소비가 습관이자 자동반응인지 파악</a:t>
            </a: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요즘 평일 아침 루틴은 어떻게 시작되세요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보통 </a:t>
            </a:r>
            <a:r>
              <a:rPr lang="ko-KR" altLang="en-US" sz="1600" dirty="0" err="1"/>
              <a:t>몇시에</a:t>
            </a:r>
            <a:r>
              <a:rPr lang="ko-KR" altLang="en-US" sz="1600" dirty="0"/>
              <a:t> 일어나고 기상 직후에는 무엇을 하시나요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(</a:t>
            </a:r>
            <a:r>
              <a:rPr lang="ko-KR" altLang="en-US" sz="1600" dirty="0"/>
              <a:t>스마트폰 </a:t>
            </a:r>
            <a:r>
              <a:rPr lang="ko-KR" altLang="en-US" sz="1600" dirty="0" err="1"/>
              <a:t>언급시</a:t>
            </a:r>
            <a:r>
              <a:rPr lang="en-US" altLang="ko-KR" sz="1600" dirty="0"/>
              <a:t>) </a:t>
            </a:r>
            <a:r>
              <a:rPr lang="ko-KR" altLang="en-US" sz="1600" dirty="0"/>
              <a:t>어떤 앱이나 콘텐츠를 자주 보시나요</a:t>
            </a:r>
            <a:r>
              <a:rPr lang="en-US" altLang="ko-KR" sz="1600" dirty="0"/>
              <a:t>?</a:t>
            </a:r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문제 경험 탐색</a:t>
            </a: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기상 후 스마트폰을 사용할 때</a:t>
            </a:r>
            <a:r>
              <a:rPr lang="en-US" altLang="ko-KR" sz="1600" dirty="0"/>
              <a:t>, </a:t>
            </a:r>
            <a:r>
              <a:rPr lang="ko-KR" altLang="en-US" sz="1600" dirty="0"/>
              <a:t>다른 일정이 밀린 적이 있었나요</a:t>
            </a:r>
            <a:r>
              <a:rPr lang="en-US" altLang="ko-KR" sz="1600" dirty="0"/>
              <a:t>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그럴 때 어떤 감정이 </a:t>
            </a:r>
            <a:r>
              <a:rPr lang="ko-KR" altLang="en-US" sz="1600" dirty="0" err="1"/>
              <a:t>드셨나요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그 상황이 반복될 때 본인이 느끼는 감정이나 변화는 뭐였나요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이로 인해 일정이 밀리거나 지각한 경험이 </a:t>
            </a:r>
            <a:r>
              <a:rPr lang="ko-KR" altLang="en-US" sz="1600" dirty="0" err="1"/>
              <a:t>있으신가요</a:t>
            </a:r>
            <a:r>
              <a:rPr lang="en-US" altLang="ko-KR" sz="1600" dirty="0"/>
              <a:t>?</a:t>
            </a:r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기존 대안 탐색</a:t>
            </a: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아침 루틴을 개선하려고 시도해본 게 있으세요</a:t>
            </a:r>
            <a:r>
              <a:rPr lang="en-US" altLang="ko-KR" sz="1600" dirty="0"/>
              <a:t>? (</a:t>
            </a:r>
            <a:r>
              <a:rPr lang="ko-KR" altLang="en-US" sz="1600" dirty="0"/>
              <a:t>앱</a:t>
            </a:r>
            <a:r>
              <a:rPr lang="en-US" altLang="ko-KR" sz="1600" dirty="0"/>
              <a:t>, </a:t>
            </a:r>
            <a:r>
              <a:rPr lang="ko-KR" altLang="en-US" sz="1600" dirty="0"/>
              <a:t>알람</a:t>
            </a:r>
            <a:r>
              <a:rPr lang="en-US" altLang="ko-KR" sz="1600" dirty="0"/>
              <a:t>, </a:t>
            </a:r>
            <a:r>
              <a:rPr lang="ko-KR" altLang="en-US" sz="1600" dirty="0"/>
              <a:t>명상</a:t>
            </a:r>
            <a:r>
              <a:rPr lang="en-US" altLang="ko-KR" sz="1600" dirty="0"/>
              <a:t>, </a:t>
            </a:r>
            <a:r>
              <a:rPr lang="ko-KR" altLang="en-US" sz="1600" dirty="0"/>
              <a:t>책 등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어떤 앱이나 방법을 </a:t>
            </a:r>
            <a:r>
              <a:rPr lang="ko-KR" altLang="en-US" sz="1600" dirty="0" err="1"/>
              <a:t>써보셨나요</a:t>
            </a:r>
            <a:r>
              <a:rPr lang="en-US" altLang="ko-KR" sz="1600" dirty="0"/>
              <a:t>? </a:t>
            </a:r>
            <a:r>
              <a:rPr lang="ko-KR" altLang="en-US" sz="1600" dirty="0"/>
              <a:t>기억에 남는 게 </a:t>
            </a:r>
            <a:r>
              <a:rPr lang="ko-KR" altLang="en-US" sz="1600" dirty="0" err="1"/>
              <a:t>있다면요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그런 앱이나 방법을 </a:t>
            </a:r>
            <a:r>
              <a:rPr lang="ko-KR" altLang="en-US" sz="1600" dirty="0" err="1"/>
              <a:t>써보셨을</a:t>
            </a:r>
            <a:r>
              <a:rPr lang="ko-KR" altLang="en-US" sz="1600" dirty="0"/>
              <a:t> 때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점이 도움이 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점이 아쉬웠나요</a:t>
            </a:r>
            <a:r>
              <a:rPr lang="en-US" altLang="ko-KR" sz="16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43746-B755-5D5E-5A2E-CC8B492C5DB3}"/>
              </a:ext>
            </a:extLst>
          </p:cNvPr>
          <p:cNvSpPr txBox="1"/>
          <p:nvPr/>
        </p:nvSpPr>
        <p:spPr>
          <a:xfrm>
            <a:off x="11063188" y="4955167"/>
            <a:ext cx="72728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4. </a:t>
            </a:r>
            <a:r>
              <a:rPr lang="ko-KR" altLang="en-US" sz="1600" dirty="0"/>
              <a:t>행동 기반 검증 </a:t>
            </a:r>
            <a:r>
              <a:rPr lang="en-US" altLang="ko-KR" sz="1600" dirty="0"/>
              <a:t>/ </a:t>
            </a:r>
            <a:r>
              <a:rPr lang="ko-KR" altLang="en-US" sz="1600" dirty="0"/>
              <a:t>지불 경험</a:t>
            </a: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기상 직후 시간을 더 잘 활용하려고 돈이나 시간을 투자해보신 적이 </a:t>
            </a:r>
            <a:r>
              <a:rPr lang="ko-KR" altLang="en-US" sz="1600" dirty="0" err="1"/>
              <a:t>있으신가요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어떤 서비스나 콘텐츠에 실제로 지불해보신 적이 있다면 어떤 조건이었나요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반대로 그런 서비스에 대해 망설였던 이유는 어떤 것이었나요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이 문제를 주변 사람도 겪고 있다고 느끼신 적 있으세요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루틴 개선 관련해서 친구에게 추천하거나 이야기해본 적이 있으세요</a:t>
            </a:r>
            <a:r>
              <a:rPr lang="en-US" altLang="ko-KR" sz="1600" dirty="0"/>
              <a:t>?</a:t>
            </a:r>
          </a:p>
          <a:p>
            <a:r>
              <a:rPr lang="en-US" altLang="ko-KR" sz="1600" dirty="0"/>
              <a:t>5. </a:t>
            </a:r>
            <a:r>
              <a:rPr lang="ko-KR" altLang="en-US" sz="1600" dirty="0"/>
              <a:t>디바이스 수용성 </a:t>
            </a: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생각 전환을 위해 어떤 행동을 시도해보신 적 있으세요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 혹시 뇌파나 뇌 상태를 측정하는 웨어러블 기기를 </a:t>
            </a:r>
            <a:r>
              <a:rPr lang="ko-KR" altLang="en-US" sz="1600" dirty="0" err="1"/>
              <a:t>들어보셨거나</a:t>
            </a:r>
            <a:r>
              <a:rPr lang="ko-KR" altLang="en-US" sz="1600" dirty="0"/>
              <a:t> 사용해본 적 </a:t>
            </a:r>
            <a:r>
              <a:rPr lang="ko-KR" altLang="en-US" sz="1600" dirty="0" err="1"/>
              <a:t>있으신가요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/>
              <a:t>머리에 가볍게 쓰는 장치를 아침에 착용해야 한다면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점이 가장 불편하거나 걱정되실 것 </a:t>
            </a:r>
            <a:r>
              <a:rPr lang="ko-KR" altLang="en-US" sz="1600" dirty="0" err="1"/>
              <a:t>같으세요</a:t>
            </a:r>
            <a:r>
              <a:rPr lang="en-US" altLang="ko-KR" sz="1600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이런 기기를 포함해서 월 </a:t>
            </a:r>
            <a:r>
              <a:rPr lang="en-US" altLang="ko-KR" sz="1600" dirty="0"/>
              <a:t>11,000</a:t>
            </a:r>
            <a:r>
              <a:rPr lang="ko-KR" altLang="en-US" sz="1600" dirty="0"/>
              <a:t>원에 </a:t>
            </a:r>
            <a:r>
              <a:rPr lang="en-US" altLang="ko-KR" sz="1600" dirty="0"/>
              <a:t>24</a:t>
            </a:r>
            <a:r>
              <a:rPr lang="ko-KR" altLang="en-US" sz="1600" dirty="0"/>
              <a:t>개월 약정으로 제공된다고 하면</a:t>
            </a:r>
            <a:r>
              <a:rPr lang="en-US" altLang="ko-KR" sz="1600" dirty="0"/>
              <a:t>, </a:t>
            </a:r>
            <a:r>
              <a:rPr lang="ko-KR" altLang="en-US" sz="1600" dirty="0"/>
              <a:t>가격</a:t>
            </a:r>
            <a:r>
              <a:rPr lang="en-US" altLang="ko-KR" sz="1600" dirty="0"/>
              <a:t>, </a:t>
            </a:r>
            <a:r>
              <a:rPr lang="ko-KR" altLang="en-US" sz="1600" dirty="0"/>
              <a:t>약정 기간</a:t>
            </a:r>
            <a:r>
              <a:rPr lang="en-US" altLang="ko-KR" sz="1600" dirty="0"/>
              <a:t>, </a:t>
            </a:r>
            <a:r>
              <a:rPr lang="ko-KR" altLang="en-US" sz="1600" dirty="0"/>
              <a:t>기기 착용 등 중 어떤 부분이 가장 </a:t>
            </a:r>
            <a:r>
              <a:rPr lang="ko-KR" altLang="en-US" sz="1600" dirty="0" err="1"/>
              <a:t>고민되실까요</a:t>
            </a:r>
            <a:r>
              <a:rPr lang="en-US" altLang="ko-KR" sz="1600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D504C-B7E9-3FAE-EB48-1D37FE8965CA}"/>
              </a:ext>
            </a:extLst>
          </p:cNvPr>
          <p:cNvSpPr txBox="1"/>
          <p:nvPr/>
        </p:nvSpPr>
        <p:spPr>
          <a:xfrm>
            <a:off x="3539643" y="2296143"/>
            <a:ext cx="130121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나이 </a:t>
            </a:r>
            <a:r>
              <a:rPr lang="en-US" altLang="ko-KR" sz="1600" dirty="0"/>
              <a:t>: 30</a:t>
            </a:r>
            <a:r>
              <a:rPr lang="ko-KR" altLang="en-US" sz="1600" dirty="0"/>
              <a:t>대 초반 여성 </a:t>
            </a:r>
            <a:r>
              <a:rPr lang="en-US" altLang="ko-KR" sz="1600" dirty="0"/>
              <a:t>/ 20</a:t>
            </a:r>
            <a:r>
              <a:rPr lang="ko-KR" altLang="en-US" sz="1600" dirty="0"/>
              <a:t>대 후반 남성</a:t>
            </a:r>
            <a:endParaRPr lang="en-US" altLang="ko-KR" sz="1600" dirty="0"/>
          </a:p>
          <a:p>
            <a:r>
              <a:rPr lang="ko-KR" altLang="en-US" sz="1600" dirty="0"/>
              <a:t>직업 </a:t>
            </a:r>
            <a:r>
              <a:rPr lang="en-US" altLang="ko-KR" sz="1600" dirty="0"/>
              <a:t>: </a:t>
            </a:r>
            <a:r>
              <a:rPr lang="ko-KR" altLang="en-US" sz="1600" dirty="0"/>
              <a:t>사업운영 </a:t>
            </a:r>
            <a:r>
              <a:rPr lang="en-US" altLang="ko-KR" sz="1600" dirty="0"/>
              <a:t>/ </a:t>
            </a:r>
            <a:r>
              <a:rPr lang="ko-KR" altLang="en-US" sz="1600" dirty="0"/>
              <a:t>개발자</a:t>
            </a:r>
            <a:endParaRPr lang="en-US" altLang="ko-KR" sz="1600" dirty="0"/>
          </a:p>
          <a:p>
            <a:r>
              <a:rPr lang="ko-KR" altLang="en-US" sz="1600" dirty="0"/>
              <a:t>주 사용 서비스 </a:t>
            </a:r>
            <a:r>
              <a:rPr lang="en-US" altLang="ko-KR" sz="1600" dirty="0"/>
              <a:t>: </a:t>
            </a:r>
            <a:r>
              <a:rPr lang="ko-KR" altLang="en-US" sz="1600" dirty="0"/>
              <a:t>유튜브</a:t>
            </a:r>
            <a:r>
              <a:rPr lang="en-US" altLang="ko-KR" sz="1600" dirty="0"/>
              <a:t>, </a:t>
            </a:r>
            <a:r>
              <a:rPr lang="ko-KR" altLang="en-US" sz="1600" dirty="0"/>
              <a:t>웹툰</a:t>
            </a:r>
            <a:r>
              <a:rPr lang="en-US" altLang="ko-KR" sz="1600" dirty="0"/>
              <a:t>, </a:t>
            </a:r>
            <a:r>
              <a:rPr lang="ko-KR" altLang="en-US" sz="1600" dirty="0"/>
              <a:t>블로그 등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행동 패턴 </a:t>
            </a:r>
            <a:r>
              <a:rPr lang="en-US" altLang="ko-KR" sz="1600" dirty="0"/>
              <a:t>: </a:t>
            </a:r>
          </a:p>
          <a:p>
            <a:r>
              <a:rPr lang="en-US" altLang="ko-KR" sz="1600" dirty="0"/>
              <a:t>   -  </a:t>
            </a:r>
            <a:r>
              <a:rPr lang="ko-KR" altLang="en-US" sz="1600" dirty="0"/>
              <a:t>아침 기상 후 즉시 스마트폰 확인 </a:t>
            </a:r>
            <a:r>
              <a:rPr lang="en-US" altLang="ko-KR" sz="1600" dirty="0"/>
              <a:t>-&gt; </a:t>
            </a:r>
            <a:r>
              <a:rPr lang="ko-KR" altLang="en-US" sz="1600" dirty="0"/>
              <a:t>유튜브</a:t>
            </a:r>
            <a:r>
              <a:rPr lang="en-US" altLang="ko-KR" sz="1600" dirty="0"/>
              <a:t>, </a:t>
            </a:r>
            <a:r>
              <a:rPr lang="ko-KR" altLang="en-US" sz="1600" dirty="0"/>
              <a:t>웹툰</a:t>
            </a:r>
            <a:r>
              <a:rPr lang="en-US" altLang="ko-KR" sz="1600" dirty="0"/>
              <a:t>, </a:t>
            </a:r>
            <a:r>
              <a:rPr lang="ko-KR" altLang="en-US" sz="1600" dirty="0"/>
              <a:t>블로그 진입</a:t>
            </a:r>
            <a:endParaRPr lang="en-US" altLang="ko-KR" sz="1600" dirty="0"/>
          </a:p>
          <a:p>
            <a:r>
              <a:rPr lang="en-US" altLang="ko-KR" sz="1600" dirty="0"/>
              <a:t>   - </a:t>
            </a:r>
            <a:r>
              <a:rPr lang="ko-KR" altLang="en-US" sz="1600" dirty="0"/>
              <a:t>알람 미션</a:t>
            </a:r>
            <a:r>
              <a:rPr lang="en-US" altLang="ko-KR" sz="1600" dirty="0"/>
              <a:t>, </a:t>
            </a:r>
            <a:r>
              <a:rPr lang="ko-KR" altLang="en-US" sz="1600" dirty="0"/>
              <a:t>단어 게임</a:t>
            </a:r>
            <a:r>
              <a:rPr lang="en-US" altLang="ko-KR" sz="1600" dirty="0"/>
              <a:t>, </a:t>
            </a:r>
            <a:r>
              <a:rPr lang="ko-KR" altLang="en-US" sz="1600" dirty="0"/>
              <a:t>밴드 인증</a:t>
            </a:r>
            <a:r>
              <a:rPr lang="en-US" altLang="ko-KR" sz="1600" dirty="0"/>
              <a:t> </a:t>
            </a:r>
            <a:r>
              <a:rPr lang="ko-KR" altLang="en-US" sz="1600" dirty="0"/>
              <a:t>등 다양한 루틴 도구 써본 경험 있음 하지만 지속 실패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심리적 특성 </a:t>
            </a:r>
            <a:r>
              <a:rPr lang="en-US" altLang="ko-KR" sz="1600" dirty="0"/>
              <a:t>: </a:t>
            </a:r>
          </a:p>
          <a:p>
            <a:r>
              <a:rPr lang="en-US" altLang="ko-KR" sz="1600" dirty="0"/>
              <a:t>  - </a:t>
            </a:r>
            <a:r>
              <a:rPr lang="ko-KR" altLang="en-US" sz="1600" dirty="0"/>
              <a:t>늘 더 잘 살고 싶다는 욕구를 가짐</a:t>
            </a:r>
            <a:r>
              <a:rPr lang="en-US" altLang="ko-KR" sz="1600" dirty="0"/>
              <a:t>, ‘</a:t>
            </a:r>
            <a:r>
              <a:rPr lang="ko-KR" altLang="en-US" sz="1600" dirty="0"/>
              <a:t>하루의 질적 손실</a:t>
            </a:r>
            <a:r>
              <a:rPr lang="en-US" altLang="ko-KR" sz="1600" dirty="0"/>
              <a:t>＇</a:t>
            </a:r>
            <a:r>
              <a:rPr lang="ko-KR" altLang="en-US" sz="1600" dirty="0"/>
              <a:t>에 민감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E24CAC-D377-7EC1-B642-50C6AB0DFD3D}"/>
              </a:ext>
            </a:extLst>
          </p:cNvPr>
          <p:cNvSpPr txBox="1"/>
          <p:nvPr/>
        </p:nvSpPr>
        <p:spPr>
          <a:xfrm>
            <a:off x="3539643" y="2296143"/>
            <a:ext cx="13012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기상 직후 스마트폰 콘텐츠 소비로 인해 아침 루틴이 지연된 경험이 있는 </a:t>
            </a:r>
            <a:r>
              <a:rPr lang="en-US" altLang="ko-KR" sz="1600" dirty="0"/>
              <a:t>MZ</a:t>
            </a:r>
            <a:r>
              <a:rPr lang="ko-KR" altLang="en-US" sz="1600" dirty="0"/>
              <a:t>세대 중</a:t>
            </a:r>
            <a:r>
              <a:rPr lang="en-US" altLang="ko-KR" sz="1600" dirty="0"/>
              <a:t>, </a:t>
            </a:r>
            <a:r>
              <a:rPr lang="ko-KR" altLang="en-US" sz="1600" dirty="0"/>
              <a:t>최소 </a:t>
            </a:r>
            <a:r>
              <a:rPr lang="en-US" altLang="ko-KR" sz="1600" dirty="0"/>
              <a:t>60% </a:t>
            </a:r>
            <a:r>
              <a:rPr lang="ko-KR" altLang="en-US" sz="1600" dirty="0"/>
              <a:t>이상은 이 문제를 해결하기 위해 기존 솔루션</a:t>
            </a:r>
            <a:r>
              <a:rPr lang="en-US" altLang="ko-KR" sz="1600" dirty="0"/>
              <a:t>(</a:t>
            </a:r>
            <a:r>
              <a:rPr lang="ko-KR" altLang="en-US" sz="1600" dirty="0"/>
              <a:t>앱</a:t>
            </a:r>
            <a:r>
              <a:rPr lang="en-US" altLang="ko-KR" sz="1600" dirty="0"/>
              <a:t>)</a:t>
            </a:r>
            <a:r>
              <a:rPr lang="ko-KR" altLang="en-US" sz="1600" dirty="0"/>
              <a:t>을 시도해본 경험이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그 중 </a:t>
            </a:r>
            <a:r>
              <a:rPr lang="en-US" altLang="ko-KR" sz="1600" dirty="0"/>
              <a:t>40% </a:t>
            </a:r>
            <a:r>
              <a:rPr lang="ko-KR" altLang="en-US" sz="1600" dirty="0"/>
              <a:t>이상은 뇌파 기반 웨어러블 디바이스와 함께 제공되는 맞춤형 루틴 서비스에 </a:t>
            </a:r>
            <a:r>
              <a:rPr lang="en-US" altLang="ko-KR" sz="1600" dirty="0"/>
              <a:t>24</a:t>
            </a:r>
            <a:r>
              <a:rPr lang="ko-KR" altLang="en-US" sz="1600" dirty="0"/>
              <a:t>개월 약정 월 </a:t>
            </a:r>
            <a:r>
              <a:rPr lang="en-US" altLang="ko-KR" sz="1600" dirty="0"/>
              <a:t>11,000</a:t>
            </a:r>
            <a:r>
              <a:rPr lang="ko-KR" altLang="en-US" sz="1600" dirty="0"/>
              <a:t>원 이상 지불할 의향이 있다고 답할 것이다</a:t>
            </a:r>
            <a:r>
              <a:rPr lang="en-US" altLang="ko-KR" sz="16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877BC4-8998-48F1-82C7-141E11650F73}"/>
              </a:ext>
            </a:extLst>
          </p:cNvPr>
          <p:cNvSpPr txBox="1"/>
          <p:nvPr/>
        </p:nvSpPr>
        <p:spPr>
          <a:xfrm>
            <a:off x="3539643" y="1477841"/>
            <a:ext cx="9889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2025.05.02~2025.05.03 / 2</a:t>
            </a:r>
            <a:r>
              <a:rPr lang="ko-KR" altLang="en-US" sz="2400" dirty="0"/>
              <a:t>명 </a:t>
            </a:r>
            <a:r>
              <a:rPr lang="en-US" altLang="ko-KR" sz="2400" dirty="0"/>
              <a:t>/ </a:t>
            </a:r>
            <a:r>
              <a:rPr lang="ko-KR" altLang="en-US" sz="2400" dirty="0"/>
              <a:t>대면</a:t>
            </a:r>
            <a:r>
              <a:rPr lang="en-US" altLang="ko-KR" sz="2400" dirty="0"/>
              <a:t> 1</a:t>
            </a:r>
            <a:r>
              <a:rPr lang="ko-KR" altLang="en-US" sz="2400" dirty="0"/>
              <a:t>인</a:t>
            </a:r>
            <a:r>
              <a:rPr lang="en-US" altLang="ko-KR" sz="2400" dirty="0"/>
              <a:t>, </a:t>
            </a:r>
            <a:r>
              <a:rPr lang="ko-KR" altLang="en-US" sz="2400" dirty="0"/>
              <a:t>전화 </a:t>
            </a:r>
            <a:r>
              <a:rPr lang="en-US" altLang="ko-KR" sz="2400" dirty="0"/>
              <a:t>1</a:t>
            </a:r>
            <a:r>
              <a:rPr lang="ko-KR" altLang="en-US" sz="2400" dirty="0"/>
              <a:t>인 진행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FB05C-3CB8-7218-96A5-D8545EBC3DB9}"/>
              </a:ext>
            </a:extLst>
          </p:cNvPr>
          <p:cNvSpPr txBox="1"/>
          <p:nvPr/>
        </p:nvSpPr>
        <p:spPr>
          <a:xfrm>
            <a:off x="3539643" y="3942063"/>
            <a:ext cx="130121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기상 직후 스마트폰 콘텐츠 소비 등으로 인해 하루 일과가 지연된 경험이 있는 </a:t>
            </a:r>
            <a:r>
              <a:rPr lang="en-US" altLang="ko-KR" sz="1600" dirty="0"/>
              <a:t>MZ</a:t>
            </a:r>
            <a:r>
              <a:rPr lang="ko-KR" altLang="en-US" sz="1600" dirty="0"/>
              <a:t>세대는 이 문제를 해결하기 위해 기존 솔루션</a:t>
            </a:r>
            <a:r>
              <a:rPr lang="en-US" altLang="ko-KR" sz="1600" dirty="0"/>
              <a:t>(</a:t>
            </a:r>
            <a:r>
              <a:rPr lang="ko-KR" altLang="en-US" sz="1600" dirty="0"/>
              <a:t>앱</a:t>
            </a:r>
            <a:r>
              <a:rPr lang="en-US" altLang="ko-KR" sz="1600" dirty="0"/>
              <a:t>)</a:t>
            </a:r>
            <a:r>
              <a:rPr lang="ko-KR" altLang="en-US" sz="1600" dirty="0"/>
              <a:t>을 시도해본 경험이 있음 </a:t>
            </a:r>
            <a:r>
              <a:rPr lang="en-US" altLang="ko-KR" sz="1600" dirty="0"/>
              <a:t>(2</a:t>
            </a:r>
            <a:r>
              <a:rPr lang="ko-KR" altLang="en-US" sz="1600" dirty="0"/>
              <a:t>명 모두 후회</a:t>
            </a:r>
            <a:r>
              <a:rPr lang="en-US" altLang="ko-KR" sz="1600" dirty="0"/>
              <a:t>, </a:t>
            </a:r>
            <a:r>
              <a:rPr lang="ko-KR" altLang="en-US" sz="1600" dirty="0"/>
              <a:t>시간 낭비</a:t>
            </a:r>
            <a:r>
              <a:rPr lang="en-US" altLang="ko-KR" sz="1600" dirty="0"/>
              <a:t>, </a:t>
            </a:r>
            <a:r>
              <a:rPr lang="ko-KR" altLang="en-US" sz="1600" dirty="0"/>
              <a:t>무력감을 반복적으로 표현</a:t>
            </a:r>
            <a:r>
              <a:rPr lang="en-US" altLang="ko-KR" sz="16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600" dirty="0"/>
              <a:t>뇌파 기반 웨어러블 디바이스에 대한 수용성은 부합했지만 </a:t>
            </a:r>
            <a:r>
              <a:rPr lang="en-US" altLang="ko-KR" sz="1600" dirty="0"/>
              <a:t>24</a:t>
            </a:r>
            <a:r>
              <a:rPr lang="ko-KR" altLang="en-US" sz="1600" dirty="0"/>
              <a:t>개월 약정</a:t>
            </a:r>
            <a:r>
              <a:rPr lang="en-US" altLang="ko-KR" sz="1600" dirty="0"/>
              <a:t>, </a:t>
            </a:r>
            <a:r>
              <a:rPr lang="ko-KR" altLang="en-US" sz="1600" dirty="0"/>
              <a:t>월</a:t>
            </a:r>
            <a:r>
              <a:rPr lang="en-US" altLang="ko-KR" sz="1600" dirty="0"/>
              <a:t>11,000</a:t>
            </a:r>
            <a:r>
              <a:rPr lang="ko-KR" altLang="en-US" sz="1600" dirty="0"/>
              <a:t>원 수용 여부에 기기 미사용 상태에서의 약정 부담을 부담으로 느낌 </a:t>
            </a:r>
            <a:r>
              <a:rPr lang="en-US" altLang="ko-KR" sz="1600" dirty="0"/>
              <a:t>(</a:t>
            </a:r>
            <a:r>
              <a:rPr lang="ko-KR" altLang="en-US" sz="1600" dirty="0"/>
              <a:t>가설 수정 필요</a:t>
            </a:r>
            <a:r>
              <a:rPr lang="en-US" altLang="ko-KR" sz="16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1235D-4020-7D14-37DD-F2483186F40D}"/>
              </a:ext>
            </a:extLst>
          </p:cNvPr>
          <p:cNvSpPr txBox="1"/>
          <p:nvPr/>
        </p:nvSpPr>
        <p:spPr>
          <a:xfrm>
            <a:off x="3539644" y="5908340"/>
            <a:ext cx="63573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/>
              <a:t>2</a:t>
            </a:r>
            <a:r>
              <a:rPr lang="ko-KR" altLang="en-US" sz="1600" dirty="0"/>
              <a:t>명 모두 </a:t>
            </a:r>
            <a:r>
              <a:rPr lang="en-US" altLang="ko-KR" sz="1600" dirty="0"/>
              <a:t>‘</a:t>
            </a:r>
            <a:r>
              <a:rPr lang="ko-KR" altLang="en-US" sz="1600" dirty="0"/>
              <a:t>제 시간에 일어나지 못하는 문제</a:t>
            </a:r>
            <a:r>
              <a:rPr lang="en-US" altLang="ko-KR" sz="1600" dirty="0"/>
              <a:t>’</a:t>
            </a:r>
            <a:r>
              <a:rPr lang="ko-KR" altLang="en-US" sz="1600" dirty="0"/>
              <a:t>보다 </a:t>
            </a:r>
            <a:r>
              <a:rPr lang="en-US" altLang="ko-KR" sz="1600" dirty="0"/>
              <a:t>‘</a:t>
            </a:r>
            <a:r>
              <a:rPr lang="ko-KR" altLang="en-US" sz="1600" dirty="0"/>
              <a:t>아침 기상 이후 시간을 잘 활용하지 못하는 문제</a:t>
            </a:r>
            <a:r>
              <a:rPr lang="en-US" altLang="ko-KR" sz="1600" dirty="0"/>
              <a:t>‘ </a:t>
            </a:r>
            <a:r>
              <a:rPr lang="ko-KR" altLang="en-US" sz="1600" dirty="0"/>
              <a:t>에 대해 주변 사람들이 공통적으로 겪고 있는 문제라고 말함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2</a:t>
            </a:r>
            <a:r>
              <a:rPr lang="ko-KR" altLang="en-US" sz="1600" dirty="0"/>
              <a:t>명 모두 보다 </a:t>
            </a:r>
            <a:r>
              <a:rPr lang="en-US" altLang="ko-KR" sz="1600" dirty="0"/>
              <a:t>‘</a:t>
            </a:r>
            <a:r>
              <a:rPr lang="ko-KR" altLang="en-US" sz="1600" dirty="0"/>
              <a:t>아침 기상 이후 시간을 잘 활용하지 못하는 문제</a:t>
            </a:r>
            <a:r>
              <a:rPr lang="en-US" altLang="ko-KR" sz="1600" dirty="0"/>
              <a:t>’</a:t>
            </a:r>
            <a:r>
              <a:rPr lang="ko-KR" altLang="en-US" sz="1600" dirty="0"/>
              <a:t>를 해결하기 위해 앱 뿐만 아니라 </a:t>
            </a:r>
            <a:r>
              <a:rPr lang="ko-KR" altLang="en-US" sz="1600" dirty="0" err="1"/>
              <a:t>미라클모닝</a:t>
            </a:r>
            <a:r>
              <a:rPr lang="en-US" altLang="ko-KR" sz="1600" dirty="0"/>
              <a:t>, </a:t>
            </a:r>
            <a:r>
              <a:rPr lang="ko-KR" altLang="en-US" sz="1600" dirty="0"/>
              <a:t>아침 먹기</a:t>
            </a:r>
            <a:r>
              <a:rPr lang="en-US" altLang="ko-KR" sz="1600" dirty="0"/>
              <a:t>, </a:t>
            </a:r>
            <a:r>
              <a:rPr lang="ko-KR" altLang="en-US" sz="1600" dirty="0"/>
              <a:t>도시락 만들기</a:t>
            </a:r>
            <a:r>
              <a:rPr lang="en-US" altLang="ko-KR" sz="1600" dirty="0"/>
              <a:t>, </a:t>
            </a:r>
            <a:r>
              <a:rPr lang="ko-KR" altLang="en-US" sz="1600" dirty="0"/>
              <a:t>운동 등 생산적 활동을 더 많이 시도해본 경험이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주변 사람에게 많이 추천함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2</a:t>
            </a:r>
            <a:r>
              <a:rPr lang="ko-KR" altLang="en-US" sz="1600" dirty="0"/>
              <a:t>명 모두 </a:t>
            </a:r>
            <a:r>
              <a:rPr lang="ko-KR" altLang="en-US" sz="1600" b="1" dirty="0"/>
              <a:t>기기 미사용 상태</a:t>
            </a:r>
            <a:r>
              <a:rPr lang="ko-KR" altLang="en-US" sz="1600" dirty="0"/>
              <a:t>에서 </a:t>
            </a:r>
            <a:r>
              <a:rPr lang="en-US" altLang="ko-KR" sz="1600" dirty="0"/>
              <a:t>24</a:t>
            </a:r>
            <a:r>
              <a:rPr lang="ko-KR" altLang="en-US" sz="1600" dirty="0"/>
              <a:t>개월 약정</a:t>
            </a:r>
            <a:r>
              <a:rPr lang="en-US" altLang="ko-KR" sz="1600" dirty="0"/>
              <a:t>, </a:t>
            </a:r>
            <a:r>
              <a:rPr lang="ko-KR" altLang="en-US" sz="1600" dirty="0"/>
              <a:t>월 </a:t>
            </a:r>
            <a:r>
              <a:rPr lang="en-US" altLang="ko-KR" sz="1600" dirty="0"/>
              <a:t>11,000</a:t>
            </a:r>
            <a:r>
              <a:rPr lang="ko-KR" altLang="en-US" sz="1600" dirty="0"/>
              <a:t>원에 부담을 느낀다고 표현</a:t>
            </a:r>
            <a:endParaRPr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6AFFE-787A-B4B6-91DE-419A9686DA7C}"/>
              </a:ext>
            </a:extLst>
          </p:cNvPr>
          <p:cNvSpPr txBox="1"/>
          <p:nvPr/>
        </p:nvSpPr>
        <p:spPr>
          <a:xfrm>
            <a:off x="10045719" y="5908340"/>
            <a:ext cx="6357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월 </a:t>
            </a:r>
            <a:r>
              <a:rPr lang="en-US" altLang="ko-KR" sz="1600" dirty="0"/>
              <a:t>11,000</a:t>
            </a:r>
            <a:r>
              <a:rPr lang="ko-KR" altLang="en-US" sz="1600" dirty="0"/>
              <a:t>원 </a:t>
            </a:r>
            <a:r>
              <a:rPr lang="en-US" altLang="ko-KR" sz="1600" dirty="0"/>
              <a:t>24</a:t>
            </a:r>
            <a:r>
              <a:rPr lang="ko-KR" altLang="en-US" sz="1600" dirty="0"/>
              <a:t>개월 약정은 현재 뇌파 측정 </a:t>
            </a:r>
            <a:r>
              <a:rPr lang="ko-KR" altLang="en-US" sz="1600" dirty="0" err="1"/>
              <a:t>상용품</a:t>
            </a:r>
            <a:r>
              <a:rPr lang="ko-KR" altLang="en-US" sz="1600" dirty="0"/>
              <a:t> 약 </a:t>
            </a:r>
            <a:r>
              <a:rPr lang="en-US" altLang="ko-KR" sz="1600" dirty="0"/>
              <a:t>20</a:t>
            </a:r>
            <a:r>
              <a:rPr lang="ko-KR" altLang="en-US" sz="1600" dirty="0"/>
              <a:t>만원을 기준으로 가설을 세웠는데 </a:t>
            </a:r>
            <a:r>
              <a:rPr lang="en-US" altLang="ko-KR" sz="1600" dirty="0"/>
              <a:t>2</a:t>
            </a:r>
            <a:r>
              <a:rPr lang="ko-KR" altLang="en-US" sz="1600" dirty="0"/>
              <a:t>명 모두 가격에 부담을 느껴 현재 </a:t>
            </a:r>
            <a:r>
              <a:rPr lang="ko-KR" altLang="en-US" sz="1600" dirty="0" err="1"/>
              <a:t>상용품</a:t>
            </a:r>
            <a:r>
              <a:rPr lang="ko-KR" altLang="en-US" sz="1600" dirty="0"/>
              <a:t> 대비 저렴한 기기 제작 단가 도출이 필요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2</a:t>
            </a:r>
            <a:r>
              <a:rPr lang="ko-KR" altLang="en-US" sz="1600" dirty="0"/>
              <a:t>명의 인터뷰이 모두 사용해보지 않은 기기라 표현하여 기기 무료 체험 </a:t>
            </a:r>
            <a:r>
              <a:rPr lang="en-US" altLang="ko-KR" sz="1600" dirty="0"/>
              <a:t>or </a:t>
            </a:r>
            <a:r>
              <a:rPr lang="ko-KR" altLang="en-US" sz="1600" dirty="0"/>
              <a:t>무료 서비스 사용자 중 우수 사용자를 선별하여 무료 기기 지급 등의 이벤트 기획 필요 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809</Words>
  <Application>Microsoft Office PowerPoint</Application>
  <PresentationFormat>사용자 지정</PresentationFormat>
  <Paragraphs>61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전 용구</cp:lastModifiedBy>
  <cp:revision>15</cp:revision>
  <dcterms:created xsi:type="dcterms:W3CDTF">2025-04-24T06:43:19Z</dcterms:created>
  <dcterms:modified xsi:type="dcterms:W3CDTF">2025-05-03T14:50:14Z</dcterms:modified>
</cp:coreProperties>
</file>