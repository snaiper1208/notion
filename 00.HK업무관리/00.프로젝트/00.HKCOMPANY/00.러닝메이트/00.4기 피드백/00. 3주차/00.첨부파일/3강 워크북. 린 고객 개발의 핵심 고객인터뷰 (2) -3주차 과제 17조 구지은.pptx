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2" r:id="rId5"/>
    <p:sldId id="263" r:id="rId6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9" d="100"/>
          <a:sy n="59" d="100"/>
        </p:scale>
        <p:origin x="51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2517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427" y="142118"/>
            <a:ext cx="17556480" cy="987552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E120CE2-5B4E-45EE-8903-45ED4466C10E}"/>
              </a:ext>
            </a:extLst>
          </p:cNvPr>
          <p:cNvSpPr/>
          <p:nvPr/>
        </p:nvSpPr>
        <p:spPr>
          <a:xfrm>
            <a:off x="3867075" y="2625633"/>
            <a:ext cx="84511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하루 </a:t>
            </a:r>
            <a:r>
              <a:rPr lang="en-US" altLang="ko-KR" dirty="0"/>
              <a:t>10</a:t>
            </a:r>
            <a:r>
              <a:rPr lang="ko-KR" altLang="en-US" dirty="0"/>
              <a:t>분</a:t>
            </a:r>
            <a:r>
              <a:rPr lang="en-US" altLang="ko-KR" dirty="0"/>
              <a:t>, </a:t>
            </a:r>
            <a:r>
              <a:rPr lang="ko-KR" altLang="en-US" dirty="0"/>
              <a:t>우리 아이 감정은 안녕한가요</a:t>
            </a:r>
            <a:r>
              <a:rPr lang="en-US" altLang="ko-KR" dirty="0"/>
              <a:t>?]</a:t>
            </a:r>
            <a:r>
              <a:rPr lang="ko-KR" altLang="en-US" dirty="0"/>
              <a:t> 아이와 소통하고 싶은 </a:t>
            </a:r>
            <a:r>
              <a:rPr lang="ko-KR" altLang="en-US" dirty="0" err="1"/>
              <a:t>워킹맘</a:t>
            </a:r>
            <a:r>
              <a:rPr lang="ko-KR" altLang="en-US" dirty="0"/>
              <a:t> 인터뷰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36200B3-E5CE-4111-9E24-AECBB30ADEB1}"/>
              </a:ext>
            </a:extLst>
          </p:cNvPr>
          <p:cNvSpPr/>
          <p:nvPr/>
        </p:nvSpPr>
        <p:spPr>
          <a:xfrm>
            <a:off x="3867075" y="3325142"/>
            <a:ext cx="410561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>
                <a:latin typeface="+mj-ea"/>
                <a:ea typeface="+mj-ea"/>
              </a:rPr>
              <a:t>자녀의 감정 표현에 대한 부모의 고민 파악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FDE44D-5450-4C2A-B73D-994E90FAE0B7}"/>
              </a:ext>
            </a:extLst>
          </p:cNvPr>
          <p:cNvSpPr/>
          <p:nvPr/>
        </p:nvSpPr>
        <p:spPr>
          <a:xfrm>
            <a:off x="3867075" y="3774867"/>
            <a:ext cx="111682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+mj-ea"/>
                <a:ea typeface="+mj-ea"/>
              </a:rPr>
              <a:t>감정 표현이 어려운 아이를 둔 </a:t>
            </a:r>
            <a:r>
              <a:rPr lang="ko-KR" altLang="en-US" sz="1600" dirty="0" err="1">
                <a:latin typeface="+mj-ea"/>
                <a:ea typeface="+mj-ea"/>
              </a:rPr>
              <a:t>워킹맘의</a:t>
            </a:r>
            <a:r>
              <a:rPr lang="ko-KR" altLang="en-US" sz="1600" dirty="0">
                <a:latin typeface="+mj-ea"/>
                <a:ea typeface="+mj-ea"/>
              </a:rPr>
              <a:t> 일상적 갈등 상황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부담감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좌절감 등을 구체적으로 듣기 위함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D633D8-05A6-4F28-BBB5-262E233E390F}"/>
              </a:ext>
            </a:extLst>
          </p:cNvPr>
          <p:cNvSpPr/>
          <p:nvPr/>
        </p:nvSpPr>
        <p:spPr>
          <a:xfrm>
            <a:off x="3867075" y="4263022"/>
            <a:ext cx="111682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+mn-ea"/>
              </a:rPr>
              <a:t>책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유튜브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감정교육 프로그램 등 시도했던 </a:t>
            </a:r>
            <a:r>
              <a:rPr lang="ko-KR" altLang="en-US" sz="1600" dirty="0" err="1">
                <a:latin typeface="+mn-ea"/>
              </a:rPr>
              <a:t>감정돌봄</a:t>
            </a:r>
            <a:r>
              <a:rPr lang="ko-KR" altLang="en-US" sz="1600" dirty="0">
                <a:latin typeface="+mn-ea"/>
              </a:rPr>
              <a:t> 방식의 실효성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지속 가능성에 대한 고객 경험 수집</a:t>
            </a:r>
            <a:r>
              <a:rPr lang="en-US" altLang="ko-KR" sz="1600" dirty="0">
                <a:latin typeface="+mn-ea"/>
              </a:rPr>
              <a:t>.</a:t>
            </a:r>
            <a:endParaRPr lang="ko-KR" altLang="en-US" sz="1600" dirty="0"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511B23-CD18-442E-A300-BBCC34D91EE8}"/>
              </a:ext>
            </a:extLst>
          </p:cNvPr>
          <p:cNvSpPr/>
          <p:nvPr/>
        </p:nvSpPr>
        <p:spPr>
          <a:xfrm>
            <a:off x="3867075" y="4710546"/>
            <a:ext cx="126053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+mj-ea"/>
                <a:ea typeface="+mj-ea"/>
              </a:rPr>
              <a:t>감정</a:t>
            </a:r>
            <a:r>
              <a:rPr lang="en-US" altLang="ko-KR" sz="1600" dirty="0">
                <a:latin typeface="+mj-ea"/>
                <a:ea typeface="+mj-ea"/>
              </a:rPr>
              <a:t>on</a:t>
            </a:r>
            <a:r>
              <a:rPr lang="ko-KR" altLang="en-US" sz="1600" dirty="0">
                <a:latin typeface="+mj-ea"/>
                <a:ea typeface="+mj-ea"/>
              </a:rPr>
              <a:t>의 ‘짧은 시간’</a:t>
            </a:r>
            <a:r>
              <a:rPr lang="en-US" altLang="ko-KR" sz="1600" dirty="0">
                <a:latin typeface="+mj-ea"/>
                <a:ea typeface="+mj-ea"/>
              </a:rPr>
              <a:t>, ‘</a:t>
            </a:r>
            <a:r>
              <a:rPr lang="ko-KR" altLang="en-US" sz="1600" dirty="0">
                <a:latin typeface="+mj-ea"/>
                <a:ea typeface="+mj-ea"/>
              </a:rPr>
              <a:t>놀이 기반’</a:t>
            </a:r>
            <a:r>
              <a:rPr lang="en-US" altLang="ko-KR" sz="1600" dirty="0">
                <a:latin typeface="+mj-ea"/>
                <a:ea typeface="+mj-ea"/>
              </a:rPr>
              <a:t>, ‘</a:t>
            </a:r>
            <a:r>
              <a:rPr lang="ko-KR" altLang="en-US" sz="1600" dirty="0">
                <a:latin typeface="+mj-ea"/>
                <a:ea typeface="+mj-ea"/>
              </a:rPr>
              <a:t>감정 캐릭터 </a:t>
            </a:r>
            <a:r>
              <a:rPr lang="ko-KR" altLang="en-US" sz="1600" dirty="0" err="1">
                <a:latin typeface="+mj-ea"/>
                <a:ea typeface="+mj-ea"/>
              </a:rPr>
              <a:t>중심’이라는</a:t>
            </a:r>
            <a:r>
              <a:rPr lang="ko-KR" altLang="en-US" sz="1600" dirty="0">
                <a:latin typeface="+mj-ea"/>
                <a:ea typeface="+mj-ea"/>
              </a:rPr>
              <a:t> 접근법이 실제 </a:t>
            </a:r>
            <a:r>
              <a:rPr lang="ko-KR" altLang="en-US" sz="1600" dirty="0" err="1">
                <a:latin typeface="+mj-ea"/>
                <a:ea typeface="+mj-ea"/>
              </a:rPr>
              <a:t>워킹맘에게</a:t>
            </a:r>
            <a:r>
              <a:rPr lang="ko-KR" altLang="en-US" sz="1600" dirty="0">
                <a:latin typeface="+mj-ea"/>
                <a:ea typeface="+mj-ea"/>
              </a:rPr>
              <a:t> 얼마나 매력적이고 현실적인지 검증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02EBEE2-E8A9-4C19-87BC-11906B7982FA}"/>
              </a:ext>
            </a:extLst>
          </p:cNvPr>
          <p:cNvSpPr/>
          <p:nvPr/>
        </p:nvSpPr>
        <p:spPr>
          <a:xfrm>
            <a:off x="3720891" y="5158070"/>
            <a:ext cx="1268969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>
                <a:latin typeface="+mj-ea"/>
                <a:ea typeface="+mj-ea"/>
              </a:rPr>
              <a:t>자녀의 감정 표현 또는 정서 문제</a:t>
            </a:r>
            <a:r>
              <a:rPr lang="en-US" altLang="ko-KR" sz="1600" dirty="0">
                <a:latin typeface="+mj-ea"/>
                <a:ea typeface="+mj-ea"/>
              </a:rPr>
              <a:t>(</a:t>
            </a:r>
            <a:r>
              <a:rPr lang="ko-KR" altLang="en-US" sz="1600" dirty="0">
                <a:latin typeface="+mj-ea"/>
                <a:ea typeface="+mj-ea"/>
              </a:rPr>
              <a:t>짜증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분노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무기력 등</a:t>
            </a:r>
            <a:r>
              <a:rPr lang="en-US" altLang="ko-KR" sz="1600" dirty="0">
                <a:latin typeface="+mj-ea"/>
                <a:ea typeface="+mj-ea"/>
              </a:rPr>
              <a:t>)</a:t>
            </a:r>
            <a:r>
              <a:rPr lang="ko-KR" altLang="en-US" sz="1600" dirty="0">
                <a:latin typeface="+mj-ea"/>
                <a:ea typeface="+mj-ea"/>
              </a:rPr>
              <a:t>에 대해 걱정감정표현 관련 육아서나 강의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콘텐츠를 찾아본 적 </a:t>
            </a:r>
            <a:r>
              <a:rPr lang="ko-KR" altLang="en-US" sz="1600" dirty="0" err="1">
                <a:latin typeface="+mj-ea"/>
                <a:ea typeface="+mj-ea"/>
              </a:rPr>
              <a:t>있음한</a:t>
            </a:r>
            <a:r>
              <a:rPr lang="ko-KR" altLang="en-US" sz="1600" dirty="0">
                <a:latin typeface="+mj-ea"/>
                <a:ea typeface="+mj-ea"/>
              </a:rPr>
              <a:t> 경험 있음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135FD3-BFB8-4DFA-8161-C1CF0E9381E8}"/>
              </a:ext>
            </a:extLst>
          </p:cNvPr>
          <p:cNvSpPr/>
          <p:nvPr/>
        </p:nvSpPr>
        <p:spPr>
          <a:xfrm>
            <a:off x="10747494" y="5645825"/>
            <a:ext cx="4144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만 </a:t>
            </a:r>
            <a:r>
              <a:rPr lang="en-US" altLang="ko-KR" dirty="0"/>
              <a:t>5</a:t>
            </a:r>
            <a:r>
              <a:rPr lang="ko-KR" altLang="en-US" dirty="0"/>
              <a:t>세</a:t>
            </a:r>
            <a:r>
              <a:rPr lang="en-US" altLang="ko-KR" dirty="0"/>
              <a:t>~</a:t>
            </a:r>
            <a:r>
              <a:rPr lang="ko-KR" altLang="en-US" sz="1600" dirty="0">
                <a:latin typeface="+mj-ea"/>
                <a:ea typeface="+mj-ea"/>
              </a:rPr>
              <a:t>초등학교</a:t>
            </a:r>
            <a:r>
              <a:rPr lang="ko-KR" altLang="en-US" dirty="0"/>
              <a:t> 저학년 자녀를 둔 부모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D458021-84A6-49DC-8873-2D50B5A9B79C}"/>
              </a:ext>
            </a:extLst>
          </p:cNvPr>
          <p:cNvSpPr/>
          <p:nvPr/>
        </p:nvSpPr>
        <p:spPr>
          <a:xfrm>
            <a:off x="3720891" y="5605594"/>
            <a:ext cx="18293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>
                <a:latin typeface="+mj-ea"/>
                <a:ea typeface="+mj-ea"/>
              </a:rPr>
              <a:t>30~45</a:t>
            </a:r>
            <a:r>
              <a:rPr lang="ko-KR" altLang="en-US" dirty="0"/>
              <a:t>세의 여성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1AB1ED-7300-4607-87AE-9B4619183016}"/>
              </a:ext>
            </a:extLst>
          </p:cNvPr>
          <p:cNvSpPr/>
          <p:nvPr/>
        </p:nvSpPr>
        <p:spPr>
          <a:xfrm>
            <a:off x="5465279" y="5621443"/>
            <a:ext cx="54361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정규직 또는 </a:t>
            </a:r>
            <a:r>
              <a:rPr lang="ko-KR" altLang="en-US" sz="1600" dirty="0">
                <a:latin typeface="+mj-ea"/>
                <a:ea typeface="+mj-ea"/>
              </a:rPr>
              <a:t>자영업</a:t>
            </a:r>
            <a:r>
              <a:rPr lang="ko-KR" altLang="en-US" dirty="0">
                <a:latin typeface="+mj-ea"/>
                <a:ea typeface="+mj-ea"/>
              </a:rPr>
              <a:t> 등으로 평일 근무를 하고 있음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en-US" altLang="ko-KR" dirty="0"/>
              <a:t>,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E24F0D8-A1FC-44EC-905F-C0E611193144}"/>
              </a:ext>
            </a:extLst>
          </p:cNvPr>
          <p:cNvSpPr/>
          <p:nvPr/>
        </p:nvSpPr>
        <p:spPr>
          <a:xfrm>
            <a:off x="3720891" y="6046639"/>
            <a:ext cx="99661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/>
              <a:t>감정표현 </a:t>
            </a:r>
            <a:r>
              <a:rPr lang="ko-KR" altLang="en-US" sz="1600" dirty="0" err="1"/>
              <a:t>감정표현</a:t>
            </a:r>
            <a:r>
              <a:rPr lang="ko-KR" altLang="en-US" sz="1600" dirty="0"/>
              <a:t> 관련 육아서나 강의</a:t>
            </a:r>
            <a:r>
              <a:rPr lang="en-US" altLang="ko-KR" sz="1600" dirty="0"/>
              <a:t>, </a:t>
            </a:r>
            <a:r>
              <a:rPr lang="ko-KR" altLang="en-US" sz="1600" dirty="0"/>
              <a:t>콘텐츠를 찾아본 적 </a:t>
            </a:r>
            <a:r>
              <a:rPr lang="ko-KR" altLang="en-US" sz="1600" dirty="0" err="1"/>
              <a:t>있음관련</a:t>
            </a:r>
            <a:r>
              <a:rPr lang="ko-KR" altLang="en-US" sz="1600" dirty="0"/>
              <a:t> 육아서나 강의</a:t>
            </a:r>
            <a:r>
              <a:rPr lang="en-US" altLang="ko-KR" sz="1600" dirty="0"/>
              <a:t>, </a:t>
            </a:r>
            <a:r>
              <a:rPr lang="ko-KR" altLang="en-US" sz="1600" dirty="0"/>
              <a:t>콘텐츠를 찾아본 적 있음</a:t>
            </a:r>
            <a:endParaRPr lang="en-US" altLang="ko-KR" sz="1600" dirty="0"/>
          </a:p>
          <a:p>
            <a:endParaRPr lang="en-US" altLang="ko-KR" sz="1600" dirty="0">
              <a:latin typeface="+mj-ea"/>
              <a:ea typeface="+mj-ea"/>
            </a:endParaRPr>
          </a:p>
          <a:p>
            <a:r>
              <a:rPr lang="ko-KR" altLang="en-US" sz="1600" dirty="0" err="1">
                <a:latin typeface="+mj-ea"/>
                <a:ea typeface="+mj-ea"/>
              </a:rPr>
              <a:t>워크맘</a:t>
            </a:r>
            <a:r>
              <a:rPr lang="ko-KR" altLang="en-US" sz="1600" dirty="0">
                <a:latin typeface="+mj-ea"/>
                <a:ea typeface="+mj-ea"/>
              </a:rPr>
              <a:t> 채널 구독자 중에서 </a:t>
            </a:r>
            <a:r>
              <a:rPr lang="ko-KR" altLang="en-US" sz="1600" dirty="0" err="1">
                <a:latin typeface="+mj-ea"/>
                <a:ea typeface="+mj-ea"/>
              </a:rPr>
              <a:t>워킹맘</a:t>
            </a:r>
            <a:r>
              <a:rPr lang="ko-KR" altLang="en-US" sz="1600" dirty="0">
                <a:latin typeface="+mj-ea"/>
                <a:ea typeface="+mj-ea"/>
              </a:rPr>
              <a:t> 선정</a:t>
            </a:r>
            <a:endParaRPr lang="en-US" altLang="ko-KR" sz="1600" dirty="0">
              <a:latin typeface="+mj-ea"/>
              <a:ea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C30779-CFB3-400B-B8EF-0AE3E1742A52}"/>
              </a:ext>
            </a:extLst>
          </p:cNvPr>
          <p:cNvSpPr/>
          <p:nvPr/>
        </p:nvSpPr>
        <p:spPr>
          <a:xfrm>
            <a:off x="3720891" y="7510001"/>
            <a:ext cx="4328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일씨</a:t>
            </a:r>
            <a:r>
              <a:rPr lang="en-US" altLang="ko-KR" dirty="0"/>
              <a:t>:5</a:t>
            </a:r>
            <a:r>
              <a:rPr lang="ko-KR" altLang="en-US" dirty="0"/>
              <a:t>월</a:t>
            </a:r>
            <a:r>
              <a:rPr lang="en-US" altLang="ko-KR" dirty="0"/>
              <a:t>1</a:t>
            </a:r>
            <a:r>
              <a:rPr lang="ko-KR" altLang="en-US" dirty="0"/>
              <a:t>일  </a:t>
            </a:r>
            <a:r>
              <a:rPr lang="en-US" altLang="ko-KR" dirty="0"/>
              <a:t>, 20</a:t>
            </a:r>
            <a:r>
              <a:rPr lang="ko-KR" altLang="en-US" dirty="0"/>
              <a:t>시</a:t>
            </a:r>
            <a:r>
              <a:rPr lang="en-US" altLang="ko-KR" dirty="0"/>
              <a:t>~21:30</a:t>
            </a:r>
            <a:r>
              <a:rPr lang="ko-KR" altLang="en-US" dirty="0"/>
              <a:t>분</a:t>
            </a:r>
            <a:r>
              <a:rPr lang="en-US" altLang="ko-KR" dirty="0"/>
              <a:t> </a:t>
            </a:r>
            <a:r>
              <a:rPr lang="ko-KR" altLang="en-US" dirty="0"/>
              <a:t>실제 인터뷰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F2CE44D-5892-4625-9E3F-70BEADEA388D}"/>
              </a:ext>
            </a:extLst>
          </p:cNvPr>
          <p:cNvSpPr/>
          <p:nvPr/>
        </p:nvSpPr>
        <p:spPr>
          <a:xfrm>
            <a:off x="3762421" y="2721133"/>
            <a:ext cx="87757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b="1" dirty="0">
                <a:latin typeface="+mj-ea"/>
                <a:ea typeface="+mj-ea"/>
              </a:rPr>
              <a:t>이름</a:t>
            </a:r>
            <a:r>
              <a:rPr lang="en-US" altLang="ko-KR" b="1" dirty="0">
                <a:latin typeface="+mj-ea"/>
                <a:ea typeface="+mj-ea"/>
              </a:rPr>
              <a:t>: </a:t>
            </a:r>
            <a:r>
              <a:rPr lang="ko-KR" altLang="en-US" b="1" dirty="0">
                <a:latin typeface="+mj-ea"/>
                <a:ea typeface="+mj-ea"/>
              </a:rPr>
              <a:t>김소연 </a:t>
            </a:r>
            <a:r>
              <a:rPr lang="en-US" altLang="ko-KR" b="1" dirty="0">
                <a:latin typeface="+mj-ea"/>
                <a:ea typeface="+mj-ea"/>
              </a:rPr>
              <a:t>(</a:t>
            </a:r>
            <a:r>
              <a:rPr lang="ko-KR" altLang="en-US" b="1" dirty="0">
                <a:latin typeface="+mj-ea"/>
                <a:ea typeface="+mj-ea"/>
              </a:rPr>
              <a:t>가명</a:t>
            </a:r>
            <a:r>
              <a:rPr lang="en-US" altLang="ko-KR" b="1" dirty="0">
                <a:latin typeface="+mj-ea"/>
                <a:ea typeface="+mj-ea"/>
              </a:rPr>
              <a:t>)</a:t>
            </a:r>
          </a:p>
          <a:p>
            <a:r>
              <a:rPr lang="ko-KR" altLang="en-US" b="1" dirty="0">
                <a:latin typeface="+mj-ea"/>
                <a:ea typeface="+mj-ea"/>
              </a:rPr>
              <a:t>나이</a:t>
            </a:r>
            <a:r>
              <a:rPr lang="en-US" altLang="ko-KR" b="1" dirty="0">
                <a:latin typeface="+mj-ea"/>
                <a:ea typeface="+mj-ea"/>
              </a:rPr>
              <a:t>: 38</a:t>
            </a:r>
            <a:r>
              <a:rPr lang="ko-KR" altLang="en-US" b="1" dirty="0">
                <a:latin typeface="+mj-ea"/>
                <a:ea typeface="+mj-ea"/>
              </a:rPr>
              <a:t>세</a:t>
            </a:r>
          </a:p>
          <a:p>
            <a:r>
              <a:rPr lang="ko-KR" altLang="en-US" b="1" dirty="0">
                <a:latin typeface="+mj-ea"/>
                <a:ea typeface="+mj-ea"/>
              </a:rPr>
              <a:t>직업</a:t>
            </a:r>
            <a:r>
              <a:rPr lang="en-US" altLang="ko-KR" b="1" dirty="0">
                <a:latin typeface="+mj-ea"/>
                <a:ea typeface="+mj-ea"/>
              </a:rPr>
              <a:t>: K</a:t>
            </a:r>
            <a:r>
              <a:rPr lang="ko-KR" altLang="en-US" b="1" dirty="0">
                <a:latin typeface="+mj-ea"/>
                <a:ea typeface="+mj-ea"/>
              </a:rPr>
              <a:t>항공사 </a:t>
            </a:r>
            <a:r>
              <a:rPr lang="ko-KR" altLang="en-US" b="1" dirty="0" err="1">
                <a:latin typeface="+mj-ea"/>
                <a:ea typeface="+mj-ea"/>
              </a:rPr>
              <a:t>화물팀</a:t>
            </a:r>
            <a:r>
              <a:rPr lang="ko-KR" altLang="en-US" b="1" dirty="0">
                <a:latin typeface="+mj-ea"/>
                <a:ea typeface="+mj-ea"/>
              </a:rPr>
              <a:t> 팀장 </a:t>
            </a:r>
            <a:r>
              <a:rPr lang="en-US" altLang="ko-KR" b="1" dirty="0">
                <a:latin typeface="+mj-ea"/>
                <a:ea typeface="+mj-ea"/>
              </a:rPr>
              <a:t>(</a:t>
            </a:r>
            <a:r>
              <a:rPr lang="ko-KR" altLang="en-US" b="1" dirty="0">
                <a:latin typeface="+mj-ea"/>
                <a:ea typeface="+mj-ea"/>
              </a:rPr>
              <a:t>주 </a:t>
            </a:r>
            <a:r>
              <a:rPr lang="en-US" altLang="ko-KR" b="1" dirty="0">
                <a:latin typeface="+mj-ea"/>
                <a:ea typeface="+mj-ea"/>
              </a:rPr>
              <a:t>5</a:t>
            </a:r>
            <a:r>
              <a:rPr lang="ko-KR" altLang="en-US" b="1" dirty="0">
                <a:latin typeface="+mj-ea"/>
                <a:ea typeface="+mj-ea"/>
              </a:rPr>
              <a:t>일 근무</a:t>
            </a:r>
            <a:r>
              <a:rPr lang="en-US" altLang="ko-KR" b="1" dirty="0">
                <a:latin typeface="+mj-ea"/>
                <a:ea typeface="+mj-ea"/>
              </a:rPr>
              <a:t>, 8</a:t>
            </a:r>
            <a:r>
              <a:rPr lang="ko-KR" altLang="en-US" b="1" dirty="0">
                <a:latin typeface="+mj-ea"/>
                <a:ea typeface="+mj-ea"/>
              </a:rPr>
              <a:t>시</a:t>
            </a:r>
            <a:r>
              <a:rPr lang="en-US" altLang="ko-KR" b="1" dirty="0">
                <a:latin typeface="+mj-ea"/>
                <a:ea typeface="+mj-ea"/>
              </a:rPr>
              <a:t>~5</a:t>
            </a:r>
            <a:r>
              <a:rPr lang="ko-KR" altLang="en-US" b="1" dirty="0">
                <a:latin typeface="+mj-ea"/>
                <a:ea typeface="+mj-ea"/>
              </a:rPr>
              <a:t>시</a:t>
            </a:r>
            <a:r>
              <a:rPr lang="en-US" altLang="ko-KR" b="1" dirty="0">
                <a:latin typeface="+mj-ea"/>
                <a:ea typeface="+mj-ea"/>
              </a:rPr>
              <a:t>)</a:t>
            </a:r>
          </a:p>
          <a:p>
            <a:r>
              <a:rPr lang="ko-KR" altLang="en-US" b="1" dirty="0">
                <a:latin typeface="+mj-ea"/>
                <a:ea typeface="+mj-ea"/>
              </a:rPr>
              <a:t>가족 구성</a:t>
            </a:r>
            <a:r>
              <a:rPr lang="en-US" altLang="ko-KR" b="1" dirty="0">
                <a:latin typeface="+mj-ea"/>
                <a:ea typeface="+mj-ea"/>
              </a:rPr>
              <a:t>: </a:t>
            </a:r>
            <a:r>
              <a:rPr lang="ko-KR" altLang="en-US" b="1" dirty="0">
                <a:latin typeface="+mj-ea"/>
                <a:ea typeface="+mj-ea"/>
              </a:rPr>
              <a:t>남편</a:t>
            </a:r>
            <a:r>
              <a:rPr lang="en-US" altLang="ko-KR" b="1" dirty="0">
                <a:latin typeface="+mj-ea"/>
                <a:ea typeface="+mj-ea"/>
              </a:rPr>
              <a:t>, </a:t>
            </a:r>
            <a:r>
              <a:rPr lang="ko-KR" altLang="en-US" b="1" dirty="0">
                <a:latin typeface="+mj-ea"/>
                <a:ea typeface="+mj-ea"/>
              </a:rPr>
              <a:t>초등학생 </a:t>
            </a:r>
            <a:r>
              <a:rPr lang="en-US" altLang="ko-KR" b="1" dirty="0">
                <a:latin typeface="+mj-ea"/>
                <a:ea typeface="+mj-ea"/>
              </a:rPr>
              <a:t>4</a:t>
            </a:r>
            <a:r>
              <a:rPr lang="ko-KR" altLang="en-US" b="1" dirty="0">
                <a:latin typeface="+mj-ea"/>
                <a:ea typeface="+mj-ea"/>
              </a:rPr>
              <a:t>학년 딸</a:t>
            </a:r>
            <a:r>
              <a:rPr lang="en-US" altLang="ko-KR" b="1" dirty="0">
                <a:latin typeface="+mj-ea"/>
                <a:ea typeface="+mj-ea"/>
              </a:rPr>
              <a:t>, </a:t>
            </a:r>
            <a:r>
              <a:rPr lang="ko-KR" altLang="en-US" b="1" dirty="0">
                <a:latin typeface="+mj-ea"/>
                <a:ea typeface="+mj-ea"/>
              </a:rPr>
              <a:t>초등학교 </a:t>
            </a:r>
            <a:r>
              <a:rPr lang="en-US" altLang="ko-KR" b="1" dirty="0">
                <a:latin typeface="+mj-ea"/>
                <a:ea typeface="+mj-ea"/>
              </a:rPr>
              <a:t>2</a:t>
            </a:r>
            <a:r>
              <a:rPr lang="ko-KR" altLang="en-US" b="1" dirty="0">
                <a:latin typeface="+mj-ea"/>
                <a:ea typeface="+mj-ea"/>
              </a:rPr>
              <a:t>학년 아들</a:t>
            </a:r>
            <a:r>
              <a:rPr lang="en-US" altLang="ko-KR" b="1" dirty="0">
                <a:latin typeface="+mj-ea"/>
                <a:ea typeface="+mj-ea"/>
              </a:rPr>
              <a:t>(8</a:t>
            </a:r>
            <a:r>
              <a:rPr lang="ko-KR" altLang="en-US" b="1" dirty="0">
                <a:latin typeface="+mj-ea"/>
                <a:ea typeface="+mj-ea"/>
              </a:rPr>
              <a:t>세</a:t>
            </a:r>
            <a:r>
              <a:rPr lang="en-US" altLang="ko-KR" b="1" dirty="0">
                <a:latin typeface="+mj-ea"/>
                <a:ea typeface="+mj-ea"/>
              </a:rPr>
              <a:t>)</a:t>
            </a:r>
          </a:p>
          <a:p>
            <a:r>
              <a:rPr lang="ko-KR" altLang="en-US" b="1" dirty="0">
                <a:latin typeface="+mj-ea"/>
                <a:ea typeface="+mj-ea"/>
              </a:rPr>
              <a:t>거주지</a:t>
            </a:r>
            <a:r>
              <a:rPr lang="en-US" altLang="ko-KR" b="1" dirty="0">
                <a:latin typeface="+mj-ea"/>
                <a:ea typeface="+mj-ea"/>
              </a:rPr>
              <a:t>: </a:t>
            </a:r>
            <a:r>
              <a:rPr lang="ko-KR" altLang="en-US" b="1" dirty="0">
                <a:latin typeface="+mj-ea"/>
                <a:ea typeface="+mj-ea"/>
              </a:rPr>
              <a:t>경기도 고양시 아파트 단지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CC2AE4-43C7-4AA1-BA17-1EFED1E20A67}"/>
              </a:ext>
            </a:extLst>
          </p:cNvPr>
          <p:cNvSpPr/>
          <p:nvPr/>
        </p:nvSpPr>
        <p:spPr>
          <a:xfrm>
            <a:off x="3762421" y="5157076"/>
            <a:ext cx="610003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+mn-ea"/>
              </a:rPr>
              <a:t>감정</a:t>
            </a:r>
            <a:r>
              <a:rPr lang="en-US" altLang="ko-KR" b="1" dirty="0">
                <a:latin typeface="+mn-ea"/>
              </a:rPr>
              <a:t>on </a:t>
            </a:r>
            <a:r>
              <a:rPr lang="ko-KR" altLang="en-US" b="1" dirty="0" err="1">
                <a:latin typeface="+mn-ea"/>
              </a:rPr>
              <a:t>워킹맘</a:t>
            </a:r>
            <a:r>
              <a:rPr lang="ko-KR" altLang="en-US" b="1" dirty="0">
                <a:latin typeface="+mn-ea"/>
              </a:rPr>
              <a:t> 인터뷰 질문 </a:t>
            </a:r>
            <a:r>
              <a:rPr lang="en-US" altLang="ko-KR" b="1" dirty="0">
                <a:latin typeface="+mn-ea"/>
              </a:rPr>
              <a:t>5</a:t>
            </a:r>
            <a:r>
              <a:rPr lang="ko-KR" altLang="en-US" b="1" dirty="0">
                <a:latin typeface="+mn-ea"/>
              </a:rPr>
              <a:t>단계 요약</a:t>
            </a:r>
          </a:p>
          <a:p>
            <a:pPr>
              <a:buFont typeface="+mj-lt"/>
              <a:buAutoNum type="arabicPeriod"/>
            </a:pPr>
            <a:r>
              <a:rPr lang="ko-KR" altLang="en-US" b="1" dirty="0">
                <a:latin typeface="+mn-ea"/>
              </a:rPr>
              <a:t>일상 이해</a:t>
            </a:r>
            <a:br>
              <a:rPr lang="ko-KR" altLang="en-US" dirty="0">
                <a:latin typeface="+mn-ea"/>
              </a:rPr>
            </a:br>
            <a:r>
              <a:rPr lang="ko-KR" altLang="en-US" dirty="0">
                <a:latin typeface="+mn-ea"/>
              </a:rPr>
              <a:t>→ 아이와의 하루 루틴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소통 시간 확인</a:t>
            </a:r>
          </a:p>
          <a:p>
            <a:pPr>
              <a:buFont typeface="+mj-lt"/>
              <a:buAutoNum type="arabicPeriod"/>
            </a:pPr>
            <a:r>
              <a:rPr lang="ko-KR" altLang="en-US" b="1" dirty="0">
                <a:latin typeface="+mn-ea"/>
              </a:rPr>
              <a:t>감정 문제 인식</a:t>
            </a:r>
            <a:br>
              <a:rPr lang="ko-KR" altLang="en-US" dirty="0">
                <a:latin typeface="+mn-ea"/>
              </a:rPr>
            </a:br>
            <a:r>
              <a:rPr lang="ko-KR" altLang="en-US" dirty="0">
                <a:latin typeface="+mn-ea"/>
              </a:rPr>
              <a:t>→ 아이 감정표현 어려움 경험 및 고민 파악</a:t>
            </a:r>
          </a:p>
          <a:p>
            <a:pPr>
              <a:buFont typeface="+mj-lt"/>
              <a:buAutoNum type="arabicPeriod"/>
            </a:pPr>
            <a:r>
              <a:rPr lang="ko-KR" altLang="en-US" b="1" dirty="0">
                <a:latin typeface="+mn-ea"/>
              </a:rPr>
              <a:t>기존 시도 경험</a:t>
            </a:r>
            <a:br>
              <a:rPr lang="ko-KR" altLang="en-US" dirty="0">
                <a:latin typeface="+mn-ea"/>
              </a:rPr>
            </a:br>
            <a:r>
              <a:rPr lang="ko-KR" altLang="en-US" dirty="0">
                <a:latin typeface="+mn-ea"/>
              </a:rPr>
              <a:t>→ 육아서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놀이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교육 등 사용해본 솔루션과 한계</a:t>
            </a:r>
          </a:p>
          <a:p>
            <a:pPr>
              <a:buFont typeface="+mj-lt"/>
              <a:buAutoNum type="arabicPeriod"/>
            </a:pPr>
            <a:r>
              <a:rPr lang="ko-KR" altLang="en-US" b="1" dirty="0">
                <a:latin typeface="+mn-ea"/>
              </a:rPr>
              <a:t>이상적 해결 기대</a:t>
            </a:r>
            <a:br>
              <a:rPr lang="ko-KR" altLang="en-US" dirty="0">
                <a:latin typeface="+mn-ea"/>
              </a:rPr>
            </a:br>
            <a:r>
              <a:rPr lang="ko-KR" altLang="en-US" dirty="0">
                <a:latin typeface="+mn-ea"/>
              </a:rPr>
              <a:t>→ 바라는 놀이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도구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방법에 대한 니즈 탐색</a:t>
            </a:r>
          </a:p>
          <a:p>
            <a:pPr>
              <a:buFont typeface="+mj-lt"/>
              <a:buAutoNum type="arabicPeriod"/>
            </a:pPr>
            <a:r>
              <a:rPr lang="ko-KR" altLang="en-US" b="1" dirty="0">
                <a:latin typeface="+mn-ea"/>
              </a:rPr>
              <a:t>감정</a:t>
            </a:r>
            <a:r>
              <a:rPr lang="en-US" altLang="ko-KR" b="1" dirty="0">
                <a:latin typeface="+mn-ea"/>
              </a:rPr>
              <a:t>on </a:t>
            </a:r>
            <a:r>
              <a:rPr lang="ko-KR" altLang="en-US" b="1" dirty="0">
                <a:latin typeface="+mn-ea"/>
              </a:rPr>
              <a:t>반응 테스트</a:t>
            </a:r>
            <a:br>
              <a:rPr lang="ko-KR" altLang="en-US" dirty="0">
                <a:latin typeface="+mn-ea"/>
              </a:rPr>
            </a:br>
            <a:r>
              <a:rPr lang="ko-KR" altLang="en-US" dirty="0">
                <a:latin typeface="+mn-ea"/>
              </a:rPr>
              <a:t>→ 감정 캐릭터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놀이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일기 구성 제안에 대한 공감도 확인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625D31-420F-420C-8F78-9FD2642E4F44}"/>
              </a:ext>
            </a:extLst>
          </p:cNvPr>
          <p:cNvSpPr/>
          <p:nvPr/>
        </p:nvSpPr>
        <p:spPr>
          <a:xfrm>
            <a:off x="10542044" y="2721133"/>
            <a:ext cx="87757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b="1" dirty="0">
                <a:latin typeface="+mj-ea"/>
                <a:ea typeface="+mj-ea"/>
              </a:rPr>
              <a:t> 사전 질문지 결과 감정</a:t>
            </a:r>
            <a:r>
              <a:rPr lang="en-US" altLang="ko-KR" b="1" dirty="0">
                <a:latin typeface="+mj-ea"/>
                <a:ea typeface="+mj-ea"/>
              </a:rPr>
              <a:t>/</a:t>
            </a:r>
            <a:r>
              <a:rPr lang="ko-KR" altLang="en-US" b="1" dirty="0">
                <a:latin typeface="+mj-ea"/>
                <a:ea typeface="+mj-ea"/>
              </a:rPr>
              <a:t>육아 관련 고민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아이가 학교에서 있었던 일을 잘 이야기하지 않음</a:t>
            </a:r>
            <a:r>
              <a:rPr lang="en-US" altLang="ko-KR" dirty="0">
                <a:latin typeface="+mj-ea"/>
                <a:ea typeface="+mj-ea"/>
              </a:rPr>
              <a:t>. </a:t>
            </a:r>
            <a:r>
              <a:rPr lang="ko-KR" altLang="en-US" dirty="0">
                <a:latin typeface="+mj-ea"/>
                <a:ea typeface="+mj-ea"/>
              </a:rPr>
              <a:t>감정 표현이 서툴러서 걱정됨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집에 오면 짜증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불만으로 대화를 시작하는 경우가 많음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퇴근 후 아이와 함께하는 시간이 짧아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어떻게 연결될지 늘 고민함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유튜브로 감정 코칭 영상을 보며 따라해봤지만 실천이 어려워 중단함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5"/>
            <a:ext cx="17556480" cy="987552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B78DF04-94F5-4B8C-9623-666FDF15CB0B}"/>
              </a:ext>
            </a:extLst>
          </p:cNvPr>
          <p:cNvSpPr/>
          <p:nvPr/>
        </p:nvSpPr>
        <p:spPr>
          <a:xfrm>
            <a:off x="3652971" y="1643499"/>
            <a:ext cx="108045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2025.05.01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20</a:t>
            </a:r>
            <a:r>
              <a:rPr lang="ko-KR" altLang="en-US" dirty="0">
                <a:latin typeface="+mj-ea"/>
                <a:ea typeface="+mj-ea"/>
              </a:rPr>
              <a:t>시 </a:t>
            </a:r>
            <a:r>
              <a:rPr lang="en-US" altLang="ko-KR" dirty="0">
                <a:latin typeface="+mj-ea"/>
                <a:ea typeface="+mj-ea"/>
              </a:rPr>
              <a:t>00</a:t>
            </a:r>
            <a:r>
              <a:rPr lang="ko-KR" altLang="en-US" dirty="0">
                <a:latin typeface="+mj-ea"/>
                <a:ea typeface="+mj-ea"/>
              </a:rPr>
              <a:t>분 </a:t>
            </a:r>
            <a:r>
              <a:rPr lang="en-US" altLang="ko-KR" dirty="0">
                <a:latin typeface="+mj-ea"/>
                <a:ea typeface="+mj-ea"/>
              </a:rPr>
              <a:t>~ 21</a:t>
            </a:r>
            <a:r>
              <a:rPr lang="ko-KR" altLang="en-US" dirty="0">
                <a:latin typeface="+mj-ea"/>
                <a:ea typeface="+mj-ea"/>
              </a:rPr>
              <a:t>시 </a:t>
            </a:r>
            <a:r>
              <a:rPr lang="en-US" altLang="ko-KR" dirty="0">
                <a:latin typeface="+mj-ea"/>
                <a:ea typeface="+mj-ea"/>
              </a:rPr>
              <a:t>30(</a:t>
            </a:r>
            <a:r>
              <a:rPr lang="ko-KR" altLang="en-US" dirty="0">
                <a:latin typeface="+mj-ea"/>
                <a:ea typeface="+mj-ea"/>
              </a:rPr>
              <a:t>퇴근 후 아이들을 </a:t>
            </a:r>
            <a:r>
              <a:rPr lang="ko-KR" altLang="en-US" dirty="0" err="1">
                <a:latin typeface="+mj-ea"/>
                <a:ea typeface="+mj-ea"/>
              </a:rPr>
              <a:t>쳉긴</a:t>
            </a:r>
            <a:r>
              <a:rPr lang="ko-KR" altLang="en-US" dirty="0">
                <a:latin typeface="+mj-ea"/>
                <a:ea typeface="+mj-ea"/>
              </a:rPr>
              <a:t> 후만 만남</a:t>
            </a:r>
            <a:r>
              <a:rPr lang="en-US" altLang="ko-KR" dirty="0">
                <a:latin typeface="+mj-ea"/>
                <a:ea typeface="+mj-ea"/>
              </a:rPr>
              <a:t>)/1</a:t>
            </a:r>
            <a:r>
              <a:rPr lang="ko-KR" altLang="en-US" dirty="0">
                <a:latin typeface="+mj-ea"/>
                <a:ea typeface="+mj-ea"/>
              </a:rPr>
              <a:t>명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>
                <a:latin typeface="+mj-ea"/>
                <a:ea typeface="+mj-ea"/>
              </a:rPr>
              <a:t>사전질문지 검사</a:t>
            </a:r>
            <a:r>
              <a:rPr lang="en-US" altLang="ko-KR" dirty="0">
                <a:latin typeface="+mj-ea"/>
                <a:ea typeface="+mj-ea"/>
              </a:rPr>
              <a:t>,</a:t>
            </a:r>
            <a:r>
              <a:rPr lang="ko-KR" altLang="en-US" dirty="0">
                <a:latin typeface="+mj-ea"/>
                <a:ea typeface="+mj-ea"/>
              </a:rPr>
              <a:t>대면 인터뷰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408DEA-C9B7-47F9-916E-B0E2D9CDF2CB}"/>
              </a:ext>
            </a:extLst>
          </p:cNvPr>
          <p:cNvSpPr/>
          <p:nvPr/>
        </p:nvSpPr>
        <p:spPr>
          <a:xfrm>
            <a:off x="3649329" y="2484714"/>
            <a:ext cx="99927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"</a:t>
            </a:r>
            <a:r>
              <a:rPr lang="ko-KR" altLang="en-US" dirty="0" err="1">
                <a:latin typeface="+mj-ea"/>
                <a:ea typeface="+mj-ea"/>
              </a:rPr>
              <a:t>워킹맘은</a:t>
            </a:r>
            <a:r>
              <a:rPr lang="ko-KR" altLang="en-US" dirty="0">
                <a:latin typeface="+mj-ea"/>
                <a:ea typeface="+mj-ea"/>
              </a:rPr>
              <a:t> 하루 </a:t>
            </a:r>
            <a:r>
              <a:rPr lang="en-US" altLang="ko-KR" dirty="0">
                <a:latin typeface="+mj-ea"/>
                <a:ea typeface="+mj-ea"/>
              </a:rPr>
              <a:t>10</a:t>
            </a:r>
            <a:r>
              <a:rPr lang="ko-KR" altLang="en-US" dirty="0">
                <a:latin typeface="+mj-ea"/>
                <a:ea typeface="+mj-ea"/>
              </a:rPr>
              <a:t>분 감정 놀이 콘텐츠로 자녀와의 소통 만족도와 정서 회복감을 높일 수 있다</a:t>
            </a:r>
            <a:r>
              <a:rPr lang="en-US" altLang="ko-KR" dirty="0">
                <a:latin typeface="+mj-ea"/>
                <a:ea typeface="+mj-ea"/>
              </a:rPr>
              <a:t>."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7650E7A-8F66-4CF2-BA1C-8D05C367385E}"/>
              </a:ext>
            </a:extLst>
          </p:cNvPr>
          <p:cNvSpPr/>
          <p:nvPr/>
        </p:nvSpPr>
        <p:spPr>
          <a:xfrm>
            <a:off x="3649251" y="3929499"/>
            <a:ext cx="11971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아이가 학교에서 있었던 일을 잘 이야기하지 않음</a:t>
            </a:r>
            <a:r>
              <a:rPr lang="en-US" altLang="ko-KR" dirty="0">
                <a:latin typeface="+mj-ea"/>
                <a:ea typeface="+mj-ea"/>
              </a:rPr>
              <a:t>. </a:t>
            </a:r>
            <a:r>
              <a:rPr lang="ko-KR" altLang="en-US" dirty="0">
                <a:latin typeface="+mj-ea"/>
                <a:ea typeface="+mj-ea"/>
              </a:rPr>
              <a:t>감정 표현이 서툴러서 걱정으로 고민중 프로그램 니즈 확인</a:t>
            </a:r>
            <a:r>
              <a:rPr lang="en-US" altLang="ko-KR" dirty="0">
                <a:latin typeface="+mj-ea"/>
                <a:ea typeface="+mj-ea"/>
              </a:rPr>
              <a:t>.(0).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D0F4ED5-325F-4634-9AA8-535BA01DFD82}"/>
              </a:ext>
            </a:extLst>
          </p:cNvPr>
          <p:cNvSpPr/>
          <p:nvPr/>
        </p:nvSpPr>
        <p:spPr>
          <a:xfrm>
            <a:off x="3531763" y="4383127"/>
            <a:ext cx="99148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 </a:t>
            </a:r>
            <a:r>
              <a:rPr lang="ko-KR" altLang="en-US" dirty="0">
                <a:latin typeface="+mj-ea"/>
                <a:ea typeface="+mj-ea"/>
              </a:rPr>
              <a:t>캐릭터를 이용한 감정카드 놀아 제품으로 아이와 감정에 대해 자연스럽게 이야기하게 됐다</a:t>
            </a:r>
            <a:r>
              <a:rPr lang="en-US" altLang="ko-KR" dirty="0">
                <a:latin typeface="+mj-ea"/>
                <a:ea typeface="+mj-ea"/>
              </a:rPr>
              <a:t>.(0)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39E080D-6053-428B-B558-C9FA3746FF6B}"/>
              </a:ext>
            </a:extLst>
          </p:cNvPr>
          <p:cNvSpPr/>
          <p:nvPr/>
        </p:nvSpPr>
        <p:spPr>
          <a:xfrm>
            <a:off x="3652971" y="4794419"/>
            <a:ext cx="115547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퇴근하고 밥하고 숙제까지 시키면 </a:t>
            </a:r>
            <a:r>
              <a:rPr lang="en-US" altLang="ko-KR" dirty="0">
                <a:latin typeface="+mj-ea"/>
                <a:ea typeface="+mj-ea"/>
              </a:rPr>
              <a:t>,</a:t>
            </a:r>
            <a:r>
              <a:rPr lang="ko-KR" altLang="en-US" dirty="0">
                <a:latin typeface="+mj-ea"/>
                <a:ea typeface="+mj-ea"/>
              </a:rPr>
              <a:t>사실 아무것도 하기 싫어서 </a:t>
            </a:r>
            <a:r>
              <a:rPr lang="ko-KR" altLang="en-US" dirty="0" err="1">
                <a:latin typeface="+mj-ea"/>
                <a:ea typeface="+mj-ea"/>
              </a:rPr>
              <a:t>아이랑</a:t>
            </a:r>
            <a:r>
              <a:rPr lang="ko-KR" altLang="en-US" dirty="0">
                <a:latin typeface="+mj-ea"/>
                <a:ea typeface="+mj-ea"/>
              </a:rPr>
              <a:t> 정서교류를 할 시간이 없을 때가 있다</a:t>
            </a:r>
            <a:r>
              <a:rPr lang="en-US" altLang="ko-KR" dirty="0">
                <a:latin typeface="+mj-ea"/>
                <a:ea typeface="+mj-ea"/>
              </a:rPr>
              <a:t>.(0)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5070930-3E72-4AC8-9CE0-2BD31C8A44A9}"/>
              </a:ext>
            </a:extLst>
          </p:cNvPr>
          <p:cNvSpPr/>
          <p:nvPr/>
        </p:nvSpPr>
        <p:spPr>
          <a:xfrm>
            <a:off x="5099698" y="3376652"/>
            <a:ext cx="118167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감정</a:t>
            </a:r>
            <a:r>
              <a:rPr lang="en-US" altLang="ko-KR" dirty="0"/>
              <a:t>on</a:t>
            </a:r>
            <a:r>
              <a:rPr lang="ko-KR" altLang="en-US" dirty="0"/>
              <a:t>의 ‘짧은 시간’</a:t>
            </a:r>
            <a:r>
              <a:rPr lang="en-US" altLang="ko-KR" dirty="0"/>
              <a:t>, ‘</a:t>
            </a:r>
            <a:r>
              <a:rPr lang="ko-KR" altLang="en-US" dirty="0"/>
              <a:t>놀이 기반’</a:t>
            </a:r>
            <a:r>
              <a:rPr lang="en-US" altLang="ko-KR" dirty="0"/>
              <a:t>, ‘</a:t>
            </a:r>
            <a:r>
              <a:rPr lang="ko-KR" altLang="en-US" dirty="0"/>
              <a:t>감정 캐릭터 </a:t>
            </a:r>
            <a:r>
              <a:rPr lang="ko-KR" altLang="en-US" dirty="0" err="1"/>
              <a:t>중심’이라는</a:t>
            </a:r>
            <a:r>
              <a:rPr lang="ko-KR" altLang="en-US" dirty="0"/>
              <a:t> 접근법이 실제 </a:t>
            </a:r>
            <a:r>
              <a:rPr lang="ko-KR" altLang="en-US" dirty="0" err="1"/>
              <a:t>워킹맘에게</a:t>
            </a:r>
            <a:r>
              <a:rPr lang="ko-KR" altLang="en-US" dirty="0"/>
              <a:t>  </a:t>
            </a:r>
            <a:r>
              <a:rPr lang="ko-KR" altLang="en-US" dirty="0" err="1"/>
              <a:t>지속가능할</a:t>
            </a:r>
            <a:r>
              <a:rPr lang="ko-KR" altLang="en-US" dirty="0"/>
              <a:t> 수 있다</a:t>
            </a:r>
            <a:r>
              <a:rPr lang="en-US" altLang="ko-KR" dirty="0"/>
              <a:t>(x)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2E80E86-CC77-4FE4-92E8-F2F008625E73}"/>
              </a:ext>
            </a:extLst>
          </p:cNvPr>
          <p:cNvSpPr/>
          <p:nvPr/>
        </p:nvSpPr>
        <p:spPr>
          <a:xfrm>
            <a:off x="3649251" y="6073427"/>
            <a:ext cx="63960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ko-KR" altLang="en-US" dirty="0">
                <a:latin typeface="+mj-ea"/>
                <a:ea typeface="+mj-ea"/>
              </a:rPr>
              <a:t>전반적으로는 자녀와의 관계 개선에 긍정적인 반응이 많았고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실제 구매나 추천 의향도 높게 나타났다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B067274-1667-41A5-98B9-44F0F8E69B71}"/>
              </a:ext>
            </a:extLst>
          </p:cNvPr>
          <p:cNvSpPr/>
          <p:nvPr/>
        </p:nvSpPr>
        <p:spPr>
          <a:xfrm>
            <a:off x="3673808" y="6814696"/>
            <a:ext cx="63715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2.</a:t>
            </a:r>
            <a:r>
              <a:rPr lang="ko-KR" altLang="en-US" dirty="0">
                <a:latin typeface="+mj-ea"/>
                <a:ea typeface="+mj-ea"/>
              </a:rPr>
              <a:t>하루 </a:t>
            </a:r>
            <a:r>
              <a:rPr lang="en-US" altLang="ko-KR" dirty="0">
                <a:latin typeface="+mj-ea"/>
                <a:ea typeface="+mj-ea"/>
              </a:rPr>
              <a:t>10</a:t>
            </a:r>
            <a:r>
              <a:rPr lang="ko-KR" altLang="en-US" dirty="0">
                <a:latin typeface="+mj-ea"/>
                <a:ea typeface="+mj-ea"/>
              </a:rPr>
              <a:t>분 구성은 </a:t>
            </a:r>
            <a:r>
              <a:rPr lang="ko-KR" altLang="en-US" dirty="0" err="1">
                <a:latin typeface="+mj-ea"/>
                <a:ea typeface="+mj-ea"/>
              </a:rPr>
              <a:t>워킹맘에게</a:t>
            </a:r>
            <a:r>
              <a:rPr lang="ko-KR" altLang="en-US" dirty="0">
                <a:latin typeface="+mj-ea"/>
                <a:ea typeface="+mj-ea"/>
              </a:rPr>
              <a:t> 시간 부담을 줄여 실천 가능성을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높였으나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일정 확보가 항상 쉽지는 않았다</a:t>
            </a:r>
            <a:r>
              <a:rPr lang="en-US" altLang="ko-KR" dirty="0">
                <a:latin typeface="+mj-ea"/>
                <a:ea typeface="+mj-ea"/>
              </a:rPr>
              <a:t>.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B8C9A2-5980-40F4-AA8A-F63DF04216A6}"/>
              </a:ext>
            </a:extLst>
          </p:cNvPr>
          <p:cNvSpPr/>
          <p:nvPr/>
        </p:nvSpPr>
        <p:spPr>
          <a:xfrm>
            <a:off x="3673808" y="7582634"/>
            <a:ext cx="59535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3.</a:t>
            </a:r>
            <a:r>
              <a:rPr lang="ko-KR" altLang="en-US" dirty="0">
                <a:latin typeface="+mj-ea"/>
                <a:ea typeface="+mj-ea"/>
              </a:rPr>
              <a:t>감정 캐릭터와 놀이를 활용하면 자녀의 감정 표현을 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자연스럽게 유도할 수 있다는 장점이 있었다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AF6E940-B67E-4A93-8537-57A89856A950}"/>
              </a:ext>
            </a:extLst>
          </p:cNvPr>
          <p:cNvSpPr/>
          <p:nvPr/>
        </p:nvSpPr>
        <p:spPr>
          <a:xfrm>
            <a:off x="3673808" y="8344790"/>
            <a:ext cx="59535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4.</a:t>
            </a:r>
            <a:r>
              <a:rPr lang="ko-KR" altLang="en-US" dirty="0">
                <a:latin typeface="+mj-ea"/>
                <a:ea typeface="+mj-ea"/>
              </a:rPr>
              <a:t>반복 사용 시 흥미 유지가 어려운 경우도 있어 콘텐츠 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다양화가 필요하다는 점이 드러났다</a:t>
            </a:r>
            <a:r>
              <a:rPr lang="en-US" altLang="ko-KR" dirty="0">
                <a:latin typeface="+mj-ea"/>
                <a:ea typeface="+mj-ea"/>
              </a:rPr>
              <a:t>.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B7C8160-0B9C-4CB8-A075-DF32360BEA7C}"/>
              </a:ext>
            </a:extLst>
          </p:cNvPr>
          <p:cNvSpPr/>
          <p:nvPr/>
        </p:nvSpPr>
        <p:spPr>
          <a:xfrm>
            <a:off x="10045337" y="6017881"/>
            <a:ext cx="859700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ko-KR" altLang="en-US" dirty="0" err="1">
                <a:latin typeface="+mj-ea"/>
                <a:ea typeface="+mj-ea"/>
              </a:rPr>
              <a:t>워킹맘은</a:t>
            </a:r>
            <a:r>
              <a:rPr lang="ko-KR" altLang="en-US" dirty="0">
                <a:latin typeface="+mj-ea"/>
                <a:ea typeface="+mj-ea"/>
              </a:rPr>
              <a:t> 자녀의 감정을 이해하고 싶어하지만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방법과 시간이 부족해 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>
                <a:latin typeface="+mj-ea"/>
                <a:ea typeface="+mj-ea"/>
              </a:rPr>
              <a:t>  </a:t>
            </a:r>
            <a:r>
              <a:rPr lang="ko-KR" altLang="en-US" dirty="0">
                <a:latin typeface="+mj-ea"/>
                <a:ea typeface="+mj-ea"/>
              </a:rPr>
              <a:t>실천 가능한 도구를 강하게 원한다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dirty="0">
                <a:latin typeface="+mj-ea"/>
                <a:ea typeface="+mj-ea"/>
              </a:rPr>
              <a:t>짧고 단순한 놀이 형식이 실행 장벽을 낮추고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감정 표현의 진입장벽도</a:t>
            </a:r>
            <a:endParaRPr lang="en-US" altLang="ko-KR" dirty="0">
              <a:latin typeface="+mj-ea"/>
              <a:ea typeface="+mj-ea"/>
            </a:endParaRPr>
          </a:p>
          <a:p>
            <a:pPr>
              <a:buFont typeface="+mj-lt"/>
              <a:buAutoNum type="arabicPeriod"/>
            </a:pPr>
            <a:r>
              <a:rPr lang="ko-KR" altLang="en-US" dirty="0">
                <a:latin typeface="+mj-ea"/>
                <a:ea typeface="+mj-ea"/>
              </a:rPr>
              <a:t> 함께 줄여준다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dirty="0">
                <a:latin typeface="+mj-ea"/>
                <a:ea typeface="+mj-ea"/>
              </a:rPr>
              <a:t>감정 캐릭터는 아이의 흥미를 끌고 대화를 시작하는 유효한 매개체 역할을 한다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dirty="0">
                <a:latin typeface="+mj-ea"/>
                <a:ea typeface="+mj-ea"/>
              </a:rPr>
              <a:t>정서 돌봄은 </a:t>
            </a:r>
            <a:r>
              <a:rPr lang="ko-KR" altLang="en-US" dirty="0" err="1">
                <a:latin typeface="+mj-ea"/>
                <a:ea typeface="+mj-ea"/>
              </a:rPr>
              <a:t>아이뿐만</a:t>
            </a:r>
            <a:r>
              <a:rPr lang="ko-KR" altLang="en-US" dirty="0">
                <a:latin typeface="+mj-ea"/>
                <a:ea typeface="+mj-ea"/>
              </a:rPr>
              <a:t> 아니라 부모 자신에게도 확장되어야 실질적인 만족을 유도할 수 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dirty="0">
                <a:latin typeface="+mj-ea"/>
                <a:ea typeface="+mj-ea"/>
              </a:rPr>
              <a:t>프로그램의 반복 사용을 유도하려면 콘텐츠의 재미 요소와 보상 구조가 함께 설계되어야 한다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550</Words>
  <Application>Microsoft Office PowerPoint</Application>
  <PresentationFormat>사용자 지정</PresentationFormat>
  <Paragraphs>53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지은 구</cp:lastModifiedBy>
  <cp:revision>16</cp:revision>
  <dcterms:created xsi:type="dcterms:W3CDTF">2025-04-24T06:43:19Z</dcterms:created>
  <dcterms:modified xsi:type="dcterms:W3CDTF">2025-05-05T02:59:16Z</dcterms:modified>
</cp:coreProperties>
</file>