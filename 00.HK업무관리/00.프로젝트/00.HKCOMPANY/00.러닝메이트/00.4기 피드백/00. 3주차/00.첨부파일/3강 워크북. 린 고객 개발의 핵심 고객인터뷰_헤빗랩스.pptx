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822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6316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7038814-5A18-B762-065E-3EF03CAB4BF9}"/>
              </a:ext>
            </a:extLst>
          </p:cNvPr>
          <p:cNvSpPr txBox="1"/>
          <p:nvPr/>
        </p:nvSpPr>
        <p:spPr>
          <a:xfrm>
            <a:off x="3914078" y="2497873"/>
            <a:ext cx="5811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건강기능식품 소비자들의 섭취관리에 대한 현황 인터뷰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BEC5E5-23DD-7281-D986-D24283FBC342}"/>
              </a:ext>
            </a:extLst>
          </p:cNvPr>
          <p:cNvSpPr txBox="1"/>
          <p:nvPr/>
        </p:nvSpPr>
        <p:spPr>
          <a:xfrm>
            <a:off x="3914078" y="3590692"/>
            <a:ext cx="104406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건강기능식품 소비자들 중 </a:t>
            </a:r>
            <a:r>
              <a:rPr lang="en-US" altLang="ko-KR" b="1" dirty="0"/>
              <a:t>3</a:t>
            </a:r>
            <a:r>
              <a:rPr lang="ko-KR" altLang="en-US" b="1" dirty="0"/>
              <a:t>개 이상 섭취중인 대상들의 섭취현황</a:t>
            </a:r>
            <a:r>
              <a:rPr lang="en-US" altLang="ko-KR" b="1" dirty="0"/>
              <a:t>(</a:t>
            </a:r>
            <a:r>
              <a:rPr lang="ko-KR" altLang="en-US" b="1" dirty="0"/>
              <a:t>빈도</a:t>
            </a:r>
            <a:r>
              <a:rPr lang="en-US" altLang="ko-KR" b="1" dirty="0"/>
              <a:t>, </a:t>
            </a:r>
            <a:r>
              <a:rPr lang="ko-KR" altLang="en-US" b="1" dirty="0"/>
              <a:t>개수</a:t>
            </a:r>
            <a:r>
              <a:rPr lang="en-US" altLang="ko-KR" b="1" dirty="0"/>
              <a:t>, </a:t>
            </a:r>
            <a:r>
              <a:rPr lang="ko-KR" altLang="en-US" b="1" dirty="0"/>
              <a:t>구매금액 등</a:t>
            </a:r>
            <a:r>
              <a:rPr lang="en-US" altLang="ko-KR" b="1" dirty="0"/>
              <a:t>)</a:t>
            </a:r>
            <a:r>
              <a:rPr lang="ko-KR" altLang="en-US" b="1" dirty="0"/>
              <a:t>을 확인한다</a:t>
            </a:r>
            <a:r>
              <a:rPr lang="en-US" altLang="ko-KR" b="1" dirty="0"/>
              <a:t>.</a:t>
            </a:r>
          </a:p>
          <a:p>
            <a:r>
              <a:rPr lang="ko-KR" altLang="en-US" b="1" dirty="0"/>
              <a:t>섭취 중 불편함을 겪는 사항</a:t>
            </a:r>
            <a:r>
              <a:rPr lang="en-US" altLang="ko-KR" b="1" dirty="0"/>
              <a:t>(</a:t>
            </a:r>
            <a:r>
              <a:rPr lang="ko-KR" altLang="en-US" b="1" dirty="0"/>
              <a:t>꾸준한 섭취</a:t>
            </a:r>
            <a:r>
              <a:rPr lang="en-US" altLang="ko-KR" b="1" dirty="0"/>
              <a:t>, </a:t>
            </a:r>
            <a:r>
              <a:rPr lang="ko-KR" altLang="en-US" b="1" dirty="0"/>
              <a:t>방법</a:t>
            </a:r>
            <a:r>
              <a:rPr lang="en-US" altLang="ko-KR" b="1" dirty="0"/>
              <a:t>, </a:t>
            </a:r>
            <a:r>
              <a:rPr lang="ko-KR" altLang="en-US" b="1" dirty="0"/>
              <a:t>정보 등</a:t>
            </a:r>
            <a:r>
              <a:rPr lang="en-US" altLang="ko-KR" b="1" dirty="0"/>
              <a:t>)</a:t>
            </a:r>
            <a:r>
              <a:rPr lang="ko-KR" altLang="en-US" b="1" dirty="0"/>
              <a:t>에 대해 확인한다</a:t>
            </a:r>
            <a:r>
              <a:rPr lang="en-US" altLang="ko-KR" b="1" dirty="0"/>
              <a:t>.</a:t>
            </a:r>
          </a:p>
          <a:p>
            <a:r>
              <a:rPr lang="ko-KR" altLang="en-US" b="1" dirty="0"/>
              <a:t>구매하게 되는 동기와 방법 등을 확인한다</a:t>
            </a:r>
            <a:r>
              <a:rPr lang="en-US" altLang="ko-KR" b="1" dirty="0"/>
              <a:t>.</a:t>
            </a:r>
            <a:endParaRPr lang="ko-KR" alt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6E9264-BB2A-8E68-A2FC-220E1F54BC94}"/>
              </a:ext>
            </a:extLst>
          </p:cNvPr>
          <p:cNvSpPr txBox="1"/>
          <p:nvPr/>
        </p:nvSpPr>
        <p:spPr>
          <a:xfrm>
            <a:off x="3914078" y="5319132"/>
            <a:ext cx="7612982" cy="8781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b="1" dirty="0"/>
              <a:t>연령기준 만 </a:t>
            </a:r>
            <a:r>
              <a:rPr lang="en-US" altLang="ko-KR" b="1" dirty="0"/>
              <a:t>20</a:t>
            </a:r>
            <a:r>
              <a:rPr lang="ko-KR" altLang="en-US" b="1" dirty="0" err="1"/>
              <a:t>세이상</a:t>
            </a:r>
            <a:r>
              <a:rPr lang="ko-KR" altLang="en-US" b="1" dirty="0"/>
              <a:t> </a:t>
            </a:r>
            <a:r>
              <a:rPr lang="en-US" altLang="ko-KR" b="1" dirty="0"/>
              <a:t>65</a:t>
            </a:r>
            <a:r>
              <a:rPr lang="ko-KR" altLang="en-US" b="1" dirty="0"/>
              <a:t>세 이하의 건강기능식품 소비자</a:t>
            </a:r>
            <a:r>
              <a:rPr lang="en-US" altLang="ko-KR" b="1" dirty="0"/>
              <a:t>(1</a:t>
            </a:r>
            <a:r>
              <a:rPr lang="ko-KR" altLang="en-US" b="1" dirty="0"/>
              <a:t>개 이상 섭취</a:t>
            </a:r>
            <a:r>
              <a:rPr lang="en-US" altLang="ko-KR" b="1" dirty="0"/>
              <a:t>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b="1" dirty="0"/>
              <a:t>최근 </a:t>
            </a:r>
            <a:r>
              <a:rPr lang="en-US" altLang="ko-KR" b="1" dirty="0"/>
              <a:t>1</a:t>
            </a:r>
            <a:r>
              <a:rPr lang="ko-KR" altLang="en-US" b="1" dirty="0"/>
              <a:t>년 이상 구매 및 섭취경험이 있는 소비자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892E68-D8BF-9B03-008B-DB233F45813A}"/>
              </a:ext>
            </a:extLst>
          </p:cNvPr>
          <p:cNvSpPr txBox="1"/>
          <p:nvPr/>
        </p:nvSpPr>
        <p:spPr>
          <a:xfrm>
            <a:off x="3914078" y="7025272"/>
            <a:ext cx="4374916" cy="12936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b="1" dirty="0"/>
              <a:t>1</a:t>
            </a:r>
            <a:r>
              <a:rPr lang="ko-KR" altLang="en-US" b="1" dirty="0"/>
              <a:t>차</a:t>
            </a:r>
            <a:r>
              <a:rPr lang="en-US" altLang="ko-KR" b="1" dirty="0"/>
              <a:t>: 2025</a:t>
            </a:r>
            <a:r>
              <a:rPr lang="ko-KR" altLang="en-US" b="1" dirty="0"/>
              <a:t>년 </a:t>
            </a:r>
            <a:r>
              <a:rPr lang="en-US" altLang="ko-KR" b="1" dirty="0"/>
              <a:t>4</a:t>
            </a:r>
            <a:r>
              <a:rPr lang="ko-KR" altLang="en-US" b="1" dirty="0"/>
              <a:t>월  </a:t>
            </a:r>
            <a:r>
              <a:rPr lang="en-US" altLang="ko-KR" b="1" dirty="0"/>
              <a:t>30</a:t>
            </a:r>
            <a:r>
              <a:rPr lang="ko-KR" altLang="en-US" b="1" dirty="0"/>
              <a:t>일 수요일 오후 </a:t>
            </a:r>
            <a:r>
              <a:rPr lang="en-US" altLang="ko-KR" b="1" dirty="0"/>
              <a:t>3</a:t>
            </a:r>
            <a:r>
              <a:rPr lang="ko-KR" altLang="en-US" b="1" dirty="0"/>
              <a:t>시  </a:t>
            </a:r>
            <a:endParaRPr lang="en-US" altLang="ko-KR" b="1" dirty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b="1" dirty="0"/>
              <a:t>2</a:t>
            </a:r>
            <a:r>
              <a:rPr lang="ko-KR" altLang="en-US" b="1" dirty="0"/>
              <a:t>차</a:t>
            </a:r>
            <a:r>
              <a:rPr lang="en-US" altLang="ko-KR" b="1" dirty="0"/>
              <a:t>: 2025</a:t>
            </a:r>
            <a:r>
              <a:rPr lang="ko-KR" altLang="en-US" b="1" dirty="0"/>
              <a:t>년 </a:t>
            </a:r>
            <a:r>
              <a:rPr lang="en-US" altLang="ko-KR" b="1" dirty="0"/>
              <a:t>5</a:t>
            </a:r>
            <a:r>
              <a:rPr lang="ko-KR" altLang="en-US" b="1" dirty="0"/>
              <a:t>월 </a:t>
            </a:r>
            <a:r>
              <a:rPr lang="en-US" altLang="ko-KR" b="1" dirty="0"/>
              <a:t>1</a:t>
            </a:r>
            <a:r>
              <a:rPr lang="ko-KR" altLang="en-US" b="1" dirty="0"/>
              <a:t>일 목요일  오후 </a:t>
            </a:r>
            <a:r>
              <a:rPr lang="en-US" altLang="ko-KR" b="1" dirty="0"/>
              <a:t>7</a:t>
            </a:r>
            <a:r>
              <a:rPr lang="ko-KR" altLang="en-US" b="1" dirty="0"/>
              <a:t>시</a:t>
            </a:r>
            <a:endParaRPr lang="en-US" altLang="ko-KR" b="1" dirty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b="1" dirty="0"/>
              <a:t>오프라인 대면 인터뷰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FAFD9A-75AE-6439-7ABE-0609B3BC20AE}"/>
              </a:ext>
            </a:extLst>
          </p:cNvPr>
          <p:cNvSpPr txBox="1"/>
          <p:nvPr/>
        </p:nvSpPr>
        <p:spPr>
          <a:xfrm>
            <a:off x="3757964" y="2319467"/>
            <a:ext cx="6367344" cy="1673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/>
              <a:t>1</a:t>
            </a:r>
            <a:r>
              <a:rPr lang="ko-KR" altLang="en-US" sz="1400" b="1" dirty="0"/>
              <a:t>번</a:t>
            </a:r>
            <a:endParaRPr lang="en-US" altLang="ko-KR" sz="1400" b="1" dirty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400" b="1" dirty="0"/>
              <a:t>나이</a:t>
            </a:r>
            <a:r>
              <a:rPr lang="en-US" altLang="ko-KR" sz="1400" b="1" dirty="0"/>
              <a:t>: 35</a:t>
            </a:r>
            <a:r>
              <a:rPr lang="ko-KR" altLang="en-US" sz="1400" b="1" dirty="0"/>
              <a:t>세</a:t>
            </a:r>
            <a:endParaRPr lang="en-US" altLang="ko-KR" sz="1400" b="1" dirty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400" b="1" dirty="0"/>
              <a:t>직업</a:t>
            </a:r>
            <a:r>
              <a:rPr lang="en-US" altLang="ko-KR" sz="1400" b="1" dirty="0"/>
              <a:t>: </a:t>
            </a:r>
            <a:r>
              <a:rPr lang="ko-KR" altLang="en-US" sz="1400" b="1" dirty="0"/>
              <a:t>직장인</a:t>
            </a:r>
            <a:endParaRPr lang="en-US" altLang="ko-KR" sz="1400" b="1" dirty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400" b="1" dirty="0"/>
              <a:t>성별</a:t>
            </a:r>
            <a:r>
              <a:rPr lang="en-US" altLang="ko-KR" sz="1400" b="1" dirty="0"/>
              <a:t>:</a:t>
            </a:r>
            <a:r>
              <a:rPr lang="ko-KR" altLang="en-US" sz="1400" b="1" dirty="0"/>
              <a:t>여성</a:t>
            </a:r>
            <a:endParaRPr lang="en-US" altLang="ko-KR" sz="1400" b="1" dirty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400" b="1" dirty="0"/>
              <a:t>건강기능식품 섭취현황 </a:t>
            </a:r>
            <a:r>
              <a:rPr lang="en-US" altLang="ko-KR" sz="1400" b="1" dirty="0"/>
              <a:t>: </a:t>
            </a:r>
            <a:r>
              <a:rPr lang="ko-KR" altLang="en-US" sz="1400" b="1" dirty="0"/>
              <a:t>종합비타민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유산균 제품 섭취 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0592C1-5B43-10D7-D84F-DC1031FF599A}"/>
              </a:ext>
            </a:extLst>
          </p:cNvPr>
          <p:cNvSpPr txBox="1"/>
          <p:nvPr/>
        </p:nvSpPr>
        <p:spPr>
          <a:xfrm>
            <a:off x="10125308" y="2319466"/>
            <a:ext cx="6367344" cy="1673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/>
              <a:t>2</a:t>
            </a:r>
            <a:r>
              <a:rPr lang="ko-KR" altLang="en-US" sz="1400" b="1" dirty="0"/>
              <a:t>번</a:t>
            </a:r>
            <a:endParaRPr lang="en-US" altLang="ko-KR" sz="1400" b="1" dirty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400" b="1" dirty="0"/>
              <a:t>나이</a:t>
            </a:r>
            <a:r>
              <a:rPr lang="en-US" altLang="ko-KR" sz="1400" b="1" dirty="0"/>
              <a:t>: 43</a:t>
            </a:r>
            <a:r>
              <a:rPr lang="ko-KR" altLang="en-US" sz="1400" b="1" dirty="0"/>
              <a:t>세</a:t>
            </a:r>
            <a:endParaRPr lang="en-US" altLang="ko-KR" sz="1400" b="1" dirty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400" b="1" dirty="0"/>
              <a:t>직업</a:t>
            </a:r>
            <a:r>
              <a:rPr lang="en-US" altLang="ko-KR" sz="1400" b="1" dirty="0"/>
              <a:t>: </a:t>
            </a:r>
            <a:r>
              <a:rPr lang="ko-KR" altLang="en-US" sz="1400" b="1" dirty="0"/>
              <a:t>직장인</a:t>
            </a:r>
            <a:endParaRPr lang="en-US" altLang="ko-KR" sz="1400" b="1" dirty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400" b="1" dirty="0"/>
              <a:t>성별 </a:t>
            </a:r>
            <a:r>
              <a:rPr lang="en-US" altLang="ko-KR" sz="1400" b="1" dirty="0"/>
              <a:t>: </a:t>
            </a:r>
            <a:r>
              <a:rPr lang="ko-KR" altLang="en-US" sz="1400" b="1" dirty="0"/>
              <a:t>남성</a:t>
            </a:r>
            <a:endParaRPr lang="en-US" altLang="ko-KR" sz="1400" b="1" dirty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400" b="1" dirty="0"/>
              <a:t>건강기능식품 섭취현황 </a:t>
            </a:r>
            <a:r>
              <a:rPr lang="en-US" altLang="ko-KR" sz="1400" b="1" dirty="0"/>
              <a:t>: </a:t>
            </a:r>
            <a:r>
              <a:rPr lang="ko-KR" altLang="en-US" sz="1400" b="1" dirty="0"/>
              <a:t>종합비타민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유산균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오메가</a:t>
            </a:r>
            <a:r>
              <a:rPr lang="en-US" altLang="ko-KR" sz="1400" b="1" dirty="0"/>
              <a:t>3, </a:t>
            </a:r>
            <a:r>
              <a:rPr lang="ko-KR" altLang="en-US" sz="1400" b="1" dirty="0" err="1"/>
              <a:t>루테인</a:t>
            </a:r>
            <a:r>
              <a:rPr lang="ko-KR" altLang="en-US" sz="1400" b="1" dirty="0"/>
              <a:t> 섭취 중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47D91A5-C67E-D124-9CD4-71411B1CF1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3634862"/>
              </p:ext>
            </p:extLst>
          </p:nvPr>
        </p:nvGraphicFramePr>
        <p:xfrm>
          <a:off x="3885032" y="5757524"/>
          <a:ext cx="11704110" cy="2042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280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61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기본정보 확인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itchFamily="34" charset="0"/>
                        <a:buChar char="•"/>
                      </a:pPr>
                      <a:r>
                        <a:rPr lang="ko-KR" altLang="en-US" sz="1100" dirty="0"/>
                        <a:t>성별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나이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직업 등</a:t>
                      </a:r>
                      <a:endParaRPr lang="en-US" altLang="ko-KR" sz="1100" dirty="0"/>
                    </a:p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ko-KR" altLang="en-US" sz="1100" dirty="0"/>
                        <a:t>식습관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건강 상 이슈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질환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질별 및 관심증상 등</a:t>
                      </a:r>
                      <a:r>
                        <a:rPr lang="en-US" altLang="ko-KR" sz="1100" dirty="0"/>
                        <a:t>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건강기능식품 섭취현황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ko-KR" altLang="en-US" sz="1100" dirty="0"/>
                        <a:t>어떤 건강기능식품을 섭취하고 있는지</a:t>
                      </a:r>
                      <a:endParaRPr lang="en-US" altLang="ko-KR" sz="1100" dirty="0"/>
                    </a:p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ko-KR" altLang="en-US" sz="1100" dirty="0"/>
                        <a:t>왜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어떻게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언제 해당 상품 등을 구매하였는지</a:t>
                      </a:r>
                      <a:endParaRPr lang="en-US" altLang="ko-KR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건강기능식품 섭취 시 애로사항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ko-KR" altLang="en-US" sz="1100" dirty="0"/>
                        <a:t>건강기능식품을 섭취하면서 겪는 애로사항이 무엇인지</a:t>
                      </a:r>
                      <a:endParaRPr lang="en-US" altLang="ko-KR" sz="1100" dirty="0"/>
                    </a:p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ko-KR" altLang="en-US" sz="1100" dirty="0"/>
                        <a:t>특히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섭취빈도와 섭취시점을 어떻게 확인하고 행동으로 옮기는지</a:t>
                      </a:r>
                      <a:endParaRPr lang="en-US" altLang="ko-KR" sz="1100" dirty="0"/>
                    </a:p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ko-KR" altLang="en-US" sz="1100" dirty="0"/>
                        <a:t>그 외 섭취 시 애로사항은 무엇인지</a:t>
                      </a:r>
                      <a:r>
                        <a:rPr lang="en-US" altLang="ko-KR" sz="1100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건강기능식품 구매의사결정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itchFamily="34" charset="0"/>
                        <a:buChar char="•"/>
                      </a:pPr>
                      <a:r>
                        <a:rPr lang="ko-KR" altLang="en-US" sz="1100" dirty="0"/>
                        <a:t>어떻게 정보를 얻게 되는지</a:t>
                      </a:r>
                      <a:endParaRPr lang="en-US" altLang="ko-KR" sz="1100" dirty="0"/>
                    </a:p>
                    <a:p>
                      <a:pPr marL="171450" indent="-171450" latinLnBrk="1">
                        <a:buFont typeface="Arial" pitchFamily="34" charset="0"/>
                        <a:buChar char="•"/>
                      </a:pPr>
                      <a:r>
                        <a:rPr lang="ko-KR" altLang="en-US" sz="1100" dirty="0"/>
                        <a:t>구매하기까지 어떻게 정보를 추가로 확인하는지</a:t>
                      </a:r>
                      <a:endParaRPr lang="en-US" altLang="ko-KR" sz="1100" dirty="0"/>
                    </a:p>
                    <a:p>
                      <a:pPr marL="171450" indent="-171450" latinLnBrk="1">
                        <a:buFont typeface="Arial" pitchFamily="34" charset="0"/>
                        <a:buChar char="•"/>
                      </a:pPr>
                      <a:r>
                        <a:rPr lang="ko-KR" altLang="en-US" sz="1100" dirty="0"/>
                        <a:t>구매하는 장소 및 방법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결제수단 등이 무엇인지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8DE7190-65EB-4CE4-97EF-4F0A19EE7CF3}"/>
              </a:ext>
            </a:extLst>
          </p:cNvPr>
          <p:cNvSpPr txBox="1"/>
          <p:nvPr/>
        </p:nvSpPr>
        <p:spPr>
          <a:xfrm>
            <a:off x="3769112" y="1561171"/>
            <a:ext cx="7075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altLang="ko-KR" b="1" dirty="0"/>
              <a:t>2025</a:t>
            </a:r>
            <a:r>
              <a:rPr lang="ko-KR" altLang="en-US" b="1" dirty="0"/>
              <a:t>년 </a:t>
            </a:r>
            <a:r>
              <a:rPr lang="en-US" altLang="ko-KR" b="1" dirty="0"/>
              <a:t>4</a:t>
            </a:r>
            <a:r>
              <a:rPr lang="ko-KR" altLang="en-US" b="1" dirty="0"/>
              <a:t>월 </a:t>
            </a:r>
            <a:r>
              <a:rPr lang="en-US" altLang="ko-KR" b="1" dirty="0"/>
              <a:t>30</a:t>
            </a:r>
            <a:r>
              <a:rPr lang="ko-KR" altLang="en-US" b="1" dirty="0"/>
              <a:t>일 수요일 오후 </a:t>
            </a:r>
            <a:r>
              <a:rPr lang="en-US" altLang="ko-KR" b="1" dirty="0"/>
              <a:t>3</a:t>
            </a:r>
            <a:r>
              <a:rPr lang="ko-KR" altLang="en-US" b="1" dirty="0"/>
              <a:t>시</a:t>
            </a:r>
            <a:r>
              <a:rPr lang="en-US" altLang="ko-KR" b="1" dirty="0"/>
              <a:t>~4</a:t>
            </a:r>
            <a:r>
              <a:rPr lang="ko-KR" altLang="en-US" b="1" dirty="0"/>
              <a:t>시 오프라인 대면 인터뷰 진행</a:t>
            </a:r>
            <a:r>
              <a:rPr lang="en-US" altLang="ko-KR" b="1" dirty="0"/>
              <a:t>. </a:t>
            </a:r>
            <a:endParaRPr lang="ko-KR" alt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05FBF4-7B8C-AEC8-AF38-7CDB2354563B}"/>
              </a:ext>
            </a:extLst>
          </p:cNvPr>
          <p:cNvSpPr txBox="1"/>
          <p:nvPr/>
        </p:nvSpPr>
        <p:spPr>
          <a:xfrm>
            <a:off x="3769112" y="2430966"/>
            <a:ext cx="79928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ko-KR" altLang="en-US" b="1" dirty="0"/>
              <a:t>건강기능식품 소비자 중 </a:t>
            </a:r>
            <a:r>
              <a:rPr lang="en-US" altLang="ko-KR" b="1" dirty="0"/>
              <a:t>50% </a:t>
            </a:r>
            <a:r>
              <a:rPr lang="ko-KR" altLang="en-US" b="1" dirty="0"/>
              <a:t>이상이 규칙적인 섭취에 어려움을 </a:t>
            </a:r>
            <a:r>
              <a:rPr lang="ko-KR" altLang="en-US" b="1" dirty="0" err="1"/>
              <a:t>느낄것이다</a:t>
            </a:r>
            <a:endParaRPr lang="ko-KR" alt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60F544-4691-CE27-509D-DFCDD98F3F75}"/>
              </a:ext>
            </a:extLst>
          </p:cNvPr>
          <p:cNvSpPr txBox="1"/>
          <p:nvPr/>
        </p:nvSpPr>
        <p:spPr>
          <a:xfrm>
            <a:off x="3769112" y="3880624"/>
            <a:ext cx="12500538" cy="10266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400" b="1" dirty="0"/>
              <a:t>건강기능식품의 규칙적인 섭취</a:t>
            </a:r>
            <a:r>
              <a:rPr lang="en-US" altLang="ko-KR" sz="1400" dirty="0"/>
              <a:t>: </a:t>
            </a:r>
            <a:r>
              <a:rPr lang="ko-KR" altLang="en-US" sz="1400" dirty="0"/>
              <a:t>보통 아침 출근 후 알람을 맞춰놓고 한꺼번에 섭취하고 있는데 긴급 업무요청이나 미팅이 생기면 놓치기도 한다</a:t>
            </a:r>
            <a:r>
              <a:rPr lang="en-US" altLang="ko-KR" sz="1400" dirty="0"/>
              <a:t>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400" b="1" dirty="0" err="1"/>
              <a:t>섭취시</a:t>
            </a:r>
            <a:r>
              <a:rPr lang="ko-KR" altLang="en-US" sz="1400" b="1" dirty="0"/>
              <a:t> 애로사항 </a:t>
            </a:r>
            <a:r>
              <a:rPr lang="en-US" altLang="ko-KR" sz="1400" b="1" dirty="0"/>
              <a:t>: </a:t>
            </a:r>
            <a:r>
              <a:rPr lang="ko-KR" altLang="en-US" sz="1400" dirty="0"/>
              <a:t>규칙적으로 </a:t>
            </a:r>
            <a:r>
              <a:rPr lang="ko-KR" altLang="en-US" sz="1400" dirty="0" err="1"/>
              <a:t>챙겨먹는것도</a:t>
            </a:r>
            <a:r>
              <a:rPr lang="ko-KR" altLang="en-US" sz="1400" dirty="0"/>
              <a:t> </a:t>
            </a:r>
            <a:r>
              <a:rPr lang="ko-KR" altLang="en-US" sz="1400" dirty="0" err="1"/>
              <a:t>쉽지않고</a:t>
            </a:r>
            <a:r>
              <a:rPr lang="en-US" altLang="ko-KR" sz="1400" dirty="0"/>
              <a:t>,</a:t>
            </a:r>
            <a:r>
              <a:rPr lang="ko-KR" altLang="en-US" sz="1400" dirty="0"/>
              <a:t> 하루 중 언제 </a:t>
            </a:r>
            <a:r>
              <a:rPr lang="ko-KR" altLang="en-US" sz="1400" dirty="0" err="1"/>
              <a:t>섭취하는것이</a:t>
            </a:r>
            <a:r>
              <a:rPr lang="ko-KR" altLang="en-US" sz="1400" dirty="0"/>
              <a:t> 좋은 지</a:t>
            </a:r>
            <a:r>
              <a:rPr lang="en-US" altLang="ko-KR" sz="1400" dirty="0"/>
              <a:t> </a:t>
            </a:r>
            <a:r>
              <a:rPr lang="ko-KR" altLang="en-US" sz="1400" dirty="0"/>
              <a:t>혹은 식전 식후 등의 이벤트에 맞춰 어떻게 </a:t>
            </a:r>
            <a:r>
              <a:rPr lang="ko-KR" altLang="en-US" sz="1400" dirty="0" err="1"/>
              <a:t>먹어야할지</a:t>
            </a:r>
            <a:r>
              <a:rPr lang="ko-KR" altLang="en-US" sz="1400" dirty="0"/>
              <a:t> 모르겠다</a:t>
            </a:r>
            <a:r>
              <a:rPr lang="en-US" altLang="ko-KR" sz="1400" dirty="0"/>
              <a:t>.</a:t>
            </a:r>
            <a:endParaRPr lang="en-US" altLang="ko-KR" sz="1400" b="1" dirty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400" b="1" dirty="0"/>
              <a:t>추가적인 애로사항 </a:t>
            </a:r>
            <a:r>
              <a:rPr lang="en-US" altLang="ko-KR" sz="1400" b="1" dirty="0"/>
              <a:t>: </a:t>
            </a:r>
            <a:r>
              <a:rPr lang="ko-KR" altLang="en-US" sz="1400" dirty="0"/>
              <a:t>유투브에서 약사가 추천하는 상품을 구매하긴 했는데 이게 정말 나에게 최선의 상품인지 적절한 가격에 구매한 것인지 모르겠다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8E7308-B2E5-E0ED-E6BA-B34CCC8B5FD9}"/>
              </a:ext>
            </a:extLst>
          </p:cNvPr>
          <p:cNvSpPr txBox="1"/>
          <p:nvPr/>
        </p:nvSpPr>
        <p:spPr>
          <a:xfrm>
            <a:off x="3769112" y="6077414"/>
            <a:ext cx="5843239" cy="1673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400" b="1" dirty="0"/>
              <a:t>직장인의 경우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규칙적인 생활을 하는 것처럼 보이나 실제로는</a:t>
            </a:r>
            <a:endParaRPr lang="en-US" altLang="ko-KR" sz="1400" b="1" dirty="0"/>
          </a:p>
          <a:p>
            <a:pPr>
              <a:lnSpc>
                <a:spcPct val="150000"/>
              </a:lnSpc>
            </a:pPr>
            <a:r>
              <a:rPr lang="en-US" altLang="ko-KR" sz="1400" b="1" dirty="0"/>
              <a:t>        </a:t>
            </a:r>
            <a:r>
              <a:rPr lang="ko-KR" altLang="en-US" sz="1400" b="1" dirty="0"/>
              <a:t>다양한 업무상황에 따라 변수가 발생하여 규칙적인 섭취가 어려움</a:t>
            </a:r>
            <a:endParaRPr lang="en-US" altLang="ko-KR" sz="1400" b="1" dirty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400" b="1" dirty="0"/>
              <a:t>섭취시점도 중요하지만 섭취방법 및 하루 중 주요생활패턴 등과</a:t>
            </a:r>
            <a:endParaRPr lang="en-US" altLang="ko-KR" sz="1400" b="1" dirty="0"/>
          </a:p>
          <a:p>
            <a:pPr>
              <a:lnSpc>
                <a:spcPct val="150000"/>
              </a:lnSpc>
            </a:pPr>
            <a:r>
              <a:rPr lang="en-US" altLang="ko-KR" sz="1400" b="1" dirty="0"/>
              <a:t>        </a:t>
            </a:r>
            <a:r>
              <a:rPr lang="ko-KR" altLang="en-US" sz="1400" b="1" dirty="0"/>
              <a:t>관련하여 잘 섭취하는 방법에 대해서도 </a:t>
            </a:r>
            <a:r>
              <a:rPr lang="ko-KR" altLang="en-US" sz="1400" b="1" dirty="0" err="1"/>
              <a:t>알고싶어</a:t>
            </a:r>
            <a:r>
              <a:rPr lang="ko-KR" altLang="en-US" sz="1400" b="1" dirty="0"/>
              <a:t> 함</a:t>
            </a:r>
            <a:endParaRPr lang="ko-KR" altLang="en-US" sz="1400" dirty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400" dirty="0"/>
              <a:t>구매시점부터 적절한 정보확인에 대한 니즈가 있음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A4623C-2AD8-B2F2-E9EC-2AAD60123281}"/>
              </a:ext>
            </a:extLst>
          </p:cNvPr>
          <p:cNvSpPr txBox="1"/>
          <p:nvPr/>
        </p:nvSpPr>
        <p:spPr>
          <a:xfrm>
            <a:off x="10328938" y="5987641"/>
            <a:ext cx="5843239" cy="1351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400" b="1" dirty="0"/>
              <a:t>상품의 구매</a:t>
            </a:r>
            <a:r>
              <a:rPr lang="en-US" altLang="ko-KR" sz="1400" b="1" dirty="0"/>
              <a:t>/</a:t>
            </a:r>
            <a:r>
              <a:rPr lang="ko-KR" altLang="en-US" sz="1400" b="1" dirty="0"/>
              <a:t>섭취 단계와 관련하여 다양한 정보확인 및 알람에 대한 니즈 존재</a:t>
            </a:r>
            <a:endParaRPr lang="ko-KR" altLang="en-US" sz="1400" dirty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400" dirty="0"/>
              <a:t>상품 자체에 대한 정보와 함께 나의 생활습관 등 개인정보와 연계한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       </a:t>
            </a:r>
            <a:r>
              <a:rPr lang="ko-KR" altLang="en-US" sz="1400" dirty="0"/>
              <a:t>섭취방법 등에 대한 정보확인 니즈 존재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1028</TotalTime>
  <Words>397</Words>
  <Application>Microsoft Office PowerPoint</Application>
  <PresentationFormat>사용자 지정</PresentationFormat>
  <Paragraphs>53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중희 최</cp:lastModifiedBy>
  <cp:revision>2</cp:revision>
  <dcterms:created xsi:type="dcterms:W3CDTF">2025-04-24T06:43:19Z</dcterms:created>
  <dcterms:modified xsi:type="dcterms:W3CDTF">2025-05-04T15:19:26Z</dcterms:modified>
</cp:coreProperties>
</file>