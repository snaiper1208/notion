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0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189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02" y="0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D0F85D7-03EA-429F-82B3-3C72078E6E71}"/>
              </a:ext>
            </a:extLst>
          </p:cNvPr>
          <p:cNvSpPr/>
          <p:nvPr/>
        </p:nvSpPr>
        <p:spPr>
          <a:xfrm>
            <a:off x="13955852" y="1990838"/>
            <a:ext cx="291269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정서표현이 어려운 </a:t>
            </a:r>
            <a:r>
              <a:rPr lang="ko-KR" altLang="en-US" dirty="0" err="1">
                <a:latin typeface="+mj-ea"/>
                <a:ea typeface="+mj-ea"/>
              </a:rPr>
              <a:t>워킹맘과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5~10</a:t>
            </a:r>
            <a:r>
              <a:rPr lang="ko-KR" altLang="en-US" dirty="0">
                <a:latin typeface="+mj-ea"/>
                <a:ea typeface="+mj-ea"/>
              </a:rPr>
              <a:t>세 자녀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감정관리 교육이 필요한 경계지능 아동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가족 간 감정소통에 어려움을 겪는 일반 가정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아동</a:t>
            </a:r>
            <a:r>
              <a:rPr lang="en-US" altLang="ko-KR" dirty="0">
                <a:latin typeface="+mj-ea"/>
                <a:ea typeface="+mj-ea"/>
              </a:rPr>
              <a:t>·</a:t>
            </a:r>
            <a:r>
              <a:rPr lang="ko-KR" altLang="en-US" dirty="0">
                <a:latin typeface="+mj-ea"/>
                <a:ea typeface="+mj-ea"/>
              </a:rPr>
              <a:t>청소년 대상 기관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학교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복지관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도서관 등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B2B </a:t>
            </a:r>
            <a:r>
              <a:rPr lang="ko-KR" altLang="en-US" dirty="0">
                <a:latin typeface="+mj-ea"/>
                <a:ea typeface="+mj-ea"/>
              </a:rPr>
              <a:t>대상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공공기관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지자체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기업 </a:t>
            </a:r>
            <a:r>
              <a:rPr lang="en-US" altLang="ko-KR" dirty="0">
                <a:latin typeface="+mj-ea"/>
                <a:ea typeface="+mj-ea"/>
              </a:rPr>
              <a:t>CSR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7CDC3C-5651-4C6F-8A96-47C6AE11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7556163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C726AA-1682-47FE-8E24-E233467D4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21C532-FB64-485E-B637-7DD1B598096D}"/>
              </a:ext>
            </a:extLst>
          </p:cNvPr>
          <p:cNvSpPr/>
          <p:nvPr/>
        </p:nvSpPr>
        <p:spPr>
          <a:xfrm>
            <a:off x="7302455" y="1899398"/>
            <a:ext cx="229874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solidFill>
                  <a:prstClr val="black"/>
                </a:solidFill>
                <a:latin typeface="+mj-ea"/>
                <a:ea typeface="+mj-ea"/>
              </a:rPr>
              <a:t>감정 표현을 유도하는 캐릭터 기반 </a:t>
            </a:r>
            <a:r>
              <a:rPr lang="ko-KR" altLang="ko-KR" dirty="0" err="1">
                <a:solidFill>
                  <a:prstClr val="black"/>
                </a:solidFill>
                <a:latin typeface="+mj-ea"/>
                <a:ea typeface="+mj-ea"/>
              </a:rPr>
              <a:t>교구·키트</a:t>
            </a:r>
            <a:endParaRPr lang="ko-KR" altLang="ko-KR" dirty="0">
              <a:solidFill>
                <a:prstClr val="black"/>
              </a:solidFill>
              <a:latin typeface="+mj-ea"/>
              <a:ea typeface="+mj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solidFill>
                  <a:prstClr val="black"/>
                </a:solidFill>
                <a:latin typeface="+mj-ea"/>
                <a:ea typeface="+mj-ea"/>
              </a:rPr>
              <a:t>감정 표현, 공감, 해소를 위한 놀이 프로그램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 err="1">
                <a:solidFill>
                  <a:prstClr val="black"/>
                </a:solidFill>
                <a:latin typeface="+mj-ea"/>
                <a:ea typeface="+mj-ea"/>
              </a:rPr>
              <a:t>워킹맘을</a:t>
            </a:r>
            <a:r>
              <a:rPr lang="ko-KR" altLang="ko-KR" dirty="0">
                <a:solidFill>
                  <a:prstClr val="black"/>
                </a:solidFill>
                <a:latin typeface="+mj-ea"/>
                <a:ea typeface="+mj-ea"/>
              </a:rPr>
              <a:t> 위한 감정일기 앱 연계 및 전문가 코칭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solidFill>
                  <a:prstClr val="black"/>
                </a:solidFill>
                <a:latin typeface="+mj-ea"/>
                <a:ea typeface="+mj-ea"/>
              </a:rPr>
              <a:t>가족 중심 </a:t>
            </a:r>
            <a:r>
              <a:rPr lang="ko-KR" altLang="ko-KR" dirty="0" err="1">
                <a:solidFill>
                  <a:prstClr val="black"/>
                </a:solidFill>
                <a:latin typeface="+mj-ea"/>
                <a:ea typeface="+mj-ea"/>
              </a:rPr>
              <a:t>정서돌봄</a:t>
            </a:r>
            <a:r>
              <a:rPr lang="ko-KR" altLang="ko-KR" dirty="0">
                <a:solidFill>
                  <a:prstClr val="black"/>
                </a:solidFill>
                <a:latin typeface="+mj-ea"/>
                <a:ea typeface="+mj-ea"/>
              </a:rPr>
              <a:t> 콘텐츠로 공동체 회복 기여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solidFill>
                  <a:prstClr val="black"/>
                </a:solidFill>
                <a:latin typeface="+mj-ea"/>
                <a:ea typeface="+mj-ea"/>
              </a:rPr>
              <a:t>감정놀이 체험 + AI </a:t>
            </a:r>
            <a:r>
              <a:rPr lang="ko-KR" altLang="ko-KR" dirty="0" err="1">
                <a:solidFill>
                  <a:prstClr val="black"/>
                </a:solidFill>
                <a:latin typeface="+mj-ea"/>
                <a:ea typeface="+mj-ea"/>
              </a:rPr>
              <a:t>일기앱</a:t>
            </a:r>
            <a:r>
              <a:rPr lang="ko-KR" altLang="ko-KR" dirty="0">
                <a:solidFill>
                  <a:prstClr val="black"/>
                </a:solidFill>
                <a:latin typeface="+mj-ea"/>
                <a:ea typeface="+mj-ea"/>
              </a:rPr>
              <a:t> + 교육키트 통합 서비스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B631D0-D8E0-4BA5-A5C0-8FE3F30FE29F}"/>
              </a:ext>
            </a:extLst>
          </p:cNvPr>
          <p:cNvSpPr/>
          <p:nvPr/>
        </p:nvSpPr>
        <p:spPr>
          <a:xfrm>
            <a:off x="10360736" y="4229871"/>
            <a:ext cx="341643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감정 </a:t>
            </a:r>
            <a:r>
              <a:rPr lang="en-US" altLang="ko-KR" sz="1600" dirty="0">
                <a:latin typeface="+mj-ea"/>
                <a:ea typeface="+mj-ea"/>
              </a:rPr>
              <a:t>ON </a:t>
            </a:r>
            <a:r>
              <a:rPr lang="ko-KR" altLang="en-US" sz="1600" dirty="0">
                <a:latin typeface="+mj-ea"/>
                <a:ea typeface="+mj-ea"/>
              </a:rPr>
              <a:t>팝업놀이터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지역 순회형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j-ea"/>
                <a:ea typeface="+mj-ea"/>
              </a:rPr>
              <a:t>쿠팡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네이버 스마트스토어 </a:t>
            </a:r>
            <a:r>
              <a:rPr lang="ko-KR" altLang="en-US" sz="1600" dirty="0" err="1">
                <a:latin typeface="+mj-ea"/>
                <a:ea typeface="+mj-ea"/>
              </a:rPr>
              <a:t>이커머스</a:t>
            </a:r>
            <a:r>
              <a:rPr lang="ko-KR" altLang="en-US" sz="1600" dirty="0">
                <a:latin typeface="+mj-ea"/>
                <a:ea typeface="+mj-ea"/>
              </a:rPr>
              <a:t> 판매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인스타그램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유튜브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블로그 콘텐츠 마케팅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j-ea"/>
                <a:ea typeface="+mj-ea"/>
              </a:rPr>
              <a:t>키즈카페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도서관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복지관 협력 체험관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자체 웹사이트 및 커뮤니티 플랫폼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구축 예정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82CFFDA3-1557-4768-B099-9C2941BF6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82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D7220DDD-69D8-40EA-AC2F-CA8DAE946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06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39D5D2-9492-4A38-857A-A7F51CD12558}"/>
              </a:ext>
            </a:extLst>
          </p:cNvPr>
          <p:cNvSpPr/>
          <p:nvPr/>
        </p:nvSpPr>
        <p:spPr>
          <a:xfrm>
            <a:off x="10360736" y="1752714"/>
            <a:ext cx="357575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정기 구독형 감정키트 서비스 운영 </a:t>
            </a:r>
            <a:endParaRPr lang="en-US" altLang="ko-KR" sz="16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(월 2회 발송)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온라인 감정일기 앱 및 커뮤니티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전문가 연계 맞춤 상담 및 부모 코칭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후기 공유 및 캐릭터 </a:t>
            </a:r>
            <a:r>
              <a:rPr lang="ko-KR" altLang="ko-KR" sz="1600" dirty="0" err="1">
                <a:solidFill>
                  <a:prstClr val="black"/>
                </a:solidFill>
                <a:latin typeface="Arial" panose="020B0604020202020204" pitchFamily="34" charset="0"/>
              </a:rPr>
              <a:t>팬덤</a:t>
            </a:r>
            <a:r>
              <a:rPr lang="ko-KR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 커뮤니티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dirty="0" err="1">
                <a:solidFill>
                  <a:prstClr val="black"/>
                </a:solidFill>
                <a:latin typeface="Arial" panose="020B0604020202020204" pitchFamily="34" charset="0"/>
              </a:rPr>
              <a:t>챌린지</a:t>
            </a:r>
            <a:r>
              <a:rPr lang="ko-KR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 운영: 감정일기 30일 캠페인, 공감 댓글 이벤트 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F83940E-0E1B-4BDC-B23D-50E5CBD8D6A6}"/>
              </a:ext>
            </a:extLst>
          </p:cNvPr>
          <p:cNvSpPr/>
          <p:nvPr/>
        </p:nvSpPr>
        <p:spPr>
          <a:xfrm>
            <a:off x="9082881" y="7006528"/>
            <a:ext cx="68146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감정키트 제품 매출</a:t>
            </a:r>
            <a:r>
              <a:rPr lang="en-US" altLang="ko-KR" dirty="0"/>
              <a:t>: (</a:t>
            </a:r>
            <a:r>
              <a:rPr lang="ko-KR" altLang="en-US" dirty="0"/>
              <a:t>월 </a:t>
            </a:r>
            <a:r>
              <a:rPr lang="en-US" altLang="ko-KR" dirty="0"/>
              <a:t>5</a:t>
            </a:r>
            <a:r>
              <a:rPr lang="ko-KR" altLang="en-US" dirty="0"/>
              <a:t>천 세트 </a:t>
            </a:r>
            <a:r>
              <a:rPr lang="en-US" altLang="ko-KR" dirty="0"/>
              <a:t>x( 1</a:t>
            </a:r>
            <a:r>
              <a:rPr lang="ko-KR" altLang="en-US" dirty="0"/>
              <a:t>만원</a:t>
            </a:r>
            <a:r>
              <a:rPr lang="en-US" altLang="ko-KR" dirty="0"/>
              <a:t>~3</a:t>
            </a:r>
            <a:r>
              <a:rPr lang="ko-KR" altLang="en-US" dirty="0"/>
              <a:t>만원 </a:t>
            </a:r>
            <a:r>
              <a:rPr lang="en-US" altLang="ko-KR" dirty="0"/>
              <a:t>x 12</a:t>
            </a:r>
            <a:r>
              <a:rPr lang="ko-KR" altLang="en-US" dirty="0"/>
              <a:t>개월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팝업놀이터 체험 수익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월 </a:t>
            </a:r>
            <a:r>
              <a:rPr lang="en-US" altLang="ko-KR" dirty="0"/>
              <a:t>4</a:t>
            </a:r>
            <a:r>
              <a:rPr lang="ko-KR" altLang="en-US" dirty="0"/>
              <a:t>회 </a:t>
            </a:r>
            <a:r>
              <a:rPr lang="en-US" altLang="ko-KR" dirty="0"/>
              <a:t>x </a:t>
            </a:r>
            <a:r>
              <a:rPr lang="ko-KR" altLang="en-US" dirty="0"/>
              <a:t>회당 </a:t>
            </a:r>
            <a:r>
              <a:rPr lang="en-US" altLang="ko-KR" dirty="0"/>
              <a:t>400</a:t>
            </a:r>
            <a:r>
              <a:rPr lang="ko-KR" altLang="en-US" dirty="0"/>
              <a:t>만 원</a:t>
            </a:r>
            <a:r>
              <a:rPr lang="en-US" altLang="ko-KR" dirty="0"/>
              <a:t>), </a:t>
            </a:r>
            <a:r>
              <a:rPr lang="ko-KR" altLang="en-US" dirty="0"/>
              <a:t>커스텀  예산가능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B2B </a:t>
            </a:r>
            <a:r>
              <a:rPr lang="ko-KR" altLang="en-US" dirty="0"/>
              <a:t>공공기관 납품 및 프로그램 운영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정기구독 및 전문가 코칭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DD8209-428E-4017-8C65-C3ABA2E4B103}"/>
              </a:ext>
            </a:extLst>
          </p:cNvPr>
          <p:cNvSpPr/>
          <p:nvPr/>
        </p:nvSpPr>
        <p:spPr>
          <a:xfrm>
            <a:off x="3944984" y="4198461"/>
            <a:ext cx="335747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감정 캐릭터 </a:t>
            </a:r>
            <a:r>
              <a:rPr lang="en-US" altLang="ko-KR" sz="1600" dirty="0">
                <a:latin typeface="+mj-ea"/>
                <a:ea typeface="+mj-ea"/>
              </a:rPr>
              <a:t>IP </a:t>
            </a:r>
            <a:r>
              <a:rPr lang="ko-KR" altLang="en-US" sz="1600" dirty="0">
                <a:latin typeface="+mj-ea"/>
                <a:ea typeface="+mj-ea"/>
              </a:rPr>
              <a:t>및 디자인 저작권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j-ea"/>
                <a:ea typeface="+mj-ea"/>
              </a:rPr>
              <a:t>정서돌봄</a:t>
            </a:r>
            <a:r>
              <a:rPr lang="ko-KR" altLang="en-US" sz="1600" dirty="0">
                <a:latin typeface="+mj-ea"/>
                <a:ea typeface="+mj-ea"/>
              </a:rPr>
              <a:t> 프로그램 콘텐츠 및 워크북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개발 인력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>
                <a:latin typeface="+mj-ea"/>
                <a:ea typeface="+mj-ea"/>
              </a:rPr>
              <a:t>콘텐츠 기획자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일러스트레이터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놀이전문가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정서 전문가 및 상담가 네트워크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감정일기 앱 개발팀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외주 또는 협력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742393-D1F3-4FDD-946C-9F7F87075D99}"/>
              </a:ext>
            </a:extLst>
          </p:cNvPr>
          <p:cNvSpPr/>
          <p:nvPr/>
        </p:nvSpPr>
        <p:spPr>
          <a:xfrm>
            <a:off x="3839068" y="1771519"/>
            <a:ext cx="369678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감정표현 워크북 및 교구 개발 및 제작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감정 캐릭터 시리즈 콘텐츠 제작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스토리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애니메이션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팝업 체험 운영 및 정서 워크숍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j-ea"/>
                <a:ea typeface="+mj-ea"/>
              </a:rPr>
              <a:t>이커머스</a:t>
            </a:r>
            <a:r>
              <a:rPr lang="ko-KR" altLang="en-US" sz="1600" dirty="0">
                <a:latin typeface="+mj-ea"/>
                <a:ea typeface="+mj-ea"/>
              </a:rPr>
              <a:t> 운영 및 구독 상품 기획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콘텐츠 마케팅 및 커뮤니티 운영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8643D3-4EAF-48B8-8AB0-9E2033EF3CA2}"/>
              </a:ext>
            </a:extLst>
          </p:cNvPr>
          <p:cNvSpPr/>
          <p:nvPr/>
        </p:nvSpPr>
        <p:spPr>
          <a:xfrm>
            <a:off x="756861" y="2001406"/>
            <a:ext cx="229874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지역 아동복지기관 및 교육기관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사회적기업 네트워크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육아 플랫폼 제휴사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감정</a:t>
            </a:r>
            <a:r>
              <a:rPr lang="en-US" altLang="ko-KR" dirty="0">
                <a:latin typeface="+mj-ea"/>
                <a:ea typeface="+mj-ea"/>
              </a:rPr>
              <a:t>·</a:t>
            </a:r>
            <a:r>
              <a:rPr lang="ko-KR" altLang="en-US" dirty="0">
                <a:latin typeface="+mj-ea"/>
                <a:ea typeface="+mj-ea"/>
              </a:rPr>
              <a:t>심리 전문가 및 </a:t>
            </a:r>
            <a:r>
              <a:rPr lang="ko-KR" altLang="en-US" dirty="0" err="1">
                <a:latin typeface="+mj-ea"/>
                <a:ea typeface="+mj-ea"/>
              </a:rPr>
              <a:t>자문단</a:t>
            </a:r>
            <a:endParaRPr lang="ko-KR" altLang="en-US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인쇄 및 교구 제작 협력 업체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IT </a:t>
            </a:r>
            <a:r>
              <a:rPr lang="ko-KR" altLang="en-US" dirty="0">
                <a:latin typeface="+mj-ea"/>
                <a:ea typeface="+mj-ea"/>
              </a:rPr>
              <a:t>개발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 err="1">
                <a:latin typeface="+mj-ea"/>
                <a:ea typeface="+mj-ea"/>
              </a:rPr>
              <a:t>감정일기앱</a:t>
            </a:r>
            <a:r>
              <a:rPr lang="ko-KR" altLang="en-US" dirty="0">
                <a:latin typeface="+mj-ea"/>
                <a:ea typeface="+mj-ea"/>
              </a:rPr>
              <a:t> 개발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문화기획자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 err="1">
                <a:latin typeface="+mj-ea"/>
                <a:ea typeface="+mj-ea"/>
              </a:rPr>
              <a:t>체험형팝업</a:t>
            </a:r>
            <a:r>
              <a:rPr lang="ko-KR" altLang="en-US" dirty="0">
                <a:latin typeface="+mj-ea"/>
                <a:ea typeface="+mj-ea"/>
              </a:rPr>
              <a:t> 이벤트 </a:t>
            </a:r>
            <a:r>
              <a:rPr lang="ko-KR" altLang="en-US" dirty="0" err="1">
                <a:latin typeface="+mj-ea"/>
                <a:ea typeface="+mj-ea"/>
              </a:rPr>
              <a:t>운영사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팝업놀이터 연계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344D654E-81EE-4AD1-B29F-9E5E58410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730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24">
            <a:extLst>
              <a:ext uri="{FF2B5EF4-FFF2-40B4-BE49-F238E27FC236}">
                <a16:creationId xmlns:a16="http://schemas.microsoft.com/office/drawing/2014/main" id="{6A74B42C-4879-4001-8156-F29BAA2B0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254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5B2708D7-145C-40BA-9BC1-F904D4FB9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778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D2F85E-51CC-4BD2-B6B2-F9064D5AB9F1}"/>
              </a:ext>
            </a:extLst>
          </p:cNvPr>
          <p:cNvSpPr/>
          <p:nvPr/>
        </p:nvSpPr>
        <p:spPr>
          <a:xfrm>
            <a:off x="825500" y="7006528"/>
            <a:ext cx="87757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제품 제작비 </a:t>
            </a:r>
            <a:r>
              <a:rPr lang="en-US" altLang="ko-KR" dirty="0"/>
              <a:t>(</a:t>
            </a:r>
            <a:r>
              <a:rPr lang="ko-KR" altLang="en-US" dirty="0"/>
              <a:t>자재</a:t>
            </a:r>
            <a:r>
              <a:rPr lang="en-US" altLang="ko-KR" dirty="0"/>
              <a:t>, </a:t>
            </a:r>
            <a:r>
              <a:rPr lang="ko-KR" altLang="en-US" dirty="0"/>
              <a:t>인쇄</a:t>
            </a:r>
            <a:r>
              <a:rPr lang="en-US" altLang="ko-KR" dirty="0"/>
              <a:t>, </a:t>
            </a:r>
            <a:r>
              <a:rPr lang="ko-KR" altLang="en-US" dirty="0"/>
              <a:t>조립 등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인건비 </a:t>
            </a:r>
            <a:r>
              <a:rPr lang="en-US" altLang="ko-KR" dirty="0"/>
              <a:t>(</a:t>
            </a:r>
            <a:r>
              <a:rPr lang="ko-KR" altLang="en-US" dirty="0"/>
              <a:t>운영</a:t>
            </a:r>
            <a:r>
              <a:rPr lang="en-US" altLang="ko-KR" dirty="0"/>
              <a:t>, </a:t>
            </a:r>
            <a:r>
              <a:rPr lang="ko-KR" altLang="en-US" dirty="0"/>
              <a:t>콘텐츠 기획</a:t>
            </a:r>
            <a:r>
              <a:rPr lang="en-US" altLang="ko-KR" dirty="0"/>
              <a:t>, </a:t>
            </a:r>
            <a:r>
              <a:rPr lang="ko-KR" altLang="en-US" dirty="0"/>
              <a:t>마케팅 포함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마케팅</a:t>
            </a:r>
            <a:r>
              <a:rPr lang="en-US" altLang="ko-KR" dirty="0"/>
              <a:t>/</a:t>
            </a:r>
            <a:r>
              <a:rPr lang="ko-KR" altLang="en-US" dirty="0"/>
              <a:t>광고비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공간 대관 및 팝업 운영비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앱 개발 및 유지보수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343</Words>
  <Application>Microsoft Office PowerPoint</Application>
  <PresentationFormat>사용자 지정</PresentationFormat>
  <Paragraphs>49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지은 구</cp:lastModifiedBy>
  <cp:revision>4</cp:revision>
  <dcterms:created xsi:type="dcterms:W3CDTF">2025-04-27T10:44:52Z</dcterms:created>
  <dcterms:modified xsi:type="dcterms:W3CDTF">2025-05-10T14:14:03Z</dcterms:modified>
</cp:coreProperties>
</file>