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9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90" r:id="rId12"/>
    <p:sldId id="291" r:id="rId13"/>
    <p:sldId id="292" r:id="rId14"/>
    <p:sldId id="293" r:id="rId15"/>
    <p:sldId id="294" r:id="rId16"/>
    <p:sldId id="295" r:id="rId17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3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-312" y="1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842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6E552D-C962-EA75-3D39-9F135BD7BC68}"/>
              </a:ext>
            </a:extLst>
          </p:cNvPr>
          <p:cNvSpPr txBox="1"/>
          <p:nvPr/>
        </p:nvSpPr>
        <p:spPr>
          <a:xfrm>
            <a:off x="1183341" y="2514926"/>
            <a:ext cx="123306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고객은 기상 후 침대에서 일어나지 않거나 디지털 컨텐츠를 시청하여 시간을 관리하지 못함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908746-59E5-BB1F-E7F7-F64C81695A1F}"/>
              </a:ext>
            </a:extLst>
          </p:cNvPr>
          <p:cNvSpPr txBox="1"/>
          <p:nvPr/>
        </p:nvSpPr>
        <p:spPr>
          <a:xfrm>
            <a:off x="1183341" y="3383606"/>
            <a:ext cx="118529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고객은 이 문제를 해결하기 위해 자기 상태를 인지하고 빠르게 전환할 수 있는 개인화된 </a:t>
            </a:r>
            <a:endParaRPr lang="en-US" altLang="ko-KR" sz="2400" dirty="0"/>
          </a:p>
          <a:p>
            <a:r>
              <a:rPr lang="ko-KR" altLang="en-US" sz="2400" dirty="0"/>
              <a:t>콘텐츠나 루틴에 시간과 돈을 투자할 의향이 있음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93DE40-C577-8235-A5C2-74181EE7461D}"/>
              </a:ext>
            </a:extLst>
          </p:cNvPr>
          <p:cNvSpPr txBox="1"/>
          <p:nvPr/>
        </p:nvSpPr>
        <p:spPr>
          <a:xfrm>
            <a:off x="1183341" y="4471877"/>
            <a:ext cx="11541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이 제품을 사용</a:t>
            </a:r>
            <a:r>
              <a:rPr lang="en-US" altLang="ko-KR" sz="2400" dirty="0"/>
              <a:t>/</a:t>
            </a:r>
            <a:r>
              <a:rPr lang="ko-KR" altLang="en-US" sz="2400" dirty="0"/>
              <a:t>구매하는데 이해관계자는 비슷한 루틴을 공유하는 친구</a:t>
            </a:r>
            <a:r>
              <a:rPr lang="en-US" altLang="ko-KR" sz="2400" dirty="0"/>
              <a:t>, </a:t>
            </a:r>
            <a:r>
              <a:rPr lang="ko-KR" altLang="en-US" sz="2400" dirty="0"/>
              <a:t>가족</a:t>
            </a:r>
            <a:r>
              <a:rPr lang="en-US" altLang="ko-KR" sz="2400" dirty="0"/>
              <a:t>, </a:t>
            </a:r>
            <a:r>
              <a:rPr lang="ko-KR" altLang="en-US" sz="2400" dirty="0"/>
              <a:t>동료임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853623-8DE2-B470-B424-D40235FE635F}"/>
              </a:ext>
            </a:extLst>
          </p:cNvPr>
          <p:cNvSpPr txBox="1"/>
          <p:nvPr/>
        </p:nvSpPr>
        <p:spPr>
          <a:xfrm>
            <a:off x="1183341" y="5441006"/>
            <a:ext cx="118417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이 제품을 제작</a:t>
            </a:r>
            <a:r>
              <a:rPr lang="en-US" altLang="ko-KR" sz="2400" dirty="0"/>
              <a:t>/</a:t>
            </a:r>
            <a:r>
              <a:rPr lang="ko-KR" altLang="en-US" sz="2400" dirty="0"/>
              <a:t>유통하는데 관련이 있는 파트너는 웨어러블 디바이스 제조사</a:t>
            </a:r>
            <a:r>
              <a:rPr lang="en-US" altLang="ko-KR" sz="2400" dirty="0"/>
              <a:t>, </a:t>
            </a:r>
            <a:r>
              <a:rPr lang="ko-KR" altLang="en-US" sz="2400" dirty="0" err="1"/>
              <a:t>멘탈헬스</a:t>
            </a:r>
            <a:r>
              <a:rPr lang="ko-KR" altLang="en-US" sz="2400" dirty="0"/>
              <a:t> </a:t>
            </a:r>
            <a:endParaRPr lang="en-US" altLang="ko-KR" sz="2400" dirty="0"/>
          </a:p>
          <a:p>
            <a:r>
              <a:rPr lang="ko-KR" altLang="en-US" sz="2400" dirty="0"/>
              <a:t>콘텐츠 제작자</a:t>
            </a:r>
            <a:r>
              <a:rPr lang="en-US" altLang="ko-KR" sz="2400" dirty="0"/>
              <a:t>, BCI </a:t>
            </a:r>
            <a:r>
              <a:rPr lang="ko-KR" altLang="en-US" sz="2400" dirty="0"/>
              <a:t>소프트웨어 개발사임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FAD580-8A9D-F850-08A2-E77897B63755}"/>
              </a:ext>
            </a:extLst>
          </p:cNvPr>
          <p:cNvSpPr txBox="1"/>
          <p:nvPr/>
        </p:nvSpPr>
        <p:spPr>
          <a:xfrm>
            <a:off x="1183341" y="6455934"/>
            <a:ext cx="117006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만약 고객이 우리 제품을 사용하게 되면 고객은 자기 상태에 맞는 </a:t>
            </a:r>
            <a:r>
              <a:rPr lang="en-US" altLang="ko-KR" sz="2400" dirty="0"/>
              <a:t>3</a:t>
            </a:r>
            <a:r>
              <a:rPr lang="ko-KR" altLang="en-US" sz="2400" dirty="0"/>
              <a:t>분 루틴을 얻을 것임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20121F-A568-6CA8-5A4F-44FB4DFD565D}"/>
              </a:ext>
            </a:extLst>
          </p:cNvPr>
          <p:cNvSpPr txBox="1"/>
          <p:nvPr/>
        </p:nvSpPr>
        <p:spPr>
          <a:xfrm>
            <a:off x="1183341" y="7409198"/>
            <a:ext cx="91326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고객은 이미 </a:t>
            </a:r>
            <a:r>
              <a:rPr lang="en-US" altLang="ko-KR" sz="2400" dirty="0"/>
              <a:t>Endel, Calm,</a:t>
            </a:r>
            <a:r>
              <a:rPr lang="ko-KR" altLang="en-US" sz="2400" dirty="0"/>
              <a:t> </a:t>
            </a:r>
            <a:r>
              <a:rPr lang="ko-KR" altLang="en-US" sz="2400" dirty="0" err="1"/>
              <a:t>마보</a:t>
            </a:r>
            <a:r>
              <a:rPr lang="en-US" altLang="ko-KR" sz="2400" dirty="0"/>
              <a:t>,</a:t>
            </a:r>
            <a:r>
              <a:rPr lang="ko-KR" altLang="en-US" sz="2400" dirty="0"/>
              <a:t> </a:t>
            </a:r>
            <a:r>
              <a:rPr lang="ko-KR" altLang="en-US" sz="2400" dirty="0" err="1"/>
              <a:t>첼린저스</a:t>
            </a:r>
            <a:r>
              <a:rPr lang="ko-KR" altLang="en-US" sz="2400" dirty="0"/>
              <a:t> 같은 도구를 사용하고 있음</a:t>
            </a:r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9BA680-BDEB-E838-B660-FD00733FE459}"/>
              </a:ext>
            </a:extLst>
          </p:cNvPr>
          <p:cNvSpPr txBox="1"/>
          <p:nvPr/>
        </p:nvSpPr>
        <p:spPr>
          <a:xfrm>
            <a:off x="1183341" y="2408246"/>
            <a:ext cx="124989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루틴을 고민하는 </a:t>
            </a:r>
            <a:r>
              <a:rPr lang="en-US" altLang="ko-KR" sz="2400" dirty="0"/>
              <a:t>MZ</a:t>
            </a:r>
            <a:r>
              <a:rPr lang="ko-KR" altLang="en-US" sz="2400" dirty="0"/>
              <a:t>세대는 기상 후 침대에서 스마트폰 콘텐츠를 소비할 때 정신이 명확하게 </a:t>
            </a:r>
            <a:endParaRPr lang="en-US" altLang="ko-KR" sz="2400" dirty="0"/>
          </a:p>
          <a:p>
            <a:r>
              <a:rPr lang="ko-KR" altLang="en-US" sz="2400" dirty="0"/>
              <a:t>깨어나지 않고</a:t>
            </a:r>
            <a:r>
              <a:rPr lang="en-US" altLang="ko-KR" sz="2400" dirty="0"/>
              <a:t>, </a:t>
            </a:r>
            <a:r>
              <a:rPr lang="ko-KR" altLang="en-US" sz="2400" dirty="0"/>
              <a:t>자기 상태를 인지하지 못해 아침 시간을 수동적으로 보내는 문제를 겪는다</a:t>
            </a:r>
            <a:r>
              <a:rPr lang="en-US" altLang="ko-KR" sz="2400" dirty="0"/>
              <a:t>.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EC5969-8D89-B386-797B-A18A9FE77A68}"/>
              </a:ext>
            </a:extLst>
          </p:cNvPr>
          <p:cNvSpPr txBox="1"/>
          <p:nvPr/>
        </p:nvSpPr>
        <p:spPr>
          <a:xfrm>
            <a:off x="1183341" y="3383606"/>
            <a:ext cx="11715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이는 정신 전환을 도와줄 개인화된 루틴이나 의식적인 시작 도구가 부재하고 스마트폰 </a:t>
            </a:r>
            <a:endParaRPr lang="en-US" altLang="ko-KR" sz="2400" dirty="0"/>
          </a:p>
          <a:p>
            <a:r>
              <a:rPr lang="ko-KR" altLang="en-US" sz="2400" dirty="0"/>
              <a:t>콘텐츠는 즉각적이지만 </a:t>
            </a:r>
            <a:r>
              <a:rPr lang="ko-KR" altLang="en-US" sz="2400" dirty="0" err="1"/>
              <a:t>무목적적이기</a:t>
            </a:r>
            <a:r>
              <a:rPr lang="ko-KR" altLang="en-US" sz="2400" dirty="0"/>
              <a:t> 때문이다</a:t>
            </a:r>
            <a:endParaRPr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7974F6-83B6-9663-5CE9-3187E7D90566}"/>
              </a:ext>
            </a:extLst>
          </p:cNvPr>
          <p:cNvSpPr txBox="1"/>
          <p:nvPr/>
        </p:nvSpPr>
        <p:spPr>
          <a:xfrm>
            <a:off x="1183341" y="1920566"/>
            <a:ext cx="67566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루틴을 고민하는 </a:t>
            </a:r>
            <a:r>
              <a:rPr lang="en-US" altLang="ko-KR" sz="2400" dirty="0"/>
              <a:t>MZ</a:t>
            </a:r>
            <a:r>
              <a:rPr lang="ko-KR" altLang="en-US" sz="2400" dirty="0"/>
              <a:t>세대는 기상 후 침대에서 스마트폰 콘텐츠를 소비할 때 정신이 명확하게 </a:t>
            </a:r>
            <a:endParaRPr lang="en-US" altLang="ko-KR" sz="2400" dirty="0"/>
          </a:p>
          <a:p>
            <a:r>
              <a:rPr lang="ko-KR" altLang="en-US" sz="2400" dirty="0"/>
              <a:t>깨어나지 않고</a:t>
            </a:r>
            <a:r>
              <a:rPr lang="en-US" altLang="ko-KR" sz="2400" dirty="0"/>
              <a:t>, </a:t>
            </a:r>
            <a:r>
              <a:rPr lang="ko-KR" altLang="en-US" sz="2400" dirty="0"/>
              <a:t>자기 상태를 인지하지 못해 아침 시간을 수동적으로 보내는 문제를 겪는다</a:t>
            </a:r>
            <a:r>
              <a:rPr lang="en-US" altLang="ko-KR" sz="2400" dirty="0"/>
              <a:t>.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17D331-D23A-88A0-1698-D41692CC466A}"/>
              </a:ext>
            </a:extLst>
          </p:cNvPr>
          <p:cNvSpPr txBox="1"/>
          <p:nvPr/>
        </p:nvSpPr>
        <p:spPr>
          <a:xfrm>
            <a:off x="9424595" y="1920566"/>
            <a:ext cx="67566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이는 정신 전환을 도와줄 개인화된 루틴이나 의식적인 시작 도구가 부재하고 스마트폰 </a:t>
            </a:r>
            <a:endParaRPr lang="en-US" altLang="ko-KR" sz="2400" dirty="0"/>
          </a:p>
          <a:p>
            <a:r>
              <a:rPr lang="ko-KR" altLang="en-US" sz="2400" dirty="0"/>
              <a:t>콘텐츠는 즉각적이지만 </a:t>
            </a:r>
            <a:r>
              <a:rPr lang="ko-KR" altLang="en-US" sz="2400" dirty="0" err="1"/>
              <a:t>무목적적이기</a:t>
            </a:r>
            <a:r>
              <a:rPr lang="ko-KR" altLang="en-US" sz="2400" dirty="0"/>
              <a:t> 때문이다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2401DD-B906-3F7D-2268-1655E88890AC}"/>
              </a:ext>
            </a:extLst>
          </p:cNvPr>
          <p:cNvSpPr txBox="1"/>
          <p:nvPr/>
        </p:nvSpPr>
        <p:spPr>
          <a:xfrm>
            <a:off x="1087877" y="4645372"/>
            <a:ext cx="2264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 err="1"/>
              <a:t>마보</a:t>
            </a:r>
            <a:endParaRPr lang="ko-KR" altLang="en-US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A2E2C0-7014-540C-415A-5CA6E75AF689}"/>
              </a:ext>
            </a:extLst>
          </p:cNvPr>
          <p:cNvSpPr txBox="1"/>
          <p:nvPr/>
        </p:nvSpPr>
        <p:spPr>
          <a:xfrm>
            <a:off x="1087876" y="6092905"/>
            <a:ext cx="2264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 err="1"/>
              <a:t>챌린저스</a:t>
            </a:r>
            <a:endParaRPr lang="ko-KR" alt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6A91B0-D3C3-75A6-1702-84F82FFADA80}"/>
              </a:ext>
            </a:extLst>
          </p:cNvPr>
          <p:cNvSpPr txBox="1"/>
          <p:nvPr/>
        </p:nvSpPr>
        <p:spPr>
          <a:xfrm>
            <a:off x="1087875" y="7550823"/>
            <a:ext cx="2264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 err="1"/>
              <a:t>루티너리</a:t>
            </a:r>
            <a:endParaRPr lang="ko-KR" altLang="en-US" sz="3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E73B83-0912-E45A-0255-6D06A19E0F8E}"/>
              </a:ext>
            </a:extLst>
          </p:cNvPr>
          <p:cNvSpPr txBox="1"/>
          <p:nvPr/>
        </p:nvSpPr>
        <p:spPr>
          <a:xfrm>
            <a:off x="3715330" y="4542190"/>
            <a:ext cx="40049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dirty="0"/>
              <a:t>한국어 기반의 명상</a:t>
            </a:r>
            <a:r>
              <a:rPr lang="en-US" altLang="ko-KR" sz="2000" dirty="0"/>
              <a:t>, </a:t>
            </a:r>
            <a:r>
              <a:rPr lang="ko-KR" altLang="en-US" sz="2000" dirty="0"/>
              <a:t>호흡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마음챙김</a:t>
            </a:r>
            <a:r>
              <a:rPr lang="ko-KR" altLang="en-US" sz="2000" dirty="0"/>
              <a:t> 콘텐츠를 제공하는 앱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E7DF44-DF0B-3E9C-C504-907053A20136}"/>
              </a:ext>
            </a:extLst>
          </p:cNvPr>
          <p:cNvSpPr txBox="1"/>
          <p:nvPr/>
        </p:nvSpPr>
        <p:spPr>
          <a:xfrm>
            <a:off x="7910567" y="4440988"/>
            <a:ext cx="40049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dirty="0"/>
              <a:t>심리 전문가 기반 콘텐츠 구성</a:t>
            </a:r>
            <a:endParaRPr lang="en-US" altLang="ko-KR" sz="2000" dirty="0"/>
          </a:p>
          <a:p>
            <a:pPr algn="just"/>
            <a:r>
              <a:rPr lang="ko-KR" altLang="en-US" sz="2000" dirty="0"/>
              <a:t>국내 특화 콘텐츠</a:t>
            </a:r>
            <a:endParaRPr lang="en-US" altLang="ko-KR" sz="2000" dirty="0"/>
          </a:p>
          <a:p>
            <a:pPr algn="just"/>
            <a:r>
              <a:rPr lang="ko-KR" altLang="en-US" sz="2000" dirty="0"/>
              <a:t>정서적 안정 제공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DF1428-A594-9CF2-4274-91F0D76125F9}"/>
              </a:ext>
            </a:extLst>
          </p:cNvPr>
          <p:cNvSpPr txBox="1"/>
          <p:nvPr/>
        </p:nvSpPr>
        <p:spPr>
          <a:xfrm>
            <a:off x="3715330" y="7378452"/>
            <a:ext cx="40049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400" dirty="0"/>
              <a:t>행동 과학 기반의 루틴 및 습관 형성 앱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D2AA30-4FB6-B687-652C-A4F01871419E}"/>
              </a:ext>
            </a:extLst>
          </p:cNvPr>
          <p:cNvSpPr txBox="1"/>
          <p:nvPr/>
        </p:nvSpPr>
        <p:spPr>
          <a:xfrm>
            <a:off x="3715330" y="5846683"/>
            <a:ext cx="40049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dirty="0"/>
              <a:t>사용자가 ‘목표를 정하고</a:t>
            </a:r>
            <a:r>
              <a:rPr lang="en-US" altLang="ko-KR" sz="2000" dirty="0"/>
              <a:t>, </a:t>
            </a:r>
            <a:r>
              <a:rPr lang="ko-KR" altLang="en-US" sz="2000" dirty="0"/>
              <a:t>돈을 걸고</a:t>
            </a:r>
            <a:r>
              <a:rPr lang="en-US" altLang="ko-KR" sz="2000" dirty="0"/>
              <a:t>, </a:t>
            </a:r>
            <a:r>
              <a:rPr lang="ko-KR" altLang="en-US" sz="2000" dirty="0"/>
              <a:t>실천 인증을 통해 습관을 만드는 </a:t>
            </a:r>
            <a:r>
              <a:rPr lang="ko-KR" altLang="en-US" sz="2000" dirty="0" err="1"/>
              <a:t>구조’의</a:t>
            </a:r>
            <a:r>
              <a:rPr lang="ko-KR" altLang="en-US" sz="2000" dirty="0"/>
              <a:t> 챌린지 기반 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BB2ECE-E9AD-6517-2925-621D1A04B5CD}"/>
              </a:ext>
            </a:extLst>
          </p:cNvPr>
          <p:cNvSpPr txBox="1"/>
          <p:nvPr/>
        </p:nvSpPr>
        <p:spPr>
          <a:xfrm>
            <a:off x="12176310" y="4440988"/>
            <a:ext cx="40049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dirty="0"/>
              <a:t>루틴 설계 기능 없음</a:t>
            </a:r>
            <a:endParaRPr lang="en-US" altLang="ko-KR" sz="2000" dirty="0"/>
          </a:p>
          <a:p>
            <a:pPr algn="just"/>
            <a:r>
              <a:rPr lang="ko-KR" altLang="en-US" sz="2000" dirty="0"/>
              <a:t>개인 상태 기반 맞춤 추천 부재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ABB32A-814D-2D11-BFE3-7D32A67852C0}"/>
              </a:ext>
            </a:extLst>
          </p:cNvPr>
          <p:cNvSpPr txBox="1"/>
          <p:nvPr/>
        </p:nvSpPr>
        <p:spPr>
          <a:xfrm>
            <a:off x="7910567" y="5899581"/>
            <a:ext cx="40049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dirty="0"/>
              <a:t>실행 유도 설계</a:t>
            </a:r>
            <a:endParaRPr lang="en-US" altLang="ko-KR" sz="2000" dirty="0"/>
          </a:p>
          <a:p>
            <a:pPr algn="just"/>
            <a:r>
              <a:rPr lang="ko-KR" altLang="en-US" sz="2000" dirty="0"/>
              <a:t>공개 인증과 커뮤니티 성장형</a:t>
            </a:r>
            <a:endParaRPr lang="en-US" altLang="ko-KR" sz="2000" dirty="0"/>
          </a:p>
          <a:p>
            <a:pPr algn="just"/>
            <a:r>
              <a:rPr lang="ko-KR" altLang="en-US" sz="2000" dirty="0"/>
              <a:t>루틴 다양성</a:t>
            </a:r>
            <a:endParaRPr lang="en-US" altLang="ko-KR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31D63F-C91E-14A0-0D47-E7B55DF93A4B}"/>
              </a:ext>
            </a:extLst>
          </p:cNvPr>
          <p:cNvSpPr txBox="1"/>
          <p:nvPr/>
        </p:nvSpPr>
        <p:spPr>
          <a:xfrm>
            <a:off x="7910567" y="7358174"/>
            <a:ext cx="40049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dirty="0"/>
              <a:t>타이머 기반 실행력 강화</a:t>
            </a:r>
            <a:endParaRPr lang="en-US" altLang="ko-KR" sz="2000" dirty="0"/>
          </a:p>
          <a:p>
            <a:pPr algn="just"/>
            <a:r>
              <a:rPr lang="ko-KR" altLang="en-US" sz="2000" dirty="0"/>
              <a:t>간결한 </a:t>
            </a:r>
            <a:r>
              <a:rPr lang="en-US" altLang="ko-KR" sz="2000" dirty="0"/>
              <a:t>UI</a:t>
            </a:r>
          </a:p>
          <a:p>
            <a:pPr algn="just"/>
            <a:r>
              <a:rPr lang="ko-KR" altLang="en-US" sz="2000" dirty="0"/>
              <a:t>기상 루틴</a:t>
            </a:r>
            <a:r>
              <a:rPr lang="en-US" altLang="ko-KR" sz="2000" dirty="0"/>
              <a:t>/</a:t>
            </a:r>
            <a:r>
              <a:rPr lang="ko-KR" altLang="en-US" sz="2000" dirty="0"/>
              <a:t>자기 전 루틴의 리듬 형성 지원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9B4541-F354-8F38-7F19-597C52BE658C}"/>
              </a:ext>
            </a:extLst>
          </p:cNvPr>
          <p:cNvSpPr txBox="1"/>
          <p:nvPr/>
        </p:nvSpPr>
        <p:spPr>
          <a:xfrm>
            <a:off x="12320521" y="5899581"/>
            <a:ext cx="40049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dirty="0"/>
              <a:t>내면 동기 부재</a:t>
            </a:r>
            <a:endParaRPr lang="en-US" altLang="ko-KR" sz="2000" dirty="0"/>
          </a:p>
          <a:p>
            <a:pPr algn="just"/>
            <a:r>
              <a:rPr lang="ko-KR" altLang="en-US" sz="2000" dirty="0"/>
              <a:t>루틴 설계 자동화 부족</a:t>
            </a:r>
            <a:endParaRPr lang="en-US" altLang="ko-KR" sz="2000" dirty="0"/>
          </a:p>
          <a:p>
            <a:pPr algn="just"/>
            <a:r>
              <a:rPr lang="en-US" altLang="ko-KR" sz="2000" dirty="0"/>
              <a:t>(</a:t>
            </a:r>
            <a:r>
              <a:rPr lang="ko-KR" altLang="en-US" sz="2000" dirty="0"/>
              <a:t>사용자 주도적 생성 필요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A3F579-AB24-39DB-B7AC-029F20A01E42}"/>
              </a:ext>
            </a:extLst>
          </p:cNvPr>
          <p:cNvSpPr txBox="1"/>
          <p:nvPr/>
        </p:nvSpPr>
        <p:spPr>
          <a:xfrm>
            <a:off x="12320521" y="7447440"/>
            <a:ext cx="40049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dirty="0"/>
              <a:t>정신 상태 인식 기능 부족</a:t>
            </a:r>
            <a:endParaRPr lang="en-US" altLang="ko-KR" sz="2000" dirty="0"/>
          </a:p>
          <a:p>
            <a:pPr algn="just"/>
            <a:r>
              <a:rPr lang="ko-KR" altLang="en-US" sz="2000" dirty="0"/>
              <a:t>개인화 수준 제한</a:t>
            </a:r>
            <a:endParaRPr lang="en-US" altLang="ko-KR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7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F38124-A483-644A-4F74-F75ACF24C978}"/>
              </a:ext>
            </a:extLst>
          </p:cNvPr>
          <p:cNvSpPr txBox="1"/>
          <p:nvPr/>
        </p:nvSpPr>
        <p:spPr>
          <a:xfrm>
            <a:off x="2025427" y="1975805"/>
            <a:ext cx="35882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dirty="0"/>
              <a:t>직장을 다니고 자기개발에 욕심이 있는 </a:t>
            </a:r>
            <a:r>
              <a:rPr lang="en-US" altLang="ko-KR" dirty="0"/>
              <a:t>20~30</a:t>
            </a:r>
            <a:r>
              <a:rPr lang="ko-KR" altLang="en-US" dirty="0"/>
              <a:t>대 </a:t>
            </a:r>
            <a:r>
              <a:rPr lang="en-US" altLang="ko-KR" dirty="0"/>
              <a:t>MZ</a:t>
            </a:r>
            <a:r>
              <a:rPr lang="ko-KR" altLang="en-US" dirty="0"/>
              <a:t>세대는 시간 관리에 대해 늘 부족함을 느낌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894D3C-D290-3D1F-4730-55726C74CCEB}"/>
              </a:ext>
            </a:extLst>
          </p:cNvPr>
          <p:cNvSpPr txBox="1"/>
          <p:nvPr/>
        </p:nvSpPr>
        <p:spPr>
          <a:xfrm>
            <a:off x="775360" y="2296701"/>
            <a:ext cx="11228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b="1" dirty="0"/>
              <a:t>케이스 </a:t>
            </a:r>
            <a:r>
              <a:rPr lang="en-US" altLang="ko-KR" b="1" dirty="0"/>
              <a:t>1 </a:t>
            </a:r>
            <a:r>
              <a:rPr lang="ko-KR" altLang="en-US" b="1" dirty="0"/>
              <a:t>고객</a:t>
            </a:r>
            <a:r>
              <a:rPr lang="en-US" altLang="ko-KR" b="1" dirty="0"/>
              <a:t>=</a:t>
            </a:r>
            <a:r>
              <a:rPr lang="ko-KR" altLang="en-US" b="1" dirty="0"/>
              <a:t>문제당사자</a:t>
            </a:r>
            <a:r>
              <a:rPr lang="en-US" altLang="ko-KR" b="1" dirty="0"/>
              <a:t>=</a:t>
            </a:r>
            <a:r>
              <a:rPr lang="ko-KR" altLang="en-US" b="1" dirty="0"/>
              <a:t>사용자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E5C4D6-7000-5C66-7133-38C5FB6F2140}"/>
              </a:ext>
            </a:extLst>
          </p:cNvPr>
          <p:cNvSpPr txBox="1"/>
          <p:nvPr/>
        </p:nvSpPr>
        <p:spPr>
          <a:xfrm>
            <a:off x="5866975" y="2083527"/>
            <a:ext cx="516369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dirty="0"/>
              <a:t>강점</a:t>
            </a:r>
            <a:r>
              <a:rPr lang="en-US" altLang="ko-KR" dirty="0"/>
              <a:t>)</a:t>
            </a:r>
          </a:p>
          <a:p>
            <a:pPr algn="just"/>
            <a:r>
              <a:rPr lang="ko-KR" altLang="en-US" dirty="0"/>
              <a:t>심리 전문가 기반 콘텐츠 구성 </a:t>
            </a:r>
            <a:r>
              <a:rPr lang="en-US" altLang="ko-KR" dirty="0"/>
              <a:t>(</a:t>
            </a:r>
            <a:r>
              <a:rPr lang="ko-KR" altLang="en-US" dirty="0" err="1"/>
              <a:t>마보</a:t>
            </a:r>
            <a:r>
              <a:rPr lang="en-US" altLang="ko-KR" dirty="0"/>
              <a:t>, Endel)</a:t>
            </a:r>
          </a:p>
          <a:p>
            <a:pPr algn="just"/>
            <a:r>
              <a:rPr lang="ko-KR" altLang="en-US" dirty="0"/>
              <a:t>돈을 걸어서 실행 유도 설계</a:t>
            </a:r>
            <a:r>
              <a:rPr lang="en-US" altLang="ko-KR" dirty="0"/>
              <a:t> </a:t>
            </a:r>
            <a:r>
              <a:rPr lang="ko-KR" altLang="en-US" dirty="0"/>
              <a:t>및 루틴 다양화와 공개 인증을 통해 성장형 커뮤니티 구축</a:t>
            </a:r>
            <a:r>
              <a:rPr lang="en-US" altLang="ko-KR" dirty="0"/>
              <a:t>(</a:t>
            </a:r>
            <a:r>
              <a:rPr lang="ko-KR" altLang="en-US" dirty="0" err="1"/>
              <a:t>챌린저스</a:t>
            </a:r>
            <a:r>
              <a:rPr lang="en-US" altLang="ko-KR" dirty="0"/>
              <a:t>)</a:t>
            </a:r>
          </a:p>
          <a:p>
            <a:pPr algn="just"/>
            <a:r>
              <a:rPr lang="ko-KR" altLang="en-US" dirty="0"/>
              <a:t>타이머 기반 실행력 강화 및 기상 및 취침 루틴의 리듬 형성 지원</a:t>
            </a:r>
            <a:r>
              <a:rPr lang="en-US" altLang="ko-KR" dirty="0"/>
              <a:t>(</a:t>
            </a:r>
            <a:r>
              <a:rPr lang="ko-KR" altLang="en-US" dirty="0" err="1"/>
              <a:t>루티너리</a:t>
            </a:r>
            <a:r>
              <a:rPr lang="en-US" altLang="ko-KR" dirty="0"/>
              <a:t>)</a:t>
            </a:r>
          </a:p>
          <a:p>
            <a:pPr algn="just"/>
            <a:endParaRPr lang="en-US" altLang="ko-KR" dirty="0"/>
          </a:p>
          <a:p>
            <a:pPr algn="just"/>
            <a:r>
              <a:rPr lang="ko-KR" altLang="en-US" dirty="0"/>
              <a:t>한계</a:t>
            </a:r>
            <a:r>
              <a:rPr lang="en-US" altLang="ko-KR" dirty="0"/>
              <a:t>)</a:t>
            </a:r>
          </a:p>
          <a:p>
            <a:pPr algn="just"/>
            <a:r>
              <a:rPr lang="ko-KR" altLang="en-US" dirty="0"/>
              <a:t>개개인 맞춤형 심리 컨텐츠 부재 </a:t>
            </a:r>
            <a:endParaRPr lang="en-US" altLang="ko-KR" dirty="0"/>
          </a:p>
          <a:p>
            <a:pPr algn="just"/>
            <a:r>
              <a:rPr lang="ko-KR" altLang="en-US" dirty="0"/>
              <a:t>개인의 상태 인식 기능 부족</a:t>
            </a:r>
            <a:endParaRPr lang="en-US" altLang="ko-KR" dirty="0"/>
          </a:p>
          <a:p>
            <a:pPr algn="just"/>
            <a:r>
              <a:rPr lang="ko-KR" altLang="en-US" dirty="0"/>
              <a:t>루틴 설계 자동화 부족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F2D2C4-A0B3-CF72-CFD9-49F2D8306F93}"/>
              </a:ext>
            </a:extLst>
          </p:cNvPr>
          <p:cNvSpPr txBox="1"/>
          <p:nvPr/>
        </p:nvSpPr>
        <p:spPr>
          <a:xfrm>
            <a:off x="11283925" y="1942758"/>
            <a:ext cx="51636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dirty="0"/>
              <a:t>1) </a:t>
            </a:r>
            <a:r>
              <a:rPr lang="ko-KR" altLang="en-US" dirty="0"/>
              <a:t>바이오 시그널 기반 개인의 상태 인식 및 </a:t>
            </a:r>
            <a:r>
              <a:rPr lang="ko-KR" altLang="en-US" dirty="0" err="1"/>
              <a:t>맟춤형</a:t>
            </a:r>
            <a:r>
              <a:rPr lang="ko-KR" altLang="en-US" dirty="0"/>
              <a:t> 심리 컨텐츠 제공 가능</a:t>
            </a:r>
            <a:endParaRPr lang="en-US" altLang="ko-KR" dirty="0"/>
          </a:p>
          <a:p>
            <a:pPr algn="just"/>
            <a:endParaRPr lang="en-US" altLang="ko-KR" dirty="0"/>
          </a:p>
          <a:p>
            <a:pPr algn="just"/>
            <a:r>
              <a:rPr lang="en-US" altLang="ko-KR" dirty="0"/>
              <a:t>2)</a:t>
            </a:r>
            <a:r>
              <a:rPr lang="ko-KR" altLang="en-US" dirty="0"/>
              <a:t> 시간별로 인식 전환을 위한 루틴 제안 가능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EBCF6B-321E-3017-64C3-073105E6ADA5}"/>
              </a:ext>
            </a:extLst>
          </p:cNvPr>
          <p:cNvSpPr txBox="1"/>
          <p:nvPr/>
        </p:nvSpPr>
        <p:spPr>
          <a:xfrm>
            <a:off x="775360" y="6433097"/>
            <a:ext cx="15614392" cy="3170099"/>
          </a:xfrm>
          <a:prstGeom prst="rect">
            <a:avLst/>
          </a:prstGeom>
          <a:solidFill>
            <a:srgbClr val="FFF3C8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(</a:t>
            </a:r>
            <a:r>
              <a:rPr lang="ko-KR" altLang="en-US" sz="2000" dirty="0"/>
              <a:t>자기개발과 루틴 개선에 욕심이 있는 </a:t>
            </a:r>
            <a:r>
              <a:rPr lang="en-US" altLang="ko-KR" sz="2000" dirty="0"/>
              <a:t>MZ</a:t>
            </a:r>
            <a:r>
              <a:rPr lang="ko-KR" altLang="en-US" sz="2000" dirty="0"/>
              <a:t>세대</a:t>
            </a:r>
            <a:r>
              <a:rPr lang="en-US" altLang="ko-KR" sz="2000" dirty="0"/>
              <a:t>)</a:t>
            </a:r>
            <a:r>
              <a:rPr lang="ko-KR" altLang="en-US" sz="2000" dirty="0"/>
              <a:t>가 </a:t>
            </a:r>
            <a:r>
              <a:rPr lang="en-US" altLang="ko-KR" sz="2000" dirty="0"/>
              <a:t>(</a:t>
            </a:r>
            <a:r>
              <a:rPr lang="ko-KR" altLang="en-US" sz="2000" dirty="0"/>
              <a:t>기상 후 침대에서 습관적으로 </a:t>
            </a:r>
            <a:r>
              <a:rPr lang="ko-KR" altLang="en-US" sz="2000" dirty="0" err="1"/>
              <a:t>유트브</a:t>
            </a:r>
            <a:r>
              <a:rPr lang="en-US" altLang="ko-KR" sz="2000" dirty="0"/>
              <a:t>/</a:t>
            </a:r>
            <a:r>
              <a:rPr lang="ko-KR" altLang="en-US" sz="2000" dirty="0"/>
              <a:t>인스타 등의 콘텐츠를 소비하는 문제</a:t>
            </a:r>
            <a:r>
              <a:rPr lang="en-US" altLang="ko-KR" sz="2000" dirty="0"/>
              <a:t>)</a:t>
            </a:r>
            <a:r>
              <a:rPr lang="ko-KR" altLang="en-US" sz="2000" dirty="0"/>
              <a:t>를 해결하기</a:t>
            </a:r>
            <a:r>
              <a:rPr lang="en-US" altLang="ko-KR" sz="2000" dirty="0"/>
              <a:t> </a:t>
            </a:r>
            <a:r>
              <a:rPr lang="ko-KR" altLang="en-US" sz="2000" dirty="0"/>
              <a:t>위해 </a:t>
            </a:r>
            <a:r>
              <a:rPr lang="en-US" altLang="ko-KR" sz="2000" dirty="0"/>
              <a:t>(</a:t>
            </a:r>
            <a:r>
              <a:rPr lang="ko-KR" altLang="en-US" sz="2000" dirty="0"/>
              <a:t>정신이 명확하게 깨어나지 않고 자기 상태를 인지하지 못하는 상황</a:t>
            </a:r>
            <a:r>
              <a:rPr lang="en-US" altLang="ko-KR" sz="2000" dirty="0"/>
              <a:t>)</a:t>
            </a:r>
            <a:r>
              <a:rPr lang="ko-KR" altLang="en-US" sz="2000" dirty="0"/>
              <a:t>을 </a:t>
            </a:r>
            <a:r>
              <a:rPr lang="en-US" altLang="ko-KR" sz="2000" dirty="0"/>
              <a:t>(</a:t>
            </a:r>
            <a:r>
              <a:rPr lang="ko-KR" altLang="en-US" sz="2000" dirty="0"/>
              <a:t>바이오 시그널 기반 사용자 맞춤형 인지 전환 서비스</a:t>
            </a:r>
            <a:r>
              <a:rPr lang="en-US" altLang="ko-KR" sz="2000" dirty="0"/>
              <a:t>)</a:t>
            </a:r>
            <a:r>
              <a:rPr lang="ko-KR" altLang="en-US" sz="2000" dirty="0"/>
              <a:t>를 제공을 통해 해결하며</a:t>
            </a:r>
            <a:r>
              <a:rPr lang="en-US" altLang="ko-KR" sz="2000" dirty="0"/>
              <a:t>, (</a:t>
            </a:r>
            <a:r>
              <a:rPr lang="ko-KR" altLang="en-US" sz="2000" dirty="0"/>
              <a:t>개개인의 상태 인지와 루틴 설계의 자동화</a:t>
            </a:r>
            <a:r>
              <a:rPr lang="en-US" altLang="ko-KR" sz="2000" dirty="0"/>
              <a:t>)</a:t>
            </a:r>
            <a:r>
              <a:rPr lang="ko-KR" altLang="en-US" sz="2000" dirty="0"/>
              <a:t>을 얻을 수 있도록 하겠습니다</a:t>
            </a:r>
            <a:r>
              <a:rPr lang="en-US" altLang="ko-KR" sz="2000" dirty="0"/>
              <a:t>. </a:t>
            </a:r>
          </a:p>
          <a:p>
            <a:pPr algn="just"/>
            <a:endParaRPr lang="en-US" altLang="ko-KR" sz="2000" dirty="0"/>
          </a:p>
          <a:p>
            <a:pPr algn="just"/>
            <a:r>
              <a:rPr lang="ko-KR" altLang="en-US" sz="2000" dirty="0"/>
              <a:t>아침마다 침대에서 유튜브와 인스타를 보며 하루를 무기력하게 시작하는 </a:t>
            </a:r>
            <a:r>
              <a:rPr lang="en-US" altLang="ko-KR" sz="2000" dirty="0"/>
              <a:t>MZ</a:t>
            </a:r>
            <a:r>
              <a:rPr lang="ko-KR" altLang="en-US" sz="2000" dirty="0"/>
              <a:t>세대에게</a:t>
            </a:r>
            <a:r>
              <a:rPr lang="en-US" altLang="ko-KR" sz="2000" dirty="0"/>
              <a:t>, </a:t>
            </a:r>
            <a:r>
              <a:rPr lang="ko-KR" altLang="en-US" sz="2000" dirty="0"/>
              <a:t>뇌파와 </a:t>
            </a:r>
            <a:r>
              <a:rPr lang="ko-KR" altLang="en-US" sz="2000" dirty="0" err="1"/>
              <a:t>심박</a:t>
            </a:r>
            <a:r>
              <a:rPr lang="ko-KR" altLang="en-US" sz="2000" dirty="0"/>
              <a:t> 등 바이오 시그널을 감지해 뇌를 깨우고</a:t>
            </a:r>
            <a:r>
              <a:rPr lang="en-US" altLang="ko-KR" sz="2000" dirty="0"/>
              <a:t>, </a:t>
            </a:r>
            <a:r>
              <a:rPr lang="ko-KR" altLang="en-US" sz="2000" dirty="0"/>
              <a:t>지금 상태에 꼭 맞는 루틴을 자동으로 제안하는 개인 맞춤 인지 전환 서비스를 제공합니다</a:t>
            </a:r>
            <a:r>
              <a:rPr lang="en-US" altLang="ko-KR" sz="2000" dirty="0"/>
              <a:t>. </a:t>
            </a:r>
            <a:r>
              <a:rPr lang="ko-KR" altLang="en-US" sz="2000" dirty="0"/>
              <a:t>사용자는 자기 상태를 직관적으로 인식하고</a:t>
            </a:r>
            <a:r>
              <a:rPr lang="en-US" altLang="ko-KR" sz="2000" dirty="0"/>
              <a:t>, 5</a:t>
            </a:r>
            <a:r>
              <a:rPr lang="ko-KR" altLang="en-US" sz="2000" dirty="0"/>
              <a:t>분 만에 몰입 상태로 전환된 하루를 시작할 수 있습니다</a:t>
            </a:r>
            <a:r>
              <a:rPr lang="en-US" altLang="ko-KR" sz="2000" dirty="0"/>
              <a:t>.</a:t>
            </a:r>
          </a:p>
          <a:p>
            <a:pPr algn="just"/>
            <a:endParaRPr lang="en-US" altLang="ko-KR" sz="2000" dirty="0"/>
          </a:p>
          <a:p>
            <a:pPr algn="just"/>
            <a:r>
              <a:rPr lang="ko-KR" altLang="en-US" sz="2000" b="1" dirty="0"/>
              <a:t>침대에서 유튜브와 인스타를 보며 하루를 </a:t>
            </a:r>
            <a:r>
              <a:rPr lang="ko-KR" altLang="en-US" sz="2000" b="1" dirty="0" err="1"/>
              <a:t>흘려보내는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MZ</a:t>
            </a:r>
            <a:r>
              <a:rPr lang="ko-KR" altLang="en-US" sz="2000" b="1" dirty="0"/>
              <a:t>세대를 위해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뇌파와 </a:t>
            </a:r>
            <a:r>
              <a:rPr lang="ko-KR" altLang="en-US" sz="2000" b="1" dirty="0" err="1"/>
              <a:t>심박</a:t>
            </a:r>
            <a:r>
              <a:rPr lang="ko-KR" altLang="en-US" sz="2000" b="1" dirty="0"/>
              <a:t> 같은 바이오 신호를 감지해 정신을 깨우고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지금 당신에게 필요한 루틴을 </a:t>
            </a:r>
            <a:r>
              <a:rPr lang="en-US" altLang="ko-KR" sz="2000" b="1" dirty="0"/>
              <a:t>AI</a:t>
            </a:r>
            <a:r>
              <a:rPr lang="ko-KR" altLang="en-US" sz="2000" b="1" dirty="0"/>
              <a:t>가 자동 설계합니다</a:t>
            </a:r>
            <a:r>
              <a:rPr lang="en-US" altLang="ko-KR" sz="2000" b="1" dirty="0"/>
              <a:t>. </a:t>
            </a:r>
            <a:r>
              <a:rPr lang="ko-KR" altLang="en-US" sz="2000" b="1" dirty="0"/>
              <a:t>단 </a:t>
            </a:r>
            <a:r>
              <a:rPr lang="en-US" altLang="ko-KR" sz="2000" b="1" dirty="0"/>
              <a:t>3</a:t>
            </a:r>
            <a:r>
              <a:rPr lang="ko-KR" altLang="en-US" sz="2000" b="1" dirty="0"/>
              <a:t>분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당신은 자기 상태를 인식하고 몰입 모드로 전환된 하루를 시작하게 됩니다</a:t>
            </a:r>
            <a:r>
              <a:rPr lang="en-US" altLang="ko-KR" sz="2000" b="1" dirty="0"/>
              <a:t>.</a:t>
            </a:r>
            <a:endParaRPr lang="ko-KR" altLang="en-US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D89BDE-8FE8-2977-18BE-204A8A5A04AD}"/>
              </a:ext>
            </a:extLst>
          </p:cNvPr>
          <p:cNvSpPr txBox="1"/>
          <p:nvPr/>
        </p:nvSpPr>
        <p:spPr>
          <a:xfrm>
            <a:off x="2025427" y="3103251"/>
            <a:ext cx="35882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dirty="0"/>
              <a:t>시간관리</a:t>
            </a:r>
            <a:r>
              <a:rPr lang="en-US" altLang="ko-KR" dirty="0"/>
              <a:t>, </a:t>
            </a:r>
            <a:r>
              <a:rPr lang="ko-KR" altLang="en-US" dirty="0"/>
              <a:t>자기개발</a:t>
            </a:r>
            <a:r>
              <a:rPr lang="en-US" altLang="ko-KR" dirty="0"/>
              <a:t>, </a:t>
            </a:r>
            <a:r>
              <a:rPr lang="ko-KR" altLang="en-US" dirty="0"/>
              <a:t>명상 등 기존 </a:t>
            </a:r>
            <a:r>
              <a:rPr lang="ko-KR" altLang="en-US" dirty="0" err="1"/>
              <a:t>솔루션들에서</a:t>
            </a:r>
            <a:r>
              <a:rPr lang="ko-KR" altLang="en-US" dirty="0"/>
              <a:t> 큰 변화를 느끼지 못함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1506BE-C1C8-2E49-D149-B78A602AEB07}"/>
              </a:ext>
            </a:extLst>
          </p:cNvPr>
          <p:cNvSpPr txBox="1"/>
          <p:nvPr/>
        </p:nvSpPr>
        <p:spPr>
          <a:xfrm>
            <a:off x="2025426" y="4136496"/>
            <a:ext cx="35882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dirty="0"/>
              <a:t>업무와 삶의 균형을 중시하며 아침 기상 이후 디지털 </a:t>
            </a:r>
            <a:r>
              <a:rPr lang="ko-KR" altLang="en-US" dirty="0" err="1"/>
              <a:t>숏폼</a:t>
            </a:r>
            <a:r>
              <a:rPr lang="ko-KR" altLang="en-US" dirty="0"/>
              <a:t> 컨텐츠를 무의식적으로 보고 저녁에 스스로를 자책함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E5FE13-31C5-28ED-F6F5-0F403142DCC2}"/>
              </a:ext>
            </a:extLst>
          </p:cNvPr>
          <p:cNvSpPr txBox="1"/>
          <p:nvPr/>
        </p:nvSpPr>
        <p:spPr>
          <a:xfrm>
            <a:off x="11283925" y="3564916"/>
            <a:ext cx="516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dirty="0"/>
              <a:t>3) </a:t>
            </a:r>
            <a:r>
              <a:rPr lang="ko-KR" altLang="en-US" dirty="0"/>
              <a:t>뇌파를 결합해 기존 솔루션보다 더 개인화된 데이터를 기반으로 실행력 강화</a:t>
            </a:r>
            <a:r>
              <a:rPr lang="en-US" altLang="ko-KR" dirty="0"/>
              <a:t>  </a:t>
            </a:r>
            <a:endParaRPr lang="ko-KR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6D4EFC-BE21-814B-1E5A-D241E50C5124}"/>
              </a:ext>
            </a:extLst>
          </p:cNvPr>
          <p:cNvSpPr txBox="1"/>
          <p:nvPr/>
        </p:nvSpPr>
        <p:spPr>
          <a:xfrm>
            <a:off x="2478655" y="2351284"/>
            <a:ext cx="55833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b="1" dirty="0"/>
              <a:t>인터뷰 및 설문조사 응답자 </a:t>
            </a:r>
            <a:r>
              <a:rPr lang="en-US" altLang="ko-KR" b="1" dirty="0"/>
              <a:t>112</a:t>
            </a:r>
            <a:r>
              <a:rPr lang="ko-KR" altLang="en-US" b="1" dirty="0"/>
              <a:t>명 중 시간 부족 문제 인식이 </a:t>
            </a:r>
            <a:r>
              <a:rPr lang="en-US" altLang="ko-KR" b="1" dirty="0"/>
              <a:t>85%</a:t>
            </a:r>
            <a:r>
              <a:rPr lang="ko-KR" altLang="en-US" b="1" dirty="0"/>
              <a:t>를 기록했으며</a:t>
            </a:r>
            <a:r>
              <a:rPr lang="en-US" altLang="ko-KR" b="1" dirty="0"/>
              <a:t>, </a:t>
            </a:r>
            <a:r>
              <a:rPr lang="ko-KR" altLang="en-US" b="1" dirty="0"/>
              <a:t>베타 버전 참여자 </a:t>
            </a:r>
            <a:r>
              <a:rPr lang="en-US" altLang="ko-KR" b="1" dirty="0"/>
              <a:t>75</a:t>
            </a:r>
            <a:r>
              <a:rPr lang="ko-KR" altLang="en-US" b="1" dirty="0"/>
              <a:t>명 도출</a:t>
            </a:r>
            <a:endParaRPr lang="en-US" altLang="ko-KR" b="1" dirty="0"/>
          </a:p>
          <a:p>
            <a:pPr algn="just"/>
            <a:endParaRPr lang="en-US" altLang="ko-KR" b="1" dirty="0"/>
          </a:p>
          <a:p>
            <a:pPr algn="just"/>
            <a:r>
              <a:rPr lang="ko-KR" altLang="en-US" b="1" dirty="0"/>
              <a:t>스타트업 </a:t>
            </a:r>
            <a:r>
              <a:rPr lang="ko-KR" altLang="en-US" b="1" dirty="0" err="1"/>
              <a:t>시드단계에서</a:t>
            </a:r>
            <a:r>
              <a:rPr lang="ko-KR" altLang="en-US" b="1" dirty="0"/>
              <a:t> 시리즈</a:t>
            </a:r>
            <a:r>
              <a:rPr lang="en-US" altLang="ko-KR" b="1" dirty="0"/>
              <a:t>B</a:t>
            </a:r>
            <a:r>
              <a:rPr lang="ko-KR" altLang="en-US" b="1" dirty="0"/>
              <a:t>까지 성장 경험 보유</a:t>
            </a:r>
            <a:endParaRPr lang="en-US" altLang="ko-KR" b="1" dirty="0"/>
          </a:p>
          <a:p>
            <a:pPr algn="just"/>
            <a:endParaRPr lang="en-US" altLang="ko-KR" b="1" dirty="0"/>
          </a:p>
          <a:p>
            <a:pPr algn="just"/>
            <a:r>
              <a:rPr lang="ko-KR" altLang="en-US" b="1" dirty="0"/>
              <a:t>팀원 </a:t>
            </a:r>
            <a:r>
              <a:rPr lang="en-US" altLang="ko-KR" b="1" dirty="0"/>
              <a:t>1</a:t>
            </a:r>
            <a:r>
              <a:rPr lang="ko-KR" altLang="en-US" b="1" dirty="0"/>
              <a:t>명 앱 기획부터 개발 이후 </a:t>
            </a:r>
            <a:r>
              <a:rPr lang="en-US" altLang="ko-KR" b="1" dirty="0"/>
              <a:t>small Exit </a:t>
            </a:r>
            <a:r>
              <a:rPr lang="ko-KR" altLang="en-US" b="1" dirty="0"/>
              <a:t>경험 보유</a:t>
            </a:r>
            <a:endParaRPr lang="en-US" altLang="ko-KR" b="1" dirty="0"/>
          </a:p>
          <a:p>
            <a:pPr algn="just"/>
            <a:endParaRPr lang="en-US" altLang="ko-KR" b="1" dirty="0"/>
          </a:p>
          <a:p>
            <a:pPr algn="just"/>
            <a:r>
              <a:rPr lang="ko-KR" altLang="en-US" b="1" dirty="0"/>
              <a:t>팀원 </a:t>
            </a:r>
            <a:r>
              <a:rPr lang="en-US" altLang="ko-KR" b="1" dirty="0"/>
              <a:t>2</a:t>
            </a:r>
            <a:r>
              <a:rPr lang="ko-KR" altLang="en-US" b="1" dirty="0"/>
              <a:t>명이 개발 인력으로 빠른 배포 후 수정 가능</a:t>
            </a:r>
            <a:endParaRPr lang="en-US" altLang="ko-KR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2EFCAF-A122-472E-A248-C65700703283}"/>
              </a:ext>
            </a:extLst>
          </p:cNvPr>
          <p:cNvSpPr txBox="1"/>
          <p:nvPr/>
        </p:nvSpPr>
        <p:spPr>
          <a:xfrm>
            <a:off x="2478654" y="6501943"/>
            <a:ext cx="53206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b="1" dirty="0"/>
              <a:t>국내 </a:t>
            </a:r>
            <a:r>
              <a:rPr lang="en-US" altLang="ko-KR" b="1" dirty="0"/>
              <a:t>20-30</a:t>
            </a:r>
            <a:r>
              <a:rPr lang="ko-KR" altLang="en-US" b="1" dirty="0"/>
              <a:t>대 </a:t>
            </a:r>
            <a:r>
              <a:rPr lang="ko-KR" altLang="en-US" b="1" dirty="0" err="1"/>
              <a:t>스마트워치</a:t>
            </a:r>
            <a:r>
              <a:rPr lang="ko-KR" altLang="en-US" b="1" dirty="0"/>
              <a:t> 보급률 </a:t>
            </a:r>
            <a:r>
              <a:rPr lang="en-US" altLang="ko-KR" b="1" dirty="0"/>
              <a:t>40% </a:t>
            </a:r>
            <a:r>
              <a:rPr lang="ko-KR" altLang="en-US" b="1" dirty="0"/>
              <a:t>이상</a:t>
            </a:r>
            <a:endParaRPr lang="en-US" altLang="ko-KR" b="1" dirty="0"/>
          </a:p>
          <a:p>
            <a:pPr algn="just"/>
            <a:endParaRPr lang="en-US" altLang="ko-KR" b="1" dirty="0"/>
          </a:p>
          <a:p>
            <a:pPr algn="just"/>
            <a:r>
              <a:rPr lang="ko-KR" altLang="en-US" b="1" dirty="0"/>
              <a:t>바이오 시그널 기반 </a:t>
            </a:r>
            <a:r>
              <a:rPr lang="ko-KR" altLang="en-US" b="1" dirty="0" err="1"/>
              <a:t>웰니스</a:t>
            </a:r>
            <a:r>
              <a:rPr lang="ko-KR" altLang="en-US" b="1" dirty="0"/>
              <a:t> 시장 연평균 </a:t>
            </a:r>
            <a:r>
              <a:rPr lang="en-US" altLang="ko-KR" b="1" dirty="0"/>
              <a:t>25% </a:t>
            </a:r>
            <a:r>
              <a:rPr lang="ko-KR" altLang="en-US" b="1" dirty="0"/>
              <a:t>성장</a:t>
            </a:r>
            <a:endParaRPr lang="en-US" altLang="ko-KR" b="1" dirty="0"/>
          </a:p>
          <a:p>
            <a:pPr algn="just"/>
            <a:endParaRPr lang="en-US" altLang="ko-KR" b="1" dirty="0"/>
          </a:p>
          <a:p>
            <a:pPr algn="just"/>
            <a:r>
              <a:rPr lang="en-US" altLang="ko-KR" b="1" dirty="0"/>
              <a:t>MZ</a:t>
            </a:r>
            <a:r>
              <a:rPr lang="ko-KR" altLang="en-US" b="1" dirty="0"/>
              <a:t>세대 자기개발 열풍 </a:t>
            </a:r>
            <a:r>
              <a:rPr lang="en-US" altLang="ko-KR" b="1" dirty="0"/>
              <a:t>(App Annie, 2024 </a:t>
            </a:r>
            <a:r>
              <a:rPr lang="ko-KR" altLang="en-US" b="1" dirty="0" err="1"/>
              <a:t>루틴앱</a:t>
            </a:r>
            <a:r>
              <a:rPr lang="ko-KR" altLang="en-US" b="1" dirty="0"/>
              <a:t> </a:t>
            </a:r>
            <a:r>
              <a:rPr lang="ko-KR" altLang="en-US" b="1" dirty="0" err="1"/>
              <a:t>렌드</a:t>
            </a:r>
            <a:r>
              <a:rPr lang="ko-KR" altLang="en-US" b="1" dirty="0"/>
              <a:t> 보고서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157573-24A5-CA8A-75BA-8DBCE255F67D}"/>
              </a:ext>
            </a:extLst>
          </p:cNvPr>
          <p:cNvSpPr txBox="1"/>
          <p:nvPr/>
        </p:nvSpPr>
        <p:spPr>
          <a:xfrm>
            <a:off x="10657156" y="2355594"/>
            <a:ext cx="55833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b="1" dirty="0"/>
              <a:t>뇌파 측정 디바이스 개발을 위한 하드웨어 개발자 부재</a:t>
            </a:r>
            <a:endParaRPr lang="en-US" altLang="ko-KR" b="1" dirty="0"/>
          </a:p>
          <a:p>
            <a:pPr algn="just"/>
            <a:endParaRPr lang="en-US" altLang="ko-KR" b="1" dirty="0"/>
          </a:p>
          <a:p>
            <a:pPr algn="just"/>
            <a:r>
              <a:rPr lang="ko-KR" altLang="en-US" b="1" dirty="0"/>
              <a:t>현재 서비스 배포 경험이 없어 사용자 반응 모름</a:t>
            </a:r>
            <a:endParaRPr lang="en-US" altLang="ko-KR" b="1" dirty="0"/>
          </a:p>
          <a:p>
            <a:pPr algn="just"/>
            <a:endParaRPr lang="en-US" altLang="ko-KR" b="1" dirty="0"/>
          </a:p>
          <a:p>
            <a:pPr algn="just"/>
            <a:r>
              <a:rPr lang="ko-KR" altLang="en-US" b="1" dirty="0"/>
              <a:t>예비 창업 팀원 모두 직장인 혹은 학생으로 경쟁사 대비 체계성 부족</a:t>
            </a:r>
            <a:endParaRPr lang="en-US" altLang="ko-KR" b="1" dirty="0"/>
          </a:p>
          <a:p>
            <a:pPr algn="just"/>
            <a:endParaRPr lang="en-US" altLang="ko-KR" b="1" dirty="0"/>
          </a:p>
          <a:p>
            <a:pPr algn="just"/>
            <a:r>
              <a:rPr lang="ko-KR" altLang="en-US" b="1" dirty="0"/>
              <a:t>사용자 확보용 </a:t>
            </a:r>
            <a:r>
              <a:rPr lang="ko-KR" altLang="en-US" b="1" dirty="0" err="1"/>
              <a:t>그로스</a:t>
            </a:r>
            <a:r>
              <a:rPr lang="ko-KR" altLang="en-US" b="1" dirty="0"/>
              <a:t> 마케팅 역량 부족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D40E95-A39B-8B27-5871-391A574A7731}"/>
              </a:ext>
            </a:extLst>
          </p:cNvPr>
          <p:cNvSpPr txBox="1"/>
          <p:nvPr/>
        </p:nvSpPr>
        <p:spPr>
          <a:xfrm>
            <a:off x="10657156" y="6501943"/>
            <a:ext cx="532063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b="1" dirty="0"/>
              <a:t>기존 루틴 앱</a:t>
            </a:r>
            <a:r>
              <a:rPr lang="en-US" altLang="ko-KR" b="1" dirty="0"/>
              <a:t>, </a:t>
            </a:r>
            <a:r>
              <a:rPr lang="ko-KR" altLang="en-US" b="1" dirty="0"/>
              <a:t>명상 앱과의 경쟁</a:t>
            </a:r>
            <a:endParaRPr lang="en-US" altLang="ko-KR" b="1" dirty="0"/>
          </a:p>
          <a:p>
            <a:pPr algn="just"/>
            <a:endParaRPr lang="en-US" altLang="ko-KR" b="1" dirty="0"/>
          </a:p>
          <a:p>
            <a:pPr algn="just"/>
            <a:r>
              <a:rPr lang="ko-KR" altLang="en-US" b="1" dirty="0"/>
              <a:t>웨어러블 기기 호환성 의존 위험</a:t>
            </a:r>
            <a:r>
              <a:rPr lang="en-US" altLang="ko-KR" b="1" dirty="0"/>
              <a:t>-</a:t>
            </a:r>
            <a:r>
              <a:rPr lang="ko-KR" altLang="en-US" b="1" dirty="0"/>
              <a:t>디바이스 정책 변화 시 영향 받음</a:t>
            </a:r>
            <a:endParaRPr lang="en-US" altLang="ko-KR" b="1" dirty="0"/>
          </a:p>
          <a:p>
            <a:pPr algn="just"/>
            <a:endParaRPr lang="en-US" altLang="ko-KR" b="1" dirty="0"/>
          </a:p>
          <a:p>
            <a:pPr algn="just"/>
            <a:r>
              <a:rPr lang="ko-KR" altLang="en-US" b="1" dirty="0"/>
              <a:t>바이오 데이터 수집에 대한 개인정보보호 규제 리스크 존재</a:t>
            </a:r>
            <a:r>
              <a:rPr lang="en-US" altLang="ko-KR" b="1" dirty="0"/>
              <a:t>(GDPR, </a:t>
            </a:r>
            <a:r>
              <a:rPr lang="ko-KR" altLang="en-US" b="1" dirty="0"/>
              <a:t>국내 개인정보법 강화 방향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3211</TotalTime>
  <Words>752</Words>
  <Application>Microsoft Office PowerPoint</Application>
  <PresentationFormat>사용자 지정</PresentationFormat>
  <Paragraphs>100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전 용구</cp:lastModifiedBy>
  <cp:revision>14</cp:revision>
  <dcterms:created xsi:type="dcterms:W3CDTF">2025-04-21T00:55:53Z</dcterms:created>
  <dcterms:modified xsi:type="dcterms:W3CDTF">2025-04-26T07:54:06Z</dcterms:modified>
</cp:coreProperties>
</file>