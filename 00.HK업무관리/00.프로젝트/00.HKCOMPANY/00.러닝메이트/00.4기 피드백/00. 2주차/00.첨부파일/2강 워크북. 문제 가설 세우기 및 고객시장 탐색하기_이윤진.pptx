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7" r:id="rId9"/>
    <p:sldId id="272" r:id="rId10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64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08F9F5-563A-B0F8-35DE-A47BDF7D13A3}"/>
              </a:ext>
            </a:extLst>
          </p:cNvPr>
          <p:cNvSpPr txBox="1"/>
          <p:nvPr/>
        </p:nvSpPr>
        <p:spPr>
          <a:xfrm>
            <a:off x="1250576" y="2474259"/>
            <a:ext cx="11403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뇌졸중 실어증  환자들은 발병 후 병원에서 언어치료를 받기까지 대기기간이 </a:t>
            </a:r>
            <a:r>
              <a:rPr lang="en-US" altLang="ko-KR" dirty="0"/>
              <a:t>3</a:t>
            </a:r>
            <a:r>
              <a:rPr lang="ko-KR" altLang="en-US" dirty="0"/>
              <a:t>개월 이상 걸린다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B97E3-99C6-DA14-E59E-A4C251EDD4FC}"/>
              </a:ext>
            </a:extLst>
          </p:cNvPr>
          <p:cNvSpPr txBox="1"/>
          <p:nvPr/>
        </p:nvSpPr>
        <p:spPr>
          <a:xfrm>
            <a:off x="1250575" y="3460376"/>
            <a:ext cx="12021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뇌졸중 실어증  환자들과 치매 및 파킨슨병 환자들은 언어치료를 받기 위해 성인 치료실을 가고 싶지만 비용과 이동의 </a:t>
            </a:r>
            <a:r>
              <a:rPr lang="ko-KR" altLang="en-US" dirty="0" err="1"/>
              <a:t>불편감</a:t>
            </a:r>
            <a:r>
              <a:rPr lang="ko-KR" altLang="en-US" dirty="0"/>
              <a:t> 때문에 망설이고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6F05E-F947-4E3C-0147-4325328388FB}"/>
              </a:ext>
            </a:extLst>
          </p:cNvPr>
          <p:cNvSpPr txBox="1"/>
          <p:nvPr/>
        </p:nvSpPr>
        <p:spPr>
          <a:xfrm>
            <a:off x="1250574" y="4291429"/>
            <a:ext cx="12021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지방에 있는 뇌졸중 실어증  환자들과 치매 및 파킨슨병 환자들일수록 성인 언어치료실을 찾기가 어려워 언어치료를 받지 못하는 경우가 많다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FB1F5-6232-BA4A-CDD8-B4049ECCEE9A}"/>
              </a:ext>
            </a:extLst>
          </p:cNvPr>
          <p:cNvSpPr txBox="1"/>
          <p:nvPr/>
        </p:nvSpPr>
        <p:spPr>
          <a:xfrm>
            <a:off x="13837024" y="2474259"/>
            <a:ext cx="122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F487BE-20FB-274B-15F8-61B496A79E8F}"/>
              </a:ext>
            </a:extLst>
          </p:cNvPr>
          <p:cNvSpPr txBox="1"/>
          <p:nvPr/>
        </p:nvSpPr>
        <p:spPr>
          <a:xfrm>
            <a:off x="13837024" y="3460376"/>
            <a:ext cx="122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FEFBC-C93F-651C-547D-AC1EC9F2016D}"/>
              </a:ext>
            </a:extLst>
          </p:cNvPr>
          <p:cNvSpPr txBox="1"/>
          <p:nvPr/>
        </p:nvSpPr>
        <p:spPr>
          <a:xfrm>
            <a:off x="13837024" y="4455457"/>
            <a:ext cx="122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x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3AEA99-AD36-0065-B21B-1755BCF51A62}"/>
              </a:ext>
            </a:extLst>
          </p:cNvPr>
          <p:cNvSpPr txBox="1"/>
          <p:nvPr/>
        </p:nvSpPr>
        <p:spPr>
          <a:xfrm>
            <a:off x="1358152" y="2353235"/>
            <a:ext cx="11793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뇌졸중 실어증과 치매 노인들은 효과가 입증된 언어치료 프로그램이 모바일 형태로 제공되면 </a:t>
            </a:r>
            <a:r>
              <a:rPr lang="en-US" altLang="ko-KR" dirty="0"/>
              <a:t>70% </a:t>
            </a:r>
            <a:r>
              <a:rPr lang="ko-KR" altLang="en-US" dirty="0"/>
              <a:t>이상 이용할 것이다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25FBE-0C57-766F-50F6-C0AB46F849A9}"/>
              </a:ext>
            </a:extLst>
          </p:cNvPr>
          <p:cNvSpPr txBox="1"/>
          <p:nvPr/>
        </p:nvSpPr>
        <p:spPr>
          <a:xfrm>
            <a:off x="1358151" y="3299011"/>
            <a:ext cx="11793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뇌졸중 실어증과 치매 노인들은 효과가 입증된 언어치료 강좌가  교육 플랫폼 형태로 제공되면 </a:t>
            </a:r>
            <a:r>
              <a:rPr lang="en-US" altLang="ko-KR" dirty="0"/>
              <a:t>70% </a:t>
            </a:r>
            <a:r>
              <a:rPr lang="ko-KR" altLang="en-US" dirty="0"/>
              <a:t>이상 이용할 것이다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11A57-FE12-4618-995E-4F151EACA75D}"/>
              </a:ext>
            </a:extLst>
          </p:cNvPr>
          <p:cNvSpPr txBox="1"/>
          <p:nvPr/>
        </p:nvSpPr>
        <p:spPr>
          <a:xfrm>
            <a:off x="13998388" y="2581835"/>
            <a:ext cx="115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77EC3-27F2-108D-0016-598A8A59A887}"/>
              </a:ext>
            </a:extLst>
          </p:cNvPr>
          <p:cNvSpPr txBox="1"/>
          <p:nvPr/>
        </p:nvSpPr>
        <p:spPr>
          <a:xfrm>
            <a:off x="13998388" y="3437510"/>
            <a:ext cx="115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B726CF-567A-5AB9-0E5B-16B66D60F9A7}"/>
              </a:ext>
            </a:extLst>
          </p:cNvPr>
          <p:cNvSpPr txBox="1"/>
          <p:nvPr/>
        </p:nvSpPr>
        <p:spPr>
          <a:xfrm>
            <a:off x="618565" y="2635624"/>
            <a:ext cx="1331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언어치료가 필요한 노인층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0D471-F86E-6A42-A542-C48068B88E35}"/>
              </a:ext>
            </a:extLst>
          </p:cNvPr>
          <p:cNvSpPr txBox="1"/>
          <p:nvPr/>
        </p:nvSpPr>
        <p:spPr>
          <a:xfrm>
            <a:off x="2124635" y="2057400"/>
            <a:ext cx="348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성인언어치료실의 부족으로 인한 장기간 대기와 접근성 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FAE92-040E-F64A-BA9E-A9D81FEFAA02}"/>
              </a:ext>
            </a:extLst>
          </p:cNvPr>
          <p:cNvSpPr txBox="1"/>
          <p:nvPr/>
        </p:nvSpPr>
        <p:spPr>
          <a:xfrm>
            <a:off x="2124635" y="3155560"/>
            <a:ext cx="3482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이동의 불편으로 인해 성인언어치료실로 주기적 방문이 어려움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21B2E-E9B6-8D5D-4817-B6A8EC4586F5}"/>
              </a:ext>
            </a:extLst>
          </p:cNvPr>
          <p:cNvSpPr txBox="1"/>
          <p:nvPr/>
        </p:nvSpPr>
        <p:spPr>
          <a:xfrm>
            <a:off x="2124635" y="4203587"/>
            <a:ext cx="3482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고가의 언어치료를 주기적으로 수 </a:t>
            </a:r>
            <a:r>
              <a:rPr lang="ko-KR" altLang="en-US" dirty="0" err="1"/>
              <a:t>년씩</a:t>
            </a:r>
            <a:r>
              <a:rPr lang="ko-KR" altLang="en-US" dirty="0"/>
              <a:t> 받으며 발생하는 재정부담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50303-8B73-9323-23F1-6953DAFA6472}"/>
              </a:ext>
            </a:extLst>
          </p:cNvPr>
          <p:cNvSpPr txBox="1"/>
          <p:nvPr/>
        </p:nvSpPr>
        <p:spPr>
          <a:xfrm>
            <a:off x="6126164" y="1909064"/>
            <a:ext cx="46123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 </a:t>
            </a:r>
          </a:p>
          <a:p>
            <a:r>
              <a:rPr lang="ko-KR" altLang="en-US" dirty="0"/>
              <a:t>전문 언어치료사에게 맞춤형으로 언어치료를 받으며 대면 재활 훈련을 받을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한계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성인 언어치료를 응급의 형태로 대학병원에서 대기를 하다 들어가 받음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개월 치료 진행 후 로컬 언어치료실로 이전하기를 환자에게 권유드림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응급의 형태가 아닌 성인 언어치료 대상자는 </a:t>
            </a:r>
            <a:r>
              <a:rPr lang="en-US" altLang="ko-KR" dirty="0"/>
              <a:t>6~12</a:t>
            </a:r>
            <a:r>
              <a:rPr lang="ko-KR" altLang="en-US" dirty="0"/>
              <a:t>개월 이상 대기하다가 간신히 치료를 받음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23243-51DD-3C20-1742-740B5D285E5A}"/>
              </a:ext>
            </a:extLst>
          </p:cNvPr>
          <p:cNvSpPr txBox="1"/>
          <p:nvPr/>
        </p:nvSpPr>
        <p:spPr>
          <a:xfrm>
            <a:off x="11429999" y="2048436"/>
            <a:ext cx="4612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모바일 </a:t>
            </a:r>
            <a:r>
              <a:rPr lang="en-US" altLang="ko-KR" dirty="0"/>
              <a:t>APP </a:t>
            </a:r>
            <a:r>
              <a:rPr lang="ko-KR" altLang="en-US" dirty="0"/>
              <a:t>및 강의 플랫폼 형태로 언어치료의 접근성 향상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9ADA5-499C-847B-AC92-5A1ADFFB938F}"/>
              </a:ext>
            </a:extLst>
          </p:cNvPr>
          <p:cNvSpPr txBox="1"/>
          <p:nvPr/>
        </p:nvSpPr>
        <p:spPr>
          <a:xfrm>
            <a:off x="11429999" y="3755724"/>
            <a:ext cx="4612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자동 개별 맞춤형 언어치료 중재 프로그램을 통해 언어치료의 비용을 낮추고 주기적 훈련 및 재활을 용이하게 진행할 수 있음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8BA06-EA78-BEE5-207B-A95949973BB1}"/>
              </a:ext>
            </a:extLst>
          </p:cNvPr>
          <p:cNvSpPr txBox="1"/>
          <p:nvPr/>
        </p:nvSpPr>
        <p:spPr>
          <a:xfrm>
            <a:off x="1116106" y="6454588"/>
            <a:ext cx="12008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뇌졸중 실어증</a:t>
            </a:r>
            <a:r>
              <a:rPr lang="en-US" altLang="ko-KR" dirty="0"/>
              <a:t>, </a:t>
            </a:r>
            <a:r>
              <a:rPr lang="ko-KR" altLang="en-US" dirty="0"/>
              <a:t>치매 등 언어치료를 필요로 하는 노인들이 성인언어치료실에 대한 접근성 저하</a:t>
            </a:r>
            <a:r>
              <a:rPr lang="en-US" altLang="ko-KR" dirty="0"/>
              <a:t>, </a:t>
            </a:r>
            <a:r>
              <a:rPr lang="ko-KR" altLang="en-US" dirty="0"/>
              <a:t>경제적 부담을 느끼며 </a:t>
            </a:r>
            <a:r>
              <a:rPr lang="en-US" altLang="ko-KR" dirty="0"/>
              <a:t> </a:t>
            </a:r>
            <a:r>
              <a:rPr lang="ko-KR" altLang="en-US" dirty="0"/>
              <a:t>물리적 이동의 어려움 겪는 문제에 대해  성인</a:t>
            </a:r>
            <a:r>
              <a:rPr lang="en-US" altLang="ko-KR" dirty="0"/>
              <a:t> </a:t>
            </a:r>
            <a:r>
              <a:rPr lang="ko-KR" altLang="en-US" dirty="0"/>
              <a:t>언어치료의 접근성을 향상시키고 비용을 절감시키며 재활 빈도를 높여 최종 치료 예후를 향상시키고자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위해 </a:t>
            </a:r>
            <a:r>
              <a:rPr lang="en-US" altLang="ko-KR" dirty="0"/>
              <a:t>AI</a:t>
            </a:r>
            <a:r>
              <a:rPr lang="ko-KR" altLang="en-US" dirty="0"/>
              <a:t>와 언어치료학을 기반으로 자동 언어재활 </a:t>
            </a:r>
            <a:r>
              <a:rPr lang="ko-KR" altLang="en-US" dirty="0" err="1"/>
              <a:t>디지털헬스케어</a:t>
            </a:r>
            <a:r>
              <a:rPr lang="ko-KR" altLang="en-US" dirty="0"/>
              <a:t> 및 교육 플랫폼을 제공하여 비용이나 접근성 문제로 치료 </a:t>
            </a:r>
            <a:r>
              <a:rPr lang="ko-KR" altLang="en-US" dirty="0" err="1"/>
              <a:t>골든타임을</a:t>
            </a:r>
            <a:r>
              <a:rPr lang="ko-KR" altLang="en-US" dirty="0"/>
              <a:t> 놓치는 언어치료 성인  대상자가 없는 세상을 만들어 나아가겠습니다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275</Words>
  <Application>Microsoft Office PowerPoint</Application>
  <PresentationFormat>사용자 지정</PresentationFormat>
  <Paragraphs>34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genacyjs@naver.com</cp:lastModifiedBy>
  <cp:revision>2</cp:revision>
  <dcterms:created xsi:type="dcterms:W3CDTF">2025-04-26T00:56:45Z</dcterms:created>
  <dcterms:modified xsi:type="dcterms:W3CDTF">2025-04-27T12:43:54Z</dcterms:modified>
</cp:coreProperties>
</file>