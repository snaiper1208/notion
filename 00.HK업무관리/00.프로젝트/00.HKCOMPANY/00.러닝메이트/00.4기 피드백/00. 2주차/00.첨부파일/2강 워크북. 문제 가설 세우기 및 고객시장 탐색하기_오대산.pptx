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9" r:id="rId2"/>
    <p:sldId id="260" r:id="rId3"/>
    <p:sldId id="263" r:id="rId4"/>
    <p:sldId id="267" r:id="rId5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364" autoAdjust="0"/>
    <p:restoredTop sz="94610"/>
  </p:normalViewPr>
  <p:slideViewPr>
    <p:cSldViewPr snapToGrid="0" snapToObjects="1">
      <p:cViewPr varScale="1">
        <p:scale>
          <a:sx n="27" d="100"/>
          <a:sy n="27" d="100"/>
        </p:scale>
        <p:origin x="60" y="11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948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7" y="0"/>
            <a:ext cx="17556480" cy="987552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A8CD16B8-6A25-3FE2-FD69-9803F2A005A1}"/>
              </a:ext>
            </a:extLst>
          </p:cNvPr>
          <p:cNvSpPr/>
          <p:nvPr/>
        </p:nvSpPr>
        <p:spPr>
          <a:xfrm>
            <a:off x="1055077" y="2297724"/>
            <a:ext cx="12238891" cy="7971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사람들은 자신의 소비 내역을 손쉽게 확인할 수는 있지만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소비를 바로 절약할 방법은 모른다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CCDC1BB-F543-0259-1C0F-302BE4617FF0}"/>
              </a:ext>
            </a:extLst>
          </p:cNvPr>
          <p:cNvSpPr/>
          <p:nvPr/>
        </p:nvSpPr>
        <p:spPr>
          <a:xfrm>
            <a:off x="13635917" y="3308667"/>
            <a:ext cx="2902317" cy="7737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O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ACC4353-F521-D8EF-94F7-AE2A8873F0FE}"/>
              </a:ext>
            </a:extLst>
          </p:cNvPr>
          <p:cNvSpPr/>
          <p:nvPr/>
        </p:nvSpPr>
        <p:spPr>
          <a:xfrm>
            <a:off x="1055077" y="3285219"/>
            <a:ext cx="12238891" cy="7971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MZ</a:t>
            </a:r>
            <a:r>
              <a:rPr lang="ko-KR" altLang="en-US">
                <a:solidFill>
                  <a:schemeClr val="tx1"/>
                </a:solidFill>
              </a:rPr>
              <a:t>세대는 단순한 </a:t>
            </a:r>
            <a:r>
              <a:rPr lang="ko-KR" altLang="en-US" dirty="0">
                <a:solidFill>
                  <a:schemeClr val="tx1"/>
                </a:solidFill>
              </a:rPr>
              <a:t>정보 제공보다 실천 유도형 콘텐츠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예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챌린지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미션 등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r>
              <a:rPr lang="ko-KR" altLang="en-US" dirty="0">
                <a:solidFill>
                  <a:schemeClr val="tx1"/>
                </a:solidFill>
              </a:rPr>
              <a:t>에 더 반응한다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BF1858-B21A-CEEE-5D92-4D8E0F7E855D}"/>
              </a:ext>
            </a:extLst>
          </p:cNvPr>
          <p:cNvSpPr/>
          <p:nvPr/>
        </p:nvSpPr>
        <p:spPr>
          <a:xfrm>
            <a:off x="13751169" y="2473572"/>
            <a:ext cx="2902317" cy="7737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O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E0201D2E-AA21-8812-C247-B3954C4E0180}"/>
              </a:ext>
            </a:extLst>
          </p:cNvPr>
          <p:cNvSpPr/>
          <p:nvPr/>
        </p:nvSpPr>
        <p:spPr>
          <a:xfrm>
            <a:off x="1047262" y="2282092"/>
            <a:ext cx="12184183" cy="8518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개인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소비내역에 대한 맞춤형 피드백을 제공하면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돈 관리에 대한 인지도가 올라간다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12A3421-3CA7-0434-53A4-2147C6281BE8}"/>
              </a:ext>
            </a:extLst>
          </p:cNvPr>
          <p:cNvSpPr/>
          <p:nvPr/>
        </p:nvSpPr>
        <p:spPr>
          <a:xfrm>
            <a:off x="13598769" y="3303612"/>
            <a:ext cx="2902317" cy="7737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X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8848C2B-E051-5D83-0016-DD206DC3D354}"/>
              </a:ext>
            </a:extLst>
          </p:cNvPr>
          <p:cNvSpPr/>
          <p:nvPr/>
        </p:nvSpPr>
        <p:spPr>
          <a:xfrm>
            <a:off x="1047261" y="3264533"/>
            <a:ext cx="12184183" cy="8518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절약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투자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금융교육 등은 </a:t>
            </a:r>
            <a:r>
              <a:rPr lang="ko-KR" altLang="en-US" b="1" dirty="0">
                <a:solidFill>
                  <a:schemeClr val="tx1"/>
                </a:solidFill>
              </a:rPr>
              <a:t>실질적 동기부여와 맞춤형 피드백이 동반되어야 행동 변화로 이어진다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0BFCDFB-0711-A0B3-63ED-FC3B8AE5A33A}"/>
              </a:ext>
            </a:extLst>
          </p:cNvPr>
          <p:cNvSpPr/>
          <p:nvPr/>
        </p:nvSpPr>
        <p:spPr>
          <a:xfrm>
            <a:off x="13598768" y="2282092"/>
            <a:ext cx="2902317" cy="7737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X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8"/>
            <a:ext cx="17556480" cy="987552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3153C4FD-3888-1C1D-8EF0-EE95D8C4EA00}"/>
              </a:ext>
            </a:extLst>
          </p:cNvPr>
          <p:cNvSpPr/>
          <p:nvPr/>
        </p:nvSpPr>
        <p:spPr>
          <a:xfrm>
            <a:off x="9436686" y="1961661"/>
            <a:ext cx="6885354" cy="11801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개인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소비내역에 대한 맞춤형 피드백을 제공하면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돈 관리에 대한 인지도가 올라간다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498F2A3-0A36-6476-D23B-02C39BED768A}"/>
              </a:ext>
            </a:extLst>
          </p:cNvPr>
          <p:cNvSpPr/>
          <p:nvPr/>
        </p:nvSpPr>
        <p:spPr>
          <a:xfrm>
            <a:off x="1168400" y="1961661"/>
            <a:ext cx="6885354" cy="11801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개인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소비내역에 대한 맞춤형 피드백을 제공하면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돈 관리에 대한 인지도가 올라간다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35F93AA-9610-4254-B245-F950A1A73E6C}"/>
              </a:ext>
            </a:extLst>
          </p:cNvPr>
          <p:cNvSpPr/>
          <p:nvPr/>
        </p:nvSpPr>
        <p:spPr>
          <a:xfrm>
            <a:off x="1168400" y="4444162"/>
            <a:ext cx="2303220" cy="11801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핀테크앱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토스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뱅크샐러드 등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2FA6712-0FFC-CD5E-960B-7085E0183936}"/>
              </a:ext>
            </a:extLst>
          </p:cNvPr>
          <p:cNvSpPr/>
          <p:nvPr/>
        </p:nvSpPr>
        <p:spPr>
          <a:xfrm>
            <a:off x="7926160" y="4444162"/>
            <a:ext cx="4143375" cy="11801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다양한 금융 데이터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소비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대출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보험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투자 등</a:t>
            </a:r>
            <a:r>
              <a:rPr lang="en-US" altLang="ko-KR" dirty="0">
                <a:solidFill>
                  <a:schemeClr val="tx1"/>
                </a:solidFill>
              </a:rPr>
              <a:t>) </a:t>
            </a:r>
            <a:r>
              <a:rPr lang="ko-KR" altLang="en-US" dirty="0">
                <a:solidFill>
                  <a:schemeClr val="tx1"/>
                </a:solidFill>
              </a:rPr>
              <a:t>통합 관리 가능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자동화된 소비 분류 및 시각화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740798A-618D-7196-4162-9AF1A4A8BEB9}"/>
              </a:ext>
            </a:extLst>
          </p:cNvPr>
          <p:cNvSpPr/>
          <p:nvPr/>
        </p:nvSpPr>
        <p:spPr>
          <a:xfrm>
            <a:off x="3478302" y="4424057"/>
            <a:ext cx="4143375" cy="11801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소비내역 집계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카드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ko-KR" altLang="en-US" dirty="0">
                <a:solidFill>
                  <a:schemeClr val="tx1"/>
                </a:solidFill>
              </a:rPr>
              <a:t>계좌 연결 및 자동 분류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금융 상품 추천 등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71A301A-7221-699E-38F9-C5D33A782441}"/>
              </a:ext>
            </a:extLst>
          </p:cNvPr>
          <p:cNvSpPr/>
          <p:nvPr/>
        </p:nvSpPr>
        <p:spPr>
          <a:xfrm>
            <a:off x="12244388" y="4409543"/>
            <a:ext cx="4143375" cy="11801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행동 변화 유도는 부족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교육이나 습관 개선은 부차적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소비자의 심리 분석 부재</a:t>
            </a:r>
            <a:endParaRPr lang="en-US" altLang="ko-KR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44CAEBA-61CF-50CF-031C-66DFC3F6C2AE}"/>
              </a:ext>
            </a:extLst>
          </p:cNvPr>
          <p:cNvSpPr/>
          <p:nvPr/>
        </p:nvSpPr>
        <p:spPr>
          <a:xfrm>
            <a:off x="776515" y="1976734"/>
            <a:ext cx="1223735" cy="11801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고객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= </a:t>
            </a:r>
            <a:r>
              <a:rPr lang="ko-KR" altLang="en-US" sz="1600" dirty="0">
                <a:solidFill>
                  <a:schemeClr val="tx1"/>
                </a:solidFill>
              </a:rPr>
              <a:t>문제당사자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=</a:t>
            </a: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사용자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= 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6C8F8C1-848D-3814-F664-A8F1360394C0}"/>
              </a:ext>
            </a:extLst>
          </p:cNvPr>
          <p:cNvSpPr/>
          <p:nvPr/>
        </p:nvSpPr>
        <p:spPr>
          <a:xfrm>
            <a:off x="2000250" y="1976734"/>
            <a:ext cx="3724275" cy="8521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600" dirty="0">
                <a:solidFill>
                  <a:schemeClr val="tx1"/>
                </a:solidFill>
              </a:rPr>
              <a:t>소비습관을 고치고 싶지만 </a:t>
            </a:r>
            <a:r>
              <a:rPr lang="ko-KR" altLang="en-US" sz="1600" b="1" dirty="0">
                <a:solidFill>
                  <a:schemeClr val="tx1"/>
                </a:solidFill>
              </a:rPr>
              <a:t>어디서부터 어떻게 해야 할지 모르는 사회초년생</a:t>
            </a:r>
            <a:r>
              <a:rPr lang="en-US" altLang="ko-KR" sz="1600" dirty="0">
                <a:solidFill>
                  <a:schemeClr val="tx1"/>
                </a:solidFill>
              </a:rPr>
              <a:t> 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8308987-B540-0FAB-FAB5-95F4168FBC73}"/>
              </a:ext>
            </a:extLst>
          </p:cNvPr>
          <p:cNvSpPr/>
          <p:nvPr/>
        </p:nvSpPr>
        <p:spPr>
          <a:xfrm>
            <a:off x="2000250" y="3034009"/>
            <a:ext cx="3809999" cy="10045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다양한 금융정보는 접하지만</a:t>
            </a:r>
            <a:r>
              <a:rPr lang="en-US" altLang="ko-KR" sz="1600" dirty="0">
                <a:solidFill>
                  <a:schemeClr val="tx1"/>
                </a:solidFill>
              </a:rPr>
              <a:t>, </a:t>
            </a:r>
            <a:r>
              <a:rPr lang="ko-KR" altLang="en-US" sz="1600" b="1" dirty="0">
                <a:solidFill>
                  <a:schemeClr val="tx1"/>
                </a:solidFill>
              </a:rPr>
              <a:t>자신의 상황에 맞춘 맞춤형 금융 교육이 필요한 직장인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A98A277-3830-7378-D391-DB53613B7B06}"/>
              </a:ext>
            </a:extLst>
          </p:cNvPr>
          <p:cNvSpPr/>
          <p:nvPr/>
        </p:nvSpPr>
        <p:spPr>
          <a:xfrm>
            <a:off x="2000250" y="4129001"/>
            <a:ext cx="3724274" cy="10045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기존 가계부 앱을 써봤지만</a:t>
            </a:r>
            <a:r>
              <a:rPr lang="en-US" altLang="ko-KR" sz="1600" dirty="0">
                <a:solidFill>
                  <a:schemeClr val="tx1"/>
                </a:solidFill>
              </a:rPr>
              <a:t>, </a:t>
            </a:r>
            <a:r>
              <a:rPr lang="ko-KR" altLang="en-US" sz="1600" b="1" dirty="0">
                <a:solidFill>
                  <a:schemeClr val="tx1"/>
                </a:solidFill>
              </a:rPr>
              <a:t>습관 개선이나 금융지식 습득까지 이어지지 못한 대학생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7170728-4BA7-0837-5E5B-0D591382C620}"/>
              </a:ext>
            </a:extLst>
          </p:cNvPr>
          <p:cNvSpPr/>
          <p:nvPr/>
        </p:nvSpPr>
        <p:spPr>
          <a:xfrm>
            <a:off x="6183087" y="1976734"/>
            <a:ext cx="4470400" cy="31568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2AD07E7D-DCE5-7CFC-6289-046F2AB95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6972" y="2690791"/>
            <a:ext cx="476068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소비 데이터 통합 및 시각화 (뱅크샐러드, 토스 등)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자동 가계부 생성으로 간편한 소비관리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ko-KR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일부 금융상품 추천 및 금융뉴스 제공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C76D44B-C019-3374-091A-09A13B232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31600" y="2229126"/>
            <a:ext cx="476068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dirty="0"/>
              <a:t>소비내역 기반</a:t>
            </a:r>
            <a:br>
              <a:rPr lang="ko-KR" altLang="en-US" dirty="0"/>
            </a:br>
            <a:r>
              <a:rPr lang="ko-KR" altLang="en-US" dirty="0"/>
              <a:t>→ </a:t>
            </a:r>
            <a:r>
              <a:rPr lang="ko-KR" altLang="en-US" b="1" dirty="0"/>
              <a:t>개인 소비성향</a:t>
            </a:r>
            <a:r>
              <a:rPr lang="en-US" altLang="ko-KR" b="1" dirty="0"/>
              <a:t>, </a:t>
            </a:r>
            <a:r>
              <a:rPr lang="ko-KR" altLang="en-US" b="1" dirty="0"/>
              <a:t>감정소비 패턴 분석</a:t>
            </a:r>
            <a:r>
              <a:rPr lang="ko-KR" altLang="en-US" dirty="0"/>
              <a:t>하여 문제 인식 유도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EB887C9-9ABB-4265-C2CB-532601C44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31600" y="3861983"/>
            <a:ext cx="476068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dirty="0"/>
              <a:t>금융지식과 행동변화를 연결</a:t>
            </a:r>
            <a:br>
              <a:rPr lang="ko-KR" altLang="en-US" dirty="0"/>
            </a:br>
            <a:r>
              <a:rPr lang="ko-KR" altLang="en-US" dirty="0"/>
              <a:t>→ 금융교육을 </a:t>
            </a:r>
            <a:r>
              <a:rPr lang="en-US" altLang="ko-KR" dirty="0"/>
              <a:t>'</a:t>
            </a:r>
            <a:r>
              <a:rPr lang="ko-KR" altLang="en-US" dirty="0"/>
              <a:t>읽고 끝나는 것</a:t>
            </a:r>
            <a:r>
              <a:rPr lang="en-US" altLang="ko-KR" dirty="0"/>
              <a:t>'</a:t>
            </a:r>
            <a:r>
              <a:rPr lang="ko-KR" altLang="en-US" dirty="0"/>
              <a:t>이 아니라 </a:t>
            </a:r>
            <a:r>
              <a:rPr lang="ko-KR" altLang="en-US" b="1" dirty="0"/>
              <a:t>작은 행동 변화</a:t>
            </a:r>
            <a:r>
              <a:rPr lang="en-US" altLang="ko-KR" b="1" dirty="0"/>
              <a:t>(</a:t>
            </a:r>
            <a:r>
              <a:rPr lang="ko-KR" altLang="en-US" b="1" dirty="0"/>
              <a:t>절약</a:t>
            </a:r>
            <a:r>
              <a:rPr lang="en-US" altLang="ko-KR" b="1" dirty="0"/>
              <a:t>, </a:t>
            </a:r>
            <a:r>
              <a:rPr lang="ko-KR" altLang="en-US" b="1" dirty="0"/>
              <a:t>투자 시작</a:t>
            </a:r>
            <a:r>
              <a:rPr lang="en-US" altLang="ko-KR" b="1" dirty="0"/>
              <a:t>)</a:t>
            </a:r>
            <a:r>
              <a:rPr lang="ko-KR" altLang="en-US" b="1" dirty="0"/>
              <a:t>로 연결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0DF509D8-A068-5F5B-F812-826D6B45A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4662" y="7059862"/>
            <a:ext cx="1482762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2000" dirty="0">
                <a:latin typeface="+mn-ea"/>
              </a:rPr>
              <a:t>소비내역 기반 </a:t>
            </a:r>
            <a:r>
              <a:rPr lang="en-US" altLang="ko-KR" sz="2000" dirty="0">
                <a:latin typeface="+mn-ea"/>
              </a:rPr>
              <a:t>'</a:t>
            </a:r>
            <a:r>
              <a:rPr lang="ko-KR" altLang="en-US" sz="2000" dirty="0">
                <a:latin typeface="+mn-ea"/>
              </a:rPr>
              <a:t>초개인화 금융 습관 교정</a:t>
            </a:r>
            <a:r>
              <a:rPr lang="en-US" altLang="ko-KR" sz="2000" dirty="0">
                <a:latin typeface="+mn-ea"/>
              </a:rPr>
              <a:t>'</a:t>
            </a:r>
            <a:r>
              <a:rPr lang="ko-KR" altLang="en-US" sz="2000" dirty="0">
                <a:latin typeface="+mn-ea"/>
              </a:rPr>
              <a:t>을 통해 절약과 투자 습관을 키워주는 </a:t>
            </a:r>
            <a:r>
              <a:rPr lang="ko-KR" altLang="en-US" sz="2000" dirty="0" err="1">
                <a:latin typeface="+mn-ea"/>
              </a:rPr>
              <a:t>에듀테크앱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effectLst/>
              <a:latin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258</Words>
  <Application>Microsoft Office PowerPoint</Application>
  <PresentationFormat>사용자 지정</PresentationFormat>
  <Paragraphs>42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대산 오</cp:lastModifiedBy>
  <cp:revision>3</cp:revision>
  <dcterms:created xsi:type="dcterms:W3CDTF">2025-04-26T00:56:45Z</dcterms:created>
  <dcterms:modified xsi:type="dcterms:W3CDTF">2025-04-26T11:15:06Z</dcterms:modified>
</cp:coreProperties>
</file>