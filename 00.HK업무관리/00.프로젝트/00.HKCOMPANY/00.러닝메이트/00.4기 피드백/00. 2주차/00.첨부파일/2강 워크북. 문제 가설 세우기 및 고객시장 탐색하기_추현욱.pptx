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7" r:id="rId5"/>
    <p:sldId id="272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57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D6F50A-37EE-9FC9-F908-8647E3193BB3}"/>
              </a:ext>
            </a:extLst>
          </p:cNvPr>
          <p:cNvSpPr txBox="1"/>
          <p:nvPr/>
        </p:nvSpPr>
        <p:spPr>
          <a:xfrm>
            <a:off x="1230923" y="2461846"/>
            <a:ext cx="11783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영어 공부를 하는 사람들은 앱을 통해 공부했을 때 효과를 크게 체감하지 못했을 것이다</a:t>
            </a:r>
            <a:r>
              <a:rPr kumimoji="1" lang="en-US" altLang="ko-KR" sz="2400" dirty="0"/>
              <a:t>.</a:t>
            </a:r>
            <a:endParaRPr kumimoji="1"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80601-74A4-604C-1A4C-BD1D18DB199E}"/>
              </a:ext>
            </a:extLst>
          </p:cNvPr>
          <p:cNvSpPr txBox="1"/>
          <p:nvPr/>
        </p:nvSpPr>
        <p:spPr>
          <a:xfrm>
            <a:off x="1230923" y="3423138"/>
            <a:ext cx="11038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고객들은 사람들을 만나 직접 영어로 대화하는 게 더 효과적이라고 생각할 것이다</a:t>
            </a:r>
            <a:r>
              <a:rPr kumimoji="1" lang="en-US" altLang="ko-KR" sz="2400" dirty="0"/>
              <a:t>.</a:t>
            </a:r>
            <a:endParaRPr kumimoji="1"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31C08-7B59-9208-931F-07CFD6804329}"/>
              </a:ext>
            </a:extLst>
          </p:cNvPr>
          <p:cNvSpPr txBox="1"/>
          <p:nvPr/>
        </p:nvSpPr>
        <p:spPr>
          <a:xfrm>
            <a:off x="1227108" y="4353143"/>
            <a:ext cx="97385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/>
              <a:t>고객은 이미 화상영어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전화영어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스픽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듀오링고</a:t>
            </a:r>
            <a:r>
              <a:rPr kumimoji="1" lang="ko-KR" altLang="en-US" sz="2000" dirty="0"/>
              <a:t> 등의 서비스를 이용하고 있을 것이다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en-US" altLang="ko-KR" sz="2000" dirty="0"/>
              <a:t>(</a:t>
            </a:r>
            <a:r>
              <a:rPr kumimoji="1" lang="ko-KR" altLang="en-US" sz="2000" dirty="0"/>
              <a:t>혹은 개개인이 각자 영어 회화 실력을 늘리고 싶은 개인적 이유가 있을 것이다</a:t>
            </a:r>
            <a:r>
              <a:rPr kumimoji="1" lang="en-US" altLang="ko-KR" sz="2000" dirty="0"/>
              <a:t>.)</a:t>
            </a:r>
            <a:endParaRPr kumimoji="1"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D445F-EC0C-2E21-88CA-0431012EA237}"/>
              </a:ext>
            </a:extLst>
          </p:cNvPr>
          <p:cNvSpPr txBox="1"/>
          <p:nvPr/>
        </p:nvSpPr>
        <p:spPr>
          <a:xfrm>
            <a:off x="1230921" y="5437546"/>
            <a:ext cx="10806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/>
              <a:t>고객은 영어 회화 실력을 늘리기 위해 주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회 </a:t>
            </a:r>
            <a:r>
              <a:rPr kumimoji="1" lang="en-US" altLang="ko-KR" sz="2000" dirty="0"/>
              <a:t>2</a:t>
            </a:r>
            <a:r>
              <a:rPr kumimoji="1" lang="ko-KR" altLang="en-US" sz="2000" dirty="0"/>
              <a:t>시간의 시간과 금전적 비용을 투자할 의향이 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2151C-FB37-6DA1-C1FB-329EAD3B3668}"/>
              </a:ext>
            </a:extLst>
          </p:cNvPr>
          <p:cNvSpPr txBox="1"/>
          <p:nvPr/>
        </p:nvSpPr>
        <p:spPr>
          <a:xfrm>
            <a:off x="1230921" y="6464567"/>
            <a:ext cx="11578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/>
              <a:t>고객은 구매를 결심할 때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리뷰와 해당 프로그램을 시각적으로 확인할 수 있는지 여부의 영향을 받는다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1A9DA-BF90-0FDD-7A7A-221A141B58FB}"/>
              </a:ext>
            </a:extLst>
          </p:cNvPr>
          <p:cNvSpPr txBox="1"/>
          <p:nvPr/>
        </p:nvSpPr>
        <p:spPr>
          <a:xfrm>
            <a:off x="1230921" y="7399447"/>
            <a:ext cx="11059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/>
              <a:t>고객이 우리 제품을 한 번 사용하게 되면 고객은 사람들 간의 교류에서 오는 즐거움을 느낄 것이다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76BCE-3902-0C01-2522-83122287935F}"/>
              </a:ext>
            </a:extLst>
          </p:cNvPr>
          <p:cNvSpPr txBox="1"/>
          <p:nvPr/>
        </p:nvSpPr>
        <p:spPr>
          <a:xfrm>
            <a:off x="14940733" y="2461845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90924-6874-C6D6-62CF-F24D23A03465}"/>
              </a:ext>
            </a:extLst>
          </p:cNvPr>
          <p:cNvSpPr txBox="1"/>
          <p:nvPr/>
        </p:nvSpPr>
        <p:spPr>
          <a:xfrm>
            <a:off x="14940733" y="3423137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AD9FE-D314-8E45-C4DD-3775B6FC9FF5}"/>
              </a:ext>
            </a:extLst>
          </p:cNvPr>
          <p:cNvSpPr txBox="1"/>
          <p:nvPr/>
        </p:nvSpPr>
        <p:spPr>
          <a:xfrm>
            <a:off x="14940733" y="4476254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6AD8E-E13A-9953-A393-5206A480CE77}"/>
              </a:ext>
            </a:extLst>
          </p:cNvPr>
          <p:cNvSpPr txBox="1"/>
          <p:nvPr/>
        </p:nvSpPr>
        <p:spPr>
          <a:xfrm>
            <a:off x="14940733" y="5406768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9ADC-27DC-9CCD-345E-D40ED00AF26A}"/>
              </a:ext>
            </a:extLst>
          </p:cNvPr>
          <p:cNvSpPr txBox="1"/>
          <p:nvPr/>
        </p:nvSpPr>
        <p:spPr>
          <a:xfrm>
            <a:off x="14940733" y="643378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2D461-7638-AE45-D5CC-65C0C3BB7C6B}"/>
              </a:ext>
            </a:extLst>
          </p:cNvPr>
          <p:cNvSpPr txBox="1"/>
          <p:nvPr/>
        </p:nvSpPr>
        <p:spPr>
          <a:xfrm>
            <a:off x="14940733" y="736866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77A6BB-8C55-5996-A4D7-7B3AC223DF36}"/>
              </a:ext>
            </a:extLst>
          </p:cNvPr>
          <p:cNvSpPr txBox="1"/>
          <p:nvPr/>
        </p:nvSpPr>
        <p:spPr>
          <a:xfrm>
            <a:off x="1160584" y="2508011"/>
            <a:ext cx="1224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ko-KR" altLang="en-US" dirty="0" err="1"/>
              <a:t>취준생이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영어 회화 점수를 얻고 싶을 때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공부 의욕이 잘 안생기고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점수가 잘 안 오르는 어려움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겪는다고 생각한다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B0E3B6-5D99-9A24-C9BA-F20F2174D71D}"/>
              </a:ext>
            </a:extLst>
          </p:cNvPr>
          <p:cNvSpPr txBox="1"/>
          <p:nvPr/>
        </p:nvSpPr>
        <p:spPr>
          <a:xfrm>
            <a:off x="14940733" y="2461845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122EA-A2D9-FF60-2459-76A728BDAA2F}"/>
              </a:ext>
            </a:extLst>
          </p:cNvPr>
          <p:cNvSpPr txBox="1"/>
          <p:nvPr/>
        </p:nvSpPr>
        <p:spPr>
          <a:xfrm>
            <a:off x="14940733" y="3423137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665F1-0EA2-5D56-B0E9-8CE355F69BFF}"/>
              </a:ext>
            </a:extLst>
          </p:cNvPr>
          <p:cNvSpPr txBox="1"/>
          <p:nvPr/>
        </p:nvSpPr>
        <p:spPr>
          <a:xfrm>
            <a:off x="14940733" y="4476254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7114A-F242-7BA5-5471-E43042C58954}"/>
              </a:ext>
            </a:extLst>
          </p:cNvPr>
          <p:cNvSpPr txBox="1"/>
          <p:nvPr/>
        </p:nvSpPr>
        <p:spPr>
          <a:xfrm>
            <a:off x="14940733" y="5406768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EE0DC-36EE-517F-B25C-06C8737B3066}"/>
              </a:ext>
            </a:extLst>
          </p:cNvPr>
          <p:cNvSpPr txBox="1"/>
          <p:nvPr/>
        </p:nvSpPr>
        <p:spPr>
          <a:xfrm>
            <a:off x="14940733" y="643378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F8EE3-F64B-1DD4-DB01-9EF681C95C62}"/>
              </a:ext>
            </a:extLst>
          </p:cNvPr>
          <p:cNvSpPr txBox="1"/>
          <p:nvPr/>
        </p:nvSpPr>
        <p:spPr>
          <a:xfrm>
            <a:off x="14940733" y="7368669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X</a:t>
            </a:r>
            <a:endParaRPr kumimoji="1"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5A749-0BA8-B41F-4F2F-FCCFD4DBB862}"/>
              </a:ext>
            </a:extLst>
          </p:cNvPr>
          <p:cNvSpPr txBox="1"/>
          <p:nvPr/>
        </p:nvSpPr>
        <p:spPr>
          <a:xfrm>
            <a:off x="1160584" y="3469303"/>
            <a:ext cx="1207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ko-KR" altLang="en-US" dirty="0"/>
              <a:t>해외 취업 희망 직장인이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영어 면접을 준비해야 할 때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기초 실력이 부족하다고 느끼는 어려움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겪는다고 생각한다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36945-931D-90EF-8779-6F0BC7C631B7}"/>
              </a:ext>
            </a:extLst>
          </p:cNvPr>
          <p:cNvSpPr txBox="1"/>
          <p:nvPr/>
        </p:nvSpPr>
        <p:spPr>
          <a:xfrm>
            <a:off x="1160584" y="4522420"/>
            <a:ext cx="11421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ko-KR" altLang="en-US" dirty="0"/>
              <a:t>기존 영어 공부 방법을 쉽게 유지할 동기가 생기지 않아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꾸준한 학습을 어려워하는 문제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겪는다고 생각한다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E6BED-9C8E-C359-56EC-E9C9C1882340}"/>
              </a:ext>
            </a:extLst>
          </p:cNvPr>
          <p:cNvSpPr txBox="1"/>
          <p:nvPr/>
        </p:nvSpPr>
        <p:spPr>
          <a:xfrm>
            <a:off x="1160584" y="5452934"/>
            <a:ext cx="11793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</a:t>
            </a:r>
            <a:r>
              <a:rPr kumimoji="1" lang="ko-KR" altLang="en-US" dirty="0"/>
              <a:t>대학원 진학 희망 대학생이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유학에 대해 고려할 때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영어가 발목을 잡는다고 느끼는 어려움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겪는다고 생각한다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068C9-65C6-E628-0C72-00E0D7896326}"/>
              </a:ext>
            </a:extLst>
          </p:cNvPr>
          <p:cNvSpPr txBox="1"/>
          <p:nvPr/>
        </p:nvSpPr>
        <p:spPr>
          <a:xfrm>
            <a:off x="1160583" y="6479955"/>
            <a:ext cx="123113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(</a:t>
            </a:r>
            <a:r>
              <a:rPr kumimoji="1" lang="ko-KR" altLang="en-US" sz="1700" dirty="0"/>
              <a:t>책으로 공부하는 것은 회화와 멀다고 느끼고</a:t>
            </a:r>
            <a:r>
              <a:rPr kumimoji="1" lang="en-US" altLang="ko-KR" sz="1700" dirty="0"/>
              <a:t>,</a:t>
            </a:r>
            <a:r>
              <a:rPr kumimoji="1" lang="ko-KR" altLang="en-US" sz="1700" dirty="0"/>
              <a:t> 화상</a:t>
            </a:r>
            <a:r>
              <a:rPr kumimoji="1" lang="en-US" altLang="ko-KR" sz="1700" dirty="0"/>
              <a:t>,</a:t>
            </a:r>
            <a:r>
              <a:rPr kumimoji="1" lang="ko-KR" altLang="en-US" sz="1700" dirty="0"/>
              <a:t> 전화영어는 비싸기 때문에</a:t>
            </a:r>
            <a:r>
              <a:rPr kumimoji="1" lang="en-US" altLang="ko-KR" sz="1700" dirty="0"/>
              <a:t>),</a:t>
            </a:r>
            <a:r>
              <a:rPr kumimoji="1" lang="ko-KR" altLang="en-US" sz="1700" dirty="0"/>
              <a:t> </a:t>
            </a:r>
            <a:r>
              <a:rPr kumimoji="1" lang="en-US" altLang="ko-KR" sz="1700" dirty="0"/>
              <a:t>(</a:t>
            </a:r>
            <a:r>
              <a:rPr kumimoji="1" lang="ko-KR" altLang="en-US" sz="1700" dirty="0"/>
              <a:t>쉽게 접근하기 힘든 문제를</a:t>
            </a:r>
            <a:r>
              <a:rPr kumimoji="1" lang="en-US" altLang="ko-KR" sz="1700" dirty="0"/>
              <a:t>)</a:t>
            </a:r>
            <a:r>
              <a:rPr kumimoji="1" lang="ko-KR" altLang="en-US" sz="1700" dirty="0"/>
              <a:t> 겪는다고 생각한다</a:t>
            </a:r>
            <a:r>
              <a:rPr kumimoji="1" lang="en-US" altLang="ko-KR" sz="1700" dirty="0"/>
              <a:t>.</a:t>
            </a:r>
            <a:endParaRPr kumimoji="1" lang="ko-KR" altLang="en-US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2006C8-0AAC-C28A-7691-DE4AC7303B41}"/>
              </a:ext>
            </a:extLst>
          </p:cNvPr>
          <p:cNvSpPr txBox="1"/>
          <p:nvPr/>
        </p:nvSpPr>
        <p:spPr>
          <a:xfrm>
            <a:off x="1160584" y="7410469"/>
            <a:ext cx="1208375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(</a:t>
            </a:r>
            <a:r>
              <a:rPr kumimoji="1" lang="ko-KR" altLang="en-US" sz="1700" dirty="0"/>
              <a:t>혼자보다 친구와 함께할 때 의욕을 더 갖는데</a:t>
            </a:r>
            <a:r>
              <a:rPr kumimoji="1" lang="en-US" altLang="ko-KR" sz="1700" dirty="0"/>
              <a:t>),</a:t>
            </a:r>
            <a:r>
              <a:rPr kumimoji="1" lang="ko-KR" altLang="en-US" sz="1700" dirty="0"/>
              <a:t> </a:t>
            </a:r>
            <a:r>
              <a:rPr kumimoji="1" lang="en-US" altLang="ko-KR" sz="1700" dirty="0"/>
              <a:t>(</a:t>
            </a:r>
            <a:r>
              <a:rPr kumimoji="1" lang="ko-KR" altLang="en-US" sz="1700" dirty="0"/>
              <a:t>기존에는 직접 같이 할 수 있는 서비스가 없었다는 문제를</a:t>
            </a:r>
            <a:r>
              <a:rPr kumimoji="1" lang="en-US" altLang="ko-KR" sz="1700" dirty="0"/>
              <a:t>)</a:t>
            </a:r>
            <a:r>
              <a:rPr kumimoji="1" lang="ko-KR" altLang="en-US" sz="1700" dirty="0"/>
              <a:t> 겪는다고 생각한다</a:t>
            </a:r>
            <a:r>
              <a:rPr kumimoji="1" lang="en-US" altLang="ko-KR" sz="1700" dirty="0"/>
              <a:t>.</a:t>
            </a:r>
            <a:endParaRPr kumimoji="1" lang="ko-KR" alt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B0554A-C3A6-839E-0355-B63AC57F9B0D}"/>
              </a:ext>
            </a:extLst>
          </p:cNvPr>
          <p:cNvSpPr txBox="1"/>
          <p:nvPr/>
        </p:nvSpPr>
        <p:spPr>
          <a:xfrm>
            <a:off x="820616" y="2063261"/>
            <a:ext cx="11015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케이스 </a:t>
            </a:r>
            <a:r>
              <a:rPr kumimoji="1" lang="en-US" altLang="ko-KR" sz="1200" b="1" dirty="0"/>
              <a:t>1</a:t>
            </a:r>
            <a:br>
              <a:rPr kumimoji="1" lang="en-US" altLang="ko-KR" sz="1200" b="1" dirty="0"/>
            </a:br>
            <a:r>
              <a:rPr kumimoji="1" lang="ko-KR" altLang="en-US" sz="1200" b="1" dirty="0"/>
              <a:t>고객</a:t>
            </a:r>
            <a:br>
              <a:rPr kumimoji="1" lang="en-US" altLang="ko-KR" sz="1200" b="1" dirty="0"/>
            </a:br>
            <a:r>
              <a:rPr kumimoji="1" lang="en-US" altLang="ko-KR" sz="1200" b="1" dirty="0"/>
              <a:t>=</a:t>
            </a:r>
            <a:r>
              <a:rPr kumimoji="1" lang="ko-KR" altLang="en-US" sz="1200" b="1" dirty="0"/>
              <a:t> 문제 당사자</a:t>
            </a:r>
            <a:br>
              <a:rPr kumimoji="1" lang="en-US" altLang="ko-KR" sz="1200" b="1" dirty="0"/>
            </a:br>
            <a:r>
              <a:rPr kumimoji="1" lang="en-US" altLang="ko-KR" sz="1200" b="1" dirty="0"/>
              <a:t>=</a:t>
            </a:r>
            <a:r>
              <a:rPr kumimoji="1" lang="ko-KR" altLang="en-US" sz="1200" b="1" dirty="0"/>
              <a:t> 사용자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73E71-2CE7-B1A7-7DFF-D8D6D2CBDDDE}"/>
              </a:ext>
            </a:extLst>
          </p:cNvPr>
          <p:cNvSpPr txBox="1"/>
          <p:nvPr/>
        </p:nvSpPr>
        <p:spPr>
          <a:xfrm>
            <a:off x="2016368" y="2063261"/>
            <a:ext cx="38411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혼자 책으로 공부하거나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앱을 통해서 공부하면</a:t>
            </a:r>
            <a:br>
              <a:rPr kumimoji="1" lang="en-US" altLang="ko-KR" sz="1400" dirty="0"/>
            </a:br>
            <a:r>
              <a:rPr kumimoji="1" lang="ko-KR" altLang="en-US" sz="1400" dirty="0"/>
              <a:t>생각보다 영어 회화 실력이 잘 늘지 않고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늘고 있는지 체감하기가 어렵다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BA362-A551-097D-8AB2-A5635AFD10B8}"/>
              </a:ext>
            </a:extLst>
          </p:cNvPr>
          <p:cNvSpPr txBox="1"/>
          <p:nvPr/>
        </p:nvSpPr>
        <p:spPr>
          <a:xfrm>
            <a:off x="2016368" y="3259015"/>
            <a:ext cx="3357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전화영어나 화상영어는 </a:t>
            </a:r>
            <a:r>
              <a:rPr kumimoji="1" lang="ko-KR" altLang="en-US" sz="1400" dirty="0" err="1"/>
              <a:t>튜터를</a:t>
            </a:r>
            <a:r>
              <a:rPr kumimoji="1" lang="ko-KR" altLang="en-US" sz="1400" dirty="0"/>
              <a:t> 고용해야</a:t>
            </a:r>
            <a:br>
              <a:rPr kumimoji="1" lang="en-US" altLang="ko-KR" sz="1400" dirty="0"/>
            </a:br>
            <a:r>
              <a:rPr kumimoji="1" lang="ko-KR" altLang="en-US" sz="1400" dirty="0"/>
              <a:t>하기에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비용이 비쌀 수 밖에 없다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8E97F-C5D5-947F-CF18-1595166F5BBC}"/>
              </a:ext>
            </a:extLst>
          </p:cNvPr>
          <p:cNvSpPr txBox="1"/>
          <p:nvPr/>
        </p:nvSpPr>
        <p:spPr>
          <a:xfrm>
            <a:off x="2016368" y="4459196"/>
            <a:ext cx="3621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혼자 공부하면 지속성을 유지하기가 힘들다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06039-769E-0F88-83A0-15A209E7082D}"/>
              </a:ext>
            </a:extLst>
          </p:cNvPr>
          <p:cNvSpPr txBox="1"/>
          <p:nvPr/>
        </p:nvSpPr>
        <p:spPr>
          <a:xfrm>
            <a:off x="5977201" y="2109427"/>
            <a:ext cx="5033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/>
              <a:t>강점</a:t>
            </a:r>
            <a:r>
              <a:rPr kumimoji="1" lang="en-US" altLang="ko-KR" sz="1600" dirty="0"/>
              <a:t>)</a:t>
            </a:r>
            <a:r>
              <a:rPr kumimoji="1" lang="ko-KR" altLang="en-US" sz="1600" dirty="0"/>
              <a:t> 원하는 시간에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원하는 시간만큼 수행할 수 있음</a:t>
            </a:r>
            <a:br>
              <a:rPr kumimoji="1" lang="en-US" altLang="ko-KR" sz="1600" dirty="0"/>
            </a:br>
            <a:br>
              <a:rPr kumimoji="1" lang="en-US" altLang="ko-KR" sz="1600" dirty="0"/>
            </a:br>
            <a:br>
              <a:rPr kumimoji="1" lang="en-US" altLang="ko-KR" sz="1600" dirty="0"/>
            </a:br>
            <a:r>
              <a:rPr kumimoji="1" lang="ko-KR" altLang="en-US" sz="1600" dirty="0"/>
              <a:t>한계</a:t>
            </a:r>
            <a:r>
              <a:rPr kumimoji="1" lang="en-US" altLang="ko-KR" sz="1600" dirty="0"/>
              <a:t>)</a:t>
            </a:r>
            <a:r>
              <a:rPr kumimoji="1" lang="ko-KR" altLang="en-US" sz="1600" dirty="0"/>
              <a:t> 기계와 공부한다는 것의 한계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</a:t>
            </a:r>
            <a:r>
              <a:rPr kumimoji="1" lang="ko-KR" altLang="en-US" sz="1600" dirty="0" err="1"/>
              <a:t>튜터의</a:t>
            </a:r>
            <a:r>
              <a:rPr kumimoji="1" lang="ko-KR" altLang="en-US" sz="1600" dirty="0"/>
              <a:t> 존재로 높은 인건비의 제약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81319-5293-7FDB-0F71-53F423508CD2}"/>
              </a:ext>
            </a:extLst>
          </p:cNvPr>
          <p:cNvSpPr txBox="1"/>
          <p:nvPr/>
        </p:nvSpPr>
        <p:spPr>
          <a:xfrm>
            <a:off x="11388968" y="2128852"/>
            <a:ext cx="48543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kumimoji="1" lang="ko-KR" altLang="en-US" sz="1400" dirty="0" err="1"/>
              <a:t>튜터가</a:t>
            </a:r>
            <a:r>
              <a:rPr kumimoji="1" lang="ko-KR" altLang="en-US" sz="1400" dirty="0"/>
              <a:t> 없는 </a:t>
            </a:r>
            <a:r>
              <a:rPr kumimoji="1" lang="ko-KR" altLang="en-US" sz="1400" dirty="0" err="1"/>
              <a:t>피어끼리</a:t>
            </a:r>
            <a:r>
              <a:rPr kumimoji="1" lang="ko-KR" altLang="en-US" sz="1400" dirty="0"/>
              <a:t> 모이는 서비스로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튜터에</a:t>
            </a:r>
            <a:r>
              <a:rPr kumimoji="1" lang="ko-KR" altLang="en-US" sz="1400" dirty="0"/>
              <a:t> 대한 인건비가 없음</a:t>
            </a:r>
            <a:endParaRPr kumimoji="1" lang="en-US" altLang="ko-KR" sz="1400" dirty="0"/>
          </a:p>
          <a:p>
            <a:pPr marL="342900" indent="-342900">
              <a:buAutoNum type="arabicParenR"/>
            </a:pPr>
            <a:r>
              <a:rPr kumimoji="1" lang="ko-KR" altLang="en-US" sz="1400" dirty="0"/>
              <a:t>대화를 나눌 주제에 대한 콘텐츠는 제공해줌</a:t>
            </a:r>
            <a:endParaRPr kumimoji="1"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C6F35-BF38-3BB1-FA97-E3A825CD1AA1}"/>
              </a:ext>
            </a:extLst>
          </p:cNvPr>
          <p:cNvSpPr txBox="1"/>
          <p:nvPr/>
        </p:nvSpPr>
        <p:spPr>
          <a:xfrm>
            <a:off x="814205" y="6375400"/>
            <a:ext cx="15429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rgbClr val="0070C0"/>
                </a:solidFill>
              </a:rPr>
              <a:t>[</a:t>
            </a:r>
            <a:r>
              <a:rPr kumimoji="1" lang="ko-KR" altLang="en-US" sz="2400" dirty="0">
                <a:solidFill>
                  <a:srgbClr val="0070C0"/>
                </a:solidFill>
              </a:rPr>
              <a:t>영어회화 실력 증진 희망자</a:t>
            </a:r>
            <a:r>
              <a:rPr kumimoji="1" lang="en-US" altLang="ko-KR" sz="2400" dirty="0">
                <a:solidFill>
                  <a:srgbClr val="0070C0"/>
                </a:solidFill>
              </a:rPr>
              <a:t>]</a:t>
            </a:r>
            <a:r>
              <a:rPr kumimoji="1" lang="ko-KR" altLang="en-US" sz="2400" dirty="0"/>
              <a:t>가 </a:t>
            </a:r>
            <a:r>
              <a:rPr kumimoji="1" lang="en-US" altLang="ko-KR" sz="2400" dirty="0">
                <a:solidFill>
                  <a:srgbClr val="0070C0"/>
                </a:solidFill>
              </a:rPr>
              <a:t>[</a:t>
            </a:r>
            <a:r>
              <a:rPr kumimoji="1" lang="ko-KR" altLang="en-US" sz="2400" dirty="0">
                <a:solidFill>
                  <a:srgbClr val="0070C0"/>
                </a:solidFill>
              </a:rPr>
              <a:t>혼자 공부했을 때 지속적으로 학습 의욕이 생기지 않는 문제</a:t>
            </a:r>
            <a:r>
              <a:rPr kumimoji="1" lang="en-US" altLang="ko-KR" sz="2400" dirty="0">
                <a:solidFill>
                  <a:srgbClr val="0070C0"/>
                </a:solidFill>
              </a:rPr>
              <a:t>]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해결하기 위해 </a:t>
            </a:r>
            <a:r>
              <a:rPr kumimoji="1" lang="en-US" altLang="ko-KR" sz="2400" dirty="0">
                <a:solidFill>
                  <a:srgbClr val="0070C0"/>
                </a:solidFill>
              </a:rPr>
              <a:t>[</a:t>
            </a:r>
            <a:r>
              <a:rPr kumimoji="1" lang="ko-KR" altLang="en-US" sz="2400" dirty="0">
                <a:solidFill>
                  <a:srgbClr val="0070C0"/>
                </a:solidFill>
              </a:rPr>
              <a:t>함께 하는 재미의 부재 문제</a:t>
            </a:r>
            <a:r>
              <a:rPr kumimoji="1" lang="en-US" altLang="ko-KR" sz="2400" dirty="0">
                <a:solidFill>
                  <a:srgbClr val="0070C0"/>
                </a:solidFill>
              </a:rPr>
              <a:t>]</a:t>
            </a:r>
            <a:r>
              <a:rPr kumimoji="1" lang="ko-KR" altLang="en-US" sz="2400" dirty="0"/>
              <a:t>을</a:t>
            </a:r>
            <a:r>
              <a:rPr kumimoji="1" lang="en-US" altLang="ko-KR" sz="2400" dirty="0"/>
              <a:t>(</a:t>
            </a:r>
            <a:r>
              <a:rPr kumimoji="1" lang="ko-KR" altLang="en-US" sz="2400" dirty="0" err="1"/>
              <a:t>를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</a:t>
            </a:r>
            <a:r>
              <a:rPr kumimoji="1" lang="en-US" altLang="ko-KR" sz="2400" dirty="0">
                <a:solidFill>
                  <a:srgbClr val="0070C0"/>
                </a:solidFill>
              </a:rPr>
              <a:t>[</a:t>
            </a:r>
            <a:r>
              <a:rPr kumimoji="1" lang="ko-KR" altLang="en-US" sz="2400" dirty="0">
                <a:solidFill>
                  <a:srgbClr val="0070C0"/>
                </a:solidFill>
              </a:rPr>
              <a:t>영어 회화 실력 증진 </a:t>
            </a:r>
            <a:r>
              <a:rPr kumimoji="1" lang="ko-KR" altLang="en-US" sz="2400" dirty="0" err="1">
                <a:solidFill>
                  <a:srgbClr val="0070C0"/>
                </a:solidFill>
              </a:rPr>
              <a:t>희망자들간의</a:t>
            </a:r>
            <a:r>
              <a:rPr kumimoji="1" lang="ko-KR" altLang="en-US" sz="2400" dirty="0">
                <a:solidFill>
                  <a:srgbClr val="0070C0"/>
                </a:solidFill>
              </a:rPr>
              <a:t> 모임 서비스</a:t>
            </a:r>
            <a:r>
              <a:rPr kumimoji="1" lang="en-US" altLang="ko-KR" sz="2400" dirty="0">
                <a:solidFill>
                  <a:srgbClr val="0070C0"/>
                </a:solidFill>
              </a:rPr>
              <a:t>]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제공을 통해 해결하며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</a:t>
            </a:r>
            <a:r>
              <a:rPr kumimoji="1" lang="en-US" altLang="ko-KR" sz="2400" dirty="0">
                <a:solidFill>
                  <a:srgbClr val="0070C0"/>
                </a:solidFill>
              </a:rPr>
              <a:t>[</a:t>
            </a:r>
            <a:r>
              <a:rPr kumimoji="1" lang="ko-KR" altLang="en-US" sz="2400" dirty="0">
                <a:solidFill>
                  <a:srgbClr val="0070C0"/>
                </a:solidFill>
              </a:rPr>
              <a:t>학습자는 영어 회화를 마음껏 연습할 수 있는 장을 얻고</a:t>
            </a:r>
            <a:r>
              <a:rPr kumimoji="1" lang="en-US" altLang="ko-KR" sz="2400" dirty="0">
                <a:solidFill>
                  <a:srgbClr val="0070C0"/>
                </a:solidFill>
              </a:rPr>
              <a:t>,</a:t>
            </a:r>
            <a:r>
              <a:rPr kumimoji="1" lang="ko-KR" altLang="en-US" sz="2400" dirty="0">
                <a:solidFill>
                  <a:srgbClr val="0070C0"/>
                </a:solidFill>
              </a:rPr>
              <a:t> 저렴하고 재밌게 꾸준히 회화 학습을 할 수 있는 경험</a:t>
            </a:r>
            <a:r>
              <a:rPr kumimoji="1" lang="en-US" altLang="ko-KR" sz="2400" dirty="0">
                <a:solidFill>
                  <a:srgbClr val="0070C0"/>
                </a:solidFill>
              </a:rPr>
              <a:t>]</a:t>
            </a:r>
            <a:r>
              <a:rPr kumimoji="1" lang="ko-KR" altLang="en-US" sz="2400" dirty="0"/>
              <a:t>을 얻을 수 있도록 하겠습니다</a:t>
            </a:r>
            <a:r>
              <a:rPr kumimoji="1" lang="en-US" altLang="ko-KR" sz="2400" dirty="0"/>
              <a:t>.</a:t>
            </a:r>
            <a:endParaRPr kumimoji="1" lang="ko-KR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430</Words>
  <Application>Microsoft Macintosh PowerPoint</Application>
  <PresentationFormat>사용자 지정</PresentationFormat>
  <Paragraphs>37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추현욱</cp:lastModifiedBy>
  <cp:revision>26</cp:revision>
  <dcterms:created xsi:type="dcterms:W3CDTF">2025-04-26T00:56:45Z</dcterms:created>
  <dcterms:modified xsi:type="dcterms:W3CDTF">2025-04-26T14:17:17Z</dcterms:modified>
</cp:coreProperties>
</file>