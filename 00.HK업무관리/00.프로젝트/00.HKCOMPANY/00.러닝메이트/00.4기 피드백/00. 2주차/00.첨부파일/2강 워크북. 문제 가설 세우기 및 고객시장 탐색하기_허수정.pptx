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09" r:id="rId3"/>
    <p:sldId id="310" r:id="rId4"/>
    <p:sldId id="262" r:id="rId5"/>
    <p:sldId id="278" r:id="rId6"/>
    <p:sldId id="282" r:id="rId7"/>
    <p:sldId id="290" r:id="rId8"/>
    <p:sldId id="292" r:id="rId9"/>
    <p:sldId id="294" r:id="rId10"/>
    <p:sldId id="308" r:id="rId11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700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35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29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1511" y="2297277"/>
            <a:ext cx="17337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P2P </a:t>
            </a:r>
            <a:r>
              <a:rPr lang="ko-KR" altLang="en-US" dirty="0"/>
              <a:t>중고차 거래 시 신뢰성과 투명성 부족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허위 매물</a:t>
            </a:r>
            <a:r>
              <a:rPr lang="en-US" altLang="ko-KR" dirty="0"/>
              <a:t>, </a:t>
            </a:r>
            <a:r>
              <a:rPr lang="ko-KR" altLang="en-US" dirty="0"/>
              <a:t>이력 조작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사기 </a:t>
            </a:r>
            <a:r>
              <a:rPr lang="ko-KR" altLang="en-US" dirty="0"/>
              <a:t>거래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656819" y="2297277"/>
            <a:ext cx="3680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차량 이력 정보의 분산 및 </a:t>
            </a:r>
            <a:r>
              <a:rPr lang="ko-KR" altLang="en-US" dirty="0" err="1"/>
              <a:t>비표준화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656819" y="3220542"/>
            <a:ext cx="3219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사용자 간 신원 확인 절차 부재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656819" y="4229945"/>
            <a:ext cx="4887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오프라인 거래 중심의 구조로 디지털 전환 미흡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128921" y="3220542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순위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128920" y="6625750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순위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131468" y="6533417"/>
            <a:ext cx="28230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차량 소유권 이전 및 보험</a:t>
            </a:r>
            <a:r>
              <a:rPr lang="en-US" altLang="ko-KR" dirty="0"/>
              <a:t>·</a:t>
            </a:r>
            <a:r>
              <a:rPr lang="ko-KR" altLang="en-US" dirty="0"/>
              <a:t>대출 연계의 복잡한 행정 절차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656819" y="5793281"/>
            <a:ext cx="3397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오프라인 중심의 서류 제출 필요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656819" y="6810416"/>
            <a:ext cx="3066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관련 기관 간 </a:t>
            </a:r>
            <a:r>
              <a:rPr lang="en-US" altLang="ko-KR" dirty="0"/>
              <a:t>API </a:t>
            </a:r>
            <a:r>
              <a:rPr lang="ko-KR" altLang="en-US" dirty="0" err="1"/>
              <a:t>미연동</a:t>
            </a:r>
            <a:r>
              <a:rPr lang="ko-KR" altLang="en-US" dirty="0"/>
              <a:t> 상태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638180" y="7819819"/>
            <a:ext cx="2521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사용자 </a:t>
            </a:r>
            <a:r>
              <a:rPr lang="en-US" altLang="ko-KR" dirty="0"/>
              <a:t>UI/UX </a:t>
            </a:r>
            <a:r>
              <a:rPr lang="ko-KR" altLang="en-US" dirty="0"/>
              <a:t>경험 미흡</a:t>
            </a:r>
          </a:p>
        </p:txBody>
      </p:sp>
    </p:spTree>
    <p:extLst>
      <p:ext uri="{BB962C8B-B14F-4D97-AF65-F5344CB8AC3E}">
        <p14:creationId xmlns:p14="http://schemas.microsoft.com/office/powerpoint/2010/main" val="356643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b="47531"/>
          <a:stretch/>
        </p:blipFill>
        <p:spPr>
          <a:xfrm>
            <a:off x="0" y="0"/>
            <a:ext cx="17556480" cy="518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1511" y="2943543"/>
            <a:ext cx="1733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차량 </a:t>
            </a:r>
            <a:r>
              <a:rPr lang="en-US" altLang="ko-KR" dirty="0"/>
              <a:t>NFT </a:t>
            </a:r>
            <a:r>
              <a:rPr lang="ko-KR" altLang="en-US" dirty="0"/>
              <a:t>실물 연동</a:t>
            </a:r>
            <a:r>
              <a:rPr lang="en-US" altLang="ko-KR" dirty="0"/>
              <a:t>/</a:t>
            </a:r>
            <a:r>
              <a:rPr lang="ko-KR" altLang="en-US" dirty="0"/>
              <a:t>인증 시스템의 부족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656819" y="2297277"/>
            <a:ext cx="4938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NFC </a:t>
            </a:r>
            <a:r>
              <a:rPr lang="ko-KR" altLang="en-US" dirty="0"/>
              <a:t>카드와 </a:t>
            </a:r>
            <a:r>
              <a:rPr lang="en-US" altLang="ko-KR" dirty="0"/>
              <a:t>NFT</a:t>
            </a:r>
            <a:r>
              <a:rPr lang="ko-KR" altLang="en-US" dirty="0"/>
              <a:t>의 연결 기술이 상용화되지 않음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656819" y="3220542"/>
            <a:ext cx="5317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오프라인 제휴 파트너</a:t>
            </a:r>
            <a:r>
              <a:rPr lang="en-US" altLang="ko-KR" dirty="0"/>
              <a:t>(</a:t>
            </a:r>
            <a:r>
              <a:rPr lang="ko-KR" altLang="en-US" dirty="0"/>
              <a:t>정비소</a:t>
            </a:r>
            <a:r>
              <a:rPr lang="en-US" altLang="ko-KR" dirty="0"/>
              <a:t>, </a:t>
            </a:r>
            <a:r>
              <a:rPr lang="ko-KR" altLang="en-US" dirty="0"/>
              <a:t>주유소 등</a:t>
            </a:r>
            <a:r>
              <a:rPr lang="en-US" altLang="ko-KR" dirty="0"/>
              <a:t>) </a:t>
            </a:r>
            <a:r>
              <a:rPr lang="ko-KR" altLang="en-US" dirty="0"/>
              <a:t>확보 부족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128921" y="3220542"/>
            <a:ext cx="763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순위</a:t>
            </a:r>
            <a:endParaRPr lang="ko-KR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7556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오프라인 제휴 파트너(정비소, 주유소 등) 확보 부족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56818" y="4167521"/>
            <a:ext cx="3948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유저에게 </a:t>
            </a:r>
            <a:r>
              <a:rPr lang="en-US" altLang="ko-KR" dirty="0"/>
              <a:t>Web3 </a:t>
            </a:r>
            <a:r>
              <a:rPr lang="ko-KR" altLang="en-US" dirty="0"/>
              <a:t>개념이 익숙하지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8360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159893" y="2326367"/>
            <a:ext cx="517398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블록체인</a:t>
            </a:r>
            <a:r>
              <a:rPr lang="en-US" altLang="ko-KR" dirty="0"/>
              <a:t>·Web3 </a:t>
            </a:r>
            <a:r>
              <a:rPr lang="ko-KR" altLang="en-US" dirty="0"/>
              <a:t>기술에 대한 실무 </a:t>
            </a:r>
            <a:r>
              <a:rPr lang="ko-KR" altLang="en-US" dirty="0" smtClean="0"/>
              <a:t>경험</a:t>
            </a:r>
            <a:endParaRPr lang="en-US" altLang="ko-KR" dirty="0" smtClean="0"/>
          </a:p>
          <a:p>
            <a:r>
              <a:rPr lang="en-US" altLang="ko-KR" dirty="0"/>
              <a:t>Solana </a:t>
            </a:r>
            <a:r>
              <a:rPr lang="ko-KR" altLang="en-US" dirty="0"/>
              <a:t>기반 </a:t>
            </a:r>
            <a:r>
              <a:rPr lang="en-US" altLang="ko-KR" dirty="0" err="1"/>
              <a:t>dApp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Web3 </a:t>
            </a:r>
            <a:r>
              <a:rPr lang="ko-KR" altLang="en-US" dirty="0"/>
              <a:t>지갑 개발 </a:t>
            </a:r>
            <a:r>
              <a:rPr lang="ko-KR" altLang="en-US" dirty="0" smtClean="0"/>
              <a:t>역량</a:t>
            </a:r>
            <a:endParaRPr lang="en-US" altLang="ko-KR" dirty="0" smtClean="0"/>
          </a:p>
          <a:p>
            <a:r>
              <a:rPr lang="en-US" altLang="ko-KR" dirty="0"/>
              <a:t>NFC </a:t>
            </a:r>
            <a:r>
              <a:rPr lang="ko-KR" altLang="en-US" dirty="0"/>
              <a:t>카드 연동 및 결제 </a:t>
            </a:r>
            <a:r>
              <a:rPr lang="en-US" altLang="ko-KR" dirty="0"/>
              <a:t>UX </a:t>
            </a:r>
            <a:r>
              <a:rPr lang="ko-KR" altLang="en-US" dirty="0"/>
              <a:t>기획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r>
              <a:rPr lang="en-US" altLang="ko-KR" dirty="0" err="1"/>
              <a:t>Figma</a:t>
            </a:r>
            <a:r>
              <a:rPr lang="en-US" altLang="ko-KR" dirty="0"/>
              <a:t>, React, </a:t>
            </a:r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등 제품 디자인</a:t>
            </a:r>
            <a:r>
              <a:rPr lang="en-US" altLang="ko-KR" dirty="0"/>
              <a:t>/</a:t>
            </a:r>
            <a:r>
              <a:rPr lang="ko-KR" altLang="en-US" dirty="0"/>
              <a:t>개발 툴 활용 능력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371258" y="2464866"/>
            <a:ext cx="614783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자동차 커뮤니티 및 거래 문화에 대한 깊은 </a:t>
            </a:r>
            <a:r>
              <a:rPr lang="ko-KR" altLang="en-US" dirty="0" smtClean="0"/>
              <a:t>이해</a:t>
            </a:r>
            <a:endParaRPr lang="en-US" altLang="ko-KR" dirty="0" smtClean="0"/>
          </a:p>
          <a:p>
            <a:r>
              <a:rPr lang="ko-KR" altLang="en-US" dirty="0"/>
              <a:t>창업자 개인의 강한 실행력과 유연한 커뮤니케이션 </a:t>
            </a:r>
            <a:r>
              <a:rPr lang="ko-KR" altLang="en-US" dirty="0" smtClean="0"/>
              <a:t>능력</a:t>
            </a:r>
            <a:endParaRPr lang="en-US" altLang="ko-KR" dirty="0" smtClean="0"/>
          </a:p>
          <a:p>
            <a:r>
              <a:rPr lang="ko-KR" altLang="en-US" dirty="0"/>
              <a:t>글로벌 진출을 위한 현지화 전략 및 파트너십 네트워킹 경험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371258" y="5572888"/>
            <a:ext cx="699903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사용자의 </a:t>
            </a:r>
            <a:r>
              <a:rPr lang="ko-KR" altLang="en-US" dirty="0" err="1"/>
              <a:t>블록체인</a:t>
            </a:r>
            <a:r>
              <a:rPr lang="ko-KR" altLang="en-US" dirty="0"/>
              <a:t> 서비스에 대한 인식 부족 및 기술 </a:t>
            </a:r>
            <a:r>
              <a:rPr lang="ko-KR" altLang="en-US" dirty="0" smtClean="0"/>
              <a:t>장벽</a:t>
            </a:r>
            <a:endParaRPr lang="en-US" altLang="ko-KR" dirty="0" smtClean="0"/>
          </a:p>
          <a:p>
            <a:r>
              <a:rPr lang="ko-KR" altLang="en-US" dirty="0"/>
              <a:t>정부기관의 소유권 이전 시스템과 연동이 불가능한 </a:t>
            </a:r>
            <a:r>
              <a:rPr lang="ko-KR" altLang="en-US" dirty="0" smtClean="0"/>
              <a:t>구조</a:t>
            </a:r>
            <a:endParaRPr lang="en-US" altLang="ko-KR" dirty="0" smtClean="0"/>
          </a:p>
          <a:p>
            <a:r>
              <a:rPr lang="ko-KR" altLang="en-US" dirty="0"/>
              <a:t>법적 분쟁이나 소유권 이슈 발생 시 발생할 수 있는 국가별 대응 한계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448437" y="5572888"/>
            <a:ext cx="646798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실물 차량과 디지털 자산</a:t>
            </a:r>
            <a:r>
              <a:rPr lang="en-US" altLang="ko-KR" dirty="0"/>
              <a:t>(NFT)</a:t>
            </a:r>
            <a:r>
              <a:rPr lang="ko-KR" altLang="en-US" dirty="0"/>
              <a:t>을 안전하게 연결하는 인증 </a:t>
            </a:r>
            <a:r>
              <a:rPr lang="ko-KR" altLang="en-US" dirty="0" smtClean="0"/>
              <a:t>문제</a:t>
            </a:r>
            <a:endParaRPr lang="en-US" altLang="ko-KR" dirty="0" smtClean="0"/>
          </a:p>
          <a:p>
            <a:r>
              <a:rPr lang="ko-KR" altLang="en-US" dirty="0"/>
              <a:t>중고차 거래의 신뢰 부족 문제 </a:t>
            </a:r>
            <a:r>
              <a:rPr lang="en-US" altLang="ko-KR" dirty="0"/>
              <a:t>(</a:t>
            </a:r>
            <a:r>
              <a:rPr lang="ko-KR" altLang="en-US" dirty="0"/>
              <a:t>허위 매물</a:t>
            </a:r>
            <a:r>
              <a:rPr lang="en-US" altLang="ko-KR" dirty="0"/>
              <a:t>, </a:t>
            </a:r>
            <a:r>
              <a:rPr lang="ko-KR" altLang="en-US" dirty="0"/>
              <a:t>정보 비대칭 등</a:t>
            </a:r>
            <a:r>
              <a:rPr lang="en-US" altLang="ko-KR" dirty="0" smtClean="0"/>
              <a:t>)</a:t>
            </a:r>
          </a:p>
          <a:p>
            <a:r>
              <a:rPr lang="ko-KR" altLang="en-US" dirty="0"/>
              <a:t>기존 금융 인프라와 연동되지 않는 </a:t>
            </a:r>
            <a:r>
              <a:rPr lang="en-US" altLang="ko-KR" dirty="0"/>
              <a:t>Web3 </a:t>
            </a:r>
            <a:r>
              <a:rPr lang="ko-KR" altLang="en-US" dirty="0"/>
              <a:t>서비스의 접근성 </a:t>
            </a:r>
            <a:r>
              <a:rPr lang="ko-KR" altLang="en-US" dirty="0" smtClean="0"/>
              <a:t>문제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372751" y="8073911"/>
            <a:ext cx="108109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우리 팀은 신뢰하기 어려운 중고차 거래 및 실물 인증의 문제를 해결하여</a:t>
            </a:r>
            <a:r>
              <a:rPr lang="en-US" altLang="ko-KR" dirty="0"/>
              <a:t>, </a:t>
            </a:r>
            <a:r>
              <a:rPr lang="ko-KR" altLang="en-US" dirty="0"/>
              <a:t>누구나 </a:t>
            </a:r>
            <a:r>
              <a:rPr lang="en-US" altLang="ko-KR" dirty="0"/>
              <a:t>NFT</a:t>
            </a:r>
            <a:r>
              <a:rPr lang="ko-KR" altLang="en-US" dirty="0"/>
              <a:t>를 통해 자동차를 안전하게 </a:t>
            </a:r>
            <a:r>
              <a:rPr lang="ko-KR" altLang="en-US" dirty="0" err="1"/>
              <a:t>사고팔</a:t>
            </a:r>
            <a:r>
              <a:rPr lang="ko-KR" altLang="en-US" dirty="0"/>
              <a:t> 수 있는 새로운 </a:t>
            </a:r>
            <a:r>
              <a:rPr lang="en-US" altLang="ko-KR" dirty="0"/>
              <a:t>P2P </a:t>
            </a:r>
            <a:r>
              <a:rPr lang="ko-KR" altLang="en-US" dirty="0"/>
              <a:t>거래 문화를 만들어가는 것을 목표로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b="57672"/>
          <a:stretch/>
        </p:blipFill>
        <p:spPr>
          <a:xfrm>
            <a:off x="0" y="0"/>
            <a:ext cx="17556480" cy="418011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218726" y="2476402"/>
            <a:ext cx="103122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중고차 거래자들은 기존의 오프라인 기반 거래 방식에 대해 신뢰 부족과 불편함을 느끼고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4849971" y="2476402"/>
            <a:ext cx="4216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O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218726" y="3527967"/>
            <a:ext cx="104784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차량 소유자들은 실물과 디지털 자산</a:t>
            </a:r>
            <a:r>
              <a:rPr lang="en-US" altLang="ko-KR" dirty="0"/>
              <a:t>(NFT, </a:t>
            </a:r>
            <a:r>
              <a:rPr lang="ko-KR" altLang="en-US" dirty="0"/>
              <a:t>카드 등</a:t>
            </a:r>
            <a:r>
              <a:rPr lang="en-US" altLang="ko-KR" dirty="0"/>
              <a:t>)</a:t>
            </a:r>
            <a:r>
              <a:rPr lang="ko-KR" altLang="en-US" dirty="0"/>
              <a:t>을 연동해 거래할 수 있는 안전한 수단을 원하고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 rotWithShape="1">
          <a:blip r:embed="rId4"/>
          <a:srcRect b="57552"/>
          <a:stretch/>
        </p:blipFill>
        <p:spPr>
          <a:xfrm>
            <a:off x="0" y="4862347"/>
            <a:ext cx="17556480" cy="419199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4849971" y="3527967"/>
            <a:ext cx="3860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X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218725" y="7254287"/>
            <a:ext cx="119153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차량을 </a:t>
            </a:r>
            <a:r>
              <a:rPr lang="en-US" altLang="ko-KR" dirty="0"/>
              <a:t>NFT</a:t>
            </a:r>
            <a:r>
              <a:rPr lang="ko-KR" altLang="en-US" dirty="0"/>
              <a:t>로 등록하고 </a:t>
            </a:r>
            <a:r>
              <a:rPr lang="en-US" altLang="ko-KR" dirty="0"/>
              <a:t>NFC </a:t>
            </a:r>
            <a:r>
              <a:rPr lang="ko-KR" altLang="en-US" dirty="0"/>
              <a:t>카드를 통해 실물 인증을 가능하게 하면</a:t>
            </a:r>
            <a:r>
              <a:rPr lang="en-US" altLang="ko-KR" dirty="0"/>
              <a:t>, </a:t>
            </a:r>
            <a:r>
              <a:rPr lang="ko-KR" altLang="en-US" dirty="0"/>
              <a:t>사용자들은 기존 거래 방식보다 더 높은 신뢰를 느끼고 플랫폼을 사용할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18724" y="8246201"/>
            <a:ext cx="119153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NFC </a:t>
            </a:r>
            <a:r>
              <a:rPr lang="ko-KR" altLang="en-US" dirty="0"/>
              <a:t>카드 기반의 </a:t>
            </a:r>
            <a:r>
              <a:rPr lang="en-US" altLang="ko-KR" dirty="0"/>
              <a:t>Web3 </a:t>
            </a:r>
            <a:r>
              <a:rPr lang="ko-KR" altLang="en-US" dirty="0"/>
              <a:t>결제 시스템을 제공하면</a:t>
            </a:r>
            <a:r>
              <a:rPr lang="en-US" altLang="ko-KR" dirty="0"/>
              <a:t>, </a:t>
            </a:r>
            <a:r>
              <a:rPr lang="ko-KR" altLang="en-US" dirty="0"/>
              <a:t>정비소</a:t>
            </a:r>
            <a:r>
              <a:rPr lang="en-US" altLang="ko-KR" dirty="0"/>
              <a:t>·</a:t>
            </a:r>
            <a:r>
              <a:rPr lang="ko-KR" altLang="en-US" dirty="0"/>
              <a:t>주유소 등 실물 </a:t>
            </a:r>
            <a:r>
              <a:rPr lang="ko-KR" altLang="en-US" dirty="0" err="1"/>
              <a:t>제휴처에서</a:t>
            </a:r>
            <a:r>
              <a:rPr lang="ko-KR" altLang="en-US" dirty="0"/>
              <a:t> 차량 소유자들이 코인 결제를 실제로 활용할 가능성이 높고</a:t>
            </a:r>
            <a:r>
              <a:rPr lang="en-US" altLang="ko-KR" dirty="0"/>
              <a:t>, </a:t>
            </a:r>
            <a:r>
              <a:rPr lang="ko-KR" altLang="en-US" dirty="0"/>
              <a:t>반복 </a:t>
            </a:r>
            <a:r>
              <a:rPr lang="ko-KR" altLang="en-US" dirty="0" err="1"/>
              <a:t>결제율이</a:t>
            </a:r>
            <a:r>
              <a:rPr lang="ko-KR" altLang="en-US" dirty="0"/>
              <a:t> </a:t>
            </a:r>
            <a:r>
              <a:rPr lang="en-US" altLang="ko-KR" dirty="0"/>
              <a:t>70% </a:t>
            </a:r>
            <a:r>
              <a:rPr lang="ko-KR" altLang="en-US" dirty="0"/>
              <a:t>이상이 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4849970" y="7392786"/>
            <a:ext cx="3860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X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4849969" y="8259685"/>
            <a:ext cx="3860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X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173011" y="2104262"/>
            <a:ext cx="3099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중고차를 팔거나 사려는 일반 개인 사용자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73011" y="3182937"/>
            <a:ext cx="3099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중고차 거래 경험이 적고</a:t>
            </a:r>
            <a:r>
              <a:rPr lang="en-US" altLang="ko-KR" dirty="0"/>
              <a:t>, </a:t>
            </a:r>
            <a:r>
              <a:rPr lang="ko-KR" altLang="en-US" dirty="0"/>
              <a:t>정보 부족으로 불안감이 있음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173011" y="4291429"/>
            <a:ext cx="35390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차량 이력 확인이나 소유권 이전 등에서 복잡함을 느끼고 있음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905511" y="2278543"/>
            <a:ext cx="50910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강점</a:t>
            </a:r>
            <a:r>
              <a:rPr lang="en-US" altLang="ko-KR" dirty="0" smtClean="0"/>
              <a:t>: </a:t>
            </a:r>
            <a:r>
              <a:rPr lang="ko-KR" altLang="en-US" dirty="0" smtClean="0"/>
              <a:t>플랫폼</a:t>
            </a:r>
            <a:r>
              <a:rPr lang="en-US" altLang="ko-KR" dirty="0"/>
              <a:t>(OO</a:t>
            </a:r>
            <a:r>
              <a:rPr lang="ko-KR" altLang="en-US" dirty="0"/>
              <a:t>차</a:t>
            </a:r>
            <a:r>
              <a:rPr lang="en-US" altLang="ko-KR" dirty="0"/>
              <a:t>, OO</a:t>
            </a:r>
            <a:r>
              <a:rPr lang="ko-KR" altLang="en-US" dirty="0" err="1"/>
              <a:t>엔카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은 다양한 차량 정보 </a:t>
            </a:r>
            <a:r>
              <a:rPr lang="ko-KR" altLang="en-US" dirty="0" err="1"/>
              <a:t>제공로</a:t>
            </a:r>
            <a:r>
              <a:rPr lang="ko-KR" altLang="en-US" dirty="0"/>
              <a:t> 불안감이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r>
              <a:rPr lang="ko-KR" altLang="en-US" dirty="0"/>
              <a:t>일부 서비스는 실명 인증 기반 거래 및 일부 보증 프로그램 운영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905511" y="3691264"/>
            <a:ext cx="50910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단</a:t>
            </a:r>
            <a:r>
              <a:rPr lang="ko-KR" altLang="en-US" dirty="0" smtClean="0"/>
              <a:t>점</a:t>
            </a:r>
            <a:r>
              <a:rPr lang="en-US" altLang="ko-KR" dirty="0" smtClean="0"/>
              <a:t>: </a:t>
            </a:r>
            <a:r>
              <a:rPr lang="ko-KR" altLang="en-US" dirty="0"/>
              <a:t>실물 자산</a:t>
            </a:r>
            <a:r>
              <a:rPr lang="en-US" altLang="ko-KR" dirty="0"/>
              <a:t>(NFT, </a:t>
            </a:r>
            <a:r>
              <a:rPr lang="ko-KR" altLang="en-US" dirty="0"/>
              <a:t>소유권 등</a:t>
            </a:r>
            <a:r>
              <a:rPr lang="en-US" altLang="ko-KR" dirty="0"/>
              <a:t>) </a:t>
            </a:r>
            <a:r>
              <a:rPr lang="ko-KR" altLang="en-US" dirty="0"/>
              <a:t>연동이 </a:t>
            </a:r>
            <a:r>
              <a:rPr lang="ko-KR" altLang="en-US" dirty="0" smtClean="0"/>
              <a:t>불가</a:t>
            </a:r>
            <a:endParaRPr lang="en-US" altLang="ko-KR" dirty="0" smtClean="0"/>
          </a:p>
          <a:p>
            <a:r>
              <a:rPr lang="ko-KR" altLang="en-US" dirty="0"/>
              <a:t>실제 차량의 실물 인증 </a:t>
            </a:r>
            <a:r>
              <a:rPr lang="ko-KR" altLang="en-US" dirty="0" smtClean="0"/>
              <a:t>부족</a:t>
            </a:r>
            <a:endParaRPr lang="en-US" altLang="ko-KR" dirty="0"/>
          </a:p>
          <a:p>
            <a:r>
              <a:rPr lang="en-US" altLang="ko-KR" dirty="0"/>
              <a:t>Web3 </a:t>
            </a:r>
            <a:r>
              <a:rPr lang="ko-KR" altLang="en-US" dirty="0"/>
              <a:t>기능 연계가 전무하며</a:t>
            </a:r>
            <a:r>
              <a:rPr lang="en-US" altLang="ko-KR" dirty="0"/>
              <a:t>, </a:t>
            </a:r>
            <a:r>
              <a:rPr lang="ko-KR" altLang="en-US" dirty="0" err="1"/>
              <a:t>블록체인</a:t>
            </a:r>
            <a:r>
              <a:rPr lang="ko-KR" altLang="en-US" dirty="0"/>
              <a:t> 기반 이력 관리 부재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1332534" y="2104262"/>
            <a:ext cx="48654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dirty="0" smtClean="0"/>
              <a:t> 차량을 </a:t>
            </a:r>
            <a:r>
              <a:rPr lang="en-US" altLang="ko-KR" dirty="0"/>
              <a:t>NFT</a:t>
            </a:r>
            <a:r>
              <a:rPr lang="ko-KR" altLang="en-US" dirty="0"/>
              <a:t>로 등록하고</a:t>
            </a:r>
            <a:r>
              <a:rPr lang="en-US" altLang="ko-KR" dirty="0"/>
              <a:t>, NFC </a:t>
            </a:r>
            <a:r>
              <a:rPr lang="ko-KR" altLang="en-US" dirty="0"/>
              <a:t>카드로 실물 인증 제공</a:t>
            </a:r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 모든 </a:t>
            </a:r>
            <a:r>
              <a:rPr lang="ko-KR" altLang="en-US" dirty="0"/>
              <a:t>거래 및 소유권 변경은 </a:t>
            </a:r>
            <a:r>
              <a:rPr lang="ko-KR" altLang="en-US" dirty="0" err="1"/>
              <a:t>블록체인</a:t>
            </a:r>
            <a:r>
              <a:rPr lang="ko-KR" altLang="en-US" dirty="0"/>
              <a:t> 기반으로 투명하게 </a:t>
            </a:r>
            <a:r>
              <a:rPr lang="ko-KR" altLang="en-US" dirty="0" smtClean="0"/>
              <a:t>기록</a:t>
            </a:r>
            <a:endParaRPr lang="en-US" altLang="ko-KR" dirty="0" smtClean="0"/>
          </a:p>
          <a:p>
            <a:pPr>
              <a:buFont typeface="+mj-lt"/>
              <a:buAutoNum type="arabicPeriod"/>
            </a:pPr>
            <a:endParaRPr lang="en-US" altLang="ko-KR" dirty="0" smtClean="0"/>
          </a:p>
          <a:p>
            <a:pPr>
              <a:buFont typeface="+mj-lt"/>
              <a:buAutoNum type="arabicPeriod"/>
            </a:pPr>
            <a:endParaRPr lang="ko-KR" altLang="en-US" dirty="0"/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 사용자는 </a:t>
            </a:r>
            <a:r>
              <a:rPr lang="ko-KR" altLang="en-US" dirty="0"/>
              <a:t>앱 내에서 실물 차량의 디지털 신분증을 발급받고 관리</a:t>
            </a:r>
          </a:p>
          <a:p>
            <a:pPr>
              <a:buFont typeface="+mj-lt"/>
              <a:buAutoNum type="arabicPeriod"/>
            </a:pPr>
            <a:r>
              <a:rPr lang="ko-KR" altLang="en-US" dirty="0" smtClean="0"/>
              <a:t> 파트너 </a:t>
            </a:r>
            <a:r>
              <a:rPr lang="ko-KR" altLang="en-US" dirty="0"/>
              <a:t>정비소</a:t>
            </a:r>
            <a:r>
              <a:rPr lang="en-US" altLang="ko-KR" dirty="0"/>
              <a:t>·</a:t>
            </a:r>
            <a:r>
              <a:rPr lang="ko-KR" altLang="en-US" dirty="0"/>
              <a:t>주유소 등에서 코인 결제 가능 </a:t>
            </a:r>
            <a:r>
              <a:rPr lang="en-US" altLang="ko-KR" dirty="0"/>
              <a:t>(PLOW PAY)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262518" y="6972183"/>
            <a:ext cx="101400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신뢰하기 어려운 중고차 거래 시장에서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실물 </a:t>
            </a:r>
            <a:r>
              <a:rPr lang="ko-KR" altLang="en-US" dirty="0"/>
              <a:t>차량을 </a:t>
            </a:r>
            <a:r>
              <a:rPr lang="en-US" altLang="ko-KR" dirty="0"/>
              <a:t>NFT</a:t>
            </a:r>
            <a:r>
              <a:rPr lang="ko-KR" altLang="en-US" dirty="0"/>
              <a:t>로 디지털화하고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NFC </a:t>
            </a:r>
            <a:r>
              <a:rPr lang="ko-KR" altLang="en-US" dirty="0"/>
              <a:t>기반 실물 인증을 통해 소유권</a:t>
            </a:r>
            <a:r>
              <a:rPr lang="en-US" altLang="ko-KR" dirty="0"/>
              <a:t>·</a:t>
            </a:r>
            <a:r>
              <a:rPr lang="ko-KR" altLang="en-US" dirty="0"/>
              <a:t>거래의 신뢰를 높이고</a:t>
            </a:r>
            <a:r>
              <a:rPr lang="en-US" altLang="ko-KR" dirty="0" smtClean="0"/>
              <a:t>, Web3 </a:t>
            </a:r>
            <a:r>
              <a:rPr lang="ko-KR" altLang="en-US" dirty="0"/>
              <a:t>결제 시스템</a:t>
            </a:r>
            <a:r>
              <a:rPr lang="en-US" altLang="ko-KR" dirty="0"/>
              <a:t>(PLOW PAY)</a:t>
            </a:r>
            <a:r>
              <a:rPr lang="ko-KR" altLang="en-US" dirty="0"/>
              <a:t>을 통해 자동차 금융</a:t>
            </a:r>
            <a:r>
              <a:rPr lang="en-US" altLang="ko-KR" dirty="0"/>
              <a:t>/</a:t>
            </a:r>
            <a:r>
              <a:rPr lang="ko-KR" altLang="en-US" dirty="0"/>
              <a:t>결제까지 </a:t>
            </a:r>
            <a:r>
              <a:rPr lang="ko-KR" altLang="en-US" dirty="0" smtClean="0"/>
              <a:t>연결하는 실용적인 </a:t>
            </a:r>
            <a:r>
              <a:rPr lang="en-US" altLang="ko-KR" dirty="0"/>
              <a:t>P2P </a:t>
            </a:r>
            <a:r>
              <a:rPr lang="ko-KR" altLang="en-US" dirty="0"/>
              <a:t>거래 플랫폼을 제공합니다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551909" y="4935385"/>
            <a:ext cx="354013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500" dirty="0"/>
              <a:t>NFC </a:t>
            </a:r>
            <a:r>
              <a:rPr lang="ko-KR" altLang="en-US" sz="1500" dirty="0"/>
              <a:t>카드 및 </a:t>
            </a:r>
            <a:r>
              <a:rPr lang="en-US" altLang="ko-KR" sz="1500" dirty="0"/>
              <a:t>Web3 </a:t>
            </a:r>
            <a:r>
              <a:rPr lang="ko-KR" altLang="en-US" sz="1500" dirty="0"/>
              <a:t>지갑 기술을 활용해 실물과 디지털 연동형 거래 플랫폼 시장을 선도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133082" y="2750055"/>
            <a:ext cx="388394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 smtClean="0"/>
              <a:t>블록체인</a:t>
            </a:r>
            <a:r>
              <a:rPr lang="ko-KR" altLang="en-US" dirty="0" smtClean="0"/>
              <a:t> </a:t>
            </a:r>
            <a:r>
              <a:rPr lang="ko-KR" altLang="en-US" dirty="0"/>
              <a:t>기반 차량 자산화 </a:t>
            </a:r>
            <a:r>
              <a:rPr lang="ko-KR" altLang="en-US" dirty="0" smtClean="0"/>
              <a:t>경험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/>
              <a:t>Solana </a:t>
            </a:r>
            <a:r>
              <a:rPr lang="ko-KR" altLang="en-US" dirty="0"/>
              <a:t>기반 </a:t>
            </a:r>
            <a:r>
              <a:rPr lang="en-US" altLang="ko-KR" dirty="0"/>
              <a:t>Web3 </a:t>
            </a:r>
            <a:r>
              <a:rPr lang="ko-KR" altLang="en-US" dirty="0"/>
              <a:t>결제 기술 </a:t>
            </a:r>
            <a:r>
              <a:rPr lang="ko-KR" altLang="en-US" dirty="0" smtClean="0"/>
              <a:t>보유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/>
              <a:t>NFC </a:t>
            </a:r>
            <a:r>
              <a:rPr lang="ko-KR" altLang="en-US" dirty="0"/>
              <a:t>카드와 실물 연동 인증 시스템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313202" y="2750055"/>
            <a:ext cx="39693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브랜드 인지도 및 사용자 신뢰 </a:t>
            </a:r>
            <a:r>
              <a:rPr lang="ko-KR" altLang="en-US" dirty="0" smtClean="0"/>
              <a:t>부족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/>
              <a:t>법률</a:t>
            </a:r>
            <a:r>
              <a:rPr lang="en-US" altLang="ko-KR" dirty="0"/>
              <a:t>/</a:t>
            </a:r>
            <a:r>
              <a:rPr lang="ko-KR" altLang="en-US" dirty="0"/>
              <a:t>세무 등 행정 대응 </a:t>
            </a:r>
            <a:r>
              <a:rPr lang="ko-KR" altLang="en-US" dirty="0" smtClean="0"/>
              <a:t>미흡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/>
              <a:t>초기 자금과 운영 자원 한계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859949" y="7065616"/>
            <a:ext cx="473238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Web3 </a:t>
            </a:r>
            <a:r>
              <a:rPr lang="ko-KR" altLang="en-US" dirty="0"/>
              <a:t>인프라 확장 및 글로벌 수요 </a:t>
            </a:r>
            <a:r>
              <a:rPr lang="ko-KR" altLang="en-US" dirty="0" smtClean="0"/>
              <a:t>증가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/>
              <a:t>실물</a:t>
            </a:r>
            <a:r>
              <a:rPr lang="en-US" altLang="ko-KR" dirty="0"/>
              <a:t>-</a:t>
            </a:r>
            <a:r>
              <a:rPr lang="ko-KR" altLang="en-US" dirty="0"/>
              <a:t>디지털 연동 서비스에 대한 관심 증가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1013310" y="7063233"/>
            <a:ext cx="48029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대형 플랫폼과의 경쟁 </a:t>
            </a:r>
            <a:r>
              <a:rPr lang="en-US" altLang="ko-KR" dirty="0" smtClean="0"/>
              <a:t>(</a:t>
            </a:r>
            <a:r>
              <a:rPr lang="ko-KR" altLang="en-US" dirty="0" smtClean="0"/>
              <a:t>중고차 거래 플랫폼</a:t>
            </a:r>
            <a:r>
              <a:rPr lang="en-US" altLang="ko-KR" dirty="0" smtClean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법적 규제 불확실성 </a:t>
            </a:r>
            <a:r>
              <a:rPr lang="en-US" altLang="ko-KR" dirty="0"/>
              <a:t>(NFT, </a:t>
            </a:r>
            <a:r>
              <a:rPr lang="ko-KR" altLang="en-US" dirty="0"/>
              <a:t>소유권 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8119457" y="2208285"/>
            <a:ext cx="2271453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dirty="0" err="1"/>
              <a:t>블록체인</a:t>
            </a:r>
            <a:r>
              <a:rPr lang="ko-KR" altLang="en-US" sz="1500" dirty="0"/>
              <a:t> 기반의 투명한 이력 관리 기능으로 기존 플랫폼 대비 </a:t>
            </a:r>
            <a:r>
              <a:rPr lang="ko-KR" altLang="en-US" sz="1500" dirty="0" smtClean="0"/>
              <a:t>차별화</a:t>
            </a:r>
            <a:endParaRPr lang="en-US" altLang="ko-KR" sz="1500" dirty="0" smtClean="0"/>
          </a:p>
          <a:p>
            <a:r>
              <a:rPr lang="ko-KR" altLang="en-US" sz="1500" dirty="0"/>
              <a:t>소유권 및 정비 이력의 실시간 기록으로 사용자 신뢰 확보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8139917" y="6765534"/>
            <a:ext cx="21559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커뮤니티 중심의 브랜드 인지도 강화 및 </a:t>
            </a:r>
            <a:r>
              <a:rPr lang="ko-KR" altLang="en-US" sz="1600" dirty="0" err="1"/>
              <a:t>바이럴</a:t>
            </a:r>
            <a:r>
              <a:rPr lang="ko-KR" altLang="en-US" sz="1600" dirty="0"/>
              <a:t> 캠페인 </a:t>
            </a:r>
            <a:r>
              <a:rPr lang="ko-KR" altLang="en-US" sz="1600" dirty="0" smtClean="0"/>
              <a:t>진행</a:t>
            </a:r>
            <a:endParaRPr lang="en-US" altLang="ko-KR" sz="1600" dirty="0" smtClean="0"/>
          </a:p>
          <a:p>
            <a:r>
              <a:rPr lang="ko-KR" altLang="en-US" sz="1600" dirty="0"/>
              <a:t>정부 및 민간 지원 프로그램 통해 초기 자금 확보 및 운영 역량 보완</a:t>
            </a:r>
            <a:endParaRPr lang="ko-KR" altLang="en-US" sz="1500" dirty="0"/>
          </a:p>
        </p:txBody>
      </p:sp>
      <p:sp>
        <p:nvSpPr>
          <p:cNvPr id="14" name="직사각형 13"/>
          <p:cNvSpPr/>
          <p:nvPr/>
        </p:nvSpPr>
        <p:spPr>
          <a:xfrm>
            <a:off x="12548795" y="5035412"/>
            <a:ext cx="35401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법적 이슈 대비를 위한 전문가 자문 및 정책 모니터링 체계 </a:t>
            </a:r>
            <a:r>
              <a:rPr lang="ko-KR" altLang="en-US" sz="1600" dirty="0" smtClean="0"/>
              <a:t>마련</a:t>
            </a:r>
            <a:endParaRPr lang="en-US" altLang="ko-KR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701452" y="2213200"/>
            <a:ext cx="11697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블록체인</a:t>
            </a:r>
            <a:r>
              <a:rPr lang="ko-KR" altLang="en-US" dirty="0"/>
              <a:t> 및 </a:t>
            </a:r>
            <a:r>
              <a:rPr lang="ko-KR" altLang="en-US" dirty="0" err="1"/>
              <a:t>가상자산</a:t>
            </a:r>
            <a:r>
              <a:rPr lang="ko-KR" altLang="en-US" dirty="0"/>
              <a:t> 관련 규제가 국가별로 다르고 불확실성이 </a:t>
            </a:r>
            <a:r>
              <a:rPr lang="ko-KR" altLang="en-US" dirty="0" smtClean="0"/>
              <a:t>큼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/>
              <a:t>싱가포르 등 일부 국가는 </a:t>
            </a:r>
            <a:r>
              <a:rPr lang="en-US" altLang="ko-KR" dirty="0"/>
              <a:t>Web3 </a:t>
            </a:r>
            <a:r>
              <a:rPr lang="ko-KR" altLang="en-US" dirty="0"/>
              <a:t>및 </a:t>
            </a:r>
            <a:r>
              <a:rPr lang="en-US" altLang="ko-KR" dirty="0"/>
              <a:t>NFT </a:t>
            </a:r>
            <a:r>
              <a:rPr lang="ko-KR" altLang="en-US" dirty="0"/>
              <a:t>친화적 정책 추진 중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701452" y="3316576"/>
            <a:ext cx="11697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고차 시장은 경기 영향을 많이 받지만</a:t>
            </a:r>
            <a:r>
              <a:rPr lang="en-US" altLang="ko-KR" dirty="0"/>
              <a:t>, </a:t>
            </a:r>
            <a:r>
              <a:rPr lang="ko-KR" altLang="en-US" dirty="0"/>
              <a:t>경기 </a:t>
            </a:r>
            <a:r>
              <a:rPr lang="ko-KR" altLang="en-US" dirty="0" err="1"/>
              <a:t>둔화기엔</a:t>
            </a:r>
            <a:r>
              <a:rPr lang="ko-KR" altLang="en-US" dirty="0"/>
              <a:t> 오히려 거래량 증가 가능성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/>
              <a:t>Web3 </a:t>
            </a:r>
            <a:r>
              <a:rPr lang="ko-KR" altLang="en-US" dirty="0"/>
              <a:t>관련 투자 및 </a:t>
            </a:r>
            <a:r>
              <a:rPr lang="ko-KR" altLang="en-US" dirty="0" err="1"/>
              <a:t>스타트업</a:t>
            </a:r>
            <a:r>
              <a:rPr lang="ko-KR" altLang="en-US" dirty="0"/>
              <a:t> 생태계 성장 중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701452" y="4419952"/>
            <a:ext cx="11697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디지털 자산 및 </a:t>
            </a:r>
            <a:r>
              <a:rPr lang="en-US" altLang="ko-KR" dirty="0"/>
              <a:t>NFT</a:t>
            </a:r>
            <a:r>
              <a:rPr lang="ko-KR" altLang="en-US" dirty="0"/>
              <a:t>에 대한 인식이 빠르게 확산되고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/>
              <a:t>젊은 세대 중심으로 소유보다 </a:t>
            </a:r>
            <a:r>
              <a:rPr lang="en-US" altLang="ko-KR" dirty="0"/>
              <a:t>'</a:t>
            </a:r>
            <a:r>
              <a:rPr lang="ko-KR" altLang="en-US" dirty="0"/>
              <a:t>이용</a:t>
            </a:r>
            <a:r>
              <a:rPr lang="en-US" altLang="ko-KR" dirty="0"/>
              <a:t>·</a:t>
            </a:r>
            <a:r>
              <a:rPr lang="ko-KR" altLang="en-US" dirty="0"/>
              <a:t>공유</a:t>
            </a:r>
            <a:r>
              <a:rPr lang="en-US" altLang="ko-KR" dirty="0"/>
              <a:t>'</a:t>
            </a:r>
            <a:r>
              <a:rPr lang="ko-KR" altLang="en-US" dirty="0"/>
              <a:t>에 대한 가치관 확산 중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701452" y="5398536"/>
            <a:ext cx="11697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Solana </a:t>
            </a:r>
            <a:r>
              <a:rPr lang="ko-KR" altLang="en-US" dirty="0"/>
              <a:t>기반 결제 기술 및 </a:t>
            </a:r>
            <a:r>
              <a:rPr lang="en-US" altLang="ko-KR" dirty="0"/>
              <a:t>NFT·NFC </a:t>
            </a:r>
            <a:r>
              <a:rPr lang="ko-KR" altLang="en-US" dirty="0"/>
              <a:t>연동 기술 상용화 </a:t>
            </a:r>
            <a:r>
              <a:rPr lang="ko-KR" altLang="en-US" dirty="0" smtClean="0"/>
              <a:t>진행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/>
              <a:t>Web3 </a:t>
            </a:r>
            <a:r>
              <a:rPr lang="ko-KR" altLang="en-US" dirty="0"/>
              <a:t>지갑</a:t>
            </a:r>
            <a:r>
              <a:rPr lang="en-US" altLang="ko-KR" dirty="0"/>
              <a:t>, </a:t>
            </a:r>
            <a:r>
              <a:rPr lang="ko-KR" altLang="en-US" dirty="0"/>
              <a:t>실물 연동 인증 등 관련 기술 발전 가속화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701451" y="6526296"/>
            <a:ext cx="11697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블록체인</a:t>
            </a:r>
            <a:r>
              <a:rPr lang="ko-KR" altLang="en-US" dirty="0"/>
              <a:t> 기술의 친환경 이슈에 대한 관심 </a:t>
            </a:r>
            <a:r>
              <a:rPr lang="ko-KR" altLang="en-US" dirty="0" smtClean="0"/>
              <a:t>증가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/>
              <a:t>Solana</a:t>
            </a:r>
            <a:r>
              <a:rPr lang="ko-KR" altLang="en-US" dirty="0"/>
              <a:t>는 에너지 효율성이 높은 체인으로 친환경 측면에서 긍정적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701452" y="7615115"/>
            <a:ext cx="11697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NFT</a:t>
            </a:r>
            <a:r>
              <a:rPr lang="ko-KR" altLang="en-US" dirty="0"/>
              <a:t>의 소유권 인정 여부 및 실물자산 연동에 대한 법적 해석이 </a:t>
            </a:r>
            <a:r>
              <a:rPr lang="ko-KR" altLang="en-US" dirty="0" smtClean="0"/>
              <a:t>불완전함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/>
              <a:t>차량 소유권 이전 절차와의 연계에 법적</a:t>
            </a:r>
            <a:r>
              <a:rPr lang="en-US" altLang="ko-KR" dirty="0"/>
              <a:t>·</a:t>
            </a:r>
            <a:r>
              <a:rPr lang="ko-KR" altLang="en-US" dirty="0"/>
              <a:t>행정적 장벽 존재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752</Words>
  <Application>Microsoft Office PowerPoint</Application>
  <PresentationFormat>사용자 지정</PresentationFormat>
  <Paragraphs>92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user</cp:lastModifiedBy>
  <cp:revision>6</cp:revision>
  <dcterms:created xsi:type="dcterms:W3CDTF">2025-04-21T00:55:53Z</dcterms:created>
  <dcterms:modified xsi:type="dcterms:W3CDTF">2025-04-24T09:12:17Z</dcterms:modified>
</cp:coreProperties>
</file>