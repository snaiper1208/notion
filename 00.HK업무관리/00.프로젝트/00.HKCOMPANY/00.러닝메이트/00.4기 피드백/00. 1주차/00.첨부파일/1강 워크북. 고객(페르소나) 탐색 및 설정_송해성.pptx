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65" r:id="rId3"/>
    <p:sldId id="266" r:id="rId4"/>
    <p:sldId id="267" r:id="rId5"/>
    <p:sldId id="268" r:id="rId6"/>
    <p:sldId id="269" r:id="rId7"/>
    <p:sldId id="273" r:id="rId8"/>
    <p:sldId id="274" r:id="rId9"/>
    <p:sldId id="278" r:id="rId10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98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ED1F8C5-6108-4E7E-B954-A41DF9DD9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407464"/>
              </p:ext>
            </p:extLst>
          </p:nvPr>
        </p:nvGraphicFramePr>
        <p:xfrm>
          <a:off x="7497572" y="2194560"/>
          <a:ext cx="10485628" cy="2773680"/>
        </p:xfrm>
        <a:graphic>
          <a:graphicData uri="http://schemas.openxmlformats.org/drawingml/2006/table">
            <a:tbl>
              <a:tblPr/>
              <a:tblGrid>
                <a:gridCol w="10485628">
                  <a:extLst>
                    <a:ext uri="{9D8B030D-6E8A-4147-A177-3AD203B41FA5}">
                      <a16:colId xmlns:a16="http://schemas.microsoft.com/office/drawing/2014/main" val="1435456110"/>
                    </a:ext>
                  </a:extLst>
                </a:gridCol>
              </a:tblGrid>
              <a:tr h="18421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/>
                        <a:t>구매 습관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월 단위 구독 서비스 선호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업무 효율성 위해 비용 지불 주저 안함</a:t>
                      </a:r>
                      <a:br>
                        <a:rPr lang="en-US" altLang="ko-KR" sz="1600" dirty="0"/>
                      </a:br>
                      <a:br>
                        <a:rPr lang="en-US" altLang="ko-KR" sz="1600" dirty="0"/>
                      </a:br>
                      <a:r>
                        <a:rPr lang="ko-KR" altLang="en-US" sz="1600" b="1" dirty="0"/>
                        <a:t>사용 습관</a:t>
                      </a:r>
                    </a:p>
                    <a:p>
                      <a:r>
                        <a:rPr lang="ko-KR" altLang="en-US" sz="1600" dirty="0"/>
                        <a:t>업무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과제 중 하루 </a:t>
                      </a:r>
                      <a:r>
                        <a:rPr lang="en-US" altLang="ko-KR" sz="1600" dirty="0"/>
                        <a:t>5</a:t>
                      </a:r>
                      <a:r>
                        <a:rPr lang="ko-KR" altLang="en-US" sz="1600" dirty="0"/>
                        <a:t>시간 이상 </a:t>
                      </a:r>
                      <a:r>
                        <a:rPr lang="en-US" altLang="ko-KR" sz="1600" dirty="0"/>
                        <a:t>UI</a:t>
                      </a:r>
                      <a:r>
                        <a:rPr lang="ko-KR" altLang="en-US" sz="1600" dirty="0"/>
                        <a:t> 작업하며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필요한 피드백을 </a:t>
                      </a:r>
                      <a:r>
                        <a:rPr lang="en-US" altLang="ko-KR" sz="1600" dirty="0"/>
                        <a:t>Slack</a:t>
                      </a:r>
                      <a:r>
                        <a:rPr lang="ko-KR" altLang="en-US" sz="1600" dirty="0"/>
                        <a:t>이나 동료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친구에게 수시 요청</a:t>
                      </a:r>
                      <a:endParaRPr lang="en-US" altLang="ko-KR" sz="1600" dirty="0"/>
                    </a:p>
                    <a:p>
                      <a:endParaRPr lang="ko-KR" altLang="en-US" sz="1600" dirty="0"/>
                    </a:p>
                    <a:p>
                      <a:r>
                        <a:rPr lang="ko-KR" altLang="en-US" sz="1600" b="1" dirty="0"/>
                        <a:t>소비패턴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업무 생산성 및 학습 관련 툴 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 err="1"/>
                        <a:t>노션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피그마</a:t>
                      </a:r>
                      <a:r>
                        <a:rPr lang="ko-KR" altLang="en-US" sz="1600" dirty="0"/>
                        <a:t> 유료 플러그인 등</a:t>
                      </a:r>
                      <a:r>
                        <a:rPr lang="en-US" altLang="ko-KR" sz="1600" dirty="0"/>
                        <a:t>) </a:t>
                      </a:r>
                      <a:r>
                        <a:rPr lang="ko-KR" altLang="en-US" sz="1600" dirty="0"/>
                        <a:t>사용 적극적</a:t>
                      </a:r>
                      <a:br>
                        <a:rPr lang="en-US" altLang="ko-KR" sz="1600" dirty="0"/>
                      </a:br>
                      <a:br>
                        <a:rPr lang="en-US" altLang="ko-KR" sz="1600" dirty="0"/>
                      </a:br>
                      <a:r>
                        <a:rPr lang="ko-KR" altLang="en-US" sz="1600" b="1" dirty="0"/>
                        <a:t>정보 수집 방법</a:t>
                      </a:r>
                    </a:p>
                    <a:p>
                      <a:r>
                        <a:rPr lang="ko-KR" altLang="en-US" sz="1600" dirty="0"/>
                        <a:t>디자인 관련 유튜브 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디자인 관련 블로그 및 뉴스레터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소셜 미디어</a:t>
                      </a:r>
                      <a:endParaRPr lang="en-US" altLang="ko-KR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08227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BE2CB74-D4C9-49CF-A5AF-E6B588C20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534117"/>
              </p:ext>
            </p:extLst>
          </p:nvPr>
        </p:nvGraphicFramePr>
        <p:xfrm>
          <a:off x="1090676" y="5775960"/>
          <a:ext cx="5736844" cy="2042160"/>
        </p:xfrm>
        <a:graphic>
          <a:graphicData uri="http://schemas.openxmlformats.org/drawingml/2006/table">
            <a:tbl>
              <a:tblPr/>
              <a:tblGrid>
                <a:gridCol w="5736844">
                  <a:extLst>
                    <a:ext uri="{9D8B030D-6E8A-4147-A177-3AD203B41FA5}">
                      <a16:colId xmlns:a16="http://schemas.microsoft.com/office/drawing/2014/main" val="1435456110"/>
                    </a:ext>
                  </a:extLst>
                </a:gridCol>
              </a:tblGrid>
              <a:tr h="18421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/>
                        <a:t>나이</a:t>
                      </a:r>
                      <a:r>
                        <a:rPr lang="en-US" altLang="ko-KR" sz="1600" b="1" dirty="0"/>
                        <a:t>/</a:t>
                      </a:r>
                      <a:r>
                        <a:rPr lang="ko-KR" altLang="en-US" sz="1600" b="1" dirty="0"/>
                        <a:t>성별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20</a:t>
                      </a:r>
                      <a:r>
                        <a:rPr lang="ko-KR" altLang="en-US" sz="1600" dirty="0"/>
                        <a:t>대 </a:t>
                      </a:r>
                      <a:r>
                        <a:rPr lang="en-US" altLang="ko-KR" sz="1600" dirty="0"/>
                        <a:t>/ 7(</a:t>
                      </a:r>
                      <a:r>
                        <a:rPr lang="ko-KR" altLang="en-US" sz="1600" dirty="0"/>
                        <a:t>여성</a:t>
                      </a:r>
                      <a:r>
                        <a:rPr lang="en-US" altLang="ko-KR" sz="1600" dirty="0"/>
                        <a:t>) : 3(</a:t>
                      </a:r>
                      <a:r>
                        <a:rPr lang="ko-KR" altLang="en-US" sz="1600" dirty="0"/>
                        <a:t>남성</a:t>
                      </a:r>
                      <a:r>
                        <a:rPr lang="en-US" altLang="ko-KR" sz="1600" dirty="0"/>
                        <a:t>)</a:t>
                      </a:r>
                      <a:br>
                        <a:rPr lang="en-US" altLang="ko-KR" sz="1600" dirty="0"/>
                      </a:br>
                      <a:br>
                        <a:rPr lang="en-US" altLang="ko-KR" sz="1600" dirty="0"/>
                      </a:br>
                      <a:r>
                        <a:rPr lang="ko-KR" altLang="en-US" sz="1600" b="1" dirty="0"/>
                        <a:t>교육</a:t>
                      </a:r>
                      <a:r>
                        <a:rPr lang="en-US" altLang="ko-KR" sz="1600" b="1" dirty="0"/>
                        <a:t>/</a:t>
                      </a:r>
                      <a:r>
                        <a:rPr lang="ko-KR" altLang="en-US" sz="1600" b="1" dirty="0"/>
                        <a:t>소득 수준</a:t>
                      </a:r>
                      <a:br>
                        <a:rPr lang="en-US" altLang="ko-KR" sz="1600" b="1" dirty="0"/>
                      </a:br>
                      <a:r>
                        <a:rPr lang="ko-KR" altLang="en-US" sz="1600" dirty="0"/>
                        <a:t>대학 학사</a:t>
                      </a:r>
                      <a:r>
                        <a:rPr lang="en-US" altLang="ko-KR" sz="1600" dirty="0"/>
                        <a:t> (</a:t>
                      </a:r>
                      <a:r>
                        <a:rPr lang="ko-KR" altLang="en-US" sz="1600" dirty="0"/>
                        <a:t>디자인 전공</a:t>
                      </a:r>
                      <a:r>
                        <a:rPr lang="en-US" altLang="ko-KR" sz="1600" dirty="0"/>
                        <a:t>) / </a:t>
                      </a:r>
                      <a:r>
                        <a:rPr lang="ko-KR" altLang="en-US" sz="1600" dirty="0"/>
                        <a:t>거의 없거나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학부생</a:t>
                      </a:r>
                      <a:r>
                        <a:rPr lang="en-US" altLang="ko-KR" sz="1600" dirty="0"/>
                        <a:t>) 3000~4000</a:t>
                      </a:r>
                      <a:r>
                        <a:rPr lang="ko-KR" altLang="en-US" sz="1600" dirty="0"/>
                        <a:t>만원</a:t>
                      </a:r>
                      <a:r>
                        <a:rPr lang="en-US" altLang="ko-KR" sz="1600" dirty="0"/>
                        <a:t> </a:t>
                      </a:r>
                      <a:endParaRPr lang="ko-KR" altLang="en-US" sz="1600" dirty="0"/>
                    </a:p>
                    <a:p>
                      <a:br>
                        <a:rPr lang="en-US" altLang="ko-KR" sz="1600" b="1" dirty="0"/>
                      </a:br>
                      <a:r>
                        <a:rPr lang="ko-KR" altLang="en-US" sz="1600" b="1" dirty="0"/>
                        <a:t>가구형태</a:t>
                      </a:r>
                      <a:r>
                        <a:rPr lang="en-US" altLang="ko-KR" sz="1600" b="1" dirty="0"/>
                        <a:t>/</a:t>
                      </a:r>
                      <a:r>
                        <a:rPr lang="ko-KR" altLang="en-US" sz="1600" b="1" dirty="0"/>
                        <a:t>거주지역</a:t>
                      </a:r>
                      <a:r>
                        <a:rPr lang="en-US" altLang="ko-KR" sz="1600" b="1" dirty="0"/>
                        <a:t>/</a:t>
                      </a:r>
                      <a:r>
                        <a:rPr lang="ko-KR" altLang="en-US" sz="1600" b="1" dirty="0"/>
                        <a:t>주거형태 </a:t>
                      </a:r>
                      <a:r>
                        <a:rPr lang="en-US" altLang="ko-KR" sz="1600" b="0" dirty="0">
                          <a:highlight>
                            <a:srgbClr val="FFFF00"/>
                          </a:highlight>
                        </a:rPr>
                        <a:t>SaaS</a:t>
                      </a:r>
                      <a:r>
                        <a:rPr lang="ko-KR" altLang="en-US" sz="1600" b="0" dirty="0">
                          <a:highlight>
                            <a:srgbClr val="FFFF00"/>
                          </a:highlight>
                        </a:rPr>
                        <a:t>라 크게 의미 </a:t>
                      </a:r>
                      <a:r>
                        <a:rPr lang="ko-KR" altLang="en-US" sz="1600" b="0" dirty="0" err="1">
                          <a:highlight>
                            <a:srgbClr val="FFFF00"/>
                          </a:highlight>
                        </a:rPr>
                        <a:t>없을듯</a:t>
                      </a:r>
                      <a:br>
                        <a:rPr lang="en-US" altLang="ko-KR" sz="1600" b="1" dirty="0"/>
                      </a:br>
                      <a:r>
                        <a:rPr lang="en-US" altLang="ko-KR" sz="1600" b="0" dirty="0"/>
                        <a:t>1</a:t>
                      </a:r>
                      <a:r>
                        <a:rPr lang="ko-KR" altLang="en-US" sz="1600" b="0" dirty="0" err="1"/>
                        <a:t>인가구</a:t>
                      </a:r>
                      <a:r>
                        <a:rPr lang="en-US" altLang="ko-KR" sz="1600" b="0" dirty="0"/>
                        <a:t>/</a:t>
                      </a:r>
                      <a:r>
                        <a:rPr lang="ko-KR" altLang="en-US" sz="1600" b="0" dirty="0"/>
                        <a:t>수도권</a:t>
                      </a:r>
                      <a:r>
                        <a:rPr lang="en-US" altLang="ko-KR" sz="1600" b="0" dirty="0"/>
                        <a:t>/</a:t>
                      </a:r>
                      <a:r>
                        <a:rPr lang="ko-KR" altLang="en-US" sz="1600" b="0" dirty="0"/>
                        <a:t>월세 </a:t>
                      </a:r>
                      <a:endParaRPr lang="en-US" altLang="ko-KR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08227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92ADE6A-59BE-40D4-9660-D80B4B09B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527772"/>
              </p:ext>
            </p:extLst>
          </p:nvPr>
        </p:nvGraphicFramePr>
        <p:xfrm>
          <a:off x="7497572" y="5775960"/>
          <a:ext cx="8522716" cy="2042160"/>
        </p:xfrm>
        <a:graphic>
          <a:graphicData uri="http://schemas.openxmlformats.org/drawingml/2006/table">
            <a:tbl>
              <a:tblPr/>
              <a:tblGrid>
                <a:gridCol w="8522716">
                  <a:extLst>
                    <a:ext uri="{9D8B030D-6E8A-4147-A177-3AD203B41FA5}">
                      <a16:colId xmlns:a16="http://schemas.microsoft.com/office/drawing/2014/main" val="1435456110"/>
                    </a:ext>
                  </a:extLst>
                </a:gridCol>
              </a:tblGrid>
              <a:tr h="18421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/>
                        <a:t>항목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빠르게 좋은 디자인을 만들고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디자인 결정에 대한 확신을 얻고 싶음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1600" dirty="0"/>
                      </a:br>
                      <a:r>
                        <a:rPr lang="ko-KR" altLang="en-US" sz="1600" b="1" dirty="0"/>
                        <a:t>목표 </a:t>
                      </a:r>
                      <a:br>
                        <a:rPr lang="en-US" altLang="ko-KR" sz="1600" b="1" dirty="0"/>
                      </a:br>
                      <a:r>
                        <a:rPr lang="ko-KR" altLang="en-US" sz="1600" dirty="0"/>
                        <a:t>디자인에 대한 구체적이고 맥락에 맞는 피드백을 얻고 싶음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1600" b="1" dirty="0"/>
                      </a:br>
                      <a:r>
                        <a:rPr lang="ko-KR" altLang="en-US" sz="1600" b="1" dirty="0"/>
                        <a:t>페인 포인트</a:t>
                      </a:r>
                      <a:br>
                        <a:rPr lang="en-US" altLang="ko-KR" sz="1600" b="1" dirty="0"/>
                      </a:br>
                      <a:r>
                        <a:rPr lang="ko-KR" altLang="en-US" sz="1600" dirty="0"/>
                        <a:t>디자인 가이드 학습에 많은 시간 소모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동료에게 반복 피드백 요청하는 부담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082276"/>
                  </a:ext>
                </a:extLst>
              </a:tr>
            </a:tbl>
          </a:graphicData>
        </a:graphic>
      </p:graphicFrame>
      <p:pic>
        <p:nvPicPr>
          <p:cNvPr id="2052" name="Picture 4" descr="디자이너 이미지 - Freepik에서 무료 다운로드">
            <a:extLst>
              <a:ext uri="{FF2B5EF4-FFF2-40B4-BE49-F238E27FC236}">
                <a16:creationId xmlns:a16="http://schemas.microsoft.com/office/drawing/2014/main" id="{07A3392B-5A56-4E67-A890-DFDABC329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76" y="1780032"/>
            <a:ext cx="4578612" cy="3057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DD1F4E-EE7A-41BC-88E9-B7900300FA29}"/>
              </a:ext>
            </a:extLst>
          </p:cNvPr>
          <p:cNvSpPr txBox="1"/>
          <p:nvPr/>
        </p:nvSpPr>
        <p:spPr>
          <a:xfrm>
            <a:off x="1267968" y="2292096"/>
            <a:ext cx="14813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디자인 작업에 매번 동료의 피드백이 필요해 업무 지연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구글이나 애플 디자인 시스템을 일일이 찾아 적용하기 힘들어 디자인 일관성이 낮아짐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본인의 디자인이 옳은 방향인지 확신할 수 없어 의사결정 스트레스 경험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54F388-EED5-46D3-819D-400DCAC99C14}"/>
              </a:ext>
            </a:extLst>
          </p:cNvPr>
          <p:cNvSpPr txBox="1"/>
          <p:nvPr/>
        </p:nvSpPr>
        <p:spPr>
          <a:xfrm>
            <a:off x="1267968" y="4773168"/>
            <a:ext cx="14813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이미지 업로드 즉시 피드백을 받을 수 있어 업무 속도를 높이고 싶음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복수의 디자인 시스템을 한 번에 비교, 적합한 기준으로 명확하게 정리된 권장 사항을 얻길 원함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단순 지적보다는 이유와 개선 방법을 함께 제공받아 디자인 실력을 키우고 싶음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CDF40-1565-4B83-AC64-62497FC429A4}"/>
              </a:ext>
            </a:extLst>
          </p:cNvPr>
          <p:cNvSpPr txBox="1"/>
          <p:nvPr/>
        </p:nvSpPr>
        <p:spPr>
          <a:xfrm>
            <a:off x="1267968" y="7234321"/>
            <a:ext cx="14813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새로운 생산성 도구 및 기술</a:t>
            </a:r>
            <a:r>
              <a:rPr lang="en-US" altLang="ko-KR" dirty="0"/>
              <a:t>(AI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에 대한 긍정적 태도와 높은 수용성 보유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직관적이고 효율적인 </a:t>
            </a:r>
            <a:r>
              <a:rPr lang="en-US" altLang="ko-KR" dirty="0"/>
              <a:t>UX</a:t>
            </a:r>
            <a:r>
              <a:rPr lang="ko-KR" altLang="en-US" dirty="0"/>
              <a:t>를 선호하며</a:t>
            </a:r>
            <a:r>
              <a:rPr lang="en-US" altLang="ko-KR" dirty="0"/>
              <a:t>, </a:t>
            </a:r>
            <a:r>
              <a:rPr lang="ko-KR" altLang="en-US" dirty="0"/>
              <a:t>복잡한 기능보다는 명확한 해결책 제시를 기대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AI</a:t>
            </a:r>
            <a:r>
              <a:rPr lang="ko-KR" altLang="en-US" dirty="0"/>
              <a:t>가 본인을 대체하는 것이 아니라 업무를 도와주는 보조자로서 받아들임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283</Words>
  <Application>Microsoft Office PowerPoint</Application>
  <PresentationFormat>사용자 지정</PresentationFormat>
  <Paragraphs>28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</dc:title>
  <dc:subject>Presentation</dc:subject>
  <dc:creator>mangoboard.net_47904958</dc:creator>
  <cp:lastModifiedBy>송해성 송해성</cp:lastModifiedBy>
  <cp:revision>7</cp:revision>
  <dcterms:created xsi:type="dcterms:W3CDTF">2025-04-11T08:42:54Z</dcterms:created>
  <dcterms:modified xsi:type="dcterms:W3CDTF">2025-04-19T14:28:27Z</dcterms:modified>
</cp:coreProperties>
</file>