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4" r:id="rId2"/>
    <p:sldId id="268" r:id="rId3"/>
    <p:sldId id="269" r:id="rId4"/>
    <p:sldId id="278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6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B8ADBBE-5211-AE5D-5BEB-C91E37794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269" y="2404736"/>
            <a:ext cx="2286697" cy="2149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1BD540-9063-DED8-56D7-0A338AFC6417}"/>
              </a:ext>
            </a:extLst>
          </p:cNvPr>
          <p:cNvSpPr txBox="1"/>
          <p:nvPr/>
        </p:nvSpPr>
        <p:spPr>
          <a:xfrm>
            <a:off x="1106052" y="5804644"/>
            <a:ext cx="53431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나이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36</a:t>
            </a:r>
            <a:r>
              <a:rPr lang="ko-KR" altLang="en-US" dirty="0"/>
              <a:t>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성별</a:t>
            </a:r>
            <a:r>
              <a:rPr lang="en-US" altLang="ko-KR" b="1" dirty="0"/>
              <a:t>:</a:t>
            </a:r>
            <a:r>
              <a:rPr lang="ko-KR" altLang="en-US" dirty="0"/>
              <a:t> 남성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교육 수준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년제 대학 이공계 석사 </a:t>
            </a:r>
            <a:r>
              <a:rPr lang="en-US" altLang="ko-KR" dirty="0"/>
              <a:t>(</a:t>
            </a:r>
            <a:r>
              <a:rPr lang="ko-KR" altLang="en-US" dirty="0"/>
              <a:t>전자공학 전공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직업</a:t>
            </a:r>
            <a:r>
              <a:rPr lang="en-US" altLang="ko-KR" b="1" dirty="0"/>
              <a:t>:</a:t>
            </a:r>
            <a:r>
              <a:rPr lang="ko-KR" altLang="en-US" dirty="0"/>
              <a:t> 하드웨어 스타트업 </a:t>
            </a:r>
            <a:r>
              <a:rPr lang="en-US" altLang="ko-Kore-KR" dirty="0"/>
              <a:t>CTO / </a:t>
            </a:r>
            <a:r>
              <a:rPr lang="ko-KR" altLang="en-US" dirty="0"/>
              <a:t>공동창업자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소득 수준</a:t>
            </a:r>
            <a:r>
              <a:rPr lang="en-US" altLang="ko-KR" b="1" dirty="0"/>
              <a:t>:</a:t>
            </a:r>
            <a:r>
              <a:rPr lang="ko-KR" altLang="en-US" dirty="0"/>
              <a:t> 연 </a:t>
            </a:r>
            <a:r>
              <a:rPr lang="en-US" altLang="ko-KR" dirty="0"/>
              <a:t>8,000</a:t>
            </a:r>
            <a:r>
              <a:rPr lang="ko-KR" altLang="en-US" dirty="0"/>
              <a:t>만 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가구 형태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인 가구 </a:t>
            </a:r>
            <a:r>
              <a:rPr lang="en-US" altLang="ko-KR" dirty="0"/>
              <a:t>(</a:t>
            </a:r>
            <a:r>
              <a:rPr lang="ko-KR" altLang="en-US" dirty="0"/>
              <a:t>배우자</a:t>
            </a:r>
            <a:r>
              <a:rPr lang="en-US" altLang="ko-KR" dirty="0"/>
              <a:t>, </a:t>
            </a:r>
            <a:r>
              <a:rPr lang="ko-KR" altLang="en-US" dirty="0"/>
              <a:t>자녀 </a:t>
            </a:r>
            <a:r>
              <a:rPr lang="en-US" altLang="ko-KR" dirty="0"/>
              <a:t>1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거주 지역</a:t>
            </a:r>
            <a:r>
              <a:rPr lang="en-US" altLang="ko-KR" b="1" dirty="0"/>
              <a:t>:</a:t>
            </a:r>
            <a:r>
              <a:rPr lang="ko-KR" altLang="en-US" dirty="0"/>
              <a:t> 경기 성남시 판교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주거 형태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30</a:t>
            </a:r>
            <a:r>
              <a:rPr lang="ko-KR" altLang="en-US" dirty="0" err="1"/>
              <a:t>평대</a:t>
            </a:r>
            <a:r>
              <a:rPr lang="ko-KR" altLang="en-US" dirty="0"/>
              <a:t> 아파트 전세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17186-448E-A7B6-DCA1-1D8EF7DBFBFE}"/>
              </a:ext>
            </a:extLst>
          </p:cNvPr>
          <p:cNvSpPr txBox="1"/>
          <p:nvPr/>
        </p:nvSpPr>
        <p:spPr>
          <a:xfrm>
            <a:off x="7555235" y="2404736"/>
            <a:ext cx="82654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특허 관련 경험</a:t>
            </a:r>
            <a:r>
              <a:rPr lang="en-US" altLang="ko-KR" b="1" dirty="0"/>
              <a:t>:</a:t>
            </a:r>
            <a:r>
              <a:rPr lang="ko-KR" altLang="en-US" dirty="0"/>
              <a:t> 직접 검색</a:t>
            </a:r>
            <a:r>
              <a:rPr lang="en-US" altLang="ko-KR" dirty="0"/>
              <a:t>·</a:t>
            </a:r>
            <a:r>
              <a:rPr lang="ko-KR" altLang="en-US" dirty="0"/>
              <a:t>작성 후 특허 사무소에 의뢰 </a:t>
            </a:r>
            <a:r>
              <a:rPr lang="en-US" altLang="ko-KR" dirty="0"/>
              <a:t>(</a:t>
            </a:r>
            <a:r>
              <a:rPr lang="ko-KR" altLang="en-US" dirty="0"/>
              <a:t>복잡함과 번거로움 경험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정보 탐색 습관</a:t>
            </a:r>
            <a:r>
              <a:rPr lang="en-US" altLang="ko-KR" b="1" dirty="0"/>
              <a:t>:</a:t>
            </a:r>
            <a:r>
              <a:rPr lang="ko-KR" altLang="en-US" dirty="0"/>
              <a:t> 구글 검색</a:t>
            </a:r>
            <a:r>
              <a:rPr lang="en-US" altLang="ko-KR" dirty="0"/>
              <a:t>(98%), </a:t>
            </a:r>
            <a:r>
              <a:rPr lang="ko-KR" altLang="en-US" dirty="0"/>
              <a:t>특허청 사이트</a:t>
            </a:r>
            <a:r>
              <a:rPr lang="en-US" altLang="ko-KR" dirty="0"/>
              <a:t>(70%), </a:t>
            </a:r>
            <a:r>
              <a:rPr lang="ko-KR" altLang="en-US" dirty="0"/>
              <a:t>유튜브</a:t>
            </a:r>
            <a:r>
              <a:rPr lang="en-US" altLang="ko-KR" dirty="0"/>
              <a:t>·</a:t>
            </a:r>
            <a:r>
              <a:rPr lang="ko-KR" altLang="en-US" dirty="0"/>
              <a:t>블로그</a:t>
            </a:r>
            <a:r>
              <a:rPr lang="en-US" altLang="ko-KR" dirty="0"/>
              <a:t>(62%)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플랫폼 이용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ore-KR" dirty="0"/>
              <a:t>AI </a:t>
            </a:r>
            <a:r>
              <a:rPr lang="ko-KR" altLang="en-US" dirty="0"/>
              <a:t>툴</a:t>
            </a:r>
            <a:r>
              <a:rPr lang="en-US" altLang="ko-KR" dirty="0"/>
              <a:t>/</a:t>
            </a:r>
            <a:r>
              <a:rPr lang="ko-KR" altLang="en-US" dirty="0"/>
              <a:t>생성형 도구 사용 경험 </a:t>
            </a:r>
            <a:r>
              <a:rPr lang="ko-KR" altLang="en-US" dirty="0" err="1"/>
              <a:t>有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ore-KR" dirty="0"/>
              <a:t>ChatGPT, Notion AI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디지털 역량</a:t>
            </a:r>
            <a:r>
              <a:rPr lang="en-US" altLang="ko-KR" b="1" dirty="0"/>
              <a:t>:</a:t>
            </a:r>
            <a:r>
              <a:rPr lang="ko-KR" altLang="en-US" dirty="0"/>
              <a:t> 높음</a:t>
            </a:r>
            <a:r>
              <a:rPr lang="en-US" altLang="ko-KR" dirty="0"/>
              <a:t>, </a:t>
            </a:r>
            <a:r>
              <a:rPr lang="ko-KR" altLang="en-US" dirty="0"/>
              <a:t>업무 자동화 및 툴 도입에 적극적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주요 이용 시간대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주중</a:t>
            </a:r>
            <a:r>
              <a:rPr lang="en-US" altLang="ko-KR" dirty="0"/>
              <a:t>(</a:t>
            </a:r>
            <a:r>
              <a:rPr lang="ko-KR" altLang="en-US" dirty="0"/>
              <a:t>업무시간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현재 문제점</a:t>
            </a:r>
            <a:r>
              <a:rPr lang="en-US" altLang="ko-KR" b="1" dirty="0"/>
              <a:t>:</a:t>
            </a:r>
            <a:r>
              <a:rPr lang="ko-KR" altLang="en-US" dirty="0"/>
              <a:t> 특허 선행 검색과 명세서 초안 작성에 과도한 시간 소요됨</a:t>
            </a:r>
            <a:endParaRPr lang="en-US" altLang="ko-KR" dirty="0"/>
          </a:p>
          <a:p>
            <a:r>
              <a:rPr lang="ko-KR" altLang="en-US" dirty="0"/>
              <a:t>                             </a:t>
            </a:r>
            <a:r>
              <a:rPr lang="en-US" altLang="ko-KR" dirty="0"/>
              <a:t>(1</a:t>
            </a:r>
            <a:r>
              <a:rPr lang="ko-KR" altLang="en-US" dirty="0"/>
              <a:t>건당 평균 </a:t>
            </a:r>
            <a:r>
              <a:rPr lang="en-US" altLang="ko-KR" dirty="0"/>
              <a:t>4</a:t>
            </a:r>
            <a:r>
              <a:rPr lang="ko-KR" altLang="en-US" dirty="0"/>
              <a:t>시간 이상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9D578-AE62-EE95-82B3-A96C71704D00}"/>
              </a:ext>
            </a:extLst>
          </p:cNvPr>
          <p:cNvSpPr txBox="1"/>
          <p:nvPr/>
        </p:nvSpPr>
        <p:spPr>
          <a:xfrm>
            <a:off x="8957376" y="5032132"/>
            <a:ext cx="646362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목표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복잡한 특허 프로세스를 빠르고 정확하게 해결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초기 아이디어도 보호받을 수 있는 방안 모색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외부 전문가 의존도 줄이고 내부에서 효율적 처리</a:t>
            </a:r>
          </a:p>
          <a:p>
            <a:r>
              <a:rPr lang="ko-KR" altLang="en-US" b="1" dirty="0"/>
              <a:t>욕구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“내 아이디어가 누락 없이 보호받고 있는가</a:t>
            </a:r>
            <a:r>
              <a:rPr lang="en-US" altLang="ko-KR" dirty="0"/>
              <a:t>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“</a:t>
            </a:r>
            <a:r>
              <a:rPr lang="en-US" altLang="ko-Kore-KR" dirty="0"/>
              <a:t>AI</a:t>
            </a:r>
            <a:r>
              <a:rPr lang="ko-KR" altLang="en-US" dirty="0"/>
              <a:t>가 나 대신 핵심만 뽑아 요약</a:t>
            </a:r>
            <a:r>
              <a:rPr lang="en-US" altLang="ko-KR" dirty="0"/>
              <a:t>·</a:t>
            </a:r>
            <a:r>
              <a:rPr lang="ko-KR" altLang="en-US" dirty="0"/>
              <a:t>정리해주면 좋겠다</a:t>
            </a:r>
            <a:r>
              <a:rPr lang="en-US" altLang="ko-KR" dirty="0"/>
              <a:t>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“</a:t>
            </a:r>
            <a:r>
              <a:rPr lang="ko-KR" altLang="en-US" dirty="0"/>
              <a:t>이게 등록 가능성이 있는지 미리 알 수 있으면 </a:t>
            </a:r>
            <a:r>
              <a:rPr lang="ko-KR" altLang="en-US" dirty="0" err="1"/>
              <a:t>좋을텐데</a:t>
            </a:r>
            <a:r>
              <a:rPr lang="en-US" altLang="ko-KR" dirty="0"/>
              <a:t>.”</a:t>
            </a:r>
          </a:p>
          <a:p>
            <a:r>
              <a:rPr lang="en-US" altLang="ko-Kore-KR" b="1" dirty="0"/>
              <a:t>Pain Points:</a:t>
            </a:r>
            <a:endParaRPr lang="en-US" altLang="ko-Kore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err="1"/>
              <a:t>키프리스</a:t>
            </a:r>
            <a:r>
              <a:rPr lang="ko-KR" altLang="en-US" dirty="0"/>
              <a:t> 검색어 입력이 너무 어렵고</a:t>
            </a:r>
            <a:r>
              <a:rPr lang="en-US" altLang="ko-KR" dirty="0"/>
              <a:t>, </a:t>
            </a:r>
            <a:r>
              <a:rPr lang="ko-KR" altLang="en-US" dirty="0"/>
              <a:t>결과 해석이 힘듦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명세서 작성 포맷이 낯설고</a:t>
            </a:r>
            <a:r>
              <a:rPr lang="en-US" altLang="ko-KR" dirty="0"/>
              <a:t>, </a:t>
            </a:r>
            <a:r>
              <a:rPr lang="ko-KR" altLang="en-US" dirty="0"/>
              <a:t>용어가 전문적이라 접근이 어려움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아이디어 단계에서 특허화 여부를 혼자 판단하기 어려움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변리사와 상담 전에 충분히 준비하기가 어려움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자금이 한정되어 있어서 효율적인 특허 전략 수립이 필요</a:t>
            </a:r>
          </a:p>
          <a:p>
            <a:endParaRPr kumimoji="1" lang="ko-Kore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A3EE18-C0FF-C111-AA2F-48B9DD1DBE28}"/>
              </a:ext>
            </a:extLst>
          </p:cNvPr>
          <p:cNvSpPr txBox="1"/>
          <p:nvPr/>
        </p:nvSpPr>
        <p:spPr>
          <a:xfrm>
            <a:off x="2115670" y="1714052"/>
            <a:ext cx="951254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 err="1"/>
              <a:t>키프리스</a:t>
            </a:r>
            <a:r>
              <a:rPr lang="ko-KR" altLang="en-US" dirty="0"/>
              <a:t> 등 기존 특허 검색 시스템의 </a:t>
            </a:r>
            <a:r>
              <a:rPr lang="en-US" altLang="ko-Kore-KR" dirty="0"/>
              <a:t>UI/UX</a:t>
            </a:r>
            <a:r>
              <a:rPr lang="ko-KR" altLang="en-US" dirty="0"/>
              <a:t>가 불편하고 검색어 입력이 까다로움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전문성이 요구되는 명세서를 보고 청구범위를 이해하고 아이디어를 검증하는데 한계를 느낌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아이디어가 아직 구체화되지 않았을 경우 유사 특허를 찾기 어려움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명세서나 도면 작성 방식</a:t>
            </a:r>
            <a:r>
              <a:rPr lang="en-US" altLang="ko-KR" dirty="0"/>
              <a:t>, </a:t>
            </a:r>
            <a:r>
              <a:rPr lang="ko-KR" altLang="en-US" dirty="0"/>
              <a:t>항목 구성 등 절차가 복잡하고 전문성이 요구됨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변리사 상담 전 충분한 사전 준비가 어려워 의사소통에 어려움 발생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등록 가능성이나 선행 기술과의 차별성 판단이 어려워 자신감 부족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변리사를 수임하기에는 비용적 부담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D495A-0836-BEA9-F748-A0C0AAF608B8}"/>
              </a:ext>
            </a:extLst>
          </p:cNvPr>
          <p:cNvSpPr txBox="1"/>
          <p:nvPr/>
        </p:nvSpPr>
        <p:spPr>
          <a:xfrm>
            <a:off x="2115670" y="4199096"/>
            <a:ext cx="69862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자연어 기반 </a:t>
            </a:r>
            <a:r>
              <a:rPr lang="en-US" altLang="ko-Kore-KR" dirty="0"/>
              <a:t>AI </a:t>
            </a:r>
            <a:r>
              <a:rPr lang="ko-KR" altLang="en-US" dirty="0"/>
              <a:t>검색으로 키워드 설정 없이 직관적인 특허 탐색 가능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ore-KR" dirty="0"/>
              <a:t>AI</a:t>
            </a:r>
            <a:r>
              <a:rPr lang="ko-KR" altLang="en-US" dirty="0"/>
              <a:t>가 유사도 기반으로 선행 특허를 자동 분석하고 요약 제공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초안 수준의 명세서를 자동 생성하여 변리사 협업 효율 향상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등록 가능성 및 유사 특허 비교 데이터를 통해 전략적 판단 가능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창업</a:t>
            </a:r>
            <a:r>
              <a:rPr lang="en-US" altLang="ko-KR" dirty="0"/>
              <a:t>·</a:t>
            </a:r>
            <a:r>
              <a:rPr lang="ko-KR" altLang="en-US" dirty="0"/>
              <a:t>연구 업무에 집중할 수 있도록 특허 준비 리소스 절감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적은 비용으로도 아이디어 검증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76578-9218-388C-4863-3232707E92DE}"/>
              </a:ext>
            </a:extLst>
          </p:cNvPr>
          <p:cNvSpPr txBox="1"/>
          <p:nvPr/>
        </p:nvSpPr>
        <p:spPr>
          <a:xfrm>
            <a:off x="2115670" y="6651813"/>
            <a:ext cx="59747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비전문가</a:t>
            </a:r>
            <a:r>
              <a:rPr lang="en-US" altLang="ko-KR" dirty="0"/>
              <a:t>(</a:t>
            </a:r>
            <a:r>
              <a:rPr lang="ko-KR" altLang="en-US" dirty="0"/>
              <a:t>예비 창업자</a:t>
            </a:r>
            <a:r>
              <a:rPr lang="en-US" altLang="ko-KR" dirty="0"/>
              <a:t>, </a:t>
            </a:r>
            <a:r>
              <a:rPr lang="ko-KR" altLang="en-US" dirty="0"/>
              <a:t>개발자</a:t>
            </a:r>
            <a:r>
              <a:rPr lang="en-US" altLang="ko-KR" dirty="0"/>
              <a:t>, </a:t>
            </a:r>
            <a:r>
              <a:rPr lang="ko-KR" altLang="en-US" dirty="0"/>
              <a:t>연구자</a:t>
            </a:r>
            <a:r>
              <a:rPr lang="en-US" altLang="ko-KR" dirty="0"/>
              <a:t>, </a:t>
            </a:r>
            <a:r>
              <a:rPr lang="ko-KR" altLang="en-US" dirty="0"/>
              <a:t>스타트업 대표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새로운 아이디어에 대한 권리 확보 필요성이 높음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아이디어를 빠르고 간편하게 검증하고 싶음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특허 절차에 대한 지식 부족으로 불안감 보유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비용</a:t>
            </a:r>
            <a:r>
              <a:rPr lang="en-US" altLang="ko-KR" dirty="0"/>
              <a:t>·</a:t>
            </a:r>
            <a:r>
              <a:rPr lang="ko-KR" altLang="en-US" dirty="0"/>
              <a:t>시간을 줄이면서도 명확한 특허 출원을 원함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ore-KR" dirty="0"/>
              <a:t>AI </a:t>
            </a:r>
            <a:r>
              <a:rPr lang="ko-KR" altLang="en-US" dirty="0"/>
              <a:t>도구에 대한 수용력과 학습 의지가 높음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429</Words>
  <Application>Microsoft Macintosh PowerPoint</Application>
  <PresentationFormat>사용자 지정</PresentationFormat>
  <Paragraphs>52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ypd06021</cp:lastModifiedBy>
  <cp:revision>7</cp:revision>
  <dcterms:created xsi:type="dcterms:W3CDTF">2025-04-11T08:42:54Z</dcterms:created>
  <dcterms:modified xsi:type="dcterms:W3CDTF">2025-04-19T07:56:21Z</dcterms:modified>
</cp:coreProperties>
</file>