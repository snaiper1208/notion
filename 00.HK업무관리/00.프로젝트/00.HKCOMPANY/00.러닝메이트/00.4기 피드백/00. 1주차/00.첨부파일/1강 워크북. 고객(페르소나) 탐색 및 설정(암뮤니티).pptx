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64" r:id="rId2"/>
    <p:sldId id="267" r:id="rId3"/>
    <p:sldId id="268" r:id="rId4"/>
    <p:sldId id="269" r:id="rId5"/>
    <p:sldId id="274" r:id="rId6"/>
    <p:sldId id="278" r:id="rId7"/>
    <p:sldId id="279" r:id="rId8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23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98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55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9CA3E1-4C26-786A-943F-66DF6B6B85E7}"/>
              </a:ext>
            </a:extLst>
          </p:cNvPr>
          <p:cNvSpPr txBox="1"/>
          <p:nvPr/>
        </p:nvSpPr>
        <p:spPr>
          <a:xfrm>
            <a:off x="1210235" y="5862917"/>
            <a:ext cx="15733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이름</a:t>
            </a:r>
            <a:endParaRPr lang="en-US" altLang="ko-KR" sz="14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4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성별</a:t>
            </a:r>
          </a:p>
          <a:p>
            <a:r>
              <a:rPr lang="ko-KR" altLang="en-US" sz="14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나이</a:t>
            </a:r>
            <a:endParaRPr lang="en-US" altLang="ko-KR" sz="14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4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직업</a:t>
            </a:r>
            <a:endParaRPr lang="en-US" altLang="ko-KR" sz="14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4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거주지</a:t>
            </a:r>
            <a:endParaRPr lang="en-US" altLang="ko-KR" sz="14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400" b="1" dirty="0" err="1">
                <a:latin typeface="NanumBarunGothic" panose="020B0603020101020101" pitchFamily="34" charset="-127"/>
                <a:ea typeface="NanumBarunGothic" panose="020B0603020101020101" pitchFamily="34" charset="-127"/>
              </a:rPr>
              <a:t>타겟고객</a:t>
            </a:r>
            <a:endParaRPr lang="en-US" altLang="ko-KR" sz="14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4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매출</a:t>
            </a:r>
            <a:endParaRPr lang="en-US" altLang="ko-KR" sz="14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4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라이프 스타일</a:t>
            </a:r>
            <a:endParaRPr lang="en-US" altLang="ko-KR" sz="14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BF7974-A6B8-20B8-7724-BC8BFF35B385}"/>
              </a:ext>
            </a:extLst>
          </p:cNvPr>
          <p:cNvSpPr txBox="1"/>
          <p:nvPr/>
        </p:nvSpPr>
        <p:spPr>
          <a:xfrm>
            <a:off x="3043518" y="5862917"/>
            <a:ext cx="331694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김수진</a:t>
            </a:r>
            <a:endParaRPr lang="en-US" altLang="ko-KR" sz="14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여성</a:t>
            </a:r>
            <a:endParaRPr lang="en-US" altLang="ko-KR" sz="1400" b="0" i="0" dirty="0">
              <a:solidFill>
                <a:srgbClr val="292A2E"/>
              </a:solidFill>
              <a:effectLst/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45</a:t>
            </a:r>
            <a:r>
              <a:rPr lang="ko-KR" altLang="en-US" sz="14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세</a:t>
            </a:r>
            <a:endParaRPr lang="en-US" altLang="ko-KR" sz="1400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사업가 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암환자용 제품 판매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  <a:p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수도권</a:t>
            </a:r>
            <a:endParaRPr lang="en-US" altLang="ko-KR" sz="1400" b="0" i="0" dirty="0">
              <a:solidFill>
                <a:srgbClr val="292A2E"/>
              </a:solidFill>
              <a:effectLst/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유방암 환우</a:t>
            </a:r>
            <a:endParaRPr lang="en-US" altLang="ko-KR" sz="1400" b="0" i="0" dirty="0">
              <a:solidFill>
                <a:srgbClr val="292A2E"/>
              </a:solidFill>
              <a:effectLst/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algn="l"/>
            <a:r>
              <a:rPr lang="en-US" altLang="ko-KR" sz="1400" b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1</a:t>
            </a:r>
            <a:r>
              <a:rPr lang="ko-KR" altLang="en-US" sz="1400" b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억 미만</a:t>
            </a:r>
          </a:p>
          <a:p>
            <a:pPr algn="l"/>
            <a:r>
              <a:rPr lang="ko-KR" altLang="en-US" sz="1400" b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창업 </a:t>
            </a:r>
            <a:r>
              <a:rPr lang="en-US" altLang="ko-KR" sz="1400" b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3</a:t>
            </a:r>
            <a:r>
              <a:rPr lang="ko-KR" altLang="en-US" sz="1400" b="0" dirty="0" err="1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년차</a:t>
            </a:r>
            <a:r>
              <a:rPr lang="ko-KR" altLang="en-US" sz="1400" b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 미만으로 업체의 생존과 싸움을 하며 </a:t>
            </a:r>
            <a:r>
              <a:rPr lang="en" altLang="ko-KR" sz="1400" b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PMF</a:t>
            </a:r>
            <a:r>
              <a:rPr lang="ko-KR" altLang="en-US" sz="1400" b="0" dirty="0" err="1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를</a:t>
            </a:r>
            <a:r>
              <a:rPr lang="ko-KR" altLang="en-US" sz="1400" b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 찾기 위한 </a:t>
            </a:r>
            <a:r>
              <a:rPr lang="ko-KR" altLang="en-US" sz="1400" b="0" dirty="0" err="1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노력중</a:t>
            </a:r>
            <a:endParaRPr lang="ko-KR" altLang="en-US" sz="1400" b="0" dirty="0">
              <a:solidFill>
                <a:srgbClr val="292A2E"/>
              </a:solidFill>
              <a:effectLst/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BDF4E8-52C1-403B-0E5D-B58BF1D2A095}"/>
              </a:ext>
            </a:extLst>
          </p:cNvPr>
          <p:cNvSpPr txBox="1"/>
          <p:nvPr/>
        </p:nvSpPr>
        <p:spPr>
          <a:xfrm>
            <a:off x="7511721" y="2576959"/>
            <a:ext cx="1391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고용습관</a:t>
            </a:r>
            <a:endParaRPr lang="en-US" altLang="ko-KR" sz="14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06709B-E70D-DE8B-088C-711129AE420B}"/>
              </a:ext>
            </a:extLst>
          </p:cNvPr>
          <p:cNvSpPr txBox="1"/>
          <p:nvPr/>
        </p:nvSpPr>
        <p:spPr>
          <a:xfrm>
            <a:off x="8778081" y="2583328"/>
            <a:ext cx="88357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가성비 좋은 채용을 하고 싶으나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마땅히 좋은 방법을 몰라서 지인에게 도움을 받음</a:t>
            </a:r>
            <a:endParaRPr lang="en-US" altLang="ko-KR" sz="1400" b="0" i="0" dirty="0">
              <a:solidFill>
                <a:srgbClr val="292A2E"/>
              </a:solidFill>
              <a:effectLst/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688550-D12D-85A6-355A-4A1623250FEA}"/>
              </a:ext>
            </a:extLst>
          </p:cNvPr>
          <p:cNvSpPr txBox="1"/>
          <p:nvPr/>
        </p:nvSpPr>
        <p:spPr>
          <a:xfrm>
            <a:off x="7503793" y="3251691"/>
            <a:ext cx="1391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정보수집방법</a:t>
            </a:r>
            <a:endParaRPr lang="en-US" altLang="ko-KR" sz="1400" b="1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B1F48A-3715-A041-4571-3E240845CA13}"/>
              </a:ext>
            </a:extLst>
          </p:cNvPr>
          <p:cNvSpPr txBox="1"/>
          <p:nvPr/>
        </p:nvSpPr>
        <p:spPr>
          <a:xfrm>
            <a:off x="7511721" y="4049942"/>
            <a:ext cx="1391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생활습관</a:t>
            </a:r>
            <a:endParaRPr lang="en-US" altLang="ko-KR" sz="1400" b="1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E0C92C-F19F-5DF3-C7C4-91C03219FF7D}"/>
              </a:ext>
            </a:extLst>
          </p:cNvPr>
          <p:cNvSpPr txBox="1"/>
          <p:nvPr/>
        </p:nvSpPr>
        <p:spPr>
          <a:xfrm>
            <a:off x="7471380" y="5724426"/>
            <a:ext cx="1391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목표</a:t>
            </a:r>
            <a:endParaRPr lang="en-US" altLang="ko-KR" sz="14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5A3480-A5F8-BE30-1528-38941C8CF2E4}"/>
              </a:ext>
            </a:extLst>
          </p:cNvPr>
          <p:cNvSpPr txBox="1"/>
          <p:nvPr/>
        </p:nvSpPr>
        <p:spPr>
          <a:xfrm>
            <a:off x="7540596" y="5996959"/>
            <a:ext cx="331694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제품 매출 증대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환자 시장 내 브랜드 신뢰 확보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안정적인 사업 성장 기반 마련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1876E5-3A85-0FF7-F6E4-02A521F5B77C}"/>
              </a:ext>
            </a:extLst>
          </p:cNvPr>
          <p:cNvSpPr txBox="1"/>
          <p:nvPr/>
        </p:nvSpPr>
        <p:spPr>
          <a:xfrm>
            <a:off x="7471380" y="6902103"/>
            <a:ext cx="1391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욕구</a:t>
            </a:r>
            <a:endParaRPr lang="en-US" altLang="ko-KR" sz="14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CB0FB6-69D9-7E33-6708-80C5223FCA08}"/>
              </a:ext>
            </a:extLst>
          </p:cNvPr>
          <p:cNvSpPr txBox="1"/>
          <p:nvPr/>
        </p:nvSpPr>
        <p:spPr>
          <a:xfrm>
            <a:off x="7516148" y="7179102"/>
            <a:ext cx="624797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환자의 고객의 소리를 알고 싶다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. </a:t>
            </a: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신뢰할 수 있는 환자 커뮤니티 접근 경로 확보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비용 부담 없이 적합한 인재 채용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암환자와 진정성 있게 연결된 마케팅 구축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18D8A0-C362-FFE3-E416-62EAF2FAF103}"/>
              </a:ext>
            </a:extLst>
          </p:cNvPr>
          <p:cNvSpPr txBox="1"/>
          <p:nvPr/>
        </p:nvSpPr>
        <p:spPr>
          <a:xfrm>
            <a:off x="11946200" y="5648660"/>
            <a:ext cx="1391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i="0" dirty="0" err="1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페인포인트</a:t>
            </a:r>
            <a:endParaRPr lang="en-US" altLang="ko-KR" sz="14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2353DA-8F9C-D65D-6842-C2804685CB05}"/>
              </a:ext>
            </a:extLst>
          </p:cNvPr>
          <p:cNvSpPr txBox="1"/>
          <p:nvPr/>
        </p:nvSpPr>
        <p:spPr>
          <a:xfrm>
            <a:off x="11958469" y="5925659"/>
            <a:ext cx="42657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환자 커뮤니티 접근 한계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상업성으로 인한 거부감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직접 마케팅 시 신뢰 부족으로 효과 미흡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적합 인재 채용을 위한 회사 인지도 및 정보 부족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초기 창업 자금 부족과 생존 스트레스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46C152-887F-928A-65C0-390DC13765CD}"/>
              </a:ext>
            </a:extLst>
          </p:cNvPr>
          <p:cNvSpPr txBox="1"/>
          <p:nvPr/>
        </p:nvSpPr>
        <p:spPr>
          <a:xfrm>
            <a:off x="2226550" y="3251691"/>
            <a:ext cx="1391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고객 페르소나</a:t>
            </a:r>
            <a:endParaRPr lang="en-US" altLang="ko-KR" sz="14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227A3E-854C-233B-E1A1-A0AB49DDCA12}"/>
              </a:ext>
            </a:extLst>
          </p:cNvPr>
          <p:cNvSpPr txBox="1"/>
          <p:nvPr/>
        </p:nvSpPr>
        <p:spPr>
          <a:xfrm>
            <a:off x="8800921" y="3257791"/>
            <a:ext cx="88357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암 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/ </a:t>
            </a: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사회적기업 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/ </a:t>
            </a: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창업 관련 세미나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이벤트</a:t>
            </a:r>
            <a:endParaRPr lang="en-US" altLang="ko-KR" sz="1400" b="0" i="0" dirty="0">
              <a:solidFill>
                <a:srgbClr val="292A2E"/>
              </a:solidFill>
              <a:effectLst/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algn="l"/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환자 커뮤니티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en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SNS, </a:t>
            </a:r>
            <a:r>
              <a:rPr lang="ko-KR" altLang="en-US" sz="1400" b="0" i="0" dirty="0" err="1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블로그등에서</a:t>
            </a: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 환자인척 활동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5A8A08-F1B7-A1F4-9F6A-65ACA08DAB23}"/>
              </a:ext>
            </a:extLst>
          </p:cNvPr>
          <p:cNvSpPr txBox="1"/>
          <p:nvPr/>
        </p:nvSpPr>
        <p:spPr>
          <a:xfrm>
            <a:off x="8816598" y="4050389"/>
            <a:ext cx="88357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사무실 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- </a:t>
            </a: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네트워킹 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- </a:t>
            </a: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집</a:t>
            </a:r>
            <a:endParaRPr lang="ko-KR" altLang="en-US" sz="14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pic>
        <p:nvPicPr>
          <p:cNvPr id="33" name="그림 32" descr="인간의 얼굴, 사람, 의류, 미소이(가) 표시된 사진&#10;&#10;자동 생성된 설명">
            <a:extLst>
              <a:ext uri="{FF2B5EF4-FFF2-40B4-BE49-F238E27FC236}">
                <a16:creationId xmlns:a16="http://schemas.microsoft.com/office/drawing/2014/main" id="{29926809-05F8-00FA-A393-6F576B5FB8B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t="5255" r="-1596" b="2900"/>
          <a:stretch/>
        </p:blipFill>
        <p:spPr>
          <a:xfrm>
            <a:off x="4572000" y="1808950"/>
            <a:ext cx="2151540" cy="291756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8FB9E5-0D84-65DB-25BF-59B52FE55BA6}"/>
              </a:ext>
            </a:extLst>
          </p:cNvPr>
          <p:cNvSpPr txBox="1"/>
          <p:nvPr/>
        </p:nvSpPr>
        <p:spPr>
          <a:xfrm>
            <a:off x="4342225" y="1086861"/>
            <a:ext cx="1222455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고객 페르소나 </a:t>
            </a:r>
            <a:r>
              <a:rPr lang="en-US" altLang="ko-KR" sz="25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–</a:t>
            </a:r>
            <a:r>
              <a:rPr lang="ko-KR" altLang="en-US" sz="25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 암환자 제품</a:t>
            </a:r>
            <a:r>
              <a:rPr lang="en-US" altLang="ko-KR" sz="25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25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서비스</a:t>
            </a:r>
            <a:r>
              <a:rPr lang="en-US" altLang="ko-KR" sz="25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  <a:r>
              <a:rPr lang="ko-KR" altLang="en-US" sz="2500" b="1" dirty="0" err="1">
                <a:latin typeface="NanumBarunGothic" panose="020B0603020101020101" pitchFamily="34" charset="-127"/>
                <a:ea typeface="NanumBarunGothic" panose="020B0603020101020101" pitchFamily="34" charset="-127"/>
              </a:rPr>
              <a:t>를</a:t>
            </a:r>
            <a:r>
              <a:rPr lang="ko-KR" altLang="en-US" sz="25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 판매하는  </a:t>
            </a:r>
            <a:r>
              <a:rPr lang="en-US" altLang="ko-KR" sz="25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5</a:t>
            </a:r>
            <a:r>
              <a:rPr lang="ko-KR" altLang="en-US" sz="25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인 미만 기업의 사업가</a:t>
            </a:r>
            <a:r>
              <a:rPr lang="en-US" altLang="ko-KR" sz="25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2500" b="1" dirty="0" err="1">
                <a:latin typeface="NanumBarunGothic" panose="020B0603020101020101" pitchFamily="34" charset="-127"/>
                <a:ea typeface="NanumBarunGothic" panose="020B0603020101020101" pitchFamily="34" charset="-127"/>
              </a:rPr>
              <a:t>창업가</a:t>
            </a:r>
            <a:r>
              <a:rPr lang="en-US" altLang="ko-KR" sz="25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6C50CD-6AFA-28FE-3A3E-49A4A8A271F7}"/>
              </a:ext>
            </a:extLst>
          </p:cNvPr>
          <p:cNvSpPr txBox="1"/>
          <p:nvPr/>
        </p:nvSpPr>
        <p:spPr>
          <a:xfrm>
            <a:off x="1911116" y="1919940"/>
            <a:ext cx="1417156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0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신규 고객 암환자 </a:t>
            </a:r>
            <a:r>
              <a:rPr lang="en-US" altLang="ko-KR" sz="20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VOC </a:t>
            </a:r>
            <a:r>
              <a:rPr lang="ko-KR" altLang="en-US" sz="20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파악</a:t>
            </a:r>
            <a:r>
              <a:rPr lang="en-US" altLang="ko-KR" sz="20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:</a:t>
            </a:r>
            <a:r>
              <a:rPr lang="ko-KR" altLang="en-US" sz="20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 </a:t>
            </a: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각종 환우 커뮤니티</a:t>
            </a:r>
            <a:r>
              <a:rPr lang="en-US" altLang="ko-KR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,</a:t>
            </a: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이벤트 등 환자의 의견 및 생각을 듣기 위해 활동</a:t>
            </a:r>
            <a:r>
              <a:rPr lang="en-US" altLang="ko-KR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환자인척 활동을 </a:t>
            </a:r>
            <a:r>
              <a:rPr lang="ko-KR" altLang="en-US" sz="2000" dirty="0" err="1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하는것에</a:t>
            </a: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불편함</a:t>
            </a:r>
            <a:r>
              <a:rPr lang="en-US" altLang="ko-KR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endParaRPr lang="en-GB" altLang="ko-KR" sz="2000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endParaRPr lang="en-GB" altLang="ko-KR" sz="2000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342900" indent="-342900">
              <a:buFontTx/>
              <a:buChar char="-"/>
            </a:pPr>
            <a:r>
              <a:rPr lang="ko-KR" altLang="en-US" sz="2000" b="1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제품 홍보</a:t>
            </a:r>
            <a:r>
              <a:rPr lang="ko-KR" altLang="en-US" sz="20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에 어려움</a:t>
            </a:r>
            <a:r>
              <a:rPr lang="en-US" altLang="ko-KR" sz="20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:</a:t>
            </a:r>
            <a:r>
              <a:rPr lang="ko-KR" altLang="en-US" sz="2000" b="1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환자와 접점포인트가 적고 효과적인 광고를 하기가 </a:t>
            </a:r>
            <a:r>
              <a:rPr lang="ko-KR" altLang="en-US" sz="2000" dirty="0" err="1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힘듬</a:t>
            </a:r>
            <a:r>
              <a:rPr lang="en-US" altLang="ko-KR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병원 </a:t>
            </a:r>
            <a:r>
              <a:rPr lang="en-US" altLang="ko-KR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/</a:t>
            </a: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환자 커뮤니티는 대부분 홍보가 안 되며</a:t>
            </a:r>
            <a:r>
              <a:rPr lang="en-US" altLang="ko-KR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,</a:t>
            </a: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환우회는 환자와 직접적인 접점포인트가 많지 않음</a:t>
            </a:r>
            <a:r>
              <a:rPr lang="en-US" altLang="ko-KR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환자들이 보는 메이저 </a:t>
            </a:r>
            <a:r>
              <a:rPr lang="ko-KR" altLang="en-US" sz="2000" dirty="0" err="1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인플루언서</a:t>
            </a: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등 부재</a:t>
            </a:r>
            <a:r>
              <a:rPr lang="en-US" altLang="ko-KR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endParaRPr lang="en-US" altLang="ko-KR" sz="2000" b="1" i="0" dirty="0">
              <a:solidFill>
                <a:srgbClr val="292A2E"/>
              </a:solidFill>
              <a:effectLst/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AF6EE3-A764-CCA0-646F-515F5E0F2456}"/>
              </a:ext>
            </a:extLst>
          </p:cNvPr>
          <p:cNvSpPr txBox="1"/>
          <p:nvPr/>
        </p:nvSpPr>
        <p:spPr>
          <a:xfrm>
            <a:off x="1911116" y="4229874"/>
            <a:ext cx="141715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합리적인 가격에 환자의 </a:t>
            </a:r>
            <a:r>
              <a:rPr lang="en-US" altLang="ko-KR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VOC</a:t>
            </a:r>
            <a:r>
              <a:rPr lang="ko-KR" altLang="en-US" sz="2000" dirty="0" err="1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를</a:t>
            </a: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수집할 수 있는 곳</a:t>
            </a:r>
            <a:r>
              <a:rPr lang="en-US" altLang="ko-KR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  <a:p>
            <a:endParaRPr lang="en-US" altLang="ko-KR" sz="2000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환자 대상 홍보채널 및 접점 포인트</a:t>
            </a:r>
            <a:endParaRPr lang="en-GB" altLang="ko-KR" sz="2000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EE0756-A9ED-F353-B6E7-301E1BF838CB}"/>
              </a:ext>
            </a:extLst>
          </p:cNvPr>
          <p:cNvSpPr txBox="1"/>
          <p:nvPr/>
        </p:nvSpPr>
        <p:spPr>
          <a:xfrm>
            <a:off x="1911116" y="6731027"/>
            <a:ext cx="1417156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한번에 큰 투자 </a:t>
            </a:r>
            <a:r>
              <a:rPr lang="en-US" altLang="ko-KR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/</a:t>
            </a: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비용을 사용하기보다 최소한의 비용으로 테스트를 거쳐서 검증된 작업을 진행</a:t>
            </a:r>
            <a:r>
              <a:rPr lang="en-US" altLang="ko-KR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endParaRPr lang="en-GB" altLang="ko-KR" sz="2000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암환자를 위하는 마음 존재</a:t>
            </a:r>
            <a:endParaRPr lang="en-GB" altLang="ko-KR" sz="2000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5</a:t>
            </a: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인 미만 소규모 기업으로 정규직 채용에 부담감을 크게 느낌</a:t>
            </a:r>
            <a:endParaRPr lang="en-US" altLang="ko-KR" sz="2000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업무가 많아서 일손이 부족함</a:t>
            </a:r>
            <a:r>
              <a:rPr lang="en-US" altLang="ko-KR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  <a:endParaRPr lang="en-GB" altLang="ko-KR" sz="2000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395CF5-9F35-1E6A-5F80-21CE43814F19}"/>
              </a:ext>
            </a:extLst>
          </p:cNvPr>
          <p:cNvSpPr txBox="1"/>
          <p:nvPr/>
        </p:nvSpPr>
        <p:spPr>
          <a:xfrm>
            <a:off x="2072480" y="2687945"/>
            <a:ext cx="141715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매출규모가 크지 않음</a:t>
            </a:r>
            <a:endParaRPr lang="en-GB" altLang="ko-KR" sz="2000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암환자를 위한 사회적 가치 실현이라는 미션을 가지고 있음</a:t>
            </a:r>
            <a:endParaRPr lang="en-GB" altLang="ko-KR" sz="2000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85750" indent="-285750">
              <a:buFontTx/>
              <a:buChar char="-"/>
            </a:pPr>
            <a:endParaRPr lang="en-GB" altLang="ko-KR" sz="2000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B21B4E-FAC6-6CB5-726F-66CF413E2E19}"/>
              </a:ext>
            </a:extLst>
          </p:cNvPr>
          <p:cNvSpPr txBox="1"/>
          <p:nvPr/>
        </p:nvSpPr>
        <p:spPr>
          <a:xfrm>
            <a:off x="2072480" y="7145030"/>
            <a:ext cx="89198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제품 및 서비스의 </a:t>
            </a:r>
            <a:r>
              <a:rPr lang="ko-KR" altLang="en-US" dirty="0" err="1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벨</a:t>
            </a:r>
            <a:r>
              <a:rPr lang="ko-KR" altLang="en-US" sz="1800" dirty="0" err="1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류체인과</a:t>
            </a:r>
            <a:r>
              <a:rPr lang="ko-KR" altLang="en-US" sz="18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각 단의 기업이 겪는 가장 큰 어려움</a:t>
            </a:r>
            <a:endParaRPr lang="en-GB" altLang="ko-KR" sz="1800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암환자와 어떤 접점포인트를 가지고 있는지</a:t>
            </a:r>
            <a:r>
              <a:rPr lang="en-US" altLang="ko-KR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현 마케팅 방식과 효과 그리고 그 비용은</a:t>
            </a:r>
            <a:r>
              <a:rPr lang="en-US" altLang="ko-KR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3857CA-9BDD-D5B5-1D89-0D9C5627F6A9}"/>
              </a:ext>
            </a:extLst>
          </p:cNvPr>
          <p:cNvSpPr txBox="1"/>
          <p:nvPr/>
        </p:nvSpPr>
        <p:spPr>
          <a:xfrm>
            <a:off x="2072480" y="5036698"/>
            <a:ext cx="141715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페르소나와 유사한 기업의 수</a:t>
            </a:r>
            <a:r>
              <a:rPr lang="en-US" altLang="ko-KR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환자 채용 및 </a:t>
            </a:r>
            <a:r>
              <a:rPr lang="ko-KR" altLang="en-US" sz="2000" dirty="0" err="1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서베이에</a:t>
            </a:r>
            <a:r>
              <a:rPr lang="ko-KR" altLang="en-US" sz="2000" dirty="0">
                <a:solidFill>
                  <a:srgbClr val="292A2E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사용을 희망하는 지불의사</a:t>
            </a:r>
            <a:endParaRPr lang="en-GB" altLang="ko-KR" sz="2000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pic>
        <p:nvPicPr>
          <p:cNvPr id="5" name="그림 4" descr="실내, 사람, 벽, 의류이(가) 표시된 사진&#10;&#10;자동 생성된 설명">
            <a:extLst>
              <a:ext uri="{FF2B5EF4-FFF2-40B4-BE49-F238E27FC236}">
                <a16:creationId xmlns:a16="http://schemas.microsoft.com/office/drawing/2014/main" id="{DC6AA4F2-2CED-D630-FA0B-F8F864C735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28" t="9705" r="276" b="37809"/>
          <a:stretch/>
        </p:blipFill>
        <p:spPr>
          <a:xfrm>
            <a:off x="3244774" y="1879256"/>
            <a:ext cx="3513221" cy="27968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9CA3E1-4C26-786A-943F-66DF6B6B85E7}"/>
              </a:ext>
            </a:extLst>
          </p:cNvPr>
          <p:cNvSpPr txBox="1"/>
          <p:nvPr/>
        </p:nvSpPr>
        <p:spPr>
          <a:xfrm>
            <a:off x="1210235" y="5768788"/>
            <a:ext cx="15733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이름</a:t>
            </a:r>
            <a:endParaRPr lang="en-US" altLang="ko-KR" sz="12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2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성별</a:t>
            </a:r>
            <a:endParaRPr lang="ko-KR" altLang="en-US" sz="12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2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나이</a:t>
            </a:r>
            <a:endParaRPr lang="en-US" altLang="ko-KR" sz="12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2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거주지역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</a:p>
          <a:p>
            <a:r>
              <a:rPr lang="ko-KR" altLang="en-US" sz="1200" b="1" dirty="0" err="1">
                <a:latin typeface="NanumBarunGothic" panose="020B0603020101020101" pitchFamily="34" charset="-127"/>
                <a:ea typeface="NanumBarunGothic" panose="020B0603020101020101" pitchFamily="34" charset="-127"/>
              </a:rPr>
              <a:t>암종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endParaRPr lang="en-US" altLang="ko-KR" sz="12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2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가구형태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endParaRPr lang="en-US" altLang="ko-KR" sz="12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2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투병 전 직업 </a:t>
            </a:r>
            <a:endParaRPr lang="en-US" altLang="ko-KR" sz="12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2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투병 전 </a:t>
            </a:r>
            <a:r>
              <a:rPr lang="ko-KR" altLang="en-US" sz="1200" b="1" dirty="0" err="1">
                <a:latin typeface="NanumBarunGothic" panose="020B0603020101020101" pitchFamily="34" charset="-127"/>
                <a:ea typeface="NanumBarunGothic" panose="020B0603020101020101" pitchFamily="34" charset="-127"/>
              </a:rPr>
              <a:t>연소득</a:t>
            </a:r>
            <a:r>
              <a:rPr lang="ko-KR" altLang="en-US" sz="12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 </a:t>
            </a:r>
            <a:endParaRPr lang="en-US" altLang="ko-KR" sz="12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2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현재 직업 </a:t>
            </a:r>
            <a:endParaRPr lang="en-US" altLang="ko-KR" sz="12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2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선호하는 근무형태 </a:t>
            </a:r>
            <a:endParaRPr lang="ko-KR" altLang="en-US" sz="12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2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교육수준</a:t>
            </a:r>
            <a:endParaRPr lang="ko-KR" altLang="en-US" sz="12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2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라이프 스타일</a:t>
            </a:r>
            <a:endParaRPr lang="ko-KR" altLang="en-US" sz="12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BF7974-A6B8-20B8-7724-BC8BFF35B385}"/>
              </a:ext>
            </a:extLst>
          </p:cNvPr>
          <p:cNvSpPr txBox="1"/>
          <p:nvPr/>
        </p:nvSpPr>
        <p:spPr>
          <a:xfrm>
            <a:off x="3043518" y="5768788"/>
            <a:ext cx="33169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이지은</a:t>
            </a:r>
            <a:endParaRPr lang="en-US" altLang="ko-KR" sz="12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여성</a:t>
            </a:r>
            <a:endParaRPr lang="en-US" altLang="ko-KR" sz="12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36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세</a:t>
            </a:r>
            <a:endParaRPr lang="en-US" altLang="ko-KR" sz="12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수도권</a:t>
            </a:r>
          </a:p>
          <a:p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유방암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수술 및 방사선치료 후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6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개월 경과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</a:p>
          <a:p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기혼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남편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영유아 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1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명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) 3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인 가구</a:t>
            </a:r>
          </a:p>
          <a:p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경영지원 매니저</a:t>
            </a:r>
          </a:p>
          <a:p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3800 ~ 4200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만원</a:t>
            </a:r>
          </a:p>
          <a:p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아르바이트</a:t>
            </a:r>
          </a:p>
          <a:p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재택근무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정기적인 소득</a:t>
            </a:r>
          </a:p>
          <a:p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대학교 졸업</a:t>
            </a:r>
          </a:p>
          <a:p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육아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주기적인 병원 일정</a:t>
            </a:r>
            <a:r>
              <a:rPr lang="en-US" altLang="ko-KR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가사일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BDF4E8-52C1-403B-0E5D-B58BF1D2A095}"/>
              </a:ext>
            </a:extLst>
          </p:cNvPr>
          <p:cNvSpPr txBox="1"/>
          <p:nvPr/>
        </p:nvSpPr>
        <p:spPr>
          <a:xfrm>
            <a:off x="7471380" y="2294572"/>
            <a:ext cx="1391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구직활동</a:t>
            </a:r>
            <a:endParaRPr lang="en-US" altLang="ko-KR" sz="14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06709B-E70D-DE8B-088C-711129AE420B}"/>
              </a:ext>
            </a:extLst>
          </p:cNvPr>
          <p:cNvSpPr txBox="1"/>
          <p:nvPr/>
        </p:nvSpPr>
        <p:spPr>
          <a:xfrm>
            <a:off x="8778081" y="2274772"/>
            <a:ext cx="883574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매일 당근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400" b="0" i="0" dirty="0" err="1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알바몬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400" b="0" i="0" dirty="0" err="1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잡코리아</a:t>
            </a: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 등 웹사이트를 통하여 자신이 할 수 있는 일을 찾음</a:t>
            </a:r>
            <a:endParaRPr lang="en-US" altLang="ko-KR" sz="1400" b="0" i="0" dirty="0">
              <a:solidFill>
                <a:srgbClr val="292A2E"/>
              </a:solidFill>
              <a:effectLst/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지인 및 과거 과거 동료와 같은 네트워크를 통한 정보수집</a:t>
            </a:r>
            <a:endParaRPr lang="en-US" altLang="ko-KR" sz="14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endParaRPr lang="en-US" altLang="ko-KR" sz="1400" b="0" i="0" dirty="0">
              <a:solidFill>
                <a:srgbClr val="292A2E"/>
              </a:solidFill>
              <a:effectLst/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불필요한 소비를 줄이고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400" b="0" i="0" dirty="0" err="1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미니멀한</a:t>
            </a: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 생활을 함</a:t>
            </a:r>
            <a:endParaRPr lang="en-US" altLang="ko-KR" sz="1400" b="1" i="0" dirty="0">
              <a:solidFill>
                <a:srgbClr val="292A2E"/>
              </a:solidFill>
              <a:effectLst/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endParaRPr lang="en-US" altLang="ko-KR" sz="1400" b="0" i="0" dirty="0">
              <a:solidFill>
                <a:srgbClr val="292A2E"/>
              </a:solidFill>
              <a:effectLst/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환자 커뮤니티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en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SNS </a:t>
            </a: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등으로 환자들과 소통을 자주 함</a:t>
            </a:r>
            <a:endParaRPr lang="en-US" altLang="ko-KR" sz="1400" b="1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endParaRPr lang="en-US" altLang="ko-KR" sz="1400" b="0" i="0" dirty="0">
              <a:solidFill>
                <a:srgbClr val="292A2E"/>
              </a:solidFill>
              <a:effectLst/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건강한 라이프 스타일 선호 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스트레스 안 받기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400" b="0" i="0" dirty="0" err="1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워라벨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식단관리 등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.), </a:t>
            </a:r>
          </a:p>
          <a:p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자신의 건강에 자신감이 없음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. </a:t>
            </a: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조금만 아파도 불안함</a:t>
            </a:r>
            <a:endParaRPr lang="en-US" altLang="ko-KR" sz="14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endParaRPr lang="en-US" altLang="ko-KR" sz="1400" b="0" i="0" dirty="0">
              <a:solidFill>
                <a:srgbClr val="292A2E"/>
              </a:solidFill>
              <a:effectLst/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  <a:p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환자 커뮤니티와 타 환자</a:t>
            </a:r>
            <a:r>
              <a:rPr lang="en-US" altLang="ko-KR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4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지인 및 과거 과거 동료와 같은 네트워크를 통한 정보수집</a:t>
            </a:r>
            <a:endParaRPr lang="ko-KR" altLang="en-US" sz="1400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688550-D12D-85A6-355A-4A1623250FEA}"/>
              </a:ext>
            </a:extLst>
          </p:cNvPr>
          <p:cNvSpPr txBox="1"/>
          <p:nvPr/>
        </p:nvSpPr>
        <p:spPr>
          <a:xfrm>
            <a:off x="7463452" y="2915516"/>
            <a:ext cx="1391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소비패턴</a:t>
            </a:r>
            <a:endParaRPr lang="en-US" altLang="ko-KR" sz="1400" b="1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2F923A-D8A1-36C2-C321-00F2CEF08A14}"/>
              </a:ext>
            </a:extLst>
          </p:cNvPr>
          <p:cNvSpPr txBox="1"/>
          <p:nvPr/>
        </p:nvSpPr>
        <p:spPr>
          <a:xfrm>
            <a:off x="7471380" y="3343905"/>
            <a:ext cx="1391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가입활동</a:t>
            </a:r>
            <a:endParaRPr lang="en-US" altLang="ko-KR" sz="1400" b="1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B1F48A-3715-A041-4571-3E240845CA13}"/>
              </a:ext>
            </a:extLst>
          </p:cNvPr>
          <p:cNvSpPr txBox="1"/>
          <p:nvPr/>
        </p:nvSpPr>
        <p:spPr>
          <a:xfrm>
            <a:off x="7471380" y="3767555"/>
            <a:ext cx="1391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생활습관</a:t>
            </a:r>
            <a:endParaRPr lang="en-US" altLang="ko-KR" sz="1400" b="1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5FCB98-E439-E2F7-B30C-9849C70AFCD4}"/>
              </a:ext>
            </a:extLst>
          </p:cNvPr>
          <p:cNvSpPr txBox="1"/>
          <p:nvPr/>
        </p:nvSpPr>
        <p:spPr>
          <a:xfrm>
            <a:off x="7471380" y="4398364"/>
            <a:ext cx="1391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정보수집방법</a:t>
            </a:r>
            <a:endParaRPr lang="en-US" altLang="ko-KR" sz="1400" b="1" dirty="0">
              <a:solidFill>
                <a:srgbClr val="292A2E"/>
              </a:solidFill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E0C92C-F19F-5DF3-C7C4-91C03219FF7D}"/>
              </a:ext>
            </a:extLst>
          </p:cNvPr>
          <p:cNvSpPr txBox="1"/>
          <p:nvPr/>
        </p:nvSpPr>
        <p:spPr>
          <a:xfrm>
            <a:off x="7471380" y="5660258"/>
            <a:ext cx="13917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목표</a:t>
            </a:r>
            <a:endParaRPr lang="en-US" altLang="ko-KR" sz="12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5A3480-A5F8-BE30-1528-38941C8CF2E4}"/>
              </a:ext>
            </a:extLst>
          </p:cNvPr>
          <p:cNvSpPr txBox="1"/>
          <p:nvPr/>
        </p:nvSpPr>
        <p:spPr>
          <a:xfrm>
            <a:off x="7540596" y="5852581"/>
            <a:ext cx="88357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itchFamily="2" charset="2"/>
              <a:buChar char="§"/>
            </a:pP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건강상태 유지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성공적인 사회복귀로 가정에 경제적 부담감 절감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1876E5-3A85-0FF7-F6E4-02A521F5B77C}"/>
              </a:ext>
            </a:extLst>
          </p:cNvPr>
          <p:cNvSpPr txBox="1"/>
          <p:nvPr/>
        </p:nvSpPr>
        <p:spPr>
          <a:xfrm>
            <a:off x="7471380" y="6260423"/>
            <a:ext cx="13917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욕구</a:t>
            </a:r>
            <a:endParaRPr lang="en-US" altLang="ko-KR" sz="12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CB0FB6-69D9-7E33-6708-80C5223FCA08}"/>
              </a:ext>
            </a:extLst>
          </p:cNvPr>
          <p:cNvSpPr txBox="1"/>
          <p:nvPr/>
        </p:nvSpPr>
        <p:spPr>
          <a:xfrm>
            <a:off x="7516148" y="6537422"/>
            <a:ext cx="349287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itchFamily="2" charset="2"/>
              <a:buChar char="§"/>
            </a:pP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건강상태를 고려한 안정적 소득 확보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시간과 장소에 </a:t>
            </a:r>
            <a:r>
              <a:rPr lang="ko-KR" altLang="en-US" sz="1200" b="0" i="0" dirty="0" err="1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구애받지</a:t>
            </a: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 않는 유연한 근무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암 이력을 이해하고 존중하는 고용 환경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가족</a:t>
            </a:r>
            <a:r>
              <a:rPr lang="en-US" altLang="ko-KR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특히 자녀</a:t>
            </a:r>
            <a:r>
              <a:rPr lang="en-US" altLang="ko-KR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에게 경제적 안정을 제공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디지털 역량 강화 및 직무 확장 기회 확보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사회적 인정과 소속감을 회복할 수 있는 네트워크</a:t>
            </a:r>
          </a:p>
          <a:p>
            <a:pPr marL="285750" indent="-285750" algn="l">
              <a:buFont typeface="Wingdings" pitchFamily="2" charset="2"/>
              <a:buChar char="§"/>
            </a:pP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심리적 안정 및 자기효능감 회복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18D8A0-C362-FFE3-E416-62EAF2FAF103}"/>
              </a:ext>
            </a:extLst>
          </p:cNvPr>
          <p:cNvSpPr txBox="1"/>
          <p:nvPr/>
        </p:nvSpPr>
        <p:spPr>
          <a:xfrm>
            <a:off x="11946200" y="5648660"/>
            <a:ext cx="13917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i="0" dirty="0" err="1">
                <a:solidFill>
                  <a:srgbClr val="292A2E"/>
                </a:solidFill>
                <a:effectLst/>
                <a:latin typeface="Atlassian Sans"/>
              </a:rPr>
              <a:t>페인포인트</a:t>
            </a:r>
            <a:endParaRPr lang="en-US" altLang="ko-KR" sz="12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2353DA-8F9C-D65D-6842-C2804685CB05}"/>
              </a:ext>
            </a:extLst>
          </p:cNvPr>
          <p:cNvSpPr txBox="1"/>
          <p:nvPr/>
        </p:nvSpPr>
        <p:spPr>
          <a:xfrm>
            <a:off x="11958469" y="5925659"/>
            <a:ext cx="426574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Wingdings" pitchFamily="2" charset="2"/>
              <a:buChar char="§"/>
            </a:pP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치료 이후에도 남아있는 피로</a:t>
            </a:r>
            <a:r>
              <a:rPr lang="en-US" altLang="ko-KR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, </a:t>
            </a: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체력 저하로 장시간 근무 어려움</a:t>
            </a:r>
          </a:p>
          <a:p>
            <a:pPr marL="171450" indent="-171450" algn="l">
              <a:buFont typeface="Wingdings" pitchFamily="2" charset="2"/>
              <a:buChar char="§"/>
            </a:pP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일반 구직 플랫폼에서 자신의 상황에 맞는 공고 찾기 어려움</a:t>
            </a:r>
          </a:p>
          <a:p>
            <a:pPr marL="171450" indent="-171450" algn="l">
              <a:buFont typeface="Wingdings" pitchFamily="2" charset="2"/>
              <a:buChar char="§"/>
            </a:pP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암 이력 공개에 대한 불안감 → 채용 과정에서 불이익 우려</a:t>
            </a:r>
          </a:p>
          <a:p>
            <a:pPr marL="171450" indent="-171450" algn="l">
              <a:buFont typeface="Wingdings" pitchFamily="2" charset="2"/>
              <a:buChar char="§"/>
            </a:pP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시간제</a:t>
            </a:r>
            <a:r>
              <a:rPr lang="en-US" altLang="ko-KR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·</a:t>
            </a: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단기 일자리의 소득 불안정성</a:t>
            </a:r>
          </a:p>
          <a:p>
            <a:pPr marL="171450" indent="-171450" algn="l">
              <a:buFont typeface="Wingdings" pitchFamily="2" charset="2"/>
              <a:buChar char="§"/>
            </a:pP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사회복귀 후에도 대인관계에서 위축감 지속</a:t>
            </a:r>
          </a:p>
          <a:p>
            <a:pPr marL="171450" indent="-171450" algn="l">
              <a:buFont typeface="Wingdings" pitchFamily="2" charset="2"/>
              <a:buChar char="§"/>
            </a:pP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경력단절</a:t>
            </a:r>
          </a:p>
          <a:p>
            <a:pPr marL="171450" indent="-171450" algn="l">
              <a:buFont typeface="Wingdings" pitchFamily="2" charset="2"/>
              <a:buChar char="§"/>
            </a:pP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육아와 병원 일정을 병행해야 해 근무시간 유연성 필수</a:t>
            </a:r>
          </a:p>
          <a:p>
            <a:pPr marL="171450" indent="-171450" algn="l">
              <a:buFont typeface="Wingdings" pitchFamily="2" charset="2"/>
              <a:buChar char="§"/>
            </a:pPr>
            <a:r>
              <a:rPr lang="ko-KR" altLang="en-US" sz="1200" b="0" i="0" dirty="0">
                <a:solidFill>
                  <a:srgbClr val="292A2E"/>
                </a:solidFill>
                <a:effectLst/>
                <a:latin typeface="NanumBarunGothic" panose="020B0603020101020101" pitchFamily="34" charset="-127"/>
                <a:ea typeface="NanumBarunGothic" panose="020B0603020101020101" pitchFamily="34" charset="-127"/>
              </a:rPr>
              <a:t>자신의 건강 상태에 대한 불확실성으로 장기 계획 세우기 어려움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C94324-7E0A-9297-2E03-D28C2BE4509B}"/>
              </a:ext>
            </a:extLst>
          </p:cNvPr>
          <p:cNvSpPr txBox="1"/>
          <p:nvPr/>
        </p:nvSpPr>
        <p:spPr>
          <a:xfrm>
            <a:off x="1550098" y="3258809"/>
            <a:ext cx="1391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NanumBarunGothic" panose="020B0603020101020101" pitchFamily="34" charset="-127"/>
                <a:ea typeface="NanumBarunGothic" panose="020B0603020101020101" pitchFamily="34" charset="-127"/>
              </a:rPr>
              <a:t>환자 페르소나</a:t>
            </a:r>
            <a:endParaRPr lang="en-US" altLang="ko-KR" sz="1400" b="1" dirty="0">
              <a:latin typeface="NanumBarunGothic" panose="020B0603020101020101" pitchFamily="34" charset="-127"/>
              <a:ea typeface="NanumBarunGothic" panose="020B0603020101020101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56170D-BE89-3167-1117-DE52E4ADFE87}"/>
              </a:ext>
            </a:extLst>
          </p:cNvPr>
          <p:cNvSpPr txBox="1"/>
          <p:nvPr/>
        </p:nvSpPr>
        <p:spPr>
          <a:xfrm>
            <a:off x="4342225" y="870523"/>
            <a:ext cx="1222455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00" b="1" dirty="0">
                <a:solidFill>
                  <a:srgbClr val="FF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사용자 페르소나 </a:t>
            </a:r>
            <a:r>
              <a:rPr lang="en-US" altLang="ko-KR" sz="2500" b="1" dirty="0">
                <a:solidFill>
                  <a:srgbClr val="FF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–</a:t>
            </a:r>
            <a:r>
              <a:rPr lang="ko-KR" altLang="en-US" sz="2500" b="1" dirty="0">
                <a:solidFill>
                  <a:srgbClr val="FF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암환자 제품</a:t>
            </a:r>
            <a:r>
              <a:rPr lang="en-US" altLang="ko-KR" sz="2500" b="1" dirty="0">
                <a:solidFill>
                  <a:srgbClr val="FF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2500" b="1" dirty="0">
                <a:solidFill>
                  <a:srgbClr val="FF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서비스</a:t>
            </a:r>
            <a:r>
              <a:rPr lang="en-US" altLang="ko-KR" sz="2500" b="1" dirty="0">
                <a:solidFill>
                  <a:srgbClr val="FF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  <a:r>
              <a:rPr lang="ko-KR" altLang="en-US" sz="2500" b="1" dirty="0" err="1">
                <a:solidFill>
                  <a:srgbClr val="FF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를</a:t>
            </a:r>
            <a:r>
              <a:rPr lang="ko-KR" altLang="en-US" sz="2500" b="1" dirty="0">
                <a:solidFill>
                  <a:srgbClr val="FF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 판매하는  </a:t>
            </a:r>
            <a:r>
              <a:rPr lang="en-US" altLang="ko-KR" sz="2500" b="1" dirty="0">
                <a:solidFill>
                  <a:srgbClr val="FF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5</a:t>
            </a:r>
            <a:r>
              <a:rPr lang="ko-KR" altLang="en-US" sz="2500" b="1" dirty="0">
                <a:solidFill>
                  <a:srgbClr val="FF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인 미만 기업의 사업가</a:t>
            </a:r>
            <a:r>
              <a:rPr lang="en-US" altLang="ko-KR" sz="2500" b="1" dirty="0">
                <a:solidFill>
                  <a:srgbClr val="FF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2500" b="1" dirty="0" err="1">
                <a:solidFill>
                  <a:srgbClr val="FF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창업가</a:t>
            </a:r>
            <a:r>
              <a:rPr lang="en-US" altLang="ko-KR" sz="2500" b="1" dirty="0">
                <a:solidFill>
                  <a:srgbClr val="FF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)</a:t>
            </a:r>
            <a:br>
              <a:rPr lang="en-US" altLang="ko-KR" sz="2500" b="1" dirty="0">
                <a:solidFill>
                  <a:srgbClr val="FF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</a:br>
            <a:r>
              <a:rPr lang="en-US" altLang="ko-KR" sz="2500" b="1" dirty="0">
                <a:solidFill>
                  <a:srgbClr val="FF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(</a:t>
            </a:r>
            <a:r>
              <a:rPr lang="ko-KR" altLang="en-US" sz="2500" b="1" dirty="0">
                <a:solidFill>
                  <a:srgbClr val="FF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과제 외 따로 작성한 것</a:t>
            </a:r>
            <a:r>
              <a:rPr lang="en-US" altLang="ko-KR" sz="2500" b="1" dirty="0">
                <a:solidFill>
                  <a:srgbClr val="FF0000"/>
                </a:solidFill>
                <a:latin typeface="NanumBarunGothic" panose="020B0603020101020101" pitchFamily="34" charset="-127"/>
                <a:ea typeface="NanumBarunGothic" panose="020B0603020101020101" pitchFamily="34" charset="-127"/>
              </a:rPr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1787799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622</Words>
  <Application>Microsoft Macintosh PowerPoint</Application>
  <PresentationFormat>Custom</PresentationFormat>
  <Paragraphs>124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Atlassian Sans</vt:lpstr>
      <vt:lpstr>NanumBarunGothic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</dc:title>
  <dc:subject>Presentation</dc:subject>
  <dc:creator>mangoboard.net_47904958</dc:creator>
  <cp:lastModifiedBy>교육센터 암</cp:lastModifiedBy>
  <cp:revision>21</cp:revision>
  <dcterms:created xsi:type="dcterms:W3CDTF">2025-04-11T08:42:54Z</dcterms:created>
  <dcterms:modified xsi:type="dcterms:W3CDTF">2025-04-18T12:20:28Z</dcterms:modified>
</cp:coreProperties>
</file>