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4" r:id="rId2"/>
    <p:sldId id="268" r:id="rId3"/>
    <p:sldId id="269" r:id="rId4"/>
    <p:sldId id="274" r:id="rId5"/>
    <p:sldId id="278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5900"/>
    <a:srgbClr val="FAF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929609-1392-0924-35EC-D7C2BD0F9648}"/>
              </a:ext>
            </a:extLst>
          </p:cNvPr>
          <p:cNvSpPr txBox="1"/>
          <p:nvPr/>
        </p:nvSpPr>
        <p:spPr>
          <a:xfrm>
            <a:off x="7589521" y="5858177"/>
            <a:ext cx="521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2C084-77C2-07B7-EBBE-4157DF82DB1F}"/>
              </a:ext>
            </a:extLst>
          </p:cNvPr>
          <p:cNvSpPr txBox="1"/>
          <p:nvPr/>
        </p:nvSpPr>
        <p:spPr>
          <a:xfrm>
            <a:off x="1389018" y="5961017"/>
            <a:ext cx="521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1AC6B-03AE-A8CC-C2F6-3719C6159C2A}"/>
              </a:ext>
            </a:extLst>
          </p:cNvPr>
          <p:cNvSpPr txBox="1"/>
          <p:nvPr/>
        </p:nvSpPr>
        <p:spPr>
          <a:xfrm>
            <a:off x="7589521" y="5769305"/>
            <a:ext cx="521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A72BD0D-7F7C-A1B9-0553-D05BC4CF1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510749"/>
              </p:ext>
            </p:extLst>
          </p:nvPr>
        </p:nvGraphicFramePr>
        <p:xfrm>
          <a:off x="1358220" y="5744799"/>
          <a:ext cx="4206240" cy="2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458">
                  <a:extLst>
                    <a:ext uri="{9D8B030D-6E8A-4147-A177-3AD203B41FA5}">
                      <a16:colId xmlns:a16="http://schemas.microsoft.com/office/drawing/2014/main" val="361922282"/>
                    </a:ext>
                  </a:extLst>
                </a:gridCol>
                <a:gridCol w="2899782">
                  <a:extLst>
                    <a:ext uri="{9D8B030D-6E8A-4147-A177-3AD203B41FA5}">
                      <a16:colId xmlns:a16="http://schemas.microsoft.com/office/drawing/2014/main" val="978942093"/>
                    </a:ext>
                  </a:extLst>
                </a:gridCol>
              </a:tblGrid>
              <a:tr h="201975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endParaRPr lang="ko-KR" altLang="en-US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190388"/>
                  </a:ext>
                </a:extLst>
              </a:tr>
              <a:tr h="201975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성별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309040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 수준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대학 학부 졸업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53266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소득 수준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연봉 </a:t>
                      </a: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6,000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353674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가구 형태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 가구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481247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거주 지역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521689"/>
                  </a:ext>
                </a:extLst>
              </a:tr>
              <a:tr h="332282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주거 형태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전세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27845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C48C2F8-0EE2-623C-ABF3-76EACC507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19740"/>
              </p:ext>
            </p:extLst>
          </p:nvPr>
        </p:nvGraphicFramePr>
        <p:xfrm>
          <a:off x="7589521" y="2308073"/>
          <a:ext cx="8608422" cy="206288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5737">
                  <a:extLst>
                    <a:ext uri="{9D8B030D-6E8A-4147-A177-3AD203B41FA5}">
                      <a16:colId xmlns:a16="http://schemas.microsoft.com/office/drawing/2014/main" val="164835169"/>
                    </a:ext>
                  </a:extLst>
                </a:gridCol>
                <a:gridCol w="6792685">
                  <a:extLst>
                    <a:ext uri="{9D8B030D-6E8A-4147-A177-3AD203B41FA5}">
                      <a16:colId xmlns:a16="http://schemas.microsoft.com/office/drawing/2014/main" val="3314240416"/>
                    </a:ext>
                  </a:extLst>
                </a:gridCol>
              </a:tblGrid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구매 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가성비와 비용을 중요시 여김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62825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사용 습관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가치가 있다고 생각하면 돈을 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14388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소비 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소비력이 강한 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324876"/>
                  </a:ext>
                </a:extLst>
              </a:tr>
              <a:tr h="51572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정보 수집 방법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인터넷과 주변 친구</a:t>
                      </a:r>
                      <a:r>
                        <a:rPr lang="en-US" altLang="ko-K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무인점포</a:t>
                      </a:r>
                      <a:r>
                        <a:rPr lang="ko-KR" altLang="en-US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 관련 커뮤니티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43665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3305374-11BD-DBAE-D0BD-5FDBD6D83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004069"/>
              </p:ext>
            </p:extLst>
          </p:nvPr>
        </p:nvGraphicFramePr>
        <p:xfrm>
          <a:off x="7589521" y="5934405"/>
          <a:ext cx="8608422" cy="1785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99">
                  <a:extLst>
                    <a:ext uri="{9D8B030D-6E8A-4147-A177-3AD203B41FA5}">
                      <a16:colId xmlns:a16="http://schemas.microsoft.com/office/drawing/2014/main" val="164835169"/>
                    </a:ext>
                  </a:extLst>
                </a:gridCol>
                <a:gridCol w="6779623">
                  <a:extLst>
                    <a:ext uri="{9D8B030D-6E8A-4147-A177-3AD203B41FA5}">
                      <a16:colId xmlns:a16="http://schemas.microsoft.com/office/drawing/2014/main" val="3314240416"/>
                    </a:ext>
                  </a:extLst>
                </a:gridCol>
              </a:tblGrid>
              <a:tr h="542881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목표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가성비 있는 부업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62825"/>
                  </a:ext>
                </a:extLst>
              </a:tr>
              <a:tr h="542881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욕구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자동화로 돈을 버는 것</a:t>
                      </a: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적은 노력과 많은 이익</a:t>
                      </a:r>
                      <a:r>
                        <a:rPr lang="en-US" altLang="ko-KR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014388"/>
                  </a:ext>
                </a:extLst>
              </a:tr>
              <a:tr h="69998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페인 포인트 </a:t>
                      </a:r>
                      <a:endParaRPr lang="en-US" altLang="ko-KR" sz="14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Pain Points)</a:t>
                      </a:r>
                      <a:endParaRPr lang="en-US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5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자기 일도 바쁜데 </a:t>
                      </a:r>
                      <a:r>
                        <a:rPr lang="ko-KR" altLang="en-US" sz="14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무인점포가</a:t>
                      </a: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신경쓰임</a:t>
                      </a:r>
                      <a:endParaRPr lang="en-US" altLang="ko-KR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매출이 예상매출보다 낮음</a:t>
                      </a:r>
                      <a:endParaRPr lang="en-US" altLang="ko-KR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fontAlgn="t" latinLnBrk="0" hangingPunct="1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4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사람 구하기  어려움</a:t>
                      </a:r>
                      <a:endParaRPr lang="en-US" altLang="ko-KR" sz="14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324876"/>
                  </a:ext>
                </a:extLst>
              </a:tr>
            </a:tbl>
          </a:graphicData>
        </a:graphic>
      </p:graphicFrame>
      <p:pic>
        <p:nvPicPr>
          <p:cNvPr id="1026" name="Picture 2" descr="정Seo-young의 사무실에서 집중하는 모습">
            <a:extLst>
              <a:ext uri="{FF2B5EF4-FFF2-40B4-BE49-F238E27FC236}">
                <a16:creationId xmlns:a16="http://schemas.microsoft.com/office/drawing/2014/main" id="{33D08F75-1BA5-CD8C-8D15-4AEB92EF7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9" r="44815" b="4190"/>
          <a:stretch/>
        </p:blipFill>
        <p:spPr bwMode="auto">
          <a:xfrm>
            <a:off x="1168952" y="1818654"/>
            <a:ext cx="2351659" cy="297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6AE477-AD8E-8B3C-ECEA-86CAF79ED1E0}"/>
              </a:ext>
            </a:extLst>
          </p:cNvPr>
          <p:cNvSpPr txBox="1"/>
          <p:nvPr/>
        </p:nvSpPr>
        <p:spPr>
          <a:xfrm>
            <a:off x="3520611" y="4536512"/>
            <a:ext cx="18266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(AI</a:t>
            </a:r>
            <a:r>
              <a:rPr lang="ko-KR" altLang="en-US" sz="1000" dirty="0"/>
              <a:t>를 활용해 생성한 이미지임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1246E0-F10F-3031-6F13-2F07B6FC1E98}"/>
              </a:ext>
            </a:extLst>
          </p:cNvPr>
          <p:cNvSpPr txBox="1"/>
          <p:nvPr/>
        </p:nvSpPr>
        <p:spPr>
          <a:xfrm>
            <a:off x="1965960" y="1721124"/>
            <a:ext cx="87259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시간이 많이 없음</a:t>
            </a:r>
            <a:r>
              <a:rPr lang="en-US" altLang="ko-KR" dirty="0"/>
              <a:t>(</a:t>
            </a:r>
            <a:r>
              <a:rPr lang="ko-KR" altLang="en-US" dirty="0"/>
              <a:t>본래 직업을 가지고 있거나 다른 일</a:t>
            </a:r>
            <a:r>
              <a:rPr lang="en-US" altLang="ko-KR" dirty="0"/>
              <a:t>(</a:t>
            </a:r>
            <a:r>
              <a:rPr lang="ko-KR" altLang="en-US" dirty="0"/>
              <a:t>육아</a:t>
            </a:r>
            <a:r>
              <a:rPr lang="en-US" altLang="ko-KR" dirty="0"/>
              <a:t>, </a:t>
            </a:r>
            <a:r>
              <a:rPr lang="ko-KR" altLang="en-US" dirty="0"/>
              <a:t>프리랜서 등</a:t>
            </a:r>
            <a:r>
              <a:rPr lang="en-US" altLang="ko-KR" dirty="0"/>
              <a:t>)</a:t>
            </a:r>
            <a:r>
              <a:rPr lang="ko-KR" altLang="en-US" dirty="0"/>
              <a:t>과 병행 중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사람 구하기 어려움</a:t>
            </a:r>
            <a:r>
              <a:rPr lang="en-US" altLang="ko-KR" dirty="0"/>
              <a:t>(</a:t>
            </a:r>
            <a:r>
              <a:rPr lang="ko-KR" altLang="en-US" dirty="0"/>
              <a:t>낮은 급여를 주고 적은 시간만 일하기 원함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적은 기간 일하기 때문에 신뢰할 수 없어 계속 신경을 써야 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관리</a:t>
            </a:r>
            <a:r>
              <a:rPr lang="en-US" altLang="ko-KR" dirty="0"/>
              <a:t>(</a:t>
            </a:r>
            <a:r>
              <a:rPr lang="ko-KR" altLang="en-US" dirty="0"/>
              <a:t>청소</a:t>
            </a:r>
            <a:r>
              <a:rPr lang="en-US" altLang="ko-KR" dirty="0"/>
              <a:t>, </a:t>
            </a:r>
            <a:r>
              <a:rPr lang="ko-KR" altLang="en-US" dirty="0"/>
              <a:t>물건 진열 등</a:t>
            </a:r>
            <a:r>
              <a:rPr lang="en-US" altLang="ko-KR" dirty="0"/>
              <a:t>)</a:t>
            </a:r>
            <a:r>
              <a:rPr lang="ko-KR" altLang="en-US" dirty="0"/>
              <a:t>이 지속적으로 필요함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</a:t>
            </a:r>
            <a:r>
              <a:rPr lang="ko-KR" altLang="en-US" dirty="0"/>
              <a:t>젊은 나이에 행동력이 있어</a:t>
            </a:r>
            <a:r>
              <a:rPr lang="en-US" altLang="ko-KR" dirty="0"/>
              <a:t>)</a:t>
            </a:r>
            <a:r>
              <a:rPr lang="ko-KR" altLang="en-US" dirty="0"/>
              <a:t>하고 싶은 것에 비해 시간과 체력적 여유 없음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인적 네트워크와 사람을 부리는 것</a:t>
            </a:r>
            <a:r>
              <a:rPr lang="en-US" altLang="ko-KR" dirty="0"/>
              <a:t>(</a:t>
            </a:r>
            <a:r>
              <a:rPr lang="ko-KR" altLang="en-US" dirty="0"/>
              <a:t>고용 및 관리</a:t>
            </a:r>
            <a:r>
              <a:rPr lang="en-US" altLang="ko-KR" dirty="0"/>
              <a:t>)</a:t>
            </a:r>
            <a:r>
              <a:rPr lang="ko-KR" altLang="en-US" dirty="0"/>
              <a:t>에 익숙하지 않음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알바생을 구하기 어렵고 금방 그만둠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9BD961-DE19-03C2-068B-E15D6D67BBDD}"/>
              </a:ext>
            </a:extLst>
          </p:cNvPr>
          <p:cNvSpPr txBox="1"/>
          <p:nvPr/>
        </p:nvSpPr>
        <p:spPr>
          <a:xfrm>
            <a:off x="1965960" y="4169252"/>
            <a:ext cx="146205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알바생이 대신 일하게 하고 싶음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본인의 노동력을 들이지 않고 자동으로 </a:t>
            </a:r>
            <a:r>
              <a:rPr lang="ko-KR" altLang="en-US" dirty="0" err="1"/>
              <a:t>무인점포가</a:t>
            </a:r>
            <a:r>
              <a:rPr lang="ko-KR" altLang="en-US" dirty="0"/>
              <a:t> 운영되기 원함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인력 비용을 최대한 줄이기 원함</a:t>
            </a:r>
            <a:r>
              <a:rPr lang="en-US" altLang="ko-KR" dirty="0"/>
              <a:t>(</a:t>
            </a:r>
            <a:r>
              <a:rPr lang="ko-KR" altLang="en-US" dirty="0"/>
              <a:t>알바생이 적은 시간만 일하고 적은 비용을 받기 원함 혹은 필요한 특정 시간과 기간에만 일하기 원함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신뢰할 수 있는 알바생을 원함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노무관련 리스크를 지고 싶지 않음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기존 아르바이트생이 그만둘 경우  새로운 사람을 알아서 구해주기 원함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점포관리 내용을 간단하게 보고 받고 싶음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8F10EC-EBA3-74B5-AC5F-F66C7C2B3158}"/>
              </a:ext>
            </a:extLst>
          </p:cNvPr>
          <p:cNvSpPr txBox="1"/>
          <p:nvPr/>
        </p:nvSpPr>
        <p:spPr>
          <a:xfrm>
            <a:off x="1965960" y="6613461"/>
            <a:ext cx="140752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부업으로 무인 점포를 운영 중</a:t>
            </a:r>
            <a:r>
              <a:rPr lang="en-US" altLang="ko-KR" dirty="0"/>
              <a:t>(</a:t>
            </a:r>
            <a:r>
              <a:rPr lang="ko-KR" altLang="en-US" dirty="0"/>
              <a:t>직업이 없더라도 시간을 자유롭게 쓰기 위해서 하는 경우가 많아 부업 정도의 노력만 쓰기 원함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신경을 쓰지 않고 돈이 들어오는 프로세스를 만들고 싶음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많은 매출을 기대할 수 없음</a:t>
            </a:r>
            <a:r>
              <a:rPr lang="en-US" altLang="ko-KR" dirty="0"/>
              <a:t>(</a:t>
            </a:r>
            <a:r>
              <a:rPr lang="ko-KR" altLang="en-US" dirty="0"/>
              <a:t>가성비 중심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- </a:t>
            </a:r>
            <a:r>
              <a:rPr lang="ko-KR" altLang="en-US" dirty="0"/>
              <a:t>신경을 많이 쓸 수록 가성비가 떨어짐</a:t>
            </a:r>
            <a:endParaRPr lang="en-US" altLang="ko-KR" dirty="0"/>
          </a:p>
          <a:p>
            <a:r>
              <a:rPr lang="en-US" altLang="ko-KR" dirty="0"/>
              <a:t>     -  </a:t>
            </a:r>
            <a:r>
              <a:rPr lang="ko-KR" altLang="en-US" dirty="0"/>
              <a:t>특별히 새로운 마케팅으로 매출 상승을 기대하기 어려움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본인이 똑똑하다고 여김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자동화의 트렌드를 따라가고 싶음</a:t>
            </a:r>
            <a:endParaRPr lang="en-US" altLang="ko-K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BBB8F8-3E41-4B6B-D0C2-BC28B1BB0BB7}"/>
              </a:ext>
            </a:extLst>
          </p:cNvPr>
          <p:cNvSpPr txBox="1"/>
          <p:nvPr/>
        </p:nvSpPr>
        <p:spPr>
          <a:xfrm>
            <a:off x="3271584" y="2398325"/>
            <a:ext cx="733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무인점포는</a:t>
            </a:r>
            <a:r>
              <a:rPr lang="ko-KR" altLang="en-US" dirty="0"/>
              <a:t> 매출이 높지 않음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무인점포에서</a:t>
            </a:r>
            <a:r>
              <a:rPr lang="ko-KR" altLang="en-US" dirty="0"/>
              <a:t> 주인이 많은 시간을 일하기 원치 않음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258A9-4E66-2439-B796-99CB47045F0A}"/>
              </a:ext>
            </a:extLst>
          </p:cNvPr>
          <p:cNvSpPr txBox="1"/>
          <p:nvPr/>
        </p:nvSpPr>
        <p:spPr>
          <a:xfrm>
            <a:off x="3271583" y="4614594"/>
            <a:ext cx="105227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주인이 알바생을 얼마나 일하기 원하는 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인건비 최대 상한 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자동화를 위해 비용을 얼마나 지불할 것인지</a:t>
            </a:r>
            <a:r>
              <a:rPr lang="en-US" altLang="ko-KR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여유시간이 얼마나 있는 사람인지</a:t>
            </a:r>
            <a:r>
              <a:rPr lang="en-US" altLang="ko-KR" dirty="0"/>
              <a:t>?(</a:t>
            </a:r>
            <a:r>
              <a:rPr lang="ko-KR" altLang="en-US" dirty="0"/>
              <a:t>무임점포에 얼마나 시간과 노력을 쓸 수 있는지</a:t>
            </a:r>
            <a:r>
              <a:rPr lang="en-US" altLang="ko-KR" dirty="0"/>
              <a:t>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알바생이 하기 원하는 업무는 무엇인지</a:t>
            </a:r>
            <a:r>
              <a:rPr lang="en-US" altLang="ko-KR" dirty="0"/>
              <a:t>?(</a:t>
            </a:r>
            <a:r>
              <a:rPr lang="ko-KR" altLang="en-US" dirty="0"/>
              <a:t>청소</a:t>
            </a:r>
            <a:r>
              <a:rPr lang="en-US" altLang="ko-KR" dirty="0"/>
              <a:t>, </a:t>
            </a:r>
            <a:r>
              <a:rPr lang="ko-KR" altLang="en-US" dirty="0"/>
              <a:t>재고관리</a:t>
            </a:r>
            <a:r>
              <a:rPr lang="en-US" altLang="ko-KR" dirty="0"/>
              <a:t>, </a:t>
            </a:r>
            <a:r>
              <a:rPr lang="ko-KR" altLang="en-US" dirty="0"/>
              <a:t>매출관리 등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D99AB-7DC2-C3CF-2320-A1E58B9FFE44}"/>
              </a:ext>
            </a:extLst>
          </p:cNvPr>
          <p:cNvSpPr txBox="1"/>
          <p:nvPr/>
        </p:nvSpPr>
        <p:spPr>
          <a:xfrm>
            <a:off x="3271584" y="6866964"/>
            <a:ext cx="73354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알바생을 고용을 원하는지 여부와 이유</a:t>
            </a:r>
            <a:r>
              <a:rPr lang="en-US" altLang="ko-KR" dirty="0"/>
              <a:t>(</a:t>
            </a:r>
            <a:r>
              <a:rPr lang="ko-KR" altLang="en-US" dirty="0"/>
              <a:t>주기적 혹은 특정 기간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위탁하기 원하는 업무의 종류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인건비 상한선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서비스 품질</a:t>
            </a:r>
            <a:r>
              <a:rPr lang="en-US" altLang="ko-KR" dirty="0"/>
              <a:t>(</a:t>
            </a:r>
            <a:r>
              <a:rPr lang="ko-KR" altLang="en-US" dirty="0"/>
              <a:t>보고</a:t>
            </a:r>
            <a:r>
              <a:rPr lang="en-US" altLang="ko-KR" dirty="0"/>
              <a:t>, </a:t>
            </a:r>
            <a:r>
              <a:rPr lang="ko-KR" altLang="en-US" dirty="0"/>
              <a:t>재고</a:t>
            </a:r>
            <a:r>
              <a:rPr lang="en-US" altLang="ko-KR" dirty="0"/>
              <a:t>/</a:t>
            </a:r>
            <a:r>
              <a:rPr lang="ko-KR" altLang="en-US" dirty="0"/>
              <a:t>청소 등의 빈도 등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어떤 알바생을 원하는지</a:t>
            </a:r>
            <a:r>
              <a:rPr lang="en-US" altLang="ko-KR" dirty="0"/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393</Words>
  <Application>Microsoft Office PowerPoint</Application>
  <PresentationFormat>사용자 지정</PresentationFormat>
  <Paragraphs>70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sanghyun Park</cp:lastModifiedBy>
  <cp:revision>7</cp:revision>
  <dcterms:created xsi:type="dcterms:W3CDTF">2025-04-11T08:42:54Z</dcterms:created>
  <dcterms:modified xsi:type="dcterms:W3CDTF">2025-04-19T12:33:13Z</dcterms:modified>
</cp:coreProperties>
</file>