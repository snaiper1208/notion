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7"/>
  </p:notesMasterIdLst>
  <p:sldIdLst>
    <p:sldId id="264" r:id="rId2"/>
    <p:sldId id="280" r:id="rId3"/>
    <p:sldId id="281" r:id="rId4"/>
    <p:sldId id="282" r:id="rId5"/>
    <p:sldId id="278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사용자" initials="W사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5" autoAdjust="0"/>
  </p:normalViewPr>
  <p:slideViewPr>
    <p:cSldViewPr snapToGrid="0" snapToObjects="1">
      <p:cViewPr>
        <p:scale>
          <a:sx n="56" d="100"/>
          <a:sy n="56" d="100"/>
        </p:scale>
        <p:origin x="-288" y="420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22890" y="9"/>
            <a:ext cx="15910384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71523" y="3086186"/>
            <a:ext cx="14675958" cy="216035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08682" y="5452289"/>
            <a:ext cx="14401641" cy="1234488"/>
          </a:xfrm>
        </p:spPr>
        <p:txBody>
          <a:bodyPr anchor="t"/>
          <a:lstStyle>
            <a:lvl1pPr marL="0" indent="0" algn="ctr">
              <a:buNone/>
              <a:defRPr sz="4100">
                <a:solidFill>
                  <a:schemeClr val="tx2"/>
                </a:solidFill>
              </a:defRPr>
            </a:lvl1pPr>
            <a:lvl2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7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51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34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02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86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6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548572" cy="9875838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2662" y="411461"/>
            <a:ext cx="16424929" cy="1353333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13"/>
            <a:ext cx="876422" cy="987583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0048" y="4423549"/>
            <a:ext cx="14813116" cy="2167201"/>
          </a:xfrm>
        </p:spPr>
        <p:txBody>
          <a:bodyPr anchor="ctr"/>
          <a:lstStyle>
            <a:lvl1pPr algn="l">
              <a:defRPr sz="6900" b="0" cap="all">
                <a:effectLst>
                  <a:outerShdw blurRad="44450" dist="25400" dir="2700000" algn="tl" rotWithShape="0">
                    <a:schemeClr val="bg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0048" y="6481030"/>
            <a:ext cx="14813116" cy="2366088"/>
          </a:xfrm>
        </p:spPr>
        <p:txBody>
          <a:bodyPr anchor="t"/>
          <a:lstStyle>
            <a:lvl1pPr marL="0" indent="0">
              <a:buNone/>
              <a:defRPr sz="3400">
                <a:solidFill>
                  <a:schemeClr val="tx2"/>
                </a:solidFill>
              </a:defRPr>
            </a:lvl1pPr>
            <a:lvl2pPr marL="783732" indent="0">
              <a:buNone/>
              <a:defRPr sz="3100">
                <a:solidFill>
                  <a:schemeClr val="tx2"/>
                </a:solidFill>
              </a:defRPr>
            </a:lvl2pPr>
            <a:lvl3pPr marL="1567464" indent="0">
              <a:buNone/>
              <a:defRPr sz="2700">
                <a:solidFill>
                  <a:schemeClr val="tx2"/>
                </a:solidFill>
              </a:defRPr>
            </a:lvl3pPr>
            <a:lvl4pPr marL="2351197" indent="0">
              <a:buNone/>
              <a:defRPr sz="2400">
                <a:solidFill>
                  <a:schemeClr val="tx2"/>
                </a:solidFill>
              </a:defRPr>
            </a:lvl4pPr>
            <a:lvl5pPr marL="3134929" indent="0">
              <a:buNone/>
              <a:defRPr sz="2400">
                <a:solidFill>
                  <a:schemeClr val="tx2"/>
                </a:solidFill>
              </a:defRPr>
            </a:lvl5pPr>
            <a:lvl6pPr marL="391866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7023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8612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6985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960048" y="6378155"/>
            <a:ext cx="14813116" cy="228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날짜 개체 틀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April 20, 2025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411462"/>
            <a:ext cx="17556224" cy="164598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invGray">
          <a:xfrm>
            <a:off x="1508674" y="2366068"/>
            <a:ext cx="7269407" cy="6378190"/>
          </a:xfrm>
          <a:prstGeom prst="roundRect">
            <a:avLst>
              <a:gd name="adj" fmla="val 5345"/>
            </a:avLst>
          </a:prstGeom>
          <a:solidFill>
            <a:schemeClr val="tx2">
              <a:tint val="50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invGray">
          <a:xfrm>
            <a:off x="9052399" y="2366068"/>
            <a:ext cx="7268251" cy="6378190"/>
          </a:xfrm>
          <a:prstGeom prst="roundRect">
            <a:avLst>
              <a:gd name="adj" fmla="val 6980"/>
            </a:avLst>
          </a:prstGeom>
          <a:solidFill>
            <a:schemeClr val="tx2">
              <a:tint val="75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 bwMode="invGray">
          <a:xfrm>
            <a:off x="960057" y="2160320"/>
            <a:ext cx="7680877" cy="545232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1">
                  <a:shade val="75000"/>
                  <a:alpha val="50000"/>
                </a:schemeClr>
              </a:gs>
              <a:gs pos="100000">
                <a:schemeClr val="accent1">
                  <a:shade val="75000"/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4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ltGray">
          <a:xfrm>
            <a:off x="960056" y="7818392"/>
            <a:ext cx="7689599" cy="102874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4100" b="0">
                <a:solidFill>
                  <a:schemeClr val="tx1"/>
                </a:solidFill>
              </a:defRPr>
            </a:lvl1pPr>
            <a:lvl2pPr marL="783732" indent="0" algn="ctr">
              <a:buNone/>
              <a:defRPr sz="3400" b="0">
                <a:solidFill>
                  <a:schemeClr val="tx1"/>
                </a:solidFill>
              </a:defRPr>
            </a:lvl2pPr>
            <a:lvl3pPr marL="1567464" indent="0" algn="ctr">
              <a:buNone/>
              <a:defRPr sz="3100" b="0">
                <a:solidFill>
                  <a:schemeClr val="tx1"/>
                </a:solidFill>
              </a:defRPr>
            </a:lvl3pPr>
            <a:lvl4pPr marL="2351197" indent="0" algn="ctr">
              <a:buNone/>
              <a:defRPr sz="2700" b="0">
                <a:solidFill>
                  <a:schemeClr val="tx1"/>
                </a:solidFill>
              </a:defRPr>
            </a:lvl4pPr>
            <a:lvl5pPr marL="3134929" indent="0" algn="ctr">
              <a:buNone/>
              <a:defRPr sz="2700" b="0">
                <a:solidFill>
                  <a:schemeClr val="tx1"/>
                </a:solidFill>
              </a:defRPr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half" idx="4"/>
          </p:nvPr>
        </p:nvSpPr>
        <p:spPr bwMode="invGray">
          <a:xfrm>
            <a:off x="9056347" y="2160320"/>
            <a:ext cx="7680877" cy="545232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2">
                  <a:shade val="75000"/>
                  <a:alpha val="50000"/>
                </a:schemeClr>
              </a:gs>
              <a:gs pos="100000">
                <a:schemeClr val="accent2"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4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ltGray">
          <a:xfrm>
            <a:off x="9052399" y="7818392"/>
            <a:ext cx="7680875" cy="102874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4100" b="0">
                <a:solidFill>
                  <a:schemeClr val="tx1"/>
                </a:solidFill>
              </a:defRPr>
            </a:lvl1pPr>
            <a:lvl2pPr marL="783732" indent="0" algn="ctr">
              <a:buNone/>
              <a:defRPr sz="3400" b="0">
                <a:solidFill>
                  <a:schemeClr val="tx1"/>
                </a:solidFill>
              </a:defRPr>
            </a:lvl2pPr>
            <a:lvl3pPr marL="1567464" indent="0" algn="ctr">
              <a:buNone/>
              <a:defRPr sz="3100" b="0">
                <a:solidFill>
                  <a:schemeClr val="tx1"/>
                </a:solidFill>
              </a:defRPr>
            </a:lvl3pPr>
            <a:lvl4pPr marL="2351197" indent="0" algn="ctr">
              <a:buNone/>
              <a:defRPr sz="2700" b="0">
                <a:solidFill>
                  <a:schemeClr val="tx1"/>
                </a:solidFill>
              </a:defRPr>
            </a:lvl4pPr>
            <a:lvl5pPr marL="3134929" indent="0" algn="ctr">
              <a:buNone/>
              <a:defRPr sz="2700" b="0">
                <a:solidFill>
                  <a:schemeClr val="tx1"/>
                </a:solidFill>
              </a:defRPr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6"/>
            <a:ext cx="548572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7010730" y="6"/>
            <a:ext cx="548572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822890" y="9"/>
            <a:ext cx="15910384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0048" y="617210"/>
            <a:ext cx="15718307" cy="1645973"/>
          </a:xfrm>
        </p:spPr>
        <p:txBody>
          <a:bodyPr/>
          <a:lstStyle>
            <a:lvl1pPr algn="l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invGray">
          <a:xfrm>
            <a:off x="548572" y="379896"/>
            <a:ext cx="17007591" cy="957432"/>
          </a:xfrm>
          <a:prstGeom prst="rect">
            <a:avLst/>
          </a:prstGeom>
          <a:solidFill>
            <a:schemeClr val="tx1">
              <a:tint val="95000"/>
              <a:alpha val="69804"/>
            </a:scheme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invGray">
          <a:xfrm>
            <a:off x="960048" y="411462"/>
            <a:ext cx="15636067" cy="925866"/>
          </a:xfrm>
          <a:noFill/>
        </p:spPr>
        <p:txBody>
          <a:bodyPr anchor="b">
            <a:noAutofit/>
          </a:bodyPr>
          <a:lstStyle>
            <a:lvl1pPr algn="l">
              <a:defRPr sz="4800" b="1">
                <a:ln w="9525" cmpd="sng">
                  <a:noFill/>
                </a:ln>
                <a:solidFill>
                  <a:schemeClr val="bg1"/>
                </a:solidFill>
                <a:effectLst>
                  <a:outerShdw blurRad="44450" dist="25400" dir="2700000" algn="tl" rotWithShape="0">
                    <a:schemeClr val="tx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60048" y="1449019"/>
            <a:ext cx="4251913" cy="7706738"/>
          </a:xfrm>
        </p:spPr>
        <p:txBody>
          <a:bodyPr/>
          <a:lstStyle>
            <a:lvl1pPr marL="0" indent="0">
              <a:buNone/>
              <a:defRPr sz="2700"/>
            </a:lvl1pPr>
            <a:lvl2pPr marL="783732" indent="0">
              <a:buNone/>
              <a:defRPr sz="2400"/>
            </a:lvl2pPr>
            <a:lvl3pPr marL="1567464" indent="0">
              <a:buNone/>
              <a:defRPr sz="1700"/>
            </a:lvl3pPr>
            <a:lvl4pPr marL="2351197" indent="0">
              <a:buNone/>
              <a:defRPr sz="1500"/>
            </a:lvl4pPr>
            <a:lvl5pPr marL="3134929" indent="0">
              <a:buNone/>
              <a:defRPr sz="15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내용 개체 틀 14"/>
          <p:cNvSpPr>
            <a:spLocks noGrp="1"/>
          </p:cNvSpPr>
          <p:nvPr>
            <p:ph sz="quarter" idx="1"/>
          </p:nvPr>
        </p:nvSpPr>
        <p:spPr>
          <a:xfrm>
            <a:off x="5349147" y="1440202"/>
            <a:ext cx="11246917" cy="7715524"/>
          </a:xfrm>
        </p:spPr>
        <p:txBody>
          <a:bodyPr/>
          <a:lstStyle>
            <a:lvl1pPr>
              <a:defRPr sz="4800"/>
            </a:lvl1pPr>
            <a:lvl2pPr>
              <a:defRPr sz="4500"/>
            </a:lvl2pPr>
            <a:lvl3pPr>
              <a:defRPr sz="4100"/>
            </a:lvl3pPr>
            <a:lvl4pPr>
              <a:defRPr sz="3400"/>
            </a:lvl4pPr>
            <a:lvl5pPr>
              <a:defRPr sz="31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0" y="6"/>
            <a:ext cx="548572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5143667"/>
            <a:ext cx="17556163" cy="473217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0048" y="5143667"/>
            <a:ext cx="6309290" cy="1639121"/>
          </a:xfrm>
        </p:spPr>
        <p:txBody>
          <a:bodyPr anchor="b"/>
          <a:lstStyle>
            <a:lvl1pPr algn="l">
              <a:defRPr sz="34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60048" y="6789651"/>
            <a:ext cx="6309290" cy="1645985"/>
          </a:xfrm>
        </p:spPr>
        <p:txBody>
          <a:bodyPr/>
          <a:lstStyle>
            <a:lvl1pPr marL="0" indent="0">
              <a:buNone/>
              <a:defRPr sz="2700"/>
            </a:lvl1pPr>
            <a:lvl2pPr marL="783732" indent="0">
              <a:buNone/>
              <a:defRPr sz="2400"/>
            </a:lvl2pPr>
            <a:lvl3pPr marL="1567464" indent="0">
              <a:buNone/>
              <a:defRPr sz="2400"/>
            </a:lvl3pPr>
            <a:lvl4pPr marL="2351197" indent="0">
              <a:buNone/>
              <a:defRPr sz="2100"/>
            </a:lvl4pPr>
            <a:lvl5pPr marL="3134929" indent="0">
              <a:buNone/>
              <a:defRPr sz="21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998356" y="9464376"/>
            <a:ext cx="5559452" cy="42877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idx="1"/>
          </p:nvPr>
        </p:nvSpPr>
        <p:spPr>
          <a:xfrm>
            <a:off x="7680813" y="1543076"/>
            <a:ext cx="8092351" cy="6789686"/>
          </a:xfrm>
          <a:solidFill>
            <a:schemeClr val="tx2"/>
          </a:solidFill>
          <a:ln w="152400" cap="rnd">
            <a:solidFill>
              <a:srgbClr val="FFFFFF"/>
            </a:soli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twoPt" dir="t">
              <a:rot lat="0" lon="0" rev="10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>
            <a:lvl1pPr marL="0" indent="0">
              <a:buNone/>
              <a:defRPr sz="5500">
                <a:solidFill>
                  <a:schemeClr val="tx2">
                    <a:tint val="10000"/>
                  </a:schemeClr>
                </a:solidFill>
                <a:effectLst>
                  <a:outerShdw blurRad="50800" dist="50800" dir="5400000" algn="tl" rotWithShape="0">
                    <a:srgbClr val="000000">
                      <a:alpha val="58000"/>
                    </a:srgbClr>
                  </a:outerShdw>
                </a:effectLst>
              </a:defRPr>
            </a:lvl1pPr>
            <a:lvl2pPr marL="783732" indent="0">
              <a:buNone/>
              <a:defRPr sz="4800"/>
            </a:lvl2pPr>
            <a:lvl3pPr marL="1567464" indent="0">
              <a:buNone/>
              <a:defRPr sz="4100"/>
            </a:lvl3pPr>
            <a:lvl4pPr marL="2351197" indent="0">
              <a:buNone/>
              <a:defRPr sz="3400"/>
            </a:lvl4pPr>
            <a:lvl5pPr marL="3134929" indent="0">
              <a:buNone/>
              <a:defRPr sz="3400"/>
            </a:lvl5pPr>
            <a:lvl6pPr marL="3918661" indent="0">
              <a:buNone/>
              <a:defRPr sz="3400"/>
            </a:lvl6pPr>
            <a:lvl7pPr marL="4702393" indent="0">
              <a:buNone/>
              <a:defRPr sz="3400"/>
            </a:lvl7pPr>
            <a:lvl8pPr marL="5486126" indent="0">
              <a:buNone/>
              <a:defRPr sz="3400"/>
            </a:lvl8pPr>
            <a:lvl9pPr marL="6269858" indent="0">
              <a:buNone/>
              <a:defRPr sz="3400"/>
            </a:lvl9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7808" y="395491"/>
            <a:ext cx="15800547" cy="1645973"/>
          </a:xfrm>
        </p:spPr>
        <p:txBody>
          <a:bodyPr anchor="b"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77808" y="2160322"/>
            <a:ext cx="15800547" cy="6661639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874824" y="2057446"/>
            <a:ext cx="15773226" cy="2287"/>
          </a:xfrm>
          <a:prstGeom prst="line">
            <a:avLst/>
          </a:prstGeom>
          <a:noFill/>
          <a:ln w="28575" cap="sq" cmpd="sng" algn="ctr">
            <a:solidFill>
              <a:srgbClr val="E49458"/>
            </a:solidFill>
            <a:prstDash val="solid"/>
          </a:ln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rgbClr val="E49458">
                <a:tint val="100000"/>
                <a:shade val="100000"/>
                <a:hueMod val="100000"/>
                <a:satMod val="100000"/>
              </a:srgb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4675896" y="-22967"/>
            <a:ext cx="2880267" cy="9875834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4675896" y="411461"/>
            <a:ext cx="2331694" cy="9052918"/>
          </a:xfrm>
          <a:noFill/>
        </p:spPr>
        <p:txBody>
          <a:bodyPr vert="eaVert" anchor="b"/>
          <a:lstStyle>
            <a:lvl1pPr algn="ctr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77808" y="822959"/>
            <a:ext cx="13660930" cy="8229928"/>
          </a:xfrm>
        </p:spPr>
        <p:txBody>
          <a:bodyPr vert="eaVert"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April 20, 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9464376"/>
            <a:ext cx="17556163" cy="411462"/>
          </a:xfrm>
          <a:prstGeom prst="rect">
            <a:avLst/>
          </a:prstGeom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3427"/>
            <a:ext cx="17556163" cy="408034"/>
          </a:xfrm>
          <a:prstGeom prst="rect">
            <a:avLst/>
          </a:prstGeom>
          <a:solidFill>
            <a:schemeClr val="accent4"/>
          </a:solidFill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6746" tIns="78373" rIns="156746" bIns="78373"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9708" y="395491"/>
            <a:ext cx="16407884" cy="1645973"/>
          </a:xfrm>
          <a:prstGeom prst="rect">
            <a:avLst/>
          </a:prstGeom>
        </p:spPr>
        <p:txBody>
          <a:bodyPr vert="horz" lIns="156746" tIns="78373" rIns="156746" bIns="78373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77808" y="2304363"/>
            <a:ext cx="15800547" cy="6517597"/>
          </a:xfrm>
          <a:prstGeom prst="rect">
            <a:avLst/>
          </a:prstGeom>
        </p:spPr>
        <p:txBody>
          <a:bodyPr vert="horz" lIns="156746" tIns="78373" rIns="156746" bIns="78373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77808" y="9464376"/>
            <a:ext cx="4096438" cy="411496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l" eaLnBrk="1" latinLnBrk="0" hangingPunct="1">
              <a:defRPr kumimoji="0" sz="2100">
                <a:solidFill>
                  <a:schemeClr val="tx1"/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April 20, 2025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998356" y="9464376"/>
            <a:ext cx="5559452" cy="411496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ctr" eaLnBrk="1" latinLnBrk="0" hangingPunct="1">
              <a:defRPr kumimoji="0" sz="2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2581917" y="9464376"/>
            <a:ext cx="4096438" cy="411496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r" eaLnBrk="1" latinLnBrk="0" hangingPunct="1">
              <a:defRPr kumimoji="0" sz="2100">
                <a:solidFill>
                  <a:schemeClr val="tx1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ctr" rtl="0" eaLnBrk="1" latinLnBrk="1" hangingPunct="1">
        <a:spcBef>
          <a:spcPct val="0"/>
        </a:spcBef>
        <a:buNone/>
        <a:defRPr kumimoji="0" sz="7500" b="0" kern="1200" spc="171" dirty="0">
          <a:ln w="18000">
            <a:noFill/>
            <a:prstDash val="solid"/>
          </a:ln>
          <a:solidFill>
            <a:schemeClr val="tx1"/>
          </a:solidFill>
          <a:effectLst>
            <a:outerShdw blurRad="44450" dist="25400" dir="2700000" algn="tl" rotWithShape="0">
              <a:schemeClr val="bg1">
                <a:alpha val="51000"/>
              </a:scheme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587799" indent="-587799" algn="l" rtl="0" eaLnBrk="1" latinLnBrk="1" hangingPunct="1">
        <a:spcBef>
          <a:spcPct val="20000"/>
        </a:spcBef>
        <a:buFont typeface="Arial"/>
        <a:buChar char="•"/>
        <a:defRPr kumimoji="0" sz="5500" kern="1200">
          <a:solidFill>
            <a:schemeClr val="tx2"/>
          </a:solidFill>
          <a:latin typeface="+mn-lt"/>
          <a:ea typeface="+mn-ea"/>
          <a:cs typeface="+mn-cs"/>
        </a:defRPr>
      </a:lvl1pPr>
      <a:lvl2pPr marL="1273565" indent="-489833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959331" indent="-391866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indent="-391866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41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795" indent="-391866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310527" indent="-391866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5094260" indent="-391866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877992" indent="-391866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6661724" indent="-391866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783732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567464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351197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134929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918661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4702393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5486126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6269858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0048" y="508000"/>
            <a:ext cx="14813116" cy="1354667"/>
          </a:xfrm>
        </p:spPr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고객 페르소나 탐색하기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>
          <a:xfrm>
            <a:off x="7700963" y="1642535"/>
            <a:ext cx="5017419" cy="846666"/>
          </a:xfrm>
        </p:spPr>
        <p:txBody>
          <a:bodyPr>
            <a:normAutofit/>
          </a:bodyPr>
          <a:lstStyle/>
          <a:p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dirty="0" smtClean="0">
                <a:latin typeface="HY견고딕" pitchFamily="18" charset="-127"/>
                <a:ea typeface="HY견고딕" pitchFamily="18" charset="-127"/>
              </a:rPr>
              <a:t>행동특</a:t>
            </a:r>
            <a:r>
              <a:rPr lang="ko-KR" altLang="en-US" sz="2300" dirty="0">
                <a:latin typeface="HY견고딕" pitchFamily="18" charset="-127"/>
                <a:ea typeface="HY견고딕" pitchFamily="18" charset="-127"/>
              </a:rPr>
              <a:t>성</a:t>
            </a:r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99198797"/>
              </p:ext>
            </p:extLst>
          </p:nvPr>
        </p:nvGraphicFramePr>
        <p:xfrm>
          <a:off x="362862" y="4942896"/>
          <a:ext cx="7172471" cy="395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472"/>
                <a:gridCol w="4517999"/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7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이름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김지연</a:t>
                      </a:r>
                      <a:endParaRPr lang="en-US" altLang="ko-KR" dirty="0" smtClean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6532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나이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/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성별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34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세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/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여성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7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직업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프리랜서 </a:t>
                      </a:r>
                      <a:r>
                        <a:rPr lang="ko-KR" altLang="en-US" dirty="0" err="1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마케터</a:t>
                      </a:r>
                      <a:endParaRPr lang="en-US" altLang="ko-KR" dirty="0" smtClean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7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가족구성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기혼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아이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1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명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7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거주지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서울 송파구 아파트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7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월소득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약 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400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만원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94800"/>
              </p:ext>
            </p:extLst>
          </p:nvPr>
        </p:nvGraphicFramePr>
        <p:xfrm>
          <a:off x="7700963" y="2218268"/>
          <a:ext cx="9672638" cy="3177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319"/>
                <a:gridCol w="4836319"/>
              </a:tblGrid>
              <a:tr h="588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항목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내용</a:t>
                      </a:r>
                      <a:endParaRPr lang="en-US" altLang="ko-KR" sz="2000" dirty="0" smtClean="0"/>
                    </a:p>
                  </a:txBody>
                  <a:tcPr/>
                </a:tc>
              </a:tr>
              <a:tr h="7114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라이프스타일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재택근무중심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오전에 카페 형 분위기 선호</a:t>
                      </a:r>
                      <a:endParaRPr lang="ko-KR" altLang="en-US" sz="2000" dirty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디지털활용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배달앱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인스타</a:t>
                      </a:r>
                      <a:r>
                        <a:rPr lang="ko-KR" altLang="en-US" sz="2000" dirty="0" smtClean="0"/>
                        <a:t> 그램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마켓 </a:t>
                      </a:r>
                      <a:r>
                        <a:rPr lang="ko-KR" altLang="en-US" sz="2000" dirty="0" err="1" smtClean="0"/>
                        <a:t>컬러등</a:t>
                      </a:r>
                      <a:r>
                        <a:rPr lang="ko-KR" altLang="en-US" sz="2000" dirty="0" smtClean="0"/>
                        <a:t> 이용활발</a:t>
                      </a:r>
                      <a:endParaRPr lang="en-US" altLang="ko-KR" sz="2000" dirty="0" smtClean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소비성향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건강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프리미엄</a:t>
                      </a:r>
                      <a:r>
                        <a:rPr lang="en-US" altLang="ko-KR" sz="2000" dirty="0" smtClean="0"/>
                        <a:t>,</a:t>
                      </a:r>
                      <a:r>
                        <a:rPr lang="ko-KR" altLang="en-US" sz="2000" dirty="0" err="1" smtClean="0"/>
                        <a:t>소확행</a:t>
                      </a:r>
                      <a:r>
                        <a:rPr lang="ko-KR" altLang="en-US" sz="2000" dirty="0" smtClean="0"/>
                        <a:t> 지향</a:t>
                      </a:r>
                      <a:endParaRPr lang="ko-KR" altLang="en-US" sz="2000" dirty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자주이용하는채널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인스타그램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네이버블로그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카카오톡</a:t>
                      </a:r>
                      <a:endParaRPr lang="ko-KR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65681"/>
              </p:ext>
            </p:extLst>
          </p:nvPr>
        </p:nvGraphicFramePr>
        <p:xfrm>
          <a:off x="7535330" y="6774356"/>
          <a:ext cx="983827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9135"/>
                <a:gridCol w="4919135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항목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내용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주요 </a:t>
                      </a:r>
                      <a:r>
                        <a:rPr lang="ko-KR" altLang="en-US" sz="2000" dirty="0" err="1" smtClean="0"/>
                        <a:t>니즈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갓구운</a:t>
                      </a:r>
                      <a:r>
                        <a:rPr lang="ko-KR" altLang="en-US" sz="2000" dirty="0" smtClean="0"/>
                        <a:t> </a:t>
                      </a:r>
                      <a:r>
                        <a:rPr lang="ko-KR" altLang="en-US" sz="2000" dirty="0" err="1" smtClean="0"/>
                        <a:t>신선한빵을</a:t>
                      </a:r>
                      <a:r>
                        <a:rPr lang="ko-KR" altLang="en-US" sz="2000" dirty="0" smtClean="0"/>
                        <a:t> </a:t>
                      </a:r>
                      <a:r>
                        <a:rPr lang="ko-KR" altLang="en-US" sz="2000" dirty="0" err="1" smtClean="0"/>
                        <a:t>집앞까지</a:t>
                      </a:r>
                      <a:r>
                        <a:rPr lang="ko-KR" altLang="en-US" sz="2000" dirty="0" smtClean="0"/>
                        <a:t> 편하게 받기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페인포인트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줄서기 싫고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아이랑 외출이 불편함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기존</a:t>
                      </a:r>
                      <a:r>
                        <a:rPr lang="ko-KR" altLang="en-US" sz="2000" baseline="0" dirty="0" smtClean="0"/>
                        <a:t> 서비스 불만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배달시</a:t>
                      </a:r>
                      <a:r>
                        <a:rPr lang="ko-KR" altLang="en-US" sz="2000" dirty="0" smtClean="0"/>
                        <a:t> 빵이 눅눅하거나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시간 예측 불가</a:t>
                      </a:r>
                      <a:endParaRPr lang="ko-KR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텍스트 개체 틀 3"/>
          <p:cNvSpPr txBox="1">
            <a:spLocks/>
          </p:cNvSpPr>
          <p:nvPr/>
        </p:nvSpPr>
        <p:spPr>
          <a:xfrm>
            <a:off x="515262" y="4030134"/>
            <a:ext cx="5017419" cy="846666"/>
          </a:xfrm>
          <a:prstGeom prst="rect">
            <a:avLst/>
          </a:prstGeom>
        </p:spPr>
        <p:txBody>
          <a:bodyPr vert="horz" lIns="156746" tIns="78373" rIns="156746" bIns="78373" rtlCol="0" anchor="t">
            <a:normAutofit/>
          </a:bodyPr>
          <a:lstStyle>
            <a:lvl1pPr marL="0" indent="0" algn="l" rtl="0" eaLnBrk="1" latinLnBrk="1" hangingPunct="1">
              <a:spcBef>
                <a:spcPct val="20000"/>
              </a:spcBef>
              <a:buFont typeface="Arial"/>
              <a:buNone/>
              <a:defRPr kumimoji="0" sz="3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83732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3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567464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51197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134929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918661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702393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486126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269858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30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smtClean="0">
                <a:latin typeface="HY견고딕" pitchFamily="18" charset="-127"/>
                <a:ea typeface="HY견고딕" pitchFamily="18" charset="-127"/>
              </a:rPr>
              <a:t>인구통계학적특성</a:t>
            </a:r>
            <a:r>
              <a:rPr lang="en-US" altLang="ko-KR" sz="2300" smtClean="0">
                <a:latin typeface="HY견고딕" pitchFamily="18" charset="-127"/>
                <a:ea typeface="HY견고딕" pitchFamily="18" charset="-127"/>
              </a:rPr>
              <a:t>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" name="텍스트 개체 틀 3"/>
          <p:cNvSpPr txBox="1">
            <a:spLocks/>
          </p:cNvSpPr>
          <p:nvPr/>
        </p:nvSpPr>
        <p:spPr>
          <a:xfrm>
            <a:off x="7700963" y="5554135"/>
            <a:ext cx="5017419" cy="846666"/>
          </a:xfrm>
          <a:prstGeom prst="rect">
            <a:avLst/>
          </a:prstGeom>
        </p:spPr>
        <p:txBody>
          <a:bodyPr vert="horz" lIns="156746" tIns="78373" rIns="156746" bIns="78373" rtlCol="0" anchor="t">
            <a:normAutofit/>
          </a:bodyPr>
          <a:lstStyle>
            <a:lvl1pPr marL="0" indent="0" algn="l" rtl="0" eaLnBrk="1" latinLnBrk="1" hangingPunct="1">
              <a:spcBef>
                <a:spcPct val="20000"/>
              </a:spcBef>
              <a:buFont typeface="Arial"/>
              <a:buNone/>
              <a:defRPr kumimoji="0" sz="3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83732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3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567464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51197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134929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918661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702393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486126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269858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dirty="0" err="1" smtClean="0">
                <a:latin typeface="HY견고딕" pitchFamily="18" charset="-127"/>
                <a:ea typeface="HY견고딕" pitchFamily="18" charset="-127"/>
              </a:rPr>
              <a:t>심리적특</a:t>
            </a:r>
            <a:r>
              <a:rPr lang="ko-KR" altLang="en-US" sz="2300" dirty="0" err="1">
                <a:latin typeface="HY견고딕" pitchFamily="18" charset="-127"/>
                <a:ea typeface="HY견고딕" pitchFamily="18" charset="-127"/>
              </a:rPr>
              <a:t>성</a:t>
            </a:r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50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0048" y="508000"/>
            <a:ext cx="14813116" cy="1354667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케이스</a:t>
            </a:r>
            <a:r>
              <a:rPr lang="en-US" altLang="ko-KR" dirty="0" smtClean="0"/>
              <a:t>1 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= </a:t>
            </a:r>
            <a:r>
              <a:rPr lang="ko-KR" altLang="en-US" dirty="0" smtClean="0"/>
              <a:t>사용자</a:t>
            </a:r>
            <a:r>
              <a:rPr lang="en-US" altLang="ko-KR" dirty="0" smtClean="0"/>
              <a:t>= </a:t>
            </a:r>
            <a:r>
              <a:rPr lang="ko-KR" altLang="en-US" dirty="0" smtClean="0"/>
              <a:t>문제당사자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>
          <a:xfrm>
            <a:off x="7700963" y="1642535"/>
            <a:ext cx="5017419" cy="846666"/>
          </a:xfrm>
        </p:spPr>
        <p:txBody>
          <a:bodyPr>
            <a:normAutofit/>
          </a:bodyPr>
          <a:lstStyle/>
          <a:p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dirty="0" smtClean="0">
                <a:latin typeface="HY견고딕" pitchFamily="18" charset="-127"/>
                <a:ea typeface="HY견고딕" pitchFamily="18" charset="-127"/>
              </a:rPr>
              <a:t>기대</a:t>
            </a:r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(Needs &amp; Expectations)]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64715402"/>
              </p:ext>
            </p:extLst>
          </p:nvPr>
        </p:nvGraphicFramePr>
        <p:xfrm>
          <a:off x="362862" y="4588931"/>
          <a:ext cx="7172471" cy="4077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472"/>
                <a:gridCol w="4517999"/>
              </a:tblGrid>
              <a:tr h="3342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유형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불편내용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48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물리적</a:t>
                      </a:r>
                      <a:r>
                        <a:rPr lang="ko-KR" altLang="en-US" baseline="0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 불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편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인기 </a:t>
                      </a:r>
                      <a:r>
                        <a:rPr lang="ko-KR" altLang="en-US" dirty="0" err="1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베이커리에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 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줄 서야 하고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멀리 </a:t>
                      </a:r>
                      <a:r>
                        <a:rPr lang="ko-KR" altLang="en-US" dirty="0" err="1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가야함</a:t>
                      </a:r>
                      <a:endParaRPr lang="en-US" altLang="ko-KR" dirty="0" smtClean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48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시간</a:t>
                      </a:r>
                      <a:r>
                        <a:rPr lang="en-US" altLang="ko-KR" baseline="0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 </a:t>
                      </a:r>
                      <a:r>
                        <a:rPr lang="ko-KR" altLang="en-US" baseline="0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부족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아침이나 주말에  </a:t>
                      </a:r>
                      <a:r>
                        <a:rPr lang="ko-KR" altLang="en-US" dirty="0" err="1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빵사러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 나갈 </a:t>
                      </a:r>
                      <a:r>
                        <a:rPr lang="ko-KR" altLang="en-US" baseline="0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 시간이  없음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48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육아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출퇴근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아이를 데리고  외출이 어렵거나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퇴근 후 이미  매장   마감</a:t>
                      </a:r>
                      <a:endParaRPr lang="en-US" altLang="ko-KR" dirty="0" smtClean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48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신선도 문제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기존 배달은 빵이 눅눅하거나  포장 상태가 좋지  않음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848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정보 부족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어디  빵집이  맛있는지</a:t>
                      </a:r>
                      <a:r>
                        <a:rPr lang="en-US" altLang="ko-KR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, </a:t>
                      </a:r>
                      <a:r>
                        <a:rPr lang="ko-KR" altLang="en-US" dirty="0" smtClean="0">
                          <a:latin typeface="Calibri" pitchFamily="34" charset="0"/>
                          <a:ea typeface="MD아트체" pitchFamily="18" charset="-127"/>
                          <a:cs typeface="Calibri" pitchFamily="34" charset="0"/>
                        </a:rPr>
                        <a:t>언제 빵이 나오는지 알기 어려움</a:t>
                      </a:r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  <a:tr h="51166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itchFamily="34" charset="0"/>
                        <a:ea typeface="MD아트체" pitchFamily="18" charset="-127"/>
                        <a:cs typeface="Calibri" pitchFamily="34" charset="0"/>
                      </a:endParaRPr>
                    </a:p>
                  </a:txBody>
                  <a:tcPr marL="178841" marR="178841"/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89118"/>
              </p:ext>
            </p:extLst>
          </p:nvPr>
        </p:nvGraphicFramePr>
        <p:xfrm>
          <a:off x="7700963" y="2218268"/>
          <a:ext cx="9672638" cy="329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319"/>
                <a:gridCol w="4836319"/>
              </a:tblGrid>
              <a:tr h="588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신선도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갓 구운 빵이 따듯한 상태로 배달되길 바람</a:t>
                      </a:r>
                      <a:endParaRPr lang="en-US" altLang="ko-KR" sz="2000" dirty="0" smtClean="0"/>
                    </a:p>
                  </a:txBody>
                  <a:tcPr/>
                </a:tc>
              </a:tr>
              <a:tr h="7114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편리함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앱이나</a:t>
                      </a:r>
                      <a:r>
                        <a:rPr lang="ko-KR" altLang="en-US" sz="2000" dirty="0" smtClean="0"/>
                        <a:t> 웹에서 간편하게 주문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예약 가능하길 원함</a:t>
                      </a:r>
                      <a:endParaRPr lang="ko-KR" altLang="en-US" sz="2000" dirty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시간 절약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출근 전</a:t>
                      </a:r>
                      <a:r>
                        <a:rPr lang="en-US" altLang="ko-KR" sz="2000" dirty="0" smtClean="0"/>
                        <a:t>,</a:t>
                      </a:r>
                      <a:r>
                        <a:rPr lang="ko-KR" altLang="en-US" sz="2000" baseline="0" dirty="0" smtClean="0"/>
                        <a:t> 주말 </a:t>
                      </a:r>
                      <a:r>
                        <a:rPr lang="ko-KR" altLang="en-US" sz="2000" baseline="0" dirty="0" err="1" smtClean="0"/>
                        <a:t>브런치</a:t>
                      </a:r>
                      <a:r>
                        <a:rPr lang="ko-KR" altLang="en-US" sz="2000" baseline="0" dirty="0" smtClean="0"/>
                        <a:t> 등 빠르게 받길 기대</a:t>
                      </a:r>
                      <a:endParaRPr lang="en-US" altLang="ko-KR" sz="2000" dirty="0" smtClean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다양성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동네 인기 빵집이나 한정 메뉴까지 선택 가능하길 원함</a:t>
                      </a:r>
                      <a:endParaRPr lang="ko-KR" altLang="en-US" sz="2000" dirty="0"/>
                    </a:p>
                  </a:txBody>
                  <a:tcPr/>
                </a:tc>
              </a:tr>
              <a:tr h="588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퀄리티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포장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맛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리뷰 등에서 프리미엄 서비스 기대</a:t>
                      </a:r>
                      <a:endParaRPr lang="ko-KR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12484"/>
              </p:ext>
            </p:extLst>
          </p:nvPr>
        </p:nvGraphicFramePr>
        <p:xfrm>
          <a:off x="7700963" y="5977468"/>
          <a:ext cx="9838270" cy="3563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9135"/>
                <a:gridCol w="4919135"/>
              </a:tblGrid>
              <a:tr h="7589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연령대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20</a:t>
                      </a:r>
                      <a:r>
                        <a:rPr lang="ko-KR" altLang="en-US" sz="2000" dirty="0" smtClean="0"/>
                        <a:t>대 후반</a:t>
                      </a:r>
                      <a:r>
                        <a:rPr lang="en-US" altLang="ko-KR" sz="2000" dirty="0" smtClean="0"/>
                        <a:t>~40</a:t>
                      </a:r>
                      <a:r>
                        <a:rPr lang="ko-KR" altLang="en-US" sz="2000" dirty="0" smtClean="0"/>
                        <a:t>대 초반</a:t>
                      </a:r>
                      <a:r>
                        <a:rPr lang="en-US" altLang="ko-KR" sz="2000" dirty="0" smtClean="0"/>
                        <a:t>(</a:t>
                      </a:r>
                      <a:r>
                        <a:rPr lang="ko-KR" altLang="en-US" sz="2000" dirty="0" smtClean="0"/>
                        <a:t>특히 </a:t>
                      </a:r>
                      <a:r>
                        <a:rPr lang="en-US" altLang="ko-KR" sz="2000" dirty="0" smtClean="0"/>
                        <a:t>30</a:t>
                      </a:r>
                      <a:r>
                        <a:rPr lang="ko-KR" altLang="en-US" sz="2000" dirty="0" smtClean="0"/>
                        <a:t>대 여성 비중 높음</a:t>
                      </a:r>
                      <a:r>
                        <a:rPr lang="en-US" altLang="ko-KR" sz="2000" dirty="0" smtClean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</a:tr>
              <a:tr h="7589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생활패턴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재택 근무자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육아맘</a:t>
                      </a:r>
                      <a:r>
                        <a:rPr lang="en-US" altLang="ko-KR" sz="2000" dirty="0" smtClean="0"/>
                        <a:t>, 1</a:t>
                      </a:r>
                      <a:r>
                        <a:rPr lang="ko-KR" altLang="en-US" sz="2000" dirty="0" smtClean="0"/>
                        <a:t>인 가구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바쁜 직장인</a:t>
                      </a:r>
                      <a:endParaRPr lang="ko-KR" altLang="en-US" sz="2000" dirty="0"/>
                    </a:p>
                  </a:txBody>
                  <a:tcPr/>
                </a:tc>
              </a:tr>
              <a:tr h="4289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소비 성향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프리미엄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소확행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편리함 우선</a:t>
                      </a:r>
                      <a:endParaRPr lang="ko-KR" altLang="en-US" sz="2000" dirty="0"/>
                    </a:p>
                  </a:txBody>
                  <a:tcPr/>
                </a:tc>
              </a:tr>
              <a:tr h="4289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디지털 친화도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배달앱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눈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smtClean="0"/>
                        <a:t>온라인 </a:t>
                      </a:r>
                      <a:r>
                        <a:rPr lang="ko-KR" altLang="en-US" sz="2000" dirty="0" err="1" smtClean="0"/>
                        <a:t>커머스</a:t>
                      </a:r>
                      <a:r>
                        <a:rPr lang="ko-KR" altLang="en-US" sz="2000" dirty="0" smtClean="0"/>
                        <a:t> 사용 능숙</a:t>
                      </a:r>
                      <a:endParaRPr lang="ko-KR" altLang="en-US" sz="2000" dirty="0"/>
                    </a:p>
                  </a:txBody>
                  <a:tcPr/>
                </a:tc>
              </a:tr>
              <a:tr h="7589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콘텐츠</a:t>
                      </a:r>
                      <a:r>
                        <a:rPr lang="ko-KR" altLang="en-US" sz="2000" dirty="0" smtClean="0"/>
                        <a:t> 영향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인스타</a:t>
                      </a:r>
                      <a:r>
                        <a:rPr lang="ko-KR" altLang="en-US" sz="2000" dirty="0" smtClean="0"/>
                        <a:t> 그램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블로그</a:t>
                      </a:r>
                      <a:r>
                        <a:rPr lang="ko-KR" altLang="en-US" sz="2000" dirty="0" smtClean="0"/>
                        <a:t> 후기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ko-KR" altLang="en-US" sz="2000" dirty="0" err="1" smtClean="0"/>
                        <a:t>빵관련</a:t>
                      </a:r>
                      <a:r>
                        <a:rPr lang="ko-KR" altLang="en-US" sz="2000" dirty="0" smtClean="0"/>
                        <a:t> </a:t>
                      </a:r>
                      <a:r>
                        <a:rPr lang="ko-KR" altLang="en-US" sz="2000" dirty="0" err="1" smtClean="0"/>
                        <a:t>콘텐츠에</a:t>
                      </a:r>
                      <a:r>
                        <a:rPr lang="ko-KR" altLang="en-US" sz="2000" dirty="0" smtClean="0"/>
                        <a:t> 민감하게 반응</a:t>
                      </a:r>
                      <a:endParaRPr lang="ko-KR" altLang="en-US" sz="2000" dirty="0"/>
                    </a:p>
                  </a:txBody>
                  <a:tcPr/>
                </a:tc>
              </a:tr>
              <a:tr h="4289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주요 사용 시간대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아침</a:t>
                      </a:r>
                      <a:r>
                        <a:rPr lang="en-US" altLang="ko-KR" sz="2000" dirty="0" smtClean="0"/>
                        <a:t>(</a:t>
                      </a:r>
                      <a:r>
                        <a:rPr lang="ko-KR" altLang="en-US" sz="2000" dirty="0" err="1" smtClean="0"/>
                        <a:t>출근전</a:t>
                      </a:r>
                      <a:r>
                        <a:rPr lang="en-US" altLang="ko-KR" sz="2000" dirty="0" smtClean="0"/>
                        <a:t>),</a:t>
                      </a:r>
                      <a:r>
                        <a:rPr lang="en-US" altLang="ko-KR" sz="2000" baseline="0" dirty="0" smtClean="0"/>
                        <a:t> </a:t>
                      </a:r>
                      <a:r>
                        <a:rPr lang="ko-KR" altLang="en-US" sz="2000" baseline="0" dirty="0" smtClean="0"/>
                        <a:t>점심직후</a:t>
                      </a:r>
                      <a:r>
                        <a:rPr lang="en-US" altLang="ko-KR" sz="2000" baseline="0" dirty="0" smtClean="0"/>
                        <a:t>, </a:t>
                      </a:r>
                      <a:r>
                        <a:rPr lang="ko-KR" altLang="en-US" sz="2000" baseline="0" dirty="0" smtClean="0"/>
                        <a:t>주말 오전</a:t>
                      </a:r>
                      <a:endParaRPr lang="ko-KR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텍스트 개체 틀 3"/>
          <p:cNvSpPr txBox="1">
            <a:spLocks/>
          </p:cNvSpPr>
          <p:nvPr/>
        </p:nvSpPr>
        <p:spPr>
          <a:xfrm>
            <a:off x="515262" y="4030134"/>
            <a:ext cx="5017419" cy="846666"/>
          </a:xfrm>
          <a:prstGeom prst="rect">
            <a:avLst/>
          </a:prstGeom>
        </p:spPr>
        <p:txBody>
          <a:bodyPr vert="horz" lIns="156746" tIns="78373" rIns="156746" bIns="78373" rtlCol="0" anchor="t">
            <a:normAutofit/>
          </a:bodyPr>
          <a:lstStyle>
            <a:lvl1pPr marL="0" indent="0" algn="l" rtl="0" eaLnBrk="1" latinLnBrk="1" hangingPunct="1">
              <a:spcBef>
                <a:spcPct val="20000"/>
              </a:spcBef>
              <a:buFont typeface="Arial"/>
              <a:buNone/>
              <a:defRPr kumimoji="0" sz="3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83732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3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567464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51197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134929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918661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702393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486126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269858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dirty="0" smtClean="0">
                <a:latin typeface="HY견고딕" pitchFamily="18" charset="-127"/>
                <a:ea typeface="HY견고딕" pitchFamily="18" charset="-127"/>
              </a:rPr>
              <a:t>불편</a:t>
            </a:r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(Pain points)]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" name="텍스트 개체 틀 3"/>
          <p:cNvSpPr txBox="1">
            <a:spLocks/>
          </p:cNvSpPr>
          <p:nvPr/>
        </p:nvSpPr>
        <p:spPr>
          <a:xfrm>
            <a:off x="7700963" y="5554135"/>
            <a:ext cx="5017419" cy="846666"/>
          </a:xfrm>
          <a:prstGeom prst="rect">
            <a:avLst/>
          </a:prstGeom>
        </p:spPr>
        <p:txBody>
          <a:bodyPr vert="horz" lIns="156746" tIns="78373" rIns="156746" bIns="78373" rtlCol="0" anchor="t">
            <a:normAutofit/>
          </a:bodyPr>
          <a:lstStyle>
            <a:lvl1pPr marL="0" indent="0" algn="l" rtl="0" eaLnBrk="1" latinLnBrk="1" hangingPunct="1">
              <a:spcBef>
                <a:spcPct val="20000"/>
              </a:spcBef>
              <a:buFont typeface="Arial"/>
              <a:buNone/>
              <a:defRPr kumimoji="0" sz="3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83732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3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567464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51197" indent="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134929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918661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702393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486126" indent="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269858" indent="0" algn="l" rtl="0" eaLnBrk="1" latinLnBrk="1" hangingPunct="1">
              <a:spcBef>
                <a:spcPct val="20000"/>
              </a:spcBef>
              <a:buClr>
                <a:schemeClr val="tx2"/>
              </a:buClr>
              <a:buFont typeface="Arial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300" dirty="0" smtClean="0">
                <a:latin typeface="HY견고딕" pitchFamily="18" charset="-127"/>
                <a:ea typeface="HY견고딕" pitchFamily="18" charset="-127"/>
              </a:rPr>
              <a:t>특징</a:t>
            </a:r>
            <a:r>
              <a:rPr lang="en-US" altLang="ko-KR" sz="2300" dirty="0" smtClean="0">
                <a:latin typeface="HY견고딕" pitchFamily="18" charset="-127"/>
                <a:ea typeface="HY견고딕" pitchFamily="18" charset="-127"/>
              </a:rPr>
              <a:t>(Persona Traits)]</a:t>
            </a:r>
            <a:endParaRPr lang="ko-KR" altLang="en-US" sz="23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775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4BBB8F8-3E41-4B6B-D0C2-BC28B1BB0BB7}"/>
              </a:ext>
            </a:extLst>
          </p:cNvPr>
          <p:cNvSpPr txBox="1"/>
          <p:nvPr/>
        </p:nvSpPr>
        <p:spPr>
          <a:xfrm>
            <a:off x="3271584" y="2398325"/>
            <a:ext cx="7335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주요 고객층은 </a:t>
            </a:r>
            <a:r>
              <a:rPr lang="en-US" altLang="ko-KR" dirty="0" smtClean="0"/>
              <a:t>30~40</a:t>
            </a:r>
            <a:r>
              <a:rPr lang="ko-KR" altLang="en-US" dirty="0" smtClean="0"/>
              <a:t>대 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재택 근무자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육아맘</a:t>
            </a:r>
            <a:r>
              <a:rPr lang="en-US" altLang="ko-KR" dirty="0" smtClean="0"/>
              <a:t>, 1</a:t>
            </a:r>
            <a:r>
              <a:rPr lang="ko-KR" altLang="en-US" dirty="0" smtClean="0"/>
              <a:t>인 </a:t>
            </a:r>
            <a:r>
              <a:rPr lang="ko-KR" altLang="en-US" dirty="0" err="1" smtClean="0"/>
              <a:t>가구등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소비성향 </a:t>
            </a:r>
            <a:r>
              <a:rPr lang="ko-KR" altLang="en-US" dirty="0" err="1" smtClean="0"/>
              <a:t>소확행</a:t>
            </a:r>
            <a:r>
              <a:rPr lang="en-US" altLang="ko-KR" dirty="0" smtClean="0"/>
              <a:t>,</a:t>
            </a:r>
            <a:r>
              <a:rPr lang="ko-KR" altLang="en-US" dirty="0" smtClean="0"/>
              <a:t>프리미엄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편리함 중시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페인포인트는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긴줄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매장거리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 부족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빵 신선도 문제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기대 </a:t>
            </a:r>
            <a:r>
              <a:rPr lang="ko-KR" altLang="en-US" dirty="0" err="1" smtClean="0"/>
              <a:t>니즈는</a:t>
            </a:r>
            <a:r>
              <a:rPr lang="ko-KR" altLang="en-US" dirty="0"/>
              <a:t> </a:t>
            </a:r>
            <a:r>
              <a:rPr lang="ko-KR" altLang="en-US" dirty="0" smtClean="0"/>
              <a:t>빠르고  신선한 배달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예약가능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맛있는 동네 빵집 연결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사용채널은 </a:t>
            </a:r>
            <a:r>
              <a:rPr lang="ko-KR" altLang="en-US" dirty="0" err="1" smtClean="0"/>
              <a:t>배달앱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인스타</a:t>
            </a:r>
            <a:r>
              <a:rPr lang="ko-KR" altLang="en-US" dirty="0" smtClean="0"/>
              <a:t> 그램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마켓컬리</a:t>
            </a:r>
            <a:r>
              <a:rPr lang="ko-KR" altLang="en-US" dirty="0" err="1" smtClean="0"/>
              <a:t>등</a:t>
            </a:r>
            <a:r>
              <a:rPr lang="ko-KR" altLang="en-US" dirty="0" smtClean="0"/>
              <a:t> 디지털 친숙함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사용 시간대는 주로 아침</a:t>
            </a:r>
            <a:r>
              <a:rPr lang="en-US" altLang="ko-KR" dirty="0" smtClean="0"/>
              <a:t>/ </a:t>
            </a:r>
            <a:r>
              <a:rPr lang="ko-KR" altLang="en-US" dirty="0" smtClean="0"/>
              <a:t>주말 오전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또는 </a:t>
            </a:r>
            <a:r>
              <a:rPr lang="ko-KR" altLang="en-US" dirty="0" err="1" smtClean="0"/>
              <a:t>브런치</a:t>
            </a:r>
            <a:r>
              <a:rPr lang="ko-KR" altLang="en-US" dirty="0" smtClean="0"/>
              <a:t> 시간대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B0258A9-4E66-2439-B796-99CB47045F0A}"/>
              </a:ext>
            </a:extLst>
          </p:cNvPr>
          <p:cNvSpPr txBox="1"/>
          <p:nvPr/>
        </p:nvSpPr>
        <p:spPr>
          <a:xfrm>
            <a:off x="3271583" y="4614594"/>
            <a:ext cx="105227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배송료</a:t>
            </a:r>
            <a:r>
              <a:rPr lang="en-US" altLang="ko-KR" dirty="0" smtClean="0"/>
              <a:t>/</a:t>
            </a:r>
            <a:r>
              <a:rPr lang="ko-KR" altLang="en-US" dirty="0" smtClean="0"/>
              <a:t>프리미엄 가격에 어느 정도까지 수용 가능한지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주</a:t>
            </a:r>
            <a:r>
              <a:rPr lang="en-US" altLang="ko-KR" dirty="0" smtClean="0"/>
              <a:t>1</a:t>
            </a:r>
            <a:r>
              <a:rPr lang="ko-KR" altLang="en-US" dirty="0" smtClean="0"/>
              <a:t>회 이상인지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가끔 기분 전환용 인지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어떤 요소가 이탈 없이 반복이용으로 이어가는지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고객별로 선호하는 </a:t>
            </a:r>
            <a:r>
              <a:rPr lang="ko-KR" altLang="en-US" dirty="0" err="1" smtClean="0"/>
              <a:t>빵종류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크루아상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vs</a:t>
            </a:r>
            <a:r>
              <a:rPr lang="ko-KR" altLang="en-US" dirty="0" err="1" smtClean="0"/>
              <a:t>단팥빵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특정 </a:t>
            </a:r>
            <a:r>
              <a:rPr lang="ko-KR" altLang="en-US" dirty="0" err="1" smtClean="0"/>
              <a:t>베이커리</a:t>
            </a:r>
            <a:r>
              <a:rPr lang="ko-KR" altLang="en-US" dirty="0" smtClean="0"/>
              <a:t> 선호가 있는지 여부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AD99AB-7DC2-C3CF-2320-A1E58B9FFE44}"/>
              </a:ext>
            </a:extLst>
          </p:cNvPr>
          <p:cNvSpPr txBox="1"/>
          <p:nvPr/>
        </p:nvSpPr>
        <p:spPr>
          <a:xfrm>
            <a:off x="3271584" y="6866964"/>
            <a:ext cx="7335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무엇이 구매클릭을 유도 하는가</a:t>
            </a:r>
            <a:r>
              <a:rPr lang="en-US" altLang="ko-KR" dirty="0" smtClean="0"/>
              <a:t>?(</a:t>
            </a:r>
            <a:r>
              <a:rPr lang="ko-KR" altLang="en-US" dirty="0" smtClean="0"/>
              <a:t>브랜드 </a:t>
            </a:r>
            <a:r>
              <a:rPr lang="en-US" altLang="ko-KR" dirty="0" smtClean="0"/>
              <a:t>,</a:t>
            </a:r>
            <a:r>
              <a:rPr lang="ko-KR" altLang="en-US" dirty="0" smtClean="0"/>
              <a:t>포장</a:t>
            </a:r>
            <a:r>
              <a:rPr lang="en-US" altLang="ko-KR" dirty="0" smtClean="0"/>
              <a:t>,</a:t>
            </a:r>
            <a:r>
              <a:rPr lang="ko-KR" altLang="en-US" dirty="0" smtClean="0"/>
              <a:t>후기</a:t>
            </a:r>
            <a:r>
              <a:rPr lang="en-US" altLang="ko-KR" dirty="0" smtClean="0"/>
              <a:t>,</a:t>
            </a:r>
            <a:r>
              <a:rPr lang="ko-KR" altLang="en-US" dirty="0" smtClean="0"/>
              <a:t>배송시간</a:t>
            </a:r>
            <a:r>
              <a:rPr lang="en-US" altLang="ko-KR" dirty="0"/>
              <a:t>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시간 예약 </a:t>
            </a:r>
            <a:r>
              <a:rPr lang="en-US" altLang="ko-KR" dirty="0" err="1" smtClean="0"/>
              <a:t>vs</a:t>
            </a:r>
            <a:r>
              <a:rPr lang="en-US" altLang="ko-KR" dirty="0" smtClean="0"/>
              <a:t> </a:t>
            </a:r>
            <a:r>
              <a:rPr lang="ko-KR" altLang="en-US" dirty="0" smtClean="0"/>
              <a:t>빠른</a:t>
            </a:r>
            <a:r>
              <a:rPr lang="en-US" altLang="ko-KR" dirty="0"/>
              <a:t> </a:t>
            </a:r>
            <a:r>
              <a:rPr lang="ko-KR" altLang="en-US" dirty="0" smtClean="0"/>
              <a:t>배달  중 선호는</a:t>
            </a:r>
            <a:r>
              <a:rPr lang="en-US" altLang="ko-KR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반복 이용하게  만드는 핵심가치는  무엇인가</a:t>
            </a:r>
            <a:r>
              <a:rPr lang="en-US" altLang="ko-KR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고객은 이 서비스를  쓰지 </a:t>
            </a:r>
            <a:r>
              <a:rPr lang="ko-KR" altLang="en-US" dirty="0" err="1" smtClean="0"/>
              <a:t>않을때</a:t>
            </a:r>
            <a:r>
              <a:rPr lang="ko-KR" altLang="en-US" dirty="0" smtClean="0"/>
              <a:t> 어떤 선택을 하는가</a:t>
            </a:r>
            <a:r>
              <a:rPr lang="en-US" altLang="ko-KR" dirty="0" smtClean="0"/>
              <a:t>?(</a:t>
            </a:r>
            <a:r>
              <a:rPr lang="ko-KR" altLang="en-US" dirty="0" smtClean="0"/>
              <a:t>직접 구매</a:t>
            </a:r>
            <a:r>
              <a:rPr lang="en-US" altLang="ko-KR" dirty="0" smtClean="0"/>
              <a:t>?</a:t>
            </a:r>
            <a:r>
              <a:rPr lang="ko-KR" altLang="en-US" dirty="0" err="1" smtClean="0"/>
              <a:t>다른배달앱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어떤 혜택</a:t>
            </a:r>
            <a:r>
              <a:rPr lang="en-US" altLang="ko-KR" dirty="0" smtClean="0"/>
              <a:t>(</a:t>
            </a:r>
            <a:r>
              <a:rPr lang="ko-KR" altLang="en-US" dirty="0" smtClean="0"/>
              <a:t>첫 구매할인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묶음할인등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가장 반응이 좋은가</a:t>
            </a:r>
            <a:r>
              <a:rPr lang="en-US" altLang="ko-KR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307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고구려 벽화">
  <a:themeElements>
    <a:clrScheme name="고구려 벽화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E49458"/>
      </a:accent1>
      <a:accent2>
        <a:srgbClr val="74AD8D"/>
      </a:accent2>
      <a:accent3>
        <a:srgbClr val="D4AC30"/>
      </a:accent3>
      <a:accent4>
        <a:srgbClr val="7BA5BE"/>
      </a:accent4>
      <a:accent5>
        <a:srgbClr val="E4A098"/>
      </a:accent5>
      <a:accent6>
        <a:srgbClr val="70B4B7"/>
      </a:accent6>
      <a:hlink>
        <a:srgbClr val="008685"/>
      </a:hlink>
      <a:folHlink>
        <a:srgbClr val="EA5A23"/>
      </a:folHlink>
    </a:clrScheme>
    <a:fontScheme name="고구려 벽화">
      <a:maj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01600" dist="76200" dir="2700000" algn="bl">
              <a:srgbClr val="000000">
                <a:alpha val="30588"/>
              </a:srgbClr>
            </a:outerShdw>
          </a:effectLst>
          <a:scene3d>
            <a:camera prst="orthographicFront" fov="0">
              <a:rot lat="0" lon="0" rev="0"/>
            </a:camera>
            <a:lightRig rig="chilly" dir="t">
              <a:rot lat="0" lon="0" rev="4200000"/>
            </a:lightRig>
          </a:scene3d>
          <a:sp3d contourW="25400" prstMaterial="matte">
            <a:bevelT h="88900"/>
            <a:contourClr>
              <a:srgbClr val="FFFFFF">
                <a:alpha val="0"/>
              </a:srgb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60000">
              <a:schemeClr val="phClr">
                <a:tint val="100000"/>
                <a:shade val="55000"/>
                <a:hueMod val="100000"/>
                <a:satMod val="100000"/>
              </a:schemeClr>
            </a:gs>
          </a:gsLst>
          <a:path path="circle">
            <a:fillToRect l="50000" t="90000" r="50000" b="1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3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135</TotalTime>
  <Words>457</Words>
  <Application>Microsoft Office PowerPoint</Application>
  <PresentationFormat>사용자 지정</PresentationFormat>
  <Paragraphs>91</Paragraphs>
  <Slides>5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고구려 벽화</vt:lpstr>
      <vt:lpstr>PowerPoint 프레젠테이션</vt:lpstr>
      <vt:lpstr>1.고객 페르소나 탐색하기</vt:lpstr>
      <vt:lpstr>1.케이스1 고객= 사용자= 문제당사자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Windows 사용자</cp:lastModifiedBy>
  <cp:revision>13</cp:revision>
  <dcterms:created xsi:type="dcterms:W3CDTF">2025-04-11T08:42:54Z</dcterms:created>
  <dcterms:modified xsi:type="dcterms:W3CDTF">2025-04-20T03:04:42Z</dcterms:modified>
</cp:coreProperties>
</file>