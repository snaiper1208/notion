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67" r:id="rId3"/>
    <p:sldId id="268" r:id="rId4"/>
    <p:sldId id="269" r:id="rId5"/>
    <p:sldId id="273" r:id="rId6"/>
    <p:sldId id="274" r:id="rId7"/>
    <p:sldId id="278" r:id="rId8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379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1/2 액자 2">
            <a:extLst>
              <a:ext uri="{FF2B5EF4-FFF2-40B4-BE49-F238E27FC236}">
                <a16:creationId xmlns:a16="http://schemas.microsoft.com/office/drawing/2014/main" id="{4DBCD8B6-0D88-996D-7260-E62F69F5055D}"/>
              </a:ext>
            </a:extLst>
          </p:cNvPr>
          <p:cNvSpPr/>
          <p:nvPr/>
        </p:nvSpPr>
        <p:spPr>
          <a:xfrm rot="13500000">
            <a:off x="780590" y="1368335"/>
            <a:ext cx="785093" cy="785093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8198354-0C2D-9037-12B3-2B9F6F5B0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656348"/>
              </p:ext>
            </p:extLst>
          </p:nvPr>
        </p:nvGraphicFramePr>
        <p:xfrm>
          <a:off x="1358220" y="5744799"/>
          <a:ext cx="4206240" cy="2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458">
                  <a:extLst>
                    <a:ext uri="{9D8B030D-6E8A-4147-A177-3AD203B41FA5}">
                      <a16:colId xmlns:a16="http://schemas.microsoft.com/office/drawing/2014/main" val="361922282"/>
                    </a:ext>
                  </a:extLst>
                </a:gridCol>
                <a:gridCol w="2899782">
                  <a:extLst>
                    <a:ext uri="{9D8B030D-6E8A-4147-A177-3AD203B41FA5}">
                      <a16:colId xmlns:a16="http://schemas.microsoft.com/office/drawing/2014/main" val="978942093"/>
                    </a:ext>
                  </a:extLst>
                </a:gridCol>
              </a:tblGrid>
              <a:tr h="201975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나이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endParaRPr lang="ko-KR" altLang="en-US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190388"/>
                  </a:ext>
                </a:extLst>
              </a:tr>
              <a:tr h="201975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309040"/>
                  </a:ext>
                </a:extLst>
              </a:tr>
              <a:tr h="332282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 수준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대학 학부 졸업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553266"/>
                  </a:ext>
                </a:extLst>
              </a:tr>
              <a:tr h="332282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소득 수준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350</a:t>
                      </a: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만원 이상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353674"/>
                  </a:ext>
                </a:extLst>
              </a:tr>
              <a:tr h="332282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가구 형태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가족과 함께 생활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481247"/>
                  </a:ext>
                </a:extLst>
              </a:tr>
              <a:tr h="332282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거주 지역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521689"/>
                  </a:ext>
                </a:extLst>
              </a:tr>
              <a:tr h="332282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주거 형태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반전세</a:t>
                      </a:r>
                      <a:endParaRPr lang="ko-KR" altLang="en-US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27845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6DF2E23-CF3D-B3D2-EB6D-F5A6356E6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259726"/>
              </p:ext>
            </p:extLst>
          </p:nvPr>
        </p:nvGraphicFramePr>
        <p:xfrm>
          <a:off x="7589521" y="2308073"/>
          <a:ext cx="8608422" cy="20628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815737">
                  <a:extLst>
                    <a:ext uri="{9D8B030D-6E8A-4147-A177-3AD203B41FA5}">
                      <a16:colId xmlns:a16="http://schemas.microsoft.com/office/drawing/2014/main" val="164835169"/>
                    </a:ext>
                  </a:extLst>
                </a:gridCol>
                <a:gridCol w="6792685">
                  <a:extLst>
                    <a:ext uri="{9D8B030D-6E8A-4147-A177-3AD203B41FA5}">
                      <a16:colId xmlns:a16="http://schemas.microsoft.com/office/drawing/2014/main" val="3314240416"/>
                    </a:ext>
                  </a:extLst>
                </a:gridCol>
              </a:tblGrid>
              <a:tr h="51572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구매 습관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자기개발과 관련된 제품에 대한 지출을 아끼지 않음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구독 서비스는 선호하지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62825"/>
                  </a:ext>
                </a:extLst>
              </a:tr>
              <a:tr h="51572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사용 습관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Notion 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등 디지털 도구를 적극 활용하며 스마트 </a:t>
                      </a:r>
                      <a:r>
                        <a:rPr lang="ko-KR" altLang="en-US" sz="14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워치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 등 기기에 익숙함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014388"/>
                  </a:ext>
                </a:extLst>
              </a:tr>
              <a:tr h="51572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소비 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전체적인 지출을 아끼는 편이나 좋아하는 물건에는 아끼지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324876"/>
                  </a:ext>
                </a:extLst>
              </a:tr>
              <a:tr h="51572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정보 수집 방법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유튜브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에이블리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 등의 플랫폼을 통해 최신 트렌드와 정보를 수집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43665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3E64177-0C18-1EDC-DFA5-BF6B71DB4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51284"/>
              </p:ext>
            </p:extLst>
          </p:nvPr>
        </p:nvGraphicFramePr>
        <p:xfrm>
          <a:off x="7589521" y="5934405"/>
          <a:ext cx="8608422" cy="1785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>
                  <a:extLst>
                    <a:ext uri="{9D8B030D-6E8A-4147-A177-3AD203B41FA5}">
                      <a16:colId xmlns:a16="http://schemas.microsoft.com/office/drawing/2014/main" val="164835169"/>
                    </a:ext>
                  </a:extLst>
                </a:gridCol>
                <a:gridCol w="6779623">
                  <a:extLst>
                    <a:ext uri="{9D8B030D-6E8A-4147-A177-3AD203B41FA5}">
                      <a16:colId xmlns:a16="http://schemas.microsoft.com/office/drawing/2014/main" val="3314240416"/>
                    </a:ext>
                  </a:extLst>
                </a:gridCol>
              </a:tblGrid>
              <a:tr h="542881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목표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일과 삶의 균형을 유지하고 싶어하며 개인 역량 향상을 위해 지속적인 자기개발 추구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62825"/>
                  </a:ext>
                </a:extLst>
              </a:tr>
              <a:tr h="542881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욕구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자기 상태 파악에 대한 욕구가 있으며 개인 맞춤형 솔루션에 니즈가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014388"/>
                  </a:ext>
                </a:extLst>
              </a:tr>
              <a:tr h="69998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페인 포인트 </a:t>
                      </a:r>
                      <a:endParaRPr lang="en-US" altLang="ko-KR" sz="14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Pain Points)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지속적인 업무로 인한 피로와 스트레스로 </a:t>
                      </a:r>
                      <a:r>
                        <a:rPr lang="ko-KR" altLang="en-US" sz="14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워라벨을</a:t>
                      </a: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유지하기 </a:t>
                      </a:r>
                      <a:r>
                        <a:rPr lang="ko-KR" altLang="en-US" sz="14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힘듬</a:t>
                      </a:r>
                      <a:endParaRPr lang="en-US" altLang="ko-KR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명상 앱</a:t>
                      </a:r>
                      <a:r>
                        <a:rPr lang="en-US" altLang="ko-KR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 관리 도구 등 기존 솔루션들이 개인의 상태를 정확하게 반영하지 않아 신뢰도가 떨어짐</a:t>
                      </a:r>
                      <a:endParaRPr lang="en-US" altLang="ko-KR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324876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78A84319-1D5C-71D3-8EE5-294CB9DA2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460" y="2086481"/>
            <a:ext cx="1598340" cy="2428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5B6BB9-F54A-D77B-1BA2-05552702EA06}"/>
              </a:ext>
            </a:extLst>
          </p:cNvPr>
          <p:cNvSpPr txBox="1"/>
          <p:nvPr/>
        </p:nvSpPr>
        <p:spPr>
          <a:xfrm>
            <a:off x="1965960" y="1721124"/>
            <a:ext cx="8725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시간 관리에 대해 늘 부족함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명상</a:t>
            </a:r>
            <a:r>
              <a:rPr lang="en-US" altLang="ko-KR" dirty="0"/>
              <a:t>, </a:t>
            </a:r>
            <a:r>
              <a:rPr lang="ko-KR" altLang="en-US" dirty="0"/>
              <a:t>시간 관리 도구 등 기존 솔루션들의 효과가 제한적임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자기개발에 대한 욕구가 있으나 이를 실현하지 못하여 스트레스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업무와 삶의 균형 부족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A85EAC-59C7-7529-25C4-CD4410740D43}"/>
              </a:ext>
            </a:extLst>
          </p:cNvPr>
          <p:cNvSpPr txBox="1"/>
          <p:nvPr/>
        </p:nvSpPr>
        <p:spPr>
          <a:xfrm>
            <a:off x="1965960" y="4169252"/>
            <a:ext cx="14620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실시간 자기 상태 파악 및 본인에 대해 알고 싶어함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개인 맞춤형 솔루션을 통해 본인만의 시간관리를 실현하고 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지속적으로 자기개발을 하여 장기적인 성과 향상 기대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업무와 삶의 균형을 유지하여 전반적인 삶의 질을 향상시키고자 함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704F4C-10EF-579B-05D1-DC35D57E6C68}"/>
              </a:ext>
            </a:extLst>
          </p:cNvPr>
          <p:cNvSpPr txBox="1"/>
          <p:nvPr/>
        </p:nvSpPr>
        <p:spPr>
          <a:xfrm>
            <a:off x="1965960" y="6613461"/>
            <a:ext cx="14075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자기개발에 대한 높은 관심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친숙한 디지털 도구 활용 능력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업무와 삶의 균형 중시</a:t>
            </a:r>
            <a:endParaRPr lang="en-US" altLang="ko-K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FF4DF9-1CC1-4174-D50B-43C61FCEEBDA}"/>
              </a:ext>
            </a:extLst>
          </p:cNvPr>
          <p:cNvSpPr txBox="1"/>
          <p:nvPr/>
        </p:nvSpPr>
        <p:spPr>
          <a:xfrm>
            <a:off x="3271584" y="2398325"/>
            <a:ext cx="124865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자기개발에 대한 니즈가 매우 높음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항상 시간이 부족하다고 느낌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열품타</a:t>
            </a:r>
            <a:r>
              <a:rPr lang="en-US" altLang="ko-KR" dirty="0"/>
              <a:t>, </a:t>
            </a:r>
            <a:r>
              <a:rPr lang="ko-KR" altLang="en-US" dirty="0" err="1"/>
              <a:t>포모도로</a:t>
            </a:r>
            <a:r>
              <a:rPr lang="en-US" altLang="ko-KR" dirty="0"/>
              <a:t>, </a:t>
            </a:r>
            <a:r>
              <a:rPr lang="ko-KR" altLang="en-US" dirty="0" err="1"/>
              <a:t>구루미</a:t>
            </a:r>
            <a:r>
              <a:rPr lang="ko-KR" altLang="en-US" dirty="0"/>
              <a:t> 캠 등 기존 솔루션을 사용했으나 효과를 느끼지 못하여 기본 메모장</a:t>
            </a:r>
            <a:r>
              <a:rPr lang="en-US" altLang="ko-KR" dirty="0"/>
              <a:t>, </a:t>
            </a:r>
            <a:r>
              <a:rPr lang="ko-KR" altLang="en-US" dirty="0"/>
              <a:t>캘린더를 적극 활용 중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구독 서비스에 대해 부정적임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개인 맞춤형 서비스를 선호함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자아에 대해 알고 싶어하는 욕구가 있음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8CC78-9B3E-EA21-A966-BA821B762942}"/>
              </a:ext>
            </a:extLst>
          </p:cNvPr>
          <p:cNvSpPr txBox="1"/>
          <p:nvPr/>
        </p:nvSpPr>
        <p:spPr>
          <a:xfrm>
            <a:off x="3271583" y="4614594"/>
            <a:ext cx="105227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뇌파 기반 솔루션에 대한 선호도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기기 착용에 대한 거부감 여부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집중력 문제의 자각 시점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루틴과의 충돌 가능성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가격 민감도와 실제 구매 의향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269FA-360E-20B2-A5C6-3FDF56F853A2}"/>
              </a:ext>
            </a:extLst>
          </p:cNvPr>
          <p:cNvSpPr txBox="1"/>
          <p:nvPr/>
        </p:nvSpPr>
        <p:spPr>
          <a:xfrm>
            <a:off x="3271584" y="6866964"/>
            <a:ext cx="7335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평소 데일리 루틴과 집중이 필요한 시점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앱과 기기에서 가장 중요하게 여기는 요소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언제 이 솔루션을 가장 자주 사용할거 </a:t>
            </a:r>
            <a:r>
              <a:rPr lang="ko-KR" altLang="en-US" dirty="0" err="1"/>
              <a:t>같은지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296</Words>
  <Application>Microsoft Office PowerPoint</Application>
  <PresentationFormat>사용자 지정</PresentationFormat>
  <Paragraphs>62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전 용구</cp:lastModifiedBy>
  <cp:revision>7</cp:revision>
  <dcterms:created xsi:type="dcterms:W3CDTF">2025-04-11T08:42:54Z</dcterms:created>
  <dcterms:modified xsi:type="dcterms:W3CDTF">2025-04-19T14:49:41Z</dcterms:modified>
</cp:coreProperties>
</file>