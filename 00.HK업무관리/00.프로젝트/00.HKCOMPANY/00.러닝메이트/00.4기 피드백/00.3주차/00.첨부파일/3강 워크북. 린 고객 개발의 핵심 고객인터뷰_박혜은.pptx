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2" r:id="rId5"/>
    <p:sldId id="263" r:id="rId6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2" d="100"/>
          <a:sy n="32" d="100"/>
        </p:scale>
        <p:origin x="91" y="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7633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D1648B-498D-4592-BB75-DA25773E621E}"/>
              </a:ext>
            </a:extLst>
          </p:cNvPr>
          <p:cNvSpPr txBox="1"/>
          <p:nvPr/>
        </p:nvSpPr>
        <p:spPr>
          <a:xfrm>
            <a:off x="3682652" y="2392471"/>
            <a:ext cx="126137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루틴 실행에 어려움을 겪고 있는 성인들 대상 인터뷰</a:t>
            </a:r>
            <a:endParaRPr lang="en-US" altLang="ko-KR" sz="2400" dirty="0"/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C12A0F-1317-47A7-ACCB-7BD8FAD92AD7}"/>
              </a:ext>
            </a:extLst>
          </p:cNvPr>
          <p:cNvSpPr txBox="1"/>
          <p:nvPr/>
        </p:nvSpPr>
        <p:spPr>
          <a:xfrm>
            <a:off x="3682652" y="3394553"/>
            <a:ext cx="124258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일상 루틴을 실행하는 데 겪는 실제 어려움과 원인을 파악하고</a:t>
            </a:r>
            <a:r>
              <a:rPr lang="en-US" altLang="ko-KR" sz="2400" dirty="0"/>
              <a:t>, </a:t>
            </a:r>
          </a:p>
          <a:p>
            <a:r>
              <a:rPr lang="ko-KR" altLang="en-US" sz="2400" dirty="0"/>
              <a:t>현재 사용 중인 대안 및 불만족 요소</a:t>
            </a:r>
            <a:r>
              <a:rPr lang="en-US" altLang="ko-KR" sz="2400" dirty="0"/>
              <a:t>,  </a:t>
            </a:r>
            <a:r>
              <a:rPr lang="ko-KR" altLang="en-US" sz="2400" dirty="0"/>
              <a:t>그리고 금전적</a:t>
            </a:r>
            <a:r>
              <a:rPr lang="en-US" altLang="ko-KR" sz="2400" dirty="0"/>
              <a:t>·</a:t>
            </a:r>
            <a:r>
              <a:rPr lang="ko-KR" altLang="en-US" sz="2400" dirty="0"/>
              <a:t>행동적 지불 의사를 확인하기 위함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41075F-647A-42BE-BCF3-38396BC62B4C}"/>
              </a:ext>
            </a:extLst>
          </p:cNvPr>
          <p:cNvSpPr txBox="1"/>
          <p:nvPr/>
        </p:nvSpPr>
        <p:spPr>
          <a:xfrm>
            <a:off x="3682652" y="5198301"/>
            <a:ext cx="124258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일상 실행 문제에 반복적 어려움을 겪은 사람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기존 대안을 시도해본 경험이 있는 사람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2400" dirty="0">
                <a:latin typeface="Arial" panose="020B0604020202020204" pitchFamily="34" charset="0"/>
              </a:rPr>
              <a:t>3. </a:t>
            </a:r>
            <a:r>
              <a:rPr lang="ko-KR" altLang="en-US" sz="2400" dirty="0">
                <a:latin typeface="Arial" panose="020B0604020202020204" pitchFamily="34" charset="0"/>
              </a:rPr>
              <a:t>이 문제로 겪는 고통이 큰 사람</a:t>
            </a: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AD23CB-6490-44AD-91A5-86406EB32FF4}"/>
              </a:ext>
            </a:extLst>
          </p:cNvPr>
          <p:cNvSpPr txBox="1"/>
          <p:nvPr/>
        </p:nvSpPr>
        <p:spPr>
          <a:xfrm>
            <a:off x="3682652" y="7052153"/>
            <a:ext cx="124258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2025</a:t>
            </a:r>
            <a:r>
              <a:rPr lang="ko-KR" altLang="en-US" sz="2400" dirty="0"/>
              <a:t>년 </a:t>
            </a:r>
            <a:r>
              <a:rPr lang="en-US" altLang="ko-KR" sz="2400" dirty="0"/>
              <a:t>4</a:t>
            </a:r>
            <a:r>
              <a:rPr lang="ko-KR" altLang="en-US" sz="2400" dirty="0"/>
              <a:t>월 마지막주</a:t>
            </a:r>
            <a:r>
              <a:rPr lang="en-US" altLang="ko-KR" sz="2400" dirty="0"/>
              <a:t>/1</a:t>
            </a:r>
            <a:r>
              <a:rPr lang="ko-KR" altLang="en-US" sz="2400" dirty="0"/>
              <a:t>시간 이내</a:t>
            </a:r>
            <a:r>
              <a:rPr lang="en-US" altLang="ko-KR" sz="2400" dirty="0"/>
              <a:t>/</a:t>
            </a:r>
            <a:r>
              <a:rPr lang="ko-KR" altLang="en-US" sz="2400" dirty="0" err="1"/>
              <a:t>비대면</a:t>
            </a:r>
            <a:r>
              <a:rPr lang="ko-KR" altLang="en-US" sz="2400" dirty="0"/>
              <a:t> </a:t>
            </a:r>
            <a:r>
              <a:rPr lang="en-US" altLang="ko-KR" sz="2400" dirty="0"/>
              <a:t>zoom</a:t>
            </a:r>
            <a:r>
              <a:rPr lang="ko-KR" altLang="en-US" sz="2400" dirty="0"/>
              <a:t>인터뷰</a:t>
            </a:r>
            <a:endParaRPr lang="en-US" altLang="ko-KR" sz="2400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514F16-DF10-42A2-85AB-50169AF0215C}"/>
              </a:ext>
            </a:extLst>
          </p:cNvPr>
          <p:cNvSpPr txBox="1"/>
          <p:nvPr/>
        </p:nvSpPr>
        <p:spPr>
          <a:xfrm>
            <a:off x="3720230" y="2580362"/>
            <a:ext cx="1077238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2400" dirty="0">
                <a:latin typeface="Arial" panose="020B0604020202020204" pitchFamily="34" charset="0"/>
              </a:rPr>
              <a:t> - </a:t>
            </a:r>
            <a:r>
              <a:rPr lang="ko-KR" altLang="ko-KR" sz="2400" dirty="0">
                <a:latin typeface="Arial" panose="020B0604020202020204" pitchFamily="34" charset="0"/>
              </a:rPr>
              <a:t>30대 </a:t>
            </a:r>
            <a:r>
              <a:rPr lang="ko-KR" altLang="en-US" sz="2400" dirty="0">
                <a:latin typeface="Arial" panose="020B0604020202020204" pitchFamily="34" charset="0"/>
              </a:rPr>
              <a:t>여성</a:t>
            </a:r>
            <a:endParaRPr lang="en-US" altLang="ko-KR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2400" dirty="0">
                <a:latin typeface="Arial" panose="020B0604020202020204" pitchFamily="34" charset="0"/>
              </a:rPr>
              <a:t> - </a:t>
            </a:r>
            <a:r>
              <a:rPr lang="ko-KR" altLang="ko-KR" sz="2400" dirty="0">
                <a:latin typeface="Arial" panose="020B0604020202020204" pitchFamily="34" charset="0"/>
              </a:rPr>
              <a:t>기상, </a:t>
            </a:r>
            <a:r>
              <a:rPr lang="ko-KR" altLang="en-US" sz="2400" dirty="0">
                <a:latin typeface="Arial" panose="020B0604020202020204" pitchFamily="34" charset="0"/>
              </a:rPr>
              <a:t>청소</a:t>
            </a:r>
            <a:r>
              <a:rPr lang="ko-KR" altLang="ko-KR" sz="2400" dirty="0">
                <a:latin typeface="Arial" panose="020B0604020202020204" pitchFamily="34" charset="0"/>
              </a:rPr>
              <a:t>, 일정 확인 등 기본 루틴 실행에 반복적 어려움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2400" dirty="0">
                <a:latin typeface="Arial" panose="020B0604020202020204" pitchFamily="34" charset="0"/>
              </a:rPr>
              <a:t> - </a:t>
            </a:r>
            <a:r>
              <a:rPr lang="ko-KR" altLang="ko-KR" sz="2400" dirty="0">
                <a:latin typeface="Arial" panose="020B0604020202020204" pitchFamily="34" charset="0"/>
              </a:rPr>
              <a:t>알람 앱, </a:t>
            </a:r>
            <a:r>
              <a:rPr lang="ko-KR" altLang="en-US" sz="2400" dirty="0" err="1">
                <a:latin typeface="Arial" panose="020B0604020202020204" pitchFamily="34" charset="0"/>
              </a:rPr>
              <a:t>챌린저스</a:t>
            </a:r>
            <a:r>
              <a:rPr lang="ko-KR" altLang="ko-KR" sz="2400" dirty="0">
                <a:latin typeface="Arial" panose="020B0604020202020204" pitchFamily="34" charset="0"/>
              </a:rPr>
              <a:t>, 수첩 기록 등 시도했으나 중단 경험 있음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2400" dirty="0">
                <a:latin typeface="Arial" panose="020B0604020202020204" pitchFamily="34" charset="0"/>
              </a:rPr>
              <a:t> - </a:t>
            </a:r>
            <a:r>
              <a:rPr lang="ko-KR" altLang="ko-KR" sz="2400" dirty="0">
                <a:latin typeface="Arial" panose="020B0604020202020204" pitchFamily="34" charset="0"/>
              </a:rPr>
              <a:t>현재는 혼자 해결 시도 중이며, 반복된 자책과 무기력감을 호소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3E046-8E0F-41FE-8AA1-1BFA2926A0F3}"/>
              </a:ext>
            </a:extLst>
          </p:cNvPr>
          <p:cNvSpPr txBox="1"/>
          <p:nvPr/>
        </p:nvSpPr>
        <p:spPr>
          <a:xfrm>
            <a:off x="3807912" y="5336088"/>
            <a:ext cx="84926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아이스브레이킹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및 배경 파악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일상 루틴 중 반복적으로 어려움을 겪는 상황 확인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기존 대안 사용 경험 및 그 만족/불만 요소 탐색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해결을 위해 돈을 쓰거나 행동한 경험, 지불 의향 유무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38411" y="-344070"/>
            <a:ext cx="18683266" cy="10509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A76648-84AC-4305-9EA3-7DEE9CBCB8A7}"/>
              </a:ext>
            </a:extLst>
          </p:cNvPr>
          <p:cNvSpPr txBox="1"/>
          <p:nvPr/>
        </p:nvSpPr>
        <p:spPr>
          <a:xfrm>
            <a:off x="3569918" y="5657109"/>
            <a:ext cx="636322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사용자마다 동기를 유발하는 방식은 상이하다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사용자의 실행 능력은 제한된 에너지</a:t>
            </a:r>
            <a:r>
              <a:rPr lang="en-US" altLang="ko-KR" dirty="0"/>
              <a:t>, </a:t>
            </a:r>
            <a:r>
              <a:rPr lang="ko-KR" altLang="en-US" dirty="0"/>
              <a:t>시간</a:t>
            </a:r>
            <a:r>
              <a:rPr lang="en-US" altLang="ko-KR" dirty="0"/>
              <a:t>, </a:t>
            </a:r>
            <a:r>
              <a:rPr lang="ko-KR" altLang="en-US" dirty="0"/>
              <a:t>집중력 등에 따라 달라진다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3.</a:t>
            </a:r>
            <a:r>
              <a:rPr lang="ko-KR" altLang="en-US" dirty="0"/>
              <a:t> 사용자 성향에 따라 감각에 반응하는 방식이 다르다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타인의 존재감은 사용자의 행동 지속에 영향을 준다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endParaRPr lang="en-US" altLang="ko-KR" b="1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B729CE-7D61-4E8F-B5FE-3EA807ACD68F}"/>
              </a:ext>
            </a:extLst>
          </p:cNvPr>
          <p:cNvSpPr txBox="1"/>
          <p:nvPr/>
        </p:nvSpPr>
        <p:spPr>
          <a:xfrm>
            <a:off x="10196186" y="5887253"/>
            <a:ext cx="80486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개인 맞춤형 동기 설계가 필수다</a:t>
            </a:r>
            <a:r>
              <a:rPr lang="en-US" altLang="ko-KR" b="1" dirty="0"/>
              <a:t>.</a:t>
            </a:r>
            <a:br>
              <a:rPr lang="ko-KR" altLang="en-US" dirty="0"/>
            </a:br>
            <a:r>
              <a:rPr lang="ko-KR" altLang="en-US" dirty="0"/>
              <a:t>→ 사용자마다 동기 자극 방식이 다르므로</a:t>
            </a:r>
            <a:r>
              <a:rPr lang="en-US" altLang="ko-KR" dirty="0"/>
              <a:t>, </a:t>
            </a:r>
            <a:r>
              <a:rPr lang="ko-KR" altLang="en-US" dirty="0"/>
              <a:t>채찍형</a:t>
            </a:r>
            <a:r>
              <a:rPr lang="en-US" altLang="ko-KR" dirty="0"/>
              <a:t>/</a:t>
            </a:r>
            <a:r>
              <a:rPr lang="ko-KR" altLang="en-US" dirty="0"/>
              <a:t>보상형</a:t>
            </a:r>
            <a:r>
              <a:rPr lang="en-US" altLang="ko-KR" dirty="0"/>
              <a:t>/</a:t>
            </a:r>
            <a:r>
              <a:rPr lang="ko-KR" altLang="en-US" dirty="0"/>
              <a:t>감정형 등 성향 기반 옵션을 선택하게 하거나</a:t>
            </a:r>
            <a:r>
              <a:rPr lang="en-US" altLang="ko-KR" dirty="0"/>
              <a:t>, </a:t>
            </a:r>
            <a:r>
              <a:rPr lang="ko-KR" altLang="en-US" dirty="0"/>
              <a:t>초기에 선호도를 파악해 맞춤형 동기 전략을 제공해야 한다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b="1" dirty="0"/>
              <a:t>실행 부담을 최소화하는 구조가 필요하다</a:t>
            </a:r>
            <a:r>
              <a:rPr lang="en-US" altLang="ko-KR" b="1" dirty="0"/>
              <a:t>.</a:t>
            </a:r>
            <a:br>
              <a:rPr lang="ko-KR" altLang="en-US" dirty="0"/>
            </a:br>
            <a:r>
              <a:rPr lang="ko-KR" altLang="en-US" dirty="0"/>
              <a:t>→ 사용자의 제한된 자원을 고려해 ‘작게 쪼갠 루틴’</a:t>
            </a:r>
            <a:r>
              <a:rPr lang="en-US" altLang="ko-KR" dirty="0"/>
              <a:t>, ‘</a:t>
            </a:r>
            <a:r>
              <a:rPr lang="ko-KR" altLang="en-US" dirty="0"/>
              <a:t>자동 준비물 리스트’</a:t>
            </a:r>
            <a:r>
              <a:rPr lang="en-US" altLang="ko-KR" dirty="0"/>
              <a:t>, ‘</a:t>
            </a:r>
            <a:r>
              <a:rPr lang="ko-KR" altLang="en-US" dirty="0"/>
              <a:t>실행 시간대 추천’ 등 부담을 줄이는 </a:t>
            </a:r>
            <a:r>
              <a:rPr lang="en-US" altLang="ko-KR" dirty="0"/>
              <a:t>UX</a:t>
            </a:r>
            <a:r>
              <a:rPr lang="ko-KR" altLang="en-US" dirty="0"/>
              <a:t>를 제공해야 한다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b="1" dirty="0"/>
              <a:t>오감 기반 인터랙션 설계가 효과적이다</a:t>
            </a:r>
            <a:r>
              <a:rPr lang="en-US" altLang="ko-KR" b="1" dirty="0"/>
              <a:t>.</a:t>
            </a:r>
            <a:br>
              <a:rPr lang="ko-KR" altLang="en-US" dirty="0"/>
            </a:br>
            <a:r>
              <a:rPr lang="ko-KR" altLang="en-US" dirty="0"/>
              <a:t>→ 누구는 소리에 반응하고</a:t>
            </a:r>
            <a:r>
              <a:rPr lang="en-US" altLang="ko-KR" dirty="0"/>
              <a:t>, </a:t>
            </a:r>
            <a:r>
              <a:rPr lang="ko-KR" altLang="en-US" dirty="0"/>
              <a:t>누구는 진동에 더 민감하므로 알림 전달은 </a:t>
            </a:r>
            <a:r>
              <a:rPr lang="ko-KR" altLang="en-US" b="1" dirty="0"/>
              <a:t>청각</a:t>
            </a:r>
            <a:r>
              <a:rPr lang="en-US" altLang="ko-KR" b="1" dirty="0"/>
              <a:t>+</a:t>
            </a:r>
            <a:r>
              <a:rPr lang="ko-KR" altLang="en-US" b="1" dirty="0"/>
              <a:t>촉각</a:t>
            </a:r>
            <a:r>
              <a:rPr lang="en-US" altLang="ko-KR" b="1" dirty="0"/>
              <a:t>+</a:t>
            </a:r>
            <a:r>
              <a:rPr lang="ko-KR" altLang="en-US" b="1" dirty="0"/>
              <a:t>시각</a:t>
            </a:r>
            <a:r>
              <a:rPr lang="ko-KR" altLang="en-US" dirty="0"/>
              <a:t>의 방식으로 다양하게 시도할 필요가 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b="1" dirty="0"/>
              <a:t>사회적 연결이 실행 유지에 핵심이다</a:t>
            </a:r>
            <a:r>
              <a:rPr lang="en-US" altLang="ko-KR" b="1" dirty="0"/>
              <a:t>.</a:t>
            </a:r>
            <a:br>
              <a:rPr lang="ko-KR" altLang="en-US" dirty="0"/>
            </a:br>
            <a:r>
              <a:rPr lang="ko-KR" altLang="en-US" dirty="0"/>
              <a:t>→ 루틴 실패나 미루기 방지를 위해 </a:t>
            </a:r>
            <a:r>
              <a:rPr lang="ko-KR" altLang="en-US" b="1" dirty="0"/>
              <a:t>친구 참여</a:t>
            </a:r>
            <a:r>
              <a:rPr lang="en-US" altLang="ko-KR" b="1" dirty="0"/>
              <a:t>, </a:t>
            </a:r>
            <a:r>
              <a:rPr lang="ko-KR" altLang="en-US" b="1" dirty="0"/>
              <a:t>알림 공유</a:t>
            </a:r>
            <a:r>
              <a:rPr lang="en-US" altLang="ko-KR" b="1" dirty="0"/>
              <a:t>, </a:t>
            </a:r>
            <a:r>
              <a:rPr lang="ko-KR" altLang="en-US" b="1" dirty="0"/>
              <a:t>감시자 역할</a:t>
            </a:r>
            <a:r>
              <a:rPr lang="en-US" altLang="ko-KR" dirty="0"/>
              <a:t>, </a:t>
            </a:r>
            <a:r>
              <a:rPr lang="ko-KR" altLang="en-US" b="1" dirty="0"/>
              <a:t>같이 집중하기</a:t>
            </a:r>
            <a:r>
              <a:rPr lang="ko-KR" altLang="en-US" dirty="0"/>
              <a:t> 등 ‘나를 지켜보는 </a:t>
            </a:r>
            <a:r>
              <a:rPr lang="ko-KR" altLang="en-US" dirty="0" err="1"/>
              <a:t>존재’가</a:t>
            </a:r>
            <a:r>
              <a:rPr lang="ko-KR" altLang="en-US" dirty="0"/>
              <a:t> 느껴지는 관계 기반 기능이 매우 효과적이다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49FC8A-7DBB-4288-91D4-4DF73CEECE16}"/>
              </a:ext>
            </a:extLst>
          </p:cNvPr>
          <p:cNvSpPr txBox="1"/>
          <p:nvPr/>
        </p:nvSpPr>
        <p:spPr>
          <a:xfrm>
            <a:off x="3369500" y="1134660"/>
            <a:ext cx="12601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사용자들의 실제 루틴 실행 행동</a:t>
            </a:r>
            <a:r>
              <a:rPr lang="en-US" altLang="ko-KR" dirty="0"/>
              <a:t>, </a:t>
            </a:r>
            <a:r>
              <a:rPr lang="ko-KR" altLang="en-US" dirty="0"/>
              <a:t>실패 원인</a:t>
            </a:r>
            <a:r>
              <a:rPr lang="en-US" altLang="ko-KR" dirty="0"/>
              <a:t>, </a:t>
            </a:r>
            <a:r>
              <a:rPr lang="ko-KR" altLang="en-US" dirty="0"/>
              <a:t>동기부여 조건을 파악하여 </a:t>
            </a:r>
            <a:r>
              <a:rPr lang="ko-KR" altLang="en-US" dirty="0" err="1"/>
              <a:t>파악하여</a:t>
            </a:r>
            <a:r>
              <a:rPr lang="ko-KR" altLang="en-US" dirty="0"/>
              <a:t> 제품 기능 설계의 방향성과 실효성 검증</a:t>
            </a:r>
            <a:endParaRPr lang="en-US" altLang="ko-KR" dirty="0"/>
          </a:p>
          <a:p>
            <a:r>
              <a:rPr lang="en-US" altLang="ko-KR" dirty="0"/>
              <a:t>30</a:t>
            </a:r>
            <a:r>
              <a:rPr lang="ko-KR" altLang="en-US" dirty="0"/>
              <a:t>대 여성 </a:t>
            </a:r>
            <a:r>
              <a:rPr lang="en-US" altLang="ko-KR" dirty="0"/>
              <a:t>2</a:t>
            </a:r>
            <a:r>
              <a:rPr lang="ko-KR" altLang="en-US" dirty="0"/>
              <a:t>명</a:t>
            </a:r>
            <a:r>
              <a:rPr lang="en-US" altLang="ko-KR" dirty="0"/>
              <a:t>/</a:t>
            </a:r>
            <a:r>
              <a:rPr lang="ko-KR" altLang="en-US" dirty="0"/>
              <a:t>인터뷰 시간 </a:t>
            </a:r>
            <a:r>
              <a:rPr lang="en-US" altLang="ko-KR" dirty="0"/>
              <a:t>1</a:t>
            </a:r>
            <a:r>
              <a:rPr lang="ko-KR" altLang="en-US" dirty="0"/>
              <a:t>시간 이내</a:t>
            </a:r>
            <a:r>
              <a:rPr lang="en-US" altLang="ko-KR" dirty="0"/>
              <a:t>/</a:t>
            </a:r>
            <a:r>
              <a:rPr lang="ko-KR" altLang="en-US" dirty="0" err="1"/>
              <a:t>비대면</a:t>
            </a:r>
            <a:r>
              <a:rPr lang="ko-KR" altLang="en-US" dirty="0"/>
              <a:t> </a:t>
            </a:r>
            <a:r>
              <a:rPr lang="en-US" altLang="ko-KR"/>
              <a:t>zoom </a:t>
            </a:r>
            <a:r>
              <a:rPr lang="ko-KR" altLang="en-US"/>
              <a:t>미팅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F9023-5026-427E-ABEC-251503350D5E}"/>
              </a:ext>
            </a:extLst>
          </p:cNvPr>
          <p:cNvSpPr txBox="1"/>
          <p:nvPr/>
        </p:nvSpPr>
        <p:spPr>
          <a:xfrm>
            <a:off x="3213583" y="1947826"/>
            <a:ext cx="132080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/>
              <a:t>루틴 실행 실패 경험이 반복되는 개인 사용자가 기계적인 알림에 무감각해지기 때문에 루틴 실행을 꾸준히 지속하지 못한다고 생각한다</a:t>
            </a:r>
            <a:r>
              <a:rPr lang="en-US" altLang="ko-KR" dirty="0"/>
              <a:t>. 2.</a:t>
            </a:r>
            <a:r>
              <a:rPr lang="ko-KR" altLang="en-US" sz="1800" dirty="0"/>
              <a:t> 일상 리듬을 관리하기 어려워하는 사용자들이 사람의 목소리처럼 감정이 담긴 직접적 알림이 부족하기 때문에 루틴 시작을 반복적으로 미루고 포기한다고 생각한다</a:t>
            </a:r>
            <a:r>
              <a:rPr lang="en-US" altLang="ko-KR" sz="1800" dirty="0"/>
              <a:t>. 3.</a:t>
            </a:r>
            <a:r>
              <a:rPr lang="ko-KR" altLang="en-US" sz="1800" dirty="0"/>
              <a:t> 루틴 실패로 자존감이 낮아진 개인 사용자가 반복되는 실패 경험을 끊어낼 성공 경험이 부족하기 때문에 루틴 유지 동기를 상실한다고 생각한다</a:t>
            </a:r>
            <a:r>
              <a:rPr lang="en-US" altLang="ko-KR" sz="1800" dirty="0"/>
              <a:t>. </a:t>
            </a:r>
            <a:endParaRPr lang="ko-KR" altLang="en-US" sz="1800" dirty="0"/>
          </a:p>
          <a:p>
            <a:endParaRPr lang="ko-KR" altLang="en-US" sz="1800" dirty="0"/>
          </a:p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F42455-8D3F-4801-94EF-D2206BC8C357}"/>
              </a:ext>
            </a:extLst>
          </p:cNvPr>
          <p:cNvSpPr txBox="1"/>
          <p:nvPr/>
        </p:nvSpPr>
        <p:spPr>
          <a:xfrm>
            <a:off x="5160723" y="3378986"/>
            <a:ext cx="4559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공통적으로 확인된 내용</a:t>
            </a:r>
            <a:r>
              <a:rPr lang="en-US" altLang="ko-KR" b="1" dirty="0"/>
              <a:t>)</a:t>
            </a:r>
          </a:p>
          <a:p>
            <a:endParaRPr lang="ko-KR" altLang="en-US" b="1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FB55ADA-6081-4D20-B7AE-D31C5A249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9500" y="3735947"/>
            <a:ext cx="601959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대부분의 루틴 앱은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처음엔 의욕이 있지만 지속되지 않음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보상만으로는 지속되지 않으며, </a:t>
            </a:r>
            <a:endParaRPr kumimoji="0" lang="en-US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dirty="0">
                <a:latin typeface="Arial" panose="020B0604020202020204" pitchFamily="34" charset="0"/>
              </a:rPr>
              <a:t> 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반복 사용을 위한 감정적 유대나 맥락이 중요</a:t>
            </a:r>
            <a:endParaRPr lang="en-US" altLang="ko-K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dirty="0">
                <a:latin typeface="Arial" panose="020B0604020202020204" pitchFamily="34" charset="0"/>
              </a:rPr>
              <a:t>-</a:t>
            </a:r>
            <a:r>
              <a:rPr lang="ko-KR" altLang="en-US" dirty="0"/>
              <a:t>알람 앱</a:t>
            </a:r>
            <a:r>
              <a:rPr lang="en-US" altLang="ko-KR" dirty="0"/>
              <a:t>,</a:t>
            </a:r>
            <a:r>
              <a:rPr lang="ko-KR" altLang="en-US" dirty="0"/>
              <a:t>폰 차단 앱 등의 </a:t>
            </a:r>
            <a:r>
              <a:rPr lang="ko-KR" altLang="en-US" b="1" dirty="0"/>
              <a:t>물리적 강제력</a:t>
            </a:r>
            <a:r>
              <a:rPr lang="ko-KR" altLang="en-US" dirty="0"/>
              <a:t>은 </a:t>
            </a:r>
            <a:endParaRPr lang="en-US" altLang="ko-K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dirty="0"/>
              <a:t>단기적으로는 효과 있으나</a:t>
            </a:r>
            <a:r>
              <a:rPr lang="en-US" altLang="ko-KR" dirty="0"/>
              <a:t>, </a:t>
            </a:r>
            <a:r>
              <a:rPr lang="ko-KR" altLang="en-US" b="1" dirty="0"/>
              <a:t>금방 </a:t>
            </a:r>
            <a:r>
              <a:rPr lang="ko-KR" altLang="en-US" b="1" dirty="0" err="1"/>
              <a:t>무뎌짐</a:t>
            </a:r>
            <a:endParaRPr kumimoji="0" lang="ko-KR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B08262-301C-44A4-B51E-865FE828143F}"/>
              </a:ext>
            </a:extLst>
          </p:cNvPr>
          <p:cNvSpPr txBox="1"/>
          <p:nvPr/>
        </p:nvSpPr>
        <p:spPr>
          <a:xfrm>
            <a:off x="9519272" y="2994898"/>
            <a:ext cx="795281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사용자</a:t>
            </a:r>
            <a:r>
              <a:rPr lang="en-US" altLang="ko-KR" b="1" dirty="0"/>
              <a:t>1(</a:t>
            </a:r>
            <a:r>
              <a:rPr lang="ko-KR" altLang="en-US" b="1" dirty="0"/>
              <a:t>채찍형</a:t>
            </a:r>
            <a:r>
              <a:rPr lang="en-US" altLang="ko-KR" b="1" dirty="0"/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20만원 걸고 실패하면 전액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몰수”처럼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강한 처벌이 있을 때 실행력 상승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타인에게 루틴 실패가 알려지는 구조가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실제로 더 부담돼서 행동 유도됨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dirty="0">
                <a:latin typeface="Arial" panose="020B0604020202020204" pitchFamily="34" charset="0"/>
              </a:rPr>
              <a:t>- 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실행은 잘 하지만 지속성 부족, 자기비난/자괴감 유발로 자기효능감 저하</a:t>
            </a:r>
            <a:endParaRPr lang="en-US" altLang="ko-KR" dirty="0">
              <a:latin typeface="Arial" panose="020B0604020202020204" pitchFamily="34" charset="0"/>
            </a:endParaRPr>
          </a:p>
          <a:p>
            <a:r>
              <a:rPr lang="ko-KR" altLang="en-US" b="1" dirty="0"/>
              <a:t>사용자 </a:t>
            </a:r>
            <a:r>
              <a:rPr lang="en-US" altLang="ko-KR" b="1" dirty="0"/>
              <a:t>2 (</a:t>
            </a:r>
            <a:r>
              <a:rPr lang="ko-KR" altLang="en-US" b="1" dirty="0"/>
              <a:t>위로</a:t>
            </a:r>
            <a:r>
              <a:rPr lang="en-US" altLang="ko-KR" b="1" dirty="0"/>
              <a:t>/</a:t>
            </a:r>
            <a:r>
              <a:rPr lang="ko-KR" altLang="en-US" b="1" dirty="0"/>
              <a:t>칭찬형</a:t>
            </a:r>
            <a:r>
              <a:rPr lang="en-US" altLang="ko-KR" b="1" dirty="0"/>
              <a:t>)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“</a:t>
            </a:r>
            <a:r>
              <a:rPr lang="ko-KR" altLang="en-US" dirty="0" err="1"/>
              <a:t>잘했어</a:t>
            </a:r>
            <a:r>
              <a:rPr lang="en-US" altLang="ko-KR" dirty="0"/>
              <a:t>, </a:t>
            </a:r>
            <a:r>
              <a:rPr lang="ko-KR" altLang="en-US" dirty="0"/>
              <a:t>오늘 하루도 의미 있었어” 같은 </a:t>
            </a:r>
            <a:r>
              <a:rPr lang="ko-KR" altLang="en-US" b="1" dirty="0"/>
              <a:t>감정적 피드백이 실행 유지에 효과적</a:t>
            </a:r>
            <a:endParaRPr lang="ko-KR" altLang="en-US" dirty="0"/>
          </a:p>
          <a:p>
            <a:r>
              <a:rPr lang="en-US" altLang="ko-KR" dirty="0"/>
              <a:t>- </a:t>
            </a:r>
            <a:r>
              <a:rPr lang="ko-KR" altLang="en-US" dirty="0"/>
              <a:t>사람의 존재가 </a:t>
            </a:r>
            <a:r>
              <a:rPr lang="ko-KR" altLang="en-US" b="1" dirty="0"/>
              <a:t>정서적 지지로 작용</a:t>
            </a:r>
            <a:endParaRPr lang="ko-KR" altLang="en-US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ko-KR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557</Words>
  <Application>Microsoft Office PowerPoint</Application>
  <PresentationFormat>사용자 지정</PresentationFormat>
  <Paragraphs>47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? ??</cp:lastModifiedBy>
  <cp:revision>16</cp:revision>
  <dcterms:created xsi:type="dcterms:W3CDTF">2025-04-24T06:43:19Z</dcterms:created>
  <dcterms:modified xsi:type="dcterms:W3CDTF">2025-05-03T13:35:40Z</dcterms:modified>
</cp:coreProperties>
</file>