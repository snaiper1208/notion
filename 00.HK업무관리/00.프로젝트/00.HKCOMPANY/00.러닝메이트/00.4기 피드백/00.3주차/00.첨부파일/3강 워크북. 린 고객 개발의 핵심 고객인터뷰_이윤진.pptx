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3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867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36CEB5-50F9-1B22-0629-5365B8B63BA9}"/>
              </a:ext>
            </a:extLst>
          </p:cNvPr>
          <p:cNvSpPr txBox="1"/>
          <p:nvPr/>
        </p:nvSpPr>
        <p:spPr>
          <a:xfrm>
            <a:off x="3818965" y="2245659"/>
            <a:ext cx="12209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“노인의 언어치료 경험과 디지털 재활 서비스에 대한 인식 조사”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FF7783-F905-903B-683A-C7C89DF801D7}"/>
              </a:ext>
            </a:extLst>
          </p:cNvPr>
          <p:cNvSpPr txBox="1"/>
          <p:nvPr/>
        </p:nvSpPr>
        <p:spPr>
          <a:xfrm>
            <a:off x="3783106" y="3379695"/>
            <a:ext cx="12209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뉴로톡</a:t>
            </a:r>
            <a:r>
              <a:rPr lang="en-US" altLang="ko-KR" dirty="0"/>
              <a:t>(</a:t>
            </a:r>
            <a:r>
              <a:rPr lang="en-US" altLang="ko-KR" dirty="0" err="1"/>
              <a:t>NeuroTalk</a:t>
            </a:r>
            <a:r>
              <a:rPr lang="en-US" altLang="ko-KR" dirty="0"/>
              <a:t>)</a:t>
            </a:r>
            <a:r>
              <a:rPr lang="ko-KR" altLang="en-US" dirty="0"/>
              <a:t>의 타깃 사용자군인 노인의 언어치료 경험 및 서비스 수용도</a:t>
            </a:r>
            <a:r>
              <a:rPr lang="en-US" altLang="ko-KR" dirty="0"/>
              <a:t>, </a:t>
            </a:r>
            <a:r>
              <a:rPr lang="ko-KR" altLang="en-US" dirty="0"/>
              <a:t>니즈</a:t>
            </a:r>
            <a:r>
              <a:rPr lang="en-US" altLang="ko-KR" dirty="0"/>
              <a:t>, </a:t>
            </a:r>
            <a:r>
              <a:rPr lang="ko-KR" altLang="en-US" dirty="0"/>
              <a:t>기대사항을 심층 파악하여 서비스 개선과 확산 전략 수립에 활용하기 위함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7CBD76-C250-7C8A-DD5D-24348B7FECCC}"/>
              </a:ext>
            </a:extLst>
          </p:cNvPr>
          <p:cNvSpPr txBox="1"/>
          <p:nvPr/>
        </p:nvSpPr>
        <p:spPr>
          <a:xfrm>
            <a:off x="3783106" y="5136776"/>
            <a:ext cx="124474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만 </a:t>
            </a:r>
            <a:r>
              <a:rPr lang="en-US" altLang="ko-KR" dirty="0"/>
              <a:t>60</a:t>
            </a:r>
            <a:r>
              <a:rPr lang="ko-KR" altLang="en-US" dirty="0"/>
              <a:t>세 이상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언어치료를 </a:t>
            </a:r>
            <a:r>
              <a:rPr lang="ko-KR" altLang="en-US" dirty="0" err="1"/>
              <a:t>추천받은</a:t>
            </a:r>
            <a:r>
              <a:rPr lang="ko-KR" altLang="en-US" dirty="0"/>
              <a:t> 경험이 있는 자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뇌졸중</a:t>
            </a:r>
            <a:r>
              <a:rPr lang="en-US" altLang="ko-KR" dirty="0"/>
              <a:t>, </a:t>
            </a:r>
            <a:r>
              <a:rPr lang="ko-KR" altLang="en-US" dirty="0"/>
              <a:t>치매</a:t>
            </a:r>
            <a:r>
              <a:rPr lang="en-US" altLang="ko-KR" dirty="0"/>
              <a:t>, </a:t>
            </a:r>
            <a:r>
              <a:rPr lang="ko-KR" altLang="en-US" dirty="0" err="1"/>
              <a:t>파킨슨</a:t>
            </a:r>
            <a:r>
              <a:rPr lang="ko-KR" altLang="en-US" dirty="0"/>
              <a:t> 등 진단 또는 관련 증상이 있는 자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스마트폰 사용 경험 보유자</a:t>
            </a:r>
            <a:r>
              <a:rPr lang="en-US" altLang="ko-KR" dirty="0"/>
              <a:t>(</a:t>
            </a:r>
            <a:r>
              <a:rPr lang="ko-KR" altLang="en-US" dirty="0"/>
              <a:t>가급적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964788-D1F7-23EF-2BE4-DDD63B447D1B}"/>
              </a:ext>
            </a:extLst>
          </p:cNvPr>
          <p:cNvSpPr txBox="1"/>
          <p:nvPr/>
        </p:nvSpPr>
        <p:spPr>
          <a:xfrm>
            <a:off x="3700182" y="6905983"/>
            <a:ext cx="12447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</a:t>
            </a:r>
            <a:r>
              <a:rPr lang="ko-KR" altLang="en-US" dirty="0"/>
              <a:t>월 마지막 주 중</a:t>
            </a:r>
            <a:r>
              <a:rPr lang="en-US" altLang="ko-KR" dirty="0"/>
              <a:t>/ 30</a:t>
            </a:r>
            <a:r>
              <a:rPr lang="ko-KR" altLang="en-US" dirty="0"/>
              <a:t>분</a:t>
            </a:r>
            <a:r>
              <a:rPr lang="en-US" altLang="ko-KR" dirty="0"/>
              <a:t>/ </a:t>
            </a:r>
            <a:r>
              <a:rPr lang="ko-KR" altLang="en-US" dirty="0"/>
              <a:t>개별 전화 통화</a:t>
            </a:r>
            <a:endParaRPr lang="en-US" altLang="ko-KR" dirty="0"/>
          </a:p>
          <a:p>
            <a:r>
              <a:rPr lang="en-US" altLang="ko-KR" dirty="0"/>
              <a:t>- 1:1 </a:t>
            </a:r>
            <a:r>
              <a:rPr lang="ko-KR" altLang="en-US" dirty="0"/>
              <a:t>개별 심층 인터뷰</a:t>
            </a:r>
            <a:br>
              <a:rPr lang="ko-KR" altLang="en-US" dirty="0"/>
            </a:b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F00A0B-6117-0A6E-4BAC-FAB755CFCDDD}"/>
              </a:ext>
            </a:extLst>
          </p:cNvPr>
          <p:cNvSpPr txBox="1"/>
          <p:nvPr/>
        </p:nvSpPr>
        <p:spPr>
          <a:xfrm>
            <a:off x="3697941" y="2299447"/>
            <a:ext cx="73689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연령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, </a:t>
            </a:r>
            <a:r>
              <a:rPr lang="ko-KR" altLang="en-US" dirty="0"/>
              <a:t>교육 수준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주요 질환 및 진단 시점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언어치료 경험 여부 및 경과</a:t>
            </a:r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디지털 기기 사용 능력 및 정보 획득 경로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17C4F3-B51D-CD54-E7F4-DB274AACC7F0}"/>
              </a:ext>
            </a:extLst>
          </p:cNvPr>
          <p:cNvSpPr txBox="1"/>
          <p:nvPr/>
        </p:nvSpPr>
        <p:spPr>
          <a:xfrm>
            <a:off x="3697941" y="5150224"/>
            <a:ext cx="76917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간단한 자기소개 및 인터뷰 동의 확보</a:t>
            </a:r>
            <a:br>
              <a:rPr lang="ko-KR" altLang="en-US" dirty="0"/>
            </a:br>
            <a:r>
              <a:rPr lang="en-US" altLang="ko-KR" dirty="0"/>
              <a:t>2. </a:t>
            </a:r>
            <a:r>
              <a:rPr lang="ko-KR" altLang="en-US" dirty="0"/>
              <a:t>인터뷰 프로필 질문</a:t>
            </a:r>
            <a:br>
              <a:rPr lang="ko-KR" altLang="en-US" dirty="0"/>
            </a:br>
            <a:r>
              <a:rPr lang="en-US" altLang="ko-KR" dirty="0"/>
              <a:t>3. </a:t>
            </a:r>
            <a:r>
              <a:rPr lang="ko-KR" altLang="en-US" dirty="0"/>
              <a:t>질병 진단 및 치료 경험 중심 서술</a:t>
            </a:r>
            <a:br>
              <a:rPr lang="ko-KR" altLang="en-US" dirty="0"/>
            </a:br>
            <a:r>
              <a:rPr lang="en-US" altLang="ko-KR" dirty="0"/>
              <a:t>4. </a:t>
            </a:r>
            <a:r>
              <a:rPr lang="ko-KR" altLang="en-US" dirty="0"/>
              <a:t>언어치료 경험 유무 및 인식 탐색</a:t>
            </a:r>
            <a:br>
              <a:rPr lang="ko-KR" altLang="en-US" dirty="0"/>
            </a:br>
            <a:r>
              <a:rPr lang="en-US" altLang="ko-KR" dirty="0"/>
              <a:t>5. </a:t>
            </a:r>
            <a:r>
              <a:rPr lang="ko-KR" altLang="en-US" dirty="0"/>
              <a:t>디지털 치료</a:t>
            </a:r>
            <a:r>
              <a:rPr lang="en-US" altLang="ko-KR" dirty="0"/>
              <a:t>(</a:t>
            </a:r>
            <a:r>
              <a:rPr lang="ko-KR" altLang="en-US" dirty="0"/>
              <a:t>앱</a:t>
            </a:r>
            <a:r>
              <a:rPr lang="en-US" altLang="ko-KR" dirty="0"/>
              <a:t>, </a:t>
            </a:r>
            <a:r>
              <a:rPr lang="ko-KR" altLang="en-US" dirty="0"/>
              <a:t>뉴스레터 등</a:t>
            </a:r>
            <a:r>
              <a:rPr lang="en-US" altLang="ko-KR" dirty="0"/>
              <a:t>) </a:t>
            </a:r>
            <a:r>
              <a:rPr lang="ko-KR" altLang="en-US" dirty="0"/>
              <a:t>서비스 사용 가능성 및 기대감 파악</a:t>
            </a:r>
            <a:br>
              <a:rPr lang="ko-KR" altLang="en-US" dirty="0"/>
            </a:br>
            <a:r>
              <a:rPr lang="en-US" altLang="ko-KR" dirty="0"/>
              <a:t>6. </a:t>
            </a:r>
            <a:r>
              <a:rPr lang="ko-KR" altLang="en-US" dirty="0" err="1"/>
              <a:t>뉴로톡과</a:t>
            </a:r>
            <a:r>
              <a:rPr lang="ko-KR" altLang="en-US" dirty="0"/>
              <a:t> 유사한 앱</a:t>
            </a:r>
            <a:r>
              <a:rPr lang="en-US" altLang="ko-KR" dirty="0"/>
              <a:t>/</a:t>
            </a:r>
            <a:r>
              <a:rPr lang="ko-KR" altLang="en-US" dirty="0"/>
              <a:t>서비스 사용 경험 질문</a:t>
            </a:r>
            <a:br>
              <a:rPr lang="ko-KR" altLang="en-US" dirty="0"/>
            </a:br>
            <a:r>
              <a:rPr lang="en-US" altLang="ko-KR" dirty="0"/>
              <a:t>7. </a:t>
            </a:r>
            <a:r>
              <a:rPr lang="ko-KR" altLang="en-US" dirty="0"/>
              <a:t>사용 의향 및 지불 가능 비용 등 탐색</a:t>
            </a:r>
            <a:br>
              <a:rPr lang="ko-KR" altLang="en-US" dirty="0"/>
            </a:br>
            <a:r>
              <a:rPr lang="en-US" altLang="ko-KR" dirty="0"/>
              <a:t>8. </a:t>
            </a:r>
            <a:r>
              <a:rPr lang="ko-KR" altLang="en-US" dirty="0"/>
              <a:t>마무리 및 감사 인사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342622-0288-9356-95D8-F6F28D8B7AC6}"/>
              </a:ext>
            </a:extLst>
          </p:cNvPr>
          <p:cNvSpPr txBox="1"/>
          <p:nvPr/>
        </p:nvSpPr>
        <p:spPr>
          <a:xfrm>
            <a:off x="3603812" y="1411941"/>
            <a:ext cx="6790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25.04.28-25.0502/ 5</a:t>
            </a:r>
            <a:r>
              <a:rPr lang="ko-KR" altLang="en-US" dirty="0"/>
              <a:t>명 </a:t>
            </a:r>
            <a:r>
              <a:rPr lang="en-US" altLang="ko-KR" dirty="0"/>
              <a:t>/ </a:t>
            </a:r>
            <a:r>
              <a:rPr lang="ko-KR" altLang="en-US" dirty="0"/>
              <a:t>전화 설문 인터뷰 진행</a:t>
            </a:r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465684-7779-7E1F-5451-C8F607149085}"/>
              </a:ext>
            </a:extLst>
          </p:cNvPr>
          <p:cNvSpPr txBox="1"/>
          <p:nvPr/>
        </p:nvSpPr>
        <p:spPr>
          <a:xfrm>
            <a:off x="3603812" y="2312894"/>
            <a:ext cx="123712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언어치료를 필요로 하는 노인들은 </a:t>
            </a:r>
            <a:r>
              <a:rPr lang="ko-KR" altLang="en-US" dirty="0" err="1"/>
              <a:t>인증받은</a:t>
            </a:r>
            <a:r>
              <a:rPr lang="ko-KR" altLang="en-US" dirty="0"/>
              <a:t> 언어치료 프로그램을 </a:t>
            </a:r>
            <a:r>
              <a:rPr lang="ko-KR" altLang="en-US" dirty="0" err="1"/>
              <a:t>홈케어로</a:t>
            </a:r>
            <a:r>
              <a:rPr lang="ko-KR" altLang="en-US" dirty="0"/>
              <a:t> 접근할 수 있고 비용이 일반 언어치료실 보다 </a:t>
            </a:r>
            <a:r>
              <a:rPr lang="en-US" altLang="ko-KR" dirty="0"/>
              <a:t>60% </a:t>
            </a:r>
            <a:r>
              <a:rPr lang="ko-KR" altLang="en-US" dirty="0"/>
              <a:t>이상 저렴하면 </a:t>
            </a:r>
            <a:r>
              <a:rPr lang="ko-KR" altLang="en-US" dirty="0" err="1"/>
              <a:t>뉴로톡을</a:t>
            </a:r>
            <a:r>
              <a:rPr lang="ko-KR" altLang="en-US" dirty="0"/>
              <a:t> 이용할 것이다</a:t>
            </a:r>
            <a:r>
              <a:rPr lang="en-US" altLang="ko-KR" dirty="0"/>
              <a:t>. 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7034E4-AF6A-C9E5-B143-07B5DD45EC54}"/>
              </a:ext>
            </a:extLst>
          </p:cNvPr>
          <p:cNvSpPr txBox="1"/>
          <p:nvPr/>
        </p:nvSpPr>
        <p:spPr>
          <a:xfrm>
            <a:off x="3469341" y="6032513"/>
            <a:ext cx="6508377" cy="3139321"/>
          </a:xfrm>
          <a:prstGeom prst="rect">
            <a:avLst/>
          </a:prstGeom>
          <a:solidFill>
            <a:srgbClr val="FFF3C8"/>
          </a:solidFill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언어치료 대기 기간</a:t>
            </a:r>
            <a:r>
              <a:rPr lang="en-US" altLang="ko-KR" b="1" dirty="0"/>
              <a:t>:</a:t>
            </a:r>
            <a:br>
              <a:rPr lang="ko-KR" altLang="en-US" dirty="0"/>
            </a:br>
            <a:r>
              <a:rPr lang="ko-KR" altLang="en-US" dirty="0"/>
              <a:t>조사 대상자 모두 병원 언어치료 접근에 어려움을 경험했으며</a:t>
            </a:r>
            <a:r>
              <a:rPr lang="en-US" altLang="ko-KR" dirty="0"/>
              <a:t>, </a:t>
            </a:r>
            <a:r>
              <a:rPr lang="ko-KR" altLang="en-US" dirty="0"/>
              <a:t>대기 기간은 다음과 같이 </a:t>
            </a:r>
            <a:r>
              <a:rPr lang="ko-KR" altLang="en-US" b="1" dirty="0"/>
              <a:t>상당히 길고 불규칙</a:t>
            </a:r>
            <a:r>
              <a:rPr lang="ko-KR" altLang="en-US" dirty="0"/>
              <a:t>함</a:t>
            </a:r>
            <a:r>
              <a:rPr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 </a:t>
            </a:r>
            <a:r>
              <a:rPr lang="ko-KR" altLang="en-US" dirty="0"/>
              <a:t>어르신</a:t>
            </a:r>
            <a:r>
              <a:rPr lang="en-US" altLang="ko-KR" dirty="0"/>
              <a:t>: 6</a:t>
            </a:r>
            <a:r>
              <a:rPr lang="ko-KR" altLang="en-US" dirty="0"/>
              <a:t>개월 대기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B </a:t>
            </a:r>
            <a:r>
              <a:rPr lang="ko-KR" altLang="en-US" dirty="0"/>
              <a:t>어르신</a:t>
            </a:r>
            <a:r>
              <a:rPr lang="en-US" altLang="ko-KR" dirty="0"/>
              <a:t>: 1</a:t>
            </a:r>
            <a:r>
              <a:rPr lang="ko-KR" altLang="en-US" dirty="0"/>
              <a:t>년 대기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 </a:t>
            </a:r>
            <a:r>
              <a:rPr lang="ko-KR" altLang="en-US" dirty="0"/>
              <a:t>어르신</a:t>
            </a:r>
            <a:r>
              <a:rPr lang="en-US" altLang="ko-KR" dirty="0"/>
              <a:t>: 4</a:t>
            </a:r>
            <a:r>
              <a:rPr lang="ko-KR" altLang="en-US" dirty="0"/>
              <a:t>개월 대기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인사이트 요약</a:t>
            </a:r>
            <a:r>
              <a:rPr lang="en-US" altLang="ko-KR" b="1" dirty="0"/>
              <a:t>:</a:t>
            </a:r>
            <a:br>
              <a:rPr lang="ko-KR" altLang="en-US" dirty="0"/>
            </a:br>
            <a:r>
              <a:rPr lang="ko-KR" altLang="en-US" dirty="0"/>
              <a:t>🔹 기존 의료기관 기반 언어치료 접근은 </a:t>
            </a:r>
            <a:r>
              <a:rPr lang="ko-KR" altLang="en-US" b="1" dirty="0" err="1"/>
              <a:t>즉시성</a:t>
            </a:r>
            <a:r>
              <a:rPr lang="en-US" altLang="ko-KR" b="1" dirty="0"/>
              <a:t>·</a:t>
            </a:r>
            <a:r>
              <a:rPr lang="ko-KR" altLang="en-US" b="1" dirty="0"/>
              <a:t>지속성 결여</a:t>
            </a:r>
            <a:br>
              <a:rPr lang="ko-KR" altLang="en-US" dirty="0"/>
            </a:br>
            <a:r>
              <a:rPr lang="ko-KR" altLang="en-US" dirty="0"/>
              <a:t>🔹 디지털 </a:t>
            </a:r>
            <a:r>
              <a:rPr lang="ko-KR" altLang="en-US" dirty="0" err="1"/>
              <a:t>홈케어</a:t>
            </a:r>
            <a:r>
              <a:rPr lang="ko-KR" altLang="en-US" dirty="0"/>
              <a:t> 언어치료의 </a:t>
            </a:r>
            <a:r>
              <a:rPr lang="ko-KR" altLang="en-US" b="1" dirty="0"/>
              <a:t>보완 수요</a:t>
            </a:r>
            <a:r>
              <a:rPr lang="ko-KR" altLang="en-US" dirty="0"/>
              <a:t>가 명확히 존재</a:t>
            </a:r>
            <a:br>
              <a:rPr lang="ko-KR" altLang="en-US" dirty="0"/>
            </a:br>
            <a:r>
              <a:rPr lang="ko-KR" altLang="en-US" dirty="0"/>
              <a:t>🔹 병원 중심 구조에 의존하는 고령층의 언어 재활은 </a:t>
            </a:r>
            <a:r>
              <a:rPr lang="ko-KR" altLang="en-US" b="1" dirty="0"/>
              <a:t>공백 상태</a:t>
            </a:r>
            <a:r>
              <a:rPr lang="ko-KR" altLang="en-US" dirty="0"/>
              <a:t> 발생 가능성 높음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A64565-FA54-6FAB-650C-3CA14E4F866B}"/>
              </a:ext>
            </a:extLst>
          </p:cNvPr>
          <p:cNvSpPr txBox="1"/>
          <p:nvPr/>
        </p:nvSpPr>
        <p:spPr>
          <a:xfrm>
            <a:off x="10130118" y="5875631"/>
            <a:ext cx="7176247" cy="3970318"/>
          </a:xfrm>
          <a:prstGeom prst="rect">
            <a:avLst/>
          </a:prstGeom>
          <a:solidFill>
            <a:srgbClr val="FFF3C8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정보 접근 주체는 </a:t>
            </a:r>
            <a:r>
              <a:rPr lang="en-US" altLang="ko-KR" b="1" dirty="0"/>
              <a:t>'</a:t>
            </a:r>
            <a:r>
              <a:rPr lang="ko-KR" altLang="en-US" b="1" dirty="0"/>
              <a:t>노인本人</a:t>
            </a:r>
            <a:r>
              <a:rPr lang="en-US" altLang="ko-KR" b="1" dirty="0"/>
              <a:t>'</a:t>
            </a:r>
            <a:r>
              <a:rPr lang="ko-KR" altLang="en-US" b="1" dirty="0"/>
              <a:t>이 아닌 </a:t>
            </a:r>
            <a:r>
              <a:rPr lang="en-US" altLang="ko-KR" b="1" dirty="0"/>
              <a:t>'</a:t>
            </a:r>
            <a:r>
              <a:rPr lang="ko-KR" altLang="en-US" b="1" dirty="0"/>
              <a:t>자녀</a:t>
            </a:r>
            <a:r>
              <a:rPr lang="en-US" altLang="ko-KR" b="1" dirty="0"/>
              <a:t>'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노인 본인은 건강 및 치료 정보에 대해 </a:t>
            </a:r>
            <a:r>
              <a:rPr lang="ko-KR" altLang="en-US" b="1" dirty="0"/>
              <a:t>직접 탐색보다는 자녀에게 의존</a:t>
            </a:r>
            <a:r>
              <a:rPr lang="ko-KR" altLang="en-US" dirty="0"/>
              <a:t>하는 경향이 뚜렷함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자녀가 주요 정보 탐색자</a:t>
            </a:r>
            <a:r>
              <a:rPr lang="ko-KR" altLang="en-US" dirty="0"/>
              <a:t>로서 건강 관리</a:t>
            </a:r>
            <a:r>
              <a:rPr lang="en-US" altLang="ko-KR" dirty="0"/>
              <a:t>, </a:t>
            </a:r>
            <a:r>
              <a:rPr lang="ko-KR" altLang="en-US" dirty="0"/>
              <a:t>치료 결정의 실제 실행 주체 역할을 수행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자녀의 정보 탐색 채널</a:t>
            </a:r>
            <a:r>
              <a:rPr lang="en-US" altLang="ko-KR" b="1" dirty="0"/>
              <a:t>:</a:t>
            </a:r>
            <a:endParaRPr lang="ko-KR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포털 검색 </a:t>
            </a:r>
            <a:r>
              <a:rPr lang="en-US" altLang="ko-KR" dirty="0"/>
              <a:t>(Naver, Google)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유튜브    </a:t>
            </a:r>
            <a:r>
              <a:rPr lang="en-US" altLang="ko-KR" dirty="0"/>
              <a:t>/       </a:t>
            </a:r>
            <a:r>
              <a:rPr lang="ko-KR" altLang="en-US" dirty="0"/>
              <a:t>병원 커뮤니티</a:t>
            </a:r>
            <a:r>
              <a:rPr lang="en-US" altLang="ko-KR" dirty="0"/>
              <a:t>/</a:t>
            </a:r>
            <a:r>
              <a:rPr lang="ko-KR" altLang="en-US" dirty="0"/>
              <a:t>카페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디지털 광고</a:t>
            </a:r>
            <a:r>
              <a:rPr lang="en-US" altLang="ko-KR" dirty="0"/>
              <a:t>, </a:t>
            </a:r>
            <a:r>
              <a:rPr lang="ko-KR" altLang="en-US" dirty="0"/>
              <a:t>뉴스레터</a:t>
            </a:r>
            <a:r>
              <a:rPr lang="en-US" altLang="ko-KR" dirty="0"/>
              <a:t>, </a:t>
            </a:r>
            <a:r>
              <a:rPr lang="ko-KR" altLang="en-US" dirty="0"/>
              <a:t>앱 추천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인사이트 요약</a:t>
            </a:r>
            <a:r>
              <a:rPr lang="en-US" altLang="ko-KR" b="1" dirty="0"/>
              <a:t>:</a:t>
            </a:r>
            <a:br>
              <a:rPr lang="ko-KR" altLang="en-US" dirty="0"/>
            </a:br>
            <a:r>
              <a:rPr lang="ko-KR" altLang="en-US" dirty="0"/>
              <a:t>🔹 노인 대상 서비스의 </a:t>
            </a:r>
            <a:r>
              <a:rPr lang="ko-KR" altLang="en-US" b="1" dirty="0"/>
              <a:t>실제 마케팅 타깃은 자녀</a:t>
            </a:r>
            <a:r>
              <a:rPr lang="ko-KR" altLang="en-US" dirty="0"/>
              <a:t>일 수 있음</a:t>
            </a:r>
            <a:br>
              <a:rPr lang="ko-KR" altLang="en-US" dirty="0"/>
            </a:br>
            <a:r>
              <a:rPr lang="ko-KR" altLang="en-US" dirty="0"/>
              <a:t>🔹 </a:t>
            </a:r>
            <a:r>
              <a:rPr lang="ko-KR" altLang="en-US" dirty="0" err="1"/>
              <a:t>뉴로톡</a:t>
            </a:r>
            <a:r>
              <a:rPr lang="ko-KR" altLang="en-US" dirty="0"/>
              <a:t> 콘텐츠와 광고 채널은 </a:t>
            </a:r>
            <a:r>
              <a:rPr lang="ko-KR" altLang="en-US" b="1" dirty="0"/>
              <a:t>자녀 세대에 최적화</a:t>
            </a:r>
            <a:r>
              <a:rPr lang="ko-KR" altLang="en-US" dirty="0"/>
              <a:t>되어야 함</a:t>
            </a:r>
            <a:br>
              <a:rPr lang="ko-KR" altLang="en-US" dirty="0"/>
            </a:br>
            <a:r>
              <a:rPr lang="ko-KR" altLang="en-US" dirty="0"/>
              <a:t>🔹 자녀를 위한 </a:t>
            </a:r>
            <a:r>
              <a:rPr lang="ko-KR" altLang="en-US" b="1" dirty="0"/>
              <a:t>가이드형 콘텐츠</a:t>
            </a:r>
            <a:r>
              <a:rPr lang="en-US" altLang="ko-KR" dirty="0"/>
              <a:t>, </a:t>
            </a:r>
            <a:r>
              <a:rPr lang="ko-KR" altLang="en-US" b="1" dirty="0"/>
              <a:t>보호자용 </a:t>
            </a:r>
            <a:r>
              <a:rPr lang="ko-KR" altLang="en-US" b="1" dirty="0" err="1"/>
              <a:t>리마인더</a:t>
            </a:r>
            <a:r>
              <a:rPr lang="ko-KR" altLang="en-US" b="1" dirty="0"/>
              <a:t> 기능</a:t>
            </a:r>
            <a:r>
              <a:rPr lang="en-US" altLang="ko-KR" dirty="0"/>
              <a:t>, </a:t>
            </a:r>
            <a:r>
              <a:rPr lang="ko-KR" altLang="en-US" b="1" dirty="0"/>
              <a:t>가족 연동형 </a:t>
            </a:r>
            <a:r>
              <a:rPr lang="en-US" altLang="ko-KR" b="1" dirty="0"/>
              <a:t>UX</a:t>
            </a:r>
            <a:r>
              <a:rPr lang="ko-KR" altLang="en-US" dirty="0"/>
              <a:t> 등 서비스 확장 가능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BF1B64-0688-0BBC-1301-953522852D5A}"/>
              </a:ext>
            </a:extLst>
          </p:cNvPr>
          <p:cNvSpPr txBox="1"/>
          <p:nvPr/>
        </p:nvSpPr>
        <p:spPr>
          <a:xfrm>
            <a:off x="3765176" y="3832412"/>
            <a:ext cx="125057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공식 인증된 언어치료 콘텐츠를 월 </a:t>
            </a:r>
            <a:r>
              <a:rPr lang="en-US" altLang="ko-KR" dirty="0"/>
              <a:t>5</a:t>
            </a:r>
            <a:r>
              <a:rPr lang="ko-KR" altLang="en-US" dirty="0"/>
              <a:t>만원 이하의 가격에 집에서 사용할 수 있다면</a:t>
            </a:r>
            <a:r>
              <a:rPr lang="en-US" altLang="ko-KR" dirty="0"/>
              <a:t>, </a:t>
            </a:r>
            <a:r>
              <a:rPr lang="ko-KR" altLang="en-US" dirty="0"/>
              <a:t>병원 언어치료 대기 경험이 있는 고객 중 </a:t>
            </a:r>
            <a:r>
              <a:rPr lang="en-US" altLang="ko-KR" dirty="0"/>
              <a:t>70%</a:t>
            </a:r>
            <a:r>
              <a:rPr lang="ko-KR" altLang="en-US" dirty="0"/>
              <a:t>는 </a:t>
            </a:r>
            <a:r>
              <a:rPr lang="ko-KR" altLang="en-US" dirty="0" err="1"/>
              <a:t>뉴로톡을</a:t>
            </a:r>
            <a:r>
              <a:rPr lang="ko-KR" altLang="en-US" dirty="0"/>
              <a:t> 이용할 것이다</a:t>
            </a:r>
            <a:r>
              <a:rPr lang="en-US" altLang="ko-KR" dirty="0"/>
              <a:t>. (O)</a:t>
            </a:r>
          </a:p>
          <a:p>
            <a:r>
              <a:rPr lang="ko-KR" altLang="en-US" dirty="0"/>
              <a:t>자녀에게 경제적 부담을 주고 싶지 </a:t>
            </a:r>
            <a:r>
              <a:rPr lang="ko-KR" altLang="en-US" dirty="0" err="1"/>
              <a:t>않다’는</a:t>
            </a:r>
            <a:r>
              <a:rPr lang="ko-KR" altLang="en-US" dirty="0"/>
              <a:t> 이유로 치료를 중단한 고객 중 </a:t>
            </a:r>
            <a:r>
              <a:rPr lang="en-US" altLang="ko-KR" dirty="0"/>
              <a:t>60% </a:t>
            </a:r>
            <a:r>
              <a:rPr lang="ko-KR" altLang="en-US" dirty="0"/>
              <a:t>이상은</a:t>
            </a:r>
            <a:r>
              <a:rPr lang="en-US" altLang="ko-KR" dirty="0"/>
              <a:t>, </a:t>
            </a:r>
            <a:r>
              <a:rPr lang="ko-KR" altLang="en-US" dirty="0" err="1"/>
              <a:t>뉴로톡이</a:t>
            </a:r>
            <a:r>
              <a:rPr lang="ko-KR" altLang="en-US" dirty="0"/>
              <a:t> 보호자에게 부담을 주지 않는 저비용 </a:t>
            </a:r>
            <a:r>
              <a:rPr lang="ko-KR" altLang="en-US" dirty="0" err="1"/>
              <a:t>홈케어</a:t>
            </a:r>
            <a:r>
              <a:rPr lang="ko-KR" altLang="en-US" dirty="0"/>
              <a:t> 솔루션임을 인식할 경우 다시 언어치료를 시작할 것이다</a:t>
            </a:r>
            <a:r>
              <a:rPr lang="en-US" altLang="ko-KR" dirty="0"/>
              <a:t>. (O)</a:t>
            </a:r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489</Words>
  <Application>Microsoft Office PowerPoint</Application>
  <PresentationFormat>사용자 지정</PresentationFormat>
  <Paragraphs>31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genacyjs@naver.com</cp:lastModifiedBy>
  <cp:revision>2</cp:revision>
  <dcterms:created xsi:type="dcterms:W3CDTF">2025-04-24T06:43:19Z</dcterms:created>
  <dcterms:modified xsi:type="dcterms:W3CDTF">2025-05-03T15:08:17Z</dcterms:modified>
</cp:coreProperties>
</file>