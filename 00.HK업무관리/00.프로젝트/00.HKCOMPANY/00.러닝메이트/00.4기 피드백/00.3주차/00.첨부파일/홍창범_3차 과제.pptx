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-72" y="-72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4350" y="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F7529-E68E-43F3-AAE6-BE69D2EBDEF1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667510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B6B52-159E-4D52-BE04-45D595B251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37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4078" y="2497873"/>
            <a:ext cx="6094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만성질환을 보유한 중년 남성의 식습관 이해를 위한 인터뷰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914078" y="3590692"/>
            <a:ext cx="11933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만성질환을 겪고 있는 중년 남성의 일상 식습관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식이 선택 기준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식사 준비 방식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식이 관련 불편함 및 </a:t>
            </a:r>
            <a:r>
              <a:rPr lang="ko-KR" altLang="en-US" b="1" dirty="0" err="1" smtClean="0"/>
              <a:t>니즈를</a:t>
            </a:r>
            <a:r>
              <a:rPr lang="ko-KR" altLang="en-US" b="1" dirty="0" smtClean="0"/>
              <a:t> 파악하여</a:t>
            </a:r>
            <a:endParaRPr lang="en-US" altLang="ko-KR" b="1" dirty="0" smtClean="0"/>
          </a:p>
          <a:p>
            <a:r>
              <a:rPr lang="ko-KR" altLang="en-US" b="1" dirty="0" smtClean="0"/>
              <a:t>맞춤형 식단 관리 서비스 개발에 필요한 기초 </a:t>
            </a:r>
            <a:r>
              <a:rPr lang="ko-KR" altLang="en-US" b="1" dirty="0" err="1" smtClean="0"/>
              <a:t>데잍터를</a:t>
            </a:r>
            <a:r>
              <a:rPr lang="ko-KR" altLang="en-US" b="1" dirty="0" smtClean="0"/>
              <a:t> 수집하고자 함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914078" y="5319132"/>
            <a:ext cx="5009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/>
              <a:t>연령기준 만 </a:t>
            </a:r>
            <a:r>
              <a:rPr lang="en-US" altLang="ko-KR" b="1" dirty="0" smtClean="0"/>
              <a:t>40</a:t>
            </a:r>
            <a:r>
              <a:rPr lang="ko-KR" altLang="en-US" b="1" dirty="0" err="1" smtClean="0"/>
              <a:t>세이상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65</a:t>
            </a:r>
            <a:r>
              <a:rPr lang="ko-KR" altLang="en-US" b="1" dirty="0" smtClean="0"/>
              <a:t>세 이하의 중년 남성</a:t>
            </a:r>
            <a:endParaRPr lang="en-US" altLang="ko-KR" b="1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/>
              <a:t>질환보유 및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자기 식단 관리 경험 보유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914078" y="7025272"/>
            <a:ext cx="4374916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1" dirty="0" smtClean="0"/>
              <a:t>1</a:t>
            </a:r>
            <a:r>
              <a:rPr lang="ko-KR" altLang="en-US" b="1" dirty="0" smtClean="0"/>
              <a:t>차</a:t>
            </a:r>
            <a:r>
              <a:rPr lang="en-US" altLang="ko-KR" b="1" dirty="0" smtClean="0"/>
              <a:t>: 2025</a:t>
            </a:r>
            <a:r>
              <a:rPr lang="ko-KR" altLang="en-US" b="1" dirty="0" smtClean="0"/>
              <a:t>년 </a:t>
            </a:r>
            <a:r>
              <a:rPr lang="en-US" altLang="ko-KR" b="1" dirty="0" smtClean="0"/>
              <a:t>4</a:t>
            </a:r>
            <a:r>
              <a:rPr lang="ko-KR" altLang="en-US" b="1" dirty="0" smtClean="0"/>
              <a:t>월  </a:t>
            </a:r>
            <a:r>
              <a:rPr lang="en-US" altLang="ko-KR" b="1" dirty="0" smtClean="0"/>
              <a:t>29</a:t>
            </a:r>
            <a:r>
              <a:rPr lang="ko-KR" altLang="en-US" b="1" dirty="0" smtClean="0"/>
              <a:t>일 화요일 오후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시  </a:t>
            </a:r>
            <a:endParaRPr lang="en-US" altLang="ko-KR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1" dirty="0" smtClean="0"/>
              <a:t>2</a:t>
            </a:r>
            <a:r>
              <a:rPr lang="ko-KR" altLang="en-US" b="1" dirty="0" smtClean="0"/>
              <a:t>차</a:t>
            </a:r>
            <a:r>
              <a:rPr lang="en-US" altLang="ko-KR" b="1" dirty="0" smtClean="0"/>
              <a:t>: 2025</a:t>
            </a:r>
            <a:r>
              <a:rPr lang="ko-KR" altLang="en-US" b="1" dirty="0" smtClean="0"/>
              <a:t>년 </a:t>
            </a:r>
            <a:r>
              <a:rPr lang="en-US" altLang="ko-KR" b="1" dirty="0" smtClean="0"/>
              <a:t>5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일 목요일  오후 </a:t>
            </a:r>
            <a:r>
              <a:rPr lang="en-US" altLang="ko-KR" b="1" dirty="0" smtClean="0"/>
              <a:t>7</a:t>
            </a:r>
            <a:r>
              <a:rPr lang="ko-KR" altLang="en-US" b="1" dirty="0" smtClean="0"/>
              <a:t>시</a:t>
            </a:r>
            <a:endParaRPr lang="en-US" altLang="ko-KR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b="1" dirty="0" smtClean="0"/>
              <a:t>오프라인 대면 인터뷰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7964" y="2319467"/>
            <a:ext cx="63673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번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나이</a:t>
            </a:r>
            <a:r>
              <a:rPr lang="en-US" altLang="ko-KR" sz="1400" b="1" dirty="0" smtClean="0"/>
              <a:t>: 59</a:t>
            </a:r>
            <a:r>
              <a:rPr lang="ko-KR" altLang="en-US" sz="1400" b="1" dirty="0" smtClean="0"/>
              <a:t>세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직업</a:t>
            </a:r>
            <a:r>
              <a:rPr lang="en-US" altLang="ko-KR" sz="1400" b="1" dirty="0" smtClean="0"/>
              <a:t>: </a:t>
            </a:r>
            <a:r>
              <a:rPr lang="ko-KR" altLang="en-US" sz="1400" b="1" dirty="0" err="1" smtClean="0"/>
              <a:t>스타트업</a:t>
            </a:r>
            <a:r>
              <a:rPr lang="ko-KR" altLang="en-US" sz="1400" b="1" dirty="0" smtClean="0"/>
              <a:t> 대표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보유 만성질환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심부전 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진단 </a:t>
            </a:r>
            <a:r>
              <a:rPr lang="en-US" altLang="ko-KR" sz="1400" b="1" dirty="0" smtClean="0"/>
              <a:t>2</a:t>
            </a:r>
            <a:r>
              <a:rPr lang="ko-KR" altLang="en-US" sz="1400" b="1" dirty="0" err="1" smtClean="0"/>
              <a:t>년차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식습관 특징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대부분 사무실에 있으므로 근처 식당 또는 </a:t>
            </a:r>
            <a:r>
              <a:rPr lang="ko-KR" altLang="en-US" sz="1400" b="1" dirty="0" err="1" smtClean="0"/>
              <a:t>간편식으로</a:t>
            </a:r>
            <a:r>
              <a:rPr lang="ko-KR" altLang="en-US" sz="1400" b="1" dirty="0" smtClean="0"/>
              <a:t> 해결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건강관리 행동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사무실 근처 헬스장 이용</a:t>
            </a:r>
            <a:r>
              <a:rPr lang="en-US" altLang="ko-KR" sz="1400" b="1" dirty="0" smtClean="0"/>
              <a:t>(</a:t>
            </a:r>
            <a:r>
              <a:rPr lang="ko-KR" altLang="en-US" sz="1400" b="1" dirty="0" err="1" smtClean="0"/>
              <a:t>유산소</a:t>
            </a:r>
            <a:r>
              <a:rPr lang="ko-KR" altLang="en-US" sz="1400" b="1" dirty="0" smtClean="0"/>
              <a:t> 중심</a:t>
            </a:r>
            <a:r>
              <a:rPr lang="en-US" altLang="ko-KR" sz="1400" b="1" dirty="0" smtClean="0"/>
              <a:t>), </a:t>
            </a:r>
            <a:r>
              <a:rPr lang="ko-KR" altLang="en-US" sz="1400" b="1" dirty="0" smtClean="0"/>
              <a:t>가급적 대중교통을 이용함으로 운동량 상승시키려 함</a:t>
            </a:r>
            <a:r>
              <a:rPr lang="en-US" altLang="ko-KR" sz="1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 smtClean="0"/>
              <a:t>                                    </a:t>
            </a:r>
            <a:r>
              <a:rPr lang="ko-KR" altLang="en-US" sz="1400" b="1" dirty="0" smtClean="0"/>
              <a:t>흡</a:t>
            </a:r>
            <a:r>
              <a:rPr lang="ko-KR" altLang="en-US" sz="1400" b="1" dirty="0"/>
              <a:t>연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음주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탄산음료 등 하지 않으려 노력하고 있음</a:t>
            </a:r>
            <a:r>
              <a:rPr lang="en-US" altLang="ko-KR" sz="1400" b="1" dirty="0" smtClean="0"/>
              <a:t> </a:t>
            </a:r>
            <a:endParaRPr lang="ko-KR" altLang="en-US" sz="14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305301"/>
              </p:ext>
            </p:extLst>
          </p:nvPr>
        </p:nvGraphicFramePr>
        <p:xfrm>
          <a:off x="3885032" y="5306951"/>
          <a:ext cx="11704110" cy="2971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8002"/>
                <a:gridCol w="887610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기초 생활 및 건강 인식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해당 만성질환을 진단받게 된 계기에 대해 간단하게 말해주세요</a:t>
                      </a:r>
                      <a:r>
                        <a:rPr lang="en-US" altLang="ko-KR" sz="1100" dirty="0" smtClean="0"/>
                        <a:t>.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현재 본인의 건강 상태에 대해 어떻게 인식하고 계신가요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진단 이후 가장 많이 바뀐 생활 습관이 있다면 무엇인가요</a:t>
                      </a:r>
                      <a:r>
                        <a:rPr lang="en-US" altLang="ko-KR" sz="1100" dirty="0" smtClean="0"/>
                        <a:t>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식습관에 대한 이해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평소 식사를 어떻게 해결하시나요</a:t>
                      </a:r>
                      <a:r>
                        <a:rPr lang="en-US" altLang="ko-KR" sz="1100" dirty="0" smtClean="0"/>
                        <a:t>? (</a:t>
                      </a:r>
                      <a:r>
                        <a:rPr lang="ko-KR" altLang="en-US" sz="1100" dirty="0" smtClean="0"/>
                        <a:t>예</a:t>
                      </a:r>
                      <a:r>
                        <a:rPr lang="en-US" altLang="ko-KR" sz="1100" dirty="0" smtClean="0"/>
                        <a:t>: </a:t>
                      </a:r>
                      <a:r>
                        <a:rPr lang="ko-KR" altLang="en-US" sz="1100" dirty="0" smtClean="0"/>
                        <a:t>아침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점심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저녁의 패턴</a:t>
                      </a:r>
                      <a:r>
                        <a:rPr lang="en-US" altLang="ko-KR" sz="1100" dirty="0" smtClean="0"/>
                        <a:t>)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사무실 근처 식당이나 </a:t>
                      </a:r>
                      <a:r>
                        <a:rPr lang="ko-KR" altLang="en-US" sz="1100" dirty="0" err="1" smtClean="0"/>
                        <a:t>간편식</a:t>
                      </a:r>
                      <a:r>
                        <a:rPr lang="ko-KR" altLang="en-US" sz="1100" dirty="0" smtClean="0"/>
                        <a:t> 이용 시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어떤 기준으로 음식을 고르시나요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식사 시 염분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지방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당분 등을 의식하시나요</a:t>
                      </a:r>
                      <a:r>
                        <a:rPr lang="en-US" altLang="ko-KR" sz="1100" dirty="0" smtClean="0"/>
                        <a:t>? </a:t>
                      </a:r>
                      <a:r>
                        <a:rPr lang="ko-KR" altLang="en-US" sz="1100" dirty="0" smtClean="0"/>
                        <a:t>의식하신다면 어떻게 조절하고 계신가요</a:t>
                      </a:r>
                      <a:r>
                        <a:rPr lang="en-US" altLang="ko-KR" sz="1100" dirty="0" smtClean="0"/>
                        <a:t>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심부전 관리와 식이 조절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진단 이후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의료진으로부터 식단에 대한 구체적인 안내를 받은 적이 있으신가요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그 안내를 실제로 식습관에 적용해보신 적이 있다면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어떤 점이 가장 어렵거나 불편했나요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물 섭취나 나트륨 제한 등 식이 지침 중 어려웠던 점이 있으셨나요</a:t>
                      </a:r>
                      <a:r>
                        <a:rPr lang="en-US" altLang="ko-KR" sz="1100" dirty="0" smtClean="0"/>
                        <a:t>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건강관리 습관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운동 루틴이나 빈도는 어떻게 되시나요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평소 생활 속에서 건강을 위해 노력하는 점이 있을까요</a:t>
                      </a:r>
                      <a:r>
                        <a:rPr lang="en-US" altLang="ko-KR" sz="1100" dirty="0" smtClean="0"/>
                        <a:t>?</a:t>
                      </a:r>
                      <a:endParaRPr lang="ko-KR" alt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/>
                        <a:t>니즈</a:t>
                      </a:r>
                      <a:r>
                        <a:rPr lang="ko-KR" altLang="en-US" sz="1100" b="1" dirty="0" smtClean="0"/>
                        <a:t> 및 개선점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식단 관리에서 </a:t>
                      </a:r>
                      <a:r>
                        <a:rPr lang="ko-KR" altLang="en-US" sz="1100" b="0" dirty="0" smtClean="0"/>
                        <a:t>가장 답답하거나 고민이 되는 부분이 </a:t>
                      </a:r>
                      <a:r>
                        <a:rPr lang="ko-KR" altLang="en-US" sz="1100" dirty="0" smtClean="0"/>
                        <a:t>있다면 어떤 점인가요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err="1" smtClean="0"/>
                        <a:t>만성질환자를</a:t>
                      </a:r>
                      <a:r>
                        <a:rPr lang="ko-KR" altLang="en-US" sz="1100" dirty="0" smtClean="0"/>
                        <a:t> 위한 식단 서비스가 있다면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어떤 기능이나 정보가 꼭 포함되었으면 좋겠다고 생각하시나요</a:t>
                      </a:r>
                      <a:r>
                        <a:rPr lang="en-US" altLang="ko-KR" sz="1100" dirty="0" smtClean="0"/>
                        <a:t>?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 smtClean="0"/>
                        <a:t>매일 식단을 계획하거나 준비하는 데 드는 시간과 노력을 줄여주는 방법이 있다면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어떤 형태가 가장 현실적일 것 같으신가요</a:t>
                      </a:r>
                      <a:r>
                        <a:rPr lang="en-US" altLang="ko-KR" sz="1100" dirty="0" smtClean="0"/>
                        <a:t>? (</a:t>
                      </a:r>
                      <a:r>
                        <a:rPr lang="ko-KR" altLang="en-US" sz="1100" dirty="0" smtClean="0"/>
                        <a:t>예</a:t>
                      </a:r>
                      <a:r>
                        <a:rPr lang="en-US" altLang="ko-KR" sz="1100" dirty="0" smtClean="0"/>
                        <a:t>: </a:t>
                      </a:r>
                      <a:r>
                        <a:rPr lang="ko-KR" altLang="en-US" sz="1100" dirty="0" smtClean="0"/>
                        <a:t>식단 추천 </a:t>
                      </a:r>
                      <a:r>
                        <a:rPr lang="ko-KR" altLang="en-US" sz="1100" dirty="0" err="1" smtClean="0"/>
                        <a:t>앱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정기 </a:t>
                      </a:r>
                      <a:r>
                        <a:rPr lang="ko-KR" altLang="en-US" sz="1100" dirty="0" err="1" smtClean="0"/>
                        <a:t>밀키트</a:t>
                      </a:r>
                      <a:r>
                        <a:rPr lang="en-US" altLang="ko-KR" sz="1100" dirty="0" smtClean="0"/>
                        <a:t>, </a:t>
                      </a:r>
                      <a:r>
                        <a:rPr lang="ko-KR" altLang="en-US" sz="1100" dirty="0" smtClean="0"/>
                        <a:t>건강 </a:t>
                      </a:r>
                      <a:r>
                        <a:rPr lang="ko-KR" altLang="en-US" sz="1100" dirty="0" err="1" smtClean="0"/>
                        <a:t>간편식</a:t>
                      </a:r>
                      <a:r>
                        <a:rPr lang="ko-KR" altLang="en-US" sz="1100" dirty="0" smtClean="0"/>
                        <a:t> 등</a:t>
                      </a:r>
                      <a:r>
                        <a:rPr lang="en-US" altLang="ko-KR" sz="1100" dirty="0" smtClean="0"/>
                        <a:t>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125308" y="2319466"/>
            <a:ext cx="636734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번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나이</a:t>
            </a:r>
            <a:r>
              <a:rPr lang="en-US" altLang="ko-KR" sz="1400" b="1" dirty="0" smtClean="0"/>
              <a:t>: 42</a:t>
            </a:r>
            <a:r>
              <a:rPr lang="ko-KR" altLang="en-US" sz="1400" b="1" dirty="0" smtClean="0"/>
              <a:t>세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직업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대학교 교직원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보유 만성질환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단백뇨 및 지방간 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진단 </a:t>
            </a:r>
            <a:r>
              <a:rPr lang="en-US" altLang="ko-KR" sz="1400" b="1" dirty="0"/>
              <a:t>5</a:t>
            </a:r>
            <a:r>
              <a:rPr lang="ko-KR" altLang="en-US" sz="1400" b="1" dirty="0" err="1" smtClean="0"/>
              <a:t>년차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식습관 특징</a:t>
            </a:r>
            <a:r>
              <a:rPr lang="en-US" altLang="ko-KR" sz="1400" b="1" dirty="0" smtClean="0"/>
              <a:t>: 1</a:t>
            </a:r>
            <a:r>
              <a:rPr lang="ko-KR" altLang="en-US" sz="1400" b="1" dirty="0" smtClean="0"/>
              <a:t>인 거주 및 학교 근무로 학생식당 중심으로 해결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건강관리 행동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헬스장 이용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월 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회 이상 등산 등반 중</a:t>
            </a:r>
            <a:endParaRPr lang="en-US" altLang="ko-KR" sz="1400" b="1" dirty="0" smtClean="0"/>
          </a:p>
          <a:p>
            <a:pPr>
              <a:lnSpc>
                <a:spcPct val="150000"/>
              </a:lnSpc>
            </a:pPr>
            <a:r>
              <a:rPr lang="en-US" altLang="ko-KR" sz="1400" b="1" dirty="0" smtClean="0"/>
              <a:t>                                    </a:t>
            </a:r>
            <a:r>
              <a:rPr lang="ko-KR" altLang="en-US" sz="1400" b="1" dirty="0" smtClean="0"/>
              <a:t>흡연은 하나 가급적 음주는 하지 않으려 노력 함</a:t>
            </a:r>
            <a:endParaRPr lang="ko-KR" alt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69112" y="1561171"/>
            <a:ext cx="707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b="1" dirty="0" smtClean="0"/>
              <a:t>2025</a:t>
            </a:r>
            <a:r>
              <a:rPr lang="ko-KR" altLang="en-US" b="1" dirty="0" smtClean="0"/>
              <a:t>년 </a:t>
            </a:r>
            <a:r>
              <a:rPr lang="en-US" altLang="ko-KR" b="1" dirty="0" smtClean="0"/>
              <a:t>4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28</a:t>
            </a:r>
            <a:r>
              <a:rPr lang="ko-KR" altLang="en-US" b="1" dirty="0" smtClean="0"/>
              <a:t>일 화요일 오후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시</a:t>
            </a:r>
            <a:r>
              <a:rPr lang="en-US" altLang="ko-KR" b="1" dirty="0" smtClean="0"/>
              <a:t>~4</a:t>
            </a:r>
            <a:r>
              <a:rPr lang="ko-KR" altLang="en-US" b="1" dirty="0" smtClean="0"/>
              <a:t>시 오프라인 대면 인터뷰 진행</a:t>
            </a:r>
            <a:r>
              <a:rPr lang="en-US" altLang="ko-KR" b="1" dirty="0" smtClean="0"/>
              <a:t>. 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769112" y="2430966"/>
            <a:ext cx="908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b="1" dirty="0" err="1" smtClean="0"/>
              <a:t>만성질환자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60% </a:t>
            </a:r>
            <a:r>
              <a:rPr lang="ko-KR" altLang="en-US" b="1" dirty="0" smtClean="0"/>
              <a:t>이상은 식단관리에 관심은 있지만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실천 방법을 몰라 어렵다고 느낀다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69112" y="3880624"/>
            <a:ext cx="12579085" cy="1026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식단 관리에 대한 관심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식이조절이 중요한 건 인식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그래서 나트륨을 줄이려는 데 얼마나 어떻게 줄러야 하는지 모르겠다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그래서 식사량을 줄이려고 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실천의 어려움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인터넷이나 병원에서도 먹으면 좋다고 하는 건 많은데 쉽게 손이 가지 않음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간단하게 </a:t>
            </a:r>
            <a:r>
              <a:rPr lang="ko-KR" altLang="en-US" sz="1400" dirty="0" err="1" smtClean="0"/>
              <a:t>오뚜기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컵밥</a:t>
            </a:r>
            <a:r>
              <a:rPr lang="ko-KR" altLang="en-US" sz="1400" dirty="0" smtClean="0"/>
              <a:t> 하나 먹고 김치도 잘 안 먹으려고 노력한다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smtClean="0"/>
              <a:t>도움이 되었던 경험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병원 갈 때마다 식단에 대해서 </a:t>
            </a:r>
            <a:r>
              <a:rPr lang="ko-KR" altLang="en-US" sz="1400" dirty="0" err="1" smtClean="0"/>
              <a:t>듣으니</a:t>
            </a:r>
            <a:r>
              <a:rPr lang="ko-KR" altLang="en-US" sz="1400" dirty="0" smtClean="0"/>
              <a:t> 잘 해야지 하나 일이 </a:t>
            </a:r>
            <a:r>
              <a:rPr lang="ko-KR" altLang="en-US" sz="1400" dirty="0" err="1" smtClean="0"/>
              <a:t>바쁘다보니</a:t>
            </a:r>
            <a:r>
              <a:rPr lang="ko-KR" altLang="en-US" sz="1400" dirty="0" smtClean="0"/>
              <a:t> 실천이 되지 않는다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769112" y="6077414"/>
            <a:ext cx="58432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직장인의 시간 제약</a:t>
            </a:r>
            <a:r>
              <a:rPr lang="ko-KR" altLang="en-US" sz="1400" dirty="0"/>
              <a:t>과 </a:t>
            </a:r>
            <a:r>
              <a:rPr lang="ko-KR" altLang="en-US" sz="1400" b="1" dirty="0"/>
              <a:t>식당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간편식</a:t>
            </a:r>
            <a:r>
              <a:rPr lang="ko-KR" altLang="en-US" sz="1400" b="1" dirty="0"/>
              <a:t> 중심 식사 패턴</a:t>
            </a:r>
            <a:r>
              <a:rPr lang="ko-KR" altLang="en-US" sz="1400" dirty="0"/>
              <a:t>은 식단 실천의 가장 큰 장애 요인 중 하나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err="1"/>
              <a:t>성분표나</a:t>
            </a:r>
            <a:r>
              <a:rPr lang="ko-KR" altLang="en-US" sz="1400" b="1" dirty="0"/>
              <a:t> 음식 정보는 많지만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질환자</a:t>
            </a:r>
            <a:r>
              <a:rPr lang="ko-KR" altLang="en-US" sz="1400" dirty="0"/>
              <a:t> 입장에서 이해하고 적용하기엔 </a:t>
            </a:r>
            <a:r>
              <a:rPr lang="ko-KR" altLang="en-US" sz="1400" b="1" dirty="0"/>
              <a:t>해석 가이드가 부족</a:t>
            </a:r>
            <a:r>
              <a:rPr lang="ko-KR" altLang="en-US" sz="1400" dirty="0"/>
              <a:t>함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건강관리에 적극적인 태도를 가진 사람조차</a:t>
            </a:r>
            <a:r>
              <a:rPr lang="en-US" altLang="ko-KR" sz="1400" dirty="0"/>
              <a:t>, </a:t>
            </a:r>
            <a:r>
              <a:rPr lang="ko-KR" altLang="en-US" sz="1400" b="1" dirty="0"/>
              <a:t>식이 실천에서 혼란을 겪고 있음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0292575" y="6077414"/>
            <a:ext cx="58432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실천 </a:t>
            </a:r>
            <a:r>
              <a:rPr lang="ko-KR" altLang="en-US" sz="1400" b="1" dirty="0"/>
              <a:t>중심의 개인화 가이드 부족</a:t>
            </a:r>
            <a:endParaRPr lang="ko-KR" alt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/>
              <a:t>단순한 영양 정보가 아니라</a:t>
            </a:r>
            <a:r>
              <a:rPr lang="en-US" altLang="ko-KR" sz="1400" dirty="0"/>
              <a:t>, “</a:t>
            </a:r>
            <a:r>
              <a:rPr lang="ko-KR" altLang="en-US" sz="1400" dirty="0" err="1"/>
              <a:t>상황별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대처법</a:t>
            </a:r>
            <a:r>
              <a:rPr lang="ko-KR" altLang="en-US" sz="1400" dirty="0"/>
              <a:t>”이나 “추천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비추천</a:t>
            </a:r>
            <a:r>
              <a:rPr lang="ko-KR" altLang="en-US" sz="1400" dirty="0"/>
              <a:t> 메뉴 리스트” 형태의 구체적인 가이드를 </a:t>
            </a:r>
            <a:r>
              <a:rPr lang="ko-KR" altLang="en-US" sz="1400" dirty="0" smtClean="0"/>
              <a:t>원함</a:t>
            </a:r>
            <a:endParaRPr lang="en-US" altLang="ko-KR" sz="1400" dirty="0" smtClean="0"/>
          </a:p>
          <a:p>
            <a:endParaRPr lang="ko-KR" altLang="en-US" sz="1400" dirty="0"/>
          </a:p>
          <a:p>
            <a:r>
              <a:rPr lang="en-US" altLang="ko-KR" sz="1400" b="1" dirty="0" smtClean="0"/>
              <a:t>2. </a:t>
            </a:r>
            <a:r>
              <a:rPr lang="ko-KR" altLang="en-US" sz="1400" b="1" dirty="0" smtClean="0"/>
              <a:t>시간 </a:t>
            </a:r>
            <a:r>
              <a:rPr lang="ko-KR" altLang="en-US" sz="1400" b="1" dirty="0"/>
              <a:t>제약 속 선택 보조의 </a:t>
            </a:r>
            <a:r>
              <a:rPr lang="ko-KR" altLang="en-US" sz="1400" b="1" dirty="0" err="1"/>
              <a:t>니즈</a:t>
            </a:r>
            <a:endParaRPr lang="ko-KR" alt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/>
              <a:t>바쁜 일상에서 빠르게 판단할 수 있는 </a:t>
            </a:r>
            <a:r>
              <a:rPr lang="ko-KR" altLang="en-US" sz="1400" b="1" dirty="0"/>
              <a:t>간편식품의 건강 정보 </a:t>
            </a:r>
            <a:r>
              <a:rPr lang="ko-KR" altLang="en-US" sz="1400" b="1" dirty="0" err="1"/>
              <a:t>큐레이션</a:t>
            </a:r>
            <a:r>
              <a:rPr lang="ko-KR" altLang="en-US" sz="1400" dirty="0"/>
              <a:t> 또는 </a:t>
            </a:r>
            <a:r>
              <a:rPr lang="ko-KR" altLang="en-US" sz="1400" b="1" dirty="0"/>
              <a:t>선택 도우미 도구</a:t>
            </a:r>
            <a:r>
              <a:rPr lang="ko-KR" altLang="en-US" sz="1400" dirty="0"/>
              <a:t>가 </a:t>
            </a:r>
            <a:r>
              <a:rPr lang="ko-KR" altLang="en-US" sz="1400" dirty="0" smtClean="0"/>
              <a:t>필요</a:t>
            </a:r>
            <a:endParaRPr lang="en-US" altLang="ko-KR" sz="1400" dirty="0" smtClean="0"/>
          </a:p>
          <a:p>
            <a:endParaRPr lang="ko-KR" altLang="en-US" sz="1400" dirty="0"/>
          </a:p>
          <a:p>
            <a:r>
              <a:rPr lang="en-US" altLang="ko-KR" sz="1400" dirty="0" smtClean="0"/>
              <a:t>3. '</a:t>
            </a:r>
            <a:r>
              <a:rPr lang="ko-KR" altLang="en-US" sz="1400" dirty="0"/>
              <a:t>무엇을 먹지 말아야 한다</a:t>
            </a:r>
            <a:r>
              <a:rPr lang="en-US" altLang="ko-KR" sz="1400" dirty="0"/>
              <a:t>'</a:t>
            </a:r>
            <a:r>
              <a:rPr lang="ko-KR" altLang="en-US" sz="1400" dirty="0"/>
              <a:t>보다 </a:t>
            </a:r>
            <a:r>
              <a:rPr lang="en-US" altLang="ko-KR" sz="1400" dirty="0"/>
              <a:t>'</a:t>
            </a:r>
            <a:r>
              <a:rPr lang="ko-KR" altLang="en-US" sz="1400" dirty="0"/>
              <a:t>어떤 대안을 선택할 수 있는지</a:t>
            </a:r>
            <a:r>
              <a:rPr lang="en-US" altLang="ko-KR" sz="1400" dirty="0" smtClean="0"/>
              <a:t>'</a:t>
            </a:r>
            <a:r>
              <a:rPr lang="ko-KR" altLang="en-US" sz="1400" dirty="0" smtClean="0"/>
              <a:t>를 </a:t>
            </a:r>
            <a:r>
              <a:rPr lang="ko-KR" altLang="en-US" sz="1400" dirty="0"/>
              <a:t>알려주는 방식이 효과적임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69112" y="1561171"/>
            <a:ext cx="707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b="1" dirty="0" smtClean="0"/>
              <a:t>2025</a:t>
            </a:r>
            <a:r>
              <a:rPr lang="ko-KR" altLang="en-US" b="1" dirty="0" smtClean="0"/>
              <a:t>년 </a:t>
            </a:r>
            <a:r>
              <a:rPr lang="en-US" altLang="ko-KR" b="1" dirty="0"/>
              <a:t>5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일 목요일 오후 </a:t>
            </a:r>
            <a:r>
              <a:rPr lang="en-US" altLang="ko-KR" b="1" dirty="0" smtClean="0"/>
              <a:t>7</a:t>
            </a:r>
            <a:r>
              <a:rPr lang="ko-KR" altLang="en-US" b="1" dirty="0" smtClean="0"/>
              <a:t>시</a:t>
            </a:r>
            <a:r>
              <a:rPr lang="en-US" altLang="ko-KR" b="1" dirty="0" smtClean="0"/>
              <a:t>~8</a:t>
            </a:r>
            <a:r>
              <a:rPr lang="ko-KR" altLang="en-US" b="1" dirty="0" smtClean="0"/>
              <a:t>시 오프라인 대면 인터뷰 진행</a:t>
            </a:r>
            <a:r>
              <a:rPr lang="en-US" altLang="ko-KR" b="1" dirty="0" smtClean="0"/>
              <a:t>. 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769112" y="2430966"/>
            <a:ext cx="908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b="1" dirty="0" err="1" smtClean="0"/>
              <a:t>만성질환자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60% </a:t>
            </a:r>
            <a:r>
              <a:rPr lang="ko-KR" altLang="en-US" b="1" dirty="0" smtClean="0"/>
              <a:t>이상은 식단관리에 관심은 있지만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실천 방법을 몰라 어렵다고 느낀다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69112" y="3757963"/>
            <a:ext cx="991008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 smtClean="0"/>
              <a:t>질환 인식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지방간은 별일 아닌 줄 알았는데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단백뇨까지 진단받아 경각심이 생김 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 smtClean="0"/>
              <a:t>생활 변화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직접 요리를 </a:t>
            </a:r>
            <a:r>
              <a:rPr lang="ko-KR" altLang="en-US" sz="1400" dirty="0" err="1" smtClean="0"/>
              <a:t>할려고</a:t>
            </a:r>
            <a:r>
              <a:rPr lang="ko-KR" altLang="en-US" sz="1400" dirty="0" smtClean="0"/>
              <a:t> 하는데 잘 못하겠고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재료도 많이 남음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그냥 근처 식당이나 학생식당에서 </a:t>
            </a:r>
            <a:r>
              <a:rPr lang="ko-KR" altLang="en-US" sz="1400" dirty="0" err="1" smtClean="0"/>
              <a:t>먹는게</a:t>
            </a:r>
            <a:r>
              <a:rPr lang="ko-KR" altLang="en-US" sz="1400" dirty="0" smtClean="0"/>
              <a:t> 제일 편함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 smtClean="0"/>
              <a:t>식사습관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무엇을 얼마나 먹어야 하는지 모름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그냥 좀 적게 먹으려고 노력하는데 의미가 있는지 잘 모르겠음 </a:t>
            </a:r>
            <a:endParaRPr lang="en-US" altLang="ko-KR" sz="14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 smtClean="0"/>
              <a:t>운동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꾸준히 </a:t>
            </a:r>
            <a:r>
              <a:rPr lang="ko-KR" altLang="en-US" sz="1400" dirty="0" err="1" smtClean="0"/>
              <a:t>할려고</a:t>
            </a:r>
            <a:r>
              <a:rPr lang="ko-KR" altLang="en-US" sz="1400" dirty="0" smtClean="0"/>
              <a:t> 노력하고 그래서 등산도 자주 </a:t>
            </a:r>
            <a:r>
              <a:rPr lang="ko-KR" altLang="en-US" sz="1400" dirty="0" err="1" smtClean="0"/>
              <a:t>할려고</a:t>
            </a:r>
            <a:r>
              <a:rPr lang="ko-KR" altLang="en-US" sz="1400" dirty="0" smtClean="0"/>
              <a:t> 노력함</a:t>
            </a:r>
            <a:r>
              <a:rPr lang="en-US" altLang="ko-KR" sz="1400" dirty="0" smtClean="0"/>
              <a:t>. /</a:t>
            </a:r>
            <a:r>
              <a:rPr lang="ko-KR" altLang="en-US" sz="1400" dirty="0" smtClean="0"/>
              <a:t>흡연에 대해 별 생각 없음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9112" y="6077414"/>
            <a:ext cx="58432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단백뇨와 지방간이라는 만성질환에 대한 식단 기준이 모호해 어려움을 느껴 결국 포기하게 됨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단체 식당에서 주로 식사를 </a:t>
            </a:r>
            <a:r>
              <a:rPr lang="ko-KR" altLang="en-US" sz="1400" dirty="0" err="1"/>
              <a:t>해결하다보니</a:t>
            </a:r>
            <a:r>
              <a:rPr lang="ko-KR" altLang="en-US" sz="1400" dirty="0"/>
              <a:t> 개인화된 선택이 어려움 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혼자 </a:t>
            </a:r>
            <a:r>
              <a:rPr lang="ko-KR" altLang="en-US" sz="1400" dirty="0" err="1"/>
              <a:t>살다보니</a:t>
            </a:r>
            <a:r>
              <a:rPr lang="ko-KR" altLang="en-US" sz="1400" dirty="0"/>
              <a:t>  식사 준비가 가장 큰 부담이 됨</a:t>
            </a:r>
            <a:r>
              <a:rPr lang="en-US" altLang="ko-KR" sz="1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운동은 일정 수준이상으로 하고 있으나 건강 관리에 얼마나 도움이 되지는 지는 모르겠음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0292575" y="6077414"/>
            <a:ext cx="58432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현실적인 식이 통합 가이드 필요</a:t>
            </a:r>
            <a:endParaRPr lang="en-US" altLang="ko-KR" sz="14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손쉽게 실천할 수 있는 </a:t>
            </a:r>
            <a:r>
              <a:rPr lang="ko-KR" altLang="en-US" sz="1400" dirty="0" err="1" smtClean="0"/>
              <a:t>현실형</a:t>
            </a:r>
            <a:r>
              <a:rPr lang="ko-KR" altLang="en-US" sz="1400" dirty="0" smtClean="0"/>
              <a:t> 가이드가 필요 </a:t>
            </a:r>
            <a:r>
              <a:rPr lang="en-US" altLang="ko-KR" sz="1400" dirty="0" smtClean="0"/>
              <a:t>+ </a:t>
            </a:r>
            <a:r>
              <a:rPr lang="ko-KR" altLang="en-US" sz="1400" dirty="0" err="1" smtClean="0"/>
              <a:t>상황별</a:t>
            </a:r>
            <a:r>
              <a:rPr lang="ko-KR" altLang="en-US" sz="1400" dirty="0" smtClean="0"/>
              <a:t> 조정 가능한 가이드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 smtClean="0"/>
          </a:p>
          <a:p>
            <a:r>
              <a:rPr lang="en-US" altLang="ko-KR" sz="1400" b="1" dirty="0" smtClean="0"/>
              <a:t>2. </a:t>
            </a:r>
            <a:r>
              <a:rPr lang="ko-KR" altLang="en-US" sz="1400" b="1" dirty="0" smtClean="0"/>
              <a:t>제한된 식당 식사에서 메뉴 판단 필요</a:t>
            </a:r>
            <a:endParaRPr lang="en-US" altLang="ko-KR" sz="1400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정해진 메뉴 중에서 추천하는 메뉴 제공 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err="1" smtClean="0"/>
              <a:t>모바일</a:t>
            </a:r>
            <a:r>
              <a:rPr lang="ko-KR" altLang="en-US" sz="1400" dirty="0" smtClean="0"/>
              <a:t> 기반으로 손 쉽게 메뉴 확인해 제공 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 smtClean="0"/>
          </a:p>
          <a:p>
            <a:r>
              <a:rPr lang="en-US" altLang="ko-KR" sz="1400" dirty="0" smtClean="0"/>
              <a:t>3. 1</a:t>
            </a:r>
            <a:r>
              <a:rPr lang="ko-KR" altLang="en-US" sz="1400" dirty="0" smtClean="0"/>
              <a:t>인 남성 가구를 위한 맞춤형 식단 </a:t>
            </a:r>
            <a:r>
              <a:rPr lang="ko-KR" altLang="en-US" sz="1400" dirty="0" err="1" smtClean="0"/>
              <a:t>니즈</a:t>
            </a:r>
            <a:r>
              <a:rPr lang="ko-KR" altLang="en-US" sz="1400" dirty="0" smtClean="0"/>
              <a:t> 확인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b="1" dirty="0" smtClean="0"/>
              <a:t>누구나 간단하게 조리</a:t>
            </a:r>
            <a:r>
              <a:rPr lang="ko-KR" altLang="en-US" sz="1400" dirty="0" smtClean="0"/>
              <a:t>할 수 있는 개인화 식단 솔루션이 필요 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4468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821</Words>
  <Application>Microsoft Office PowerPoint</Application>
  <PresentationFormat>사용자 지정</PresentationFormat>
  <Paragraphs>83</Paragraphs>
  <Slides>8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홍창범</cp:lastModifiedBy>
  <cp:revision>5</cp:revision>
  <dcterms:created xsi:type="dcterms:W3CDTF">2025-04-24T06:43:19Z</dcterms:created>
  <dcterms:modified xsi:type="dcterms:W3CDTF">2025-05-04T04:15:38Z</dcterms:modified>
</cp:coreProperties>
</file>