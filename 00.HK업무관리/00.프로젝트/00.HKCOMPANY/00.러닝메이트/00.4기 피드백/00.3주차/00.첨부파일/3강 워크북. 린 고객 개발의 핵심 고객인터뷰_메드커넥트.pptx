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3f4d487a1_2_2:notes"/>
          <p:cNvSpPr/>
          <p:nvPr>
            <p:ph idx="2" type="sldImg"/>
          </p:nvPr>
        </p:nvSpPr>
        <p:spPr>
          <a:xfrm>
            <a:off x="476254" y="595313"/>
            <a:ext cx="3810001" cy="160734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53f4d487a1_2_2:notes"/>
          <p:cNvSpPr txBox="1"/>
          <p:nvPr>
            <p:ph idx="1" type="body"/>
          </p:nvPr>
        </p:nvSpPr>
        <p:spPr>
          <a:xfrm>
            <a:off x="476251" y="2291954"/>
            <a:ext cx="3810008" cy="1875235"/>
          </a:xfrm>
          <a:prstGeom prst="rect">
            <a:avLst/>
          </a:prstGeom>
          <a:noFill/>
          <a:ln>
            <a:noFill/>
          </a:ln>
        </p:spPr>
        <p:txBody>
          <a:bodyPr anchorCtr="0" anchor="t" bIns="29100" lIns="58200" spcFirstLastPara="1" rIns="58200" wrap="square" tIns="29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61" name="Google Shape;61;g353f4d487a1_2_2:notes"/>
          <p:cNvSpPr txBox="1"/>
          <p:nvPr>
            <p:ph idx="12" type="sldNum"/>
          </p:nvPr>
        </p:nvSpPr>
        <p:spPr>
          <a:xfrm>
            <a:off x="2697653" y="4523550"/>
            <a:ext cx="2063754" cy="238952"/>
          </a:xfrm>
          <a:prstGeom prst="rect">
            <a:avLst/>
          </a:prstGeom>
          <a:noFill/>
          <a:ln>
            <a:noFill/>
          </a:ln>
        </p:spPr>
        <p:txBody>
          <a:bodyPr anchorCtr="0" anchor="b" bIns="29100" lIns="58200" spcFirstLastPara="1" rIns="58200" wrap="square" tIns="29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" name="Google Shape;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6"/>
          <p:cNvSpPr txBox="1"/>
          <p:nvPr/>
        </p:nvSpPr>
        <p:spPr>
          <a:xfrm>
            <a:off x="1863300" y="718750"/>
            <a:ext cx="6716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‘25.05.03 17:23 ~ 18:02 / 1</a:t>
            </a:r>
            <a:r>
              <a:rPr lang="ko"/>
              <a:t>명 / 전화 인터뷰</a:t>
            </a:r>
            <a:r>
              <a:rPr lang="ko"/>
              <a:t> </a:t>
            </a:r>
            <a:endParaRPr/>
          </a:p>
        </p:txBody>
      </p:sp>
      <p:sp>
        <p:nvSpPr>
          <p:cNvPr id="65" name="Google Shape;65;p16"/>
          <p:cNvSpPr txBox="1"/>
          <p:nvPr/>
        </p:nvSpPr>
        <p:spPr>
          <a:xfrm>
            <a:off x="1897625" y="1192600"/>
            <a:ext cx="66819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미국의 Optical Lab 을 이용하는 안경점은 렌즈구매 및 가공비가 40% 저렴하고 제작속도가 기존의 14일에서 5일로 개선된다면 한국에서 주문한다고 해도 서비스를 이용할 것이다</a:t>
            </a:r>
            <a:endParaRPr sz="1000"/>
          </a:p>
        </p:txBody>
      </p:sp>
      <p:sp>
        <p:nvSpPr>
          <p:cNvPr id="66" name="Google Shape;66;p16"/>
          <p:cNvSpPr txBox="1"/>
          <p:nvPr/>
        </p:nvSpPr>
        <p:spPr>
          <a:xfrm>
            <a:off x="2714825" y="1844975"/>
            <a:ext cx="57960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 sz="1100"/>
              <a:t>가격과 속도, 품질이 미국 대비 한국이 더 우위에 있다는 점을 새롭게 인지함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 sz="1100"/>
              <a:t>그러나 우위에도 불구하고 기존 거래처와의 관계, 변화의 불편함, 익숙하지 않음, 해외 배송에 대한 막연한 불안을 해소해야만 거래가 가능할 것</a:t>
            </a:r>
            <a:endParaRPr sz="1100"/>
          </a:p>
        </p:txBody>
      </p:sp>
      <p:sp>
        <p:nvSpPr>
          <p:cNvPr id="67" name="Google Shape;67;p16"/>
          <p:cNvSpPr txBox="1"/>
          <p:nvPr/>
        </p:nvSpPr>
        <p:spPr>
          <a:xfrm>
            <a:off x="1931950" y="3149725"/>
            <a:ext cx="3159000" cy="12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"/>
              <a:t>가격, 속도, 품질 우위가 확실하게 있음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"/>
              <a:t>고객의 구매로 이어지기 위해 해당 우위에 추가적인 요소가 필요</a:t>
            </a:r>
            <a:endParaRPr/>
          </a:p>
        </p:txBody>
      </p:sp>
      <p:sp>
        <p:nvSpPr>
          <p:cNvPr id="68" name="Google Shape;68;p16"/>
          <p:cNvSpPr txBox="1"/>
          <p:nvPr/>
        </p:nvSpPr>
        <p:spPr>
          <a:xfrm>
            <a:off x="5318775" y="3206000"/>
            <a:ext cx="3159000" cy="12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"/>
              <a:t>가격, 속도, 품질 우위 인식방법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"/>
              <a:t>해외거래에 대한 신뢰, 기존 거래처를 이용하면서도 당사를 함께 이용할 만한 서비스나 카테고리 강조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