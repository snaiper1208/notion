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234"/>
    <p:restoredTop sz="94610"/>
  </p:normalViewPr>
  <p:slideViewPr>
    <p:cSldViewPr snapToGrid="0" snapToObjects="1">
      <p:cViewPr>
        <p:scale>
          <a:sx n="80" d="100"/>
          <a:sy n="8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2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5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7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3795251" y="2565330"/>
            <a:ext cx="12329583" cy="36646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/>
              <a:t>어떤 투어에 참여하고 싶나요? – 프리다이버들의 투어 니즈 인터뷰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3795251" y="3423285"/>
            <a:ext cx="12329583" cy="146113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프리다이버들이 실제로 참여하고 싶어하는 투어 형태, 구성, 분위기, 가격대, 활동 요소 등을 구체적으로 파악한다.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기존 프리다이빙 투어(국내외 포함)에 대한 만족도, 불만족 요인, 아쉬운 점을 듣고, 실질적인 개선 방향을 도출한다.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향후 다이빙 허브 브랜드에서 제공할 투어 프로그램 기획에 고객 인사이트를 반영하기 위한 기초 데이터를 수집한다.</a:t>
            </a:r>
            <a:endParaRPr lang="ko-KR" altLang="en-US"/>
          </a:p>
        </p:txBody>
      </p:sp>
      <p:sp>
        <p:nvSpPr>
          <p:cNvPr id="5" name="가로 글상자 4"/>
          <p:cNvSpPr txBox="1"/>
          <p:nvPr/>
        </p:nvSpPr>
        <p:spPr>
          <a:xfrm>
            <a:off x="3795251" y="5145546"/>
            <a:ext cx="12329583" cy="146289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AIDA/SSI 등 단체 무관, 최소 1레벨 이상 수료자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최근 1년 내 펀다이빙 혹은 투어형 프리다이빙 경험이 있는 사람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아직 투어를 가보진 않았지만 관심을 가진 이유와 기대사항이 있는 초급 다이버</a:t>
            </a:r>
            <a:endParaRPr lang="en-US" altLang="ko-KR"/>
          </a:p>
        </p:txBody>
      </p:sp>
      <p:sp>
        <p:nvSpPr>
          <p:cNvPr id="6" name="가로 글상자 5"/>
          <p:cNvSpPr txBox="1"/>
          <p:nvPr/>
        </p:nvSpPr>
        <p:spPr>
          <a:xfrm>
            <a:off x="3795245" y="6946475"/>
            <a:ext cx="12329583" cy="1462194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일시: 2025년 4월 29일(</a:t>
            </a:r>
            <a:r>
              <a:rPr lang="ko-KR" altLang="en-US"/>
              <a:t>화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시간: 딥스테이션 내 대기 시간, 쉬는 시간, 수업 종료 직후 등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1인당 약 10~15분 내외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방식:</a:t>
            </a:r>
            <a:r>
              <a:rPr lang="ko-KR" altLang="en-US"/>
              <a:t> </a:t>
            </a:r>
            <a:r>
              <a:rPr lang="en-US" altLang="ko-KR"/>
              <a:t>1:1 반구조화(세미-스트럭처드) 인터뷰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사전 구성된 주요 질문에 따라 대화식 진행</a:t>
            </a:r>
            <a:r>
              <a:rPr lang="ko-KR" altLang="en-US"/>
              <a:t>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필요 시 자유로운 의견 유도</a:t>
            </a:r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graphicFrame>
        <p:nvGraphicFramePr>
          <p:cNvPr id="5" name="표 4"/>
          <p:cNvGraphicFramePr/>
          <p:nvPr/>
        </p:nvGraphicFramePr>
        <p:xfrm>
          <a:off x="3792644" y="2397760"/>
          <a:ext cx="4842510" cy="2390775"/>
        </p:xfrm>
        <a:graphic>
          <a:graphicData uri="http://schemas.openxmlformats.org/drawingml/2006/table">
            <a:tbl>
              <a:tblPr firstRow="1" bandRow="1"/>
              <a:tblGrid>
                <a:gridCol w="2421255"/>
                <a:gridCol w="2421255"/>
              </a:tblGrid>
              <a:tr h="11684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이름/닉네임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(기록용, 익명 가능)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성별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남 / 여 / 기타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연령대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20대 / 30대 / 40대 이상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다이빙 단체 및 레벨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(예: SSI Lv.2, AIDA 3 등)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11684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프리다이빙 시작 연도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(예: 2022년부터)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/>
          <p:nvPr/>
        </p:nvGraphicFramePr>
        <p:xfrm>
          <a:off x="9764820" y="2397760"/>
          <a:ext cx="6363503" cy="2299335"/>
        </p:xfrm>
        <a:graphic>
          <a:graphicData uri="http://schemas.openxmlformats.org/drawingml/2006/table">
            <a:tbl>
              <a:tblPr firstRow="1" bandRow="1"/>
              <a:tblGrid>
                <a:gridCol w="3180247"/>
                <a:gridCol w="3183255"/>
              </a:tblGrid>
              <a:tr h="367665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투어 경험 유무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있음 / 없음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64389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최근 참여한 투어 위치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(</a:t>
                      </a: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예: 보홀, 제주, 울진 등)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64389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선호하는 다이빙 환경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국내 바다 / 해외 바다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643890"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다이빙 관련 SNS 사용 여부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lvl="0" algn="l">
                        <a:defRPr/>
                      </a:pPr>
                      <a:r>
                        <a:rPr xmlns:mc="http://schemas.openxmlformats.org/markup-compatibility/2006" xmlns:hp="http://schemas.haansoft.com/office/presentation/8.0" sz="18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인스타 / 유튜브 / 안 함 등</a:t>
                      </a:r>
                      <a:endParaRPr xmlns:mc="http://schemas.openxmlformats.org/markup-compatibility/2006" xmlns:hp="http://schemas.haansoft.com/office/presentation/8.0" sz="18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3632708" y="5156492"/>
            <a:ext cx="10736490" cy="33855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1.도입부 – 아이스브레이킹 + 배경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언제부터 프리다이빙을 시작하셨어요?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주로 어떤 환경(수영장/바다)에서 다이빙 하세요?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2.경험 공유 – 투어 관련 경험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프리다이빙 투어(펀다이빙 포함)는 어디로 가보셨어요?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가장 기억에 남는 투어나 펀다이빙 장소는 어디였나요? 왜요?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투어에서 가장 좋았던 점은 뭐였나요?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반대로, 아쉬웠던 점이나 불편했던 경험이 있었다면?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3.니즈 탐색 – 원하는 투어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만약 완벽한 프리다이빙 투어가 있다면, 어떤 요소가 꼭 있었으면 하나요?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예: 숙소/식사/강사/사진/자유시간/비다이버 동반 등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함께 가는 사람은 누구였으면 좋겠나요? (지인, 연인, 낯선 다이버들, 가족 등)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어느 정도 예산까지 괜찮다고 느끼세요? (국내/해외 기준 각각)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자유도와 안전, 둘 중 어떤 게 더 중요하다고 느끼세요?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4.기타 제안 &amp; 감성 요소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SNS에서 본 투어나 콘텐츠 중 "나도 가보고 싶다" 느낀 게 있다면?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투어 중 ‘이런 게 있으면 더 특별했겠다’ 싶은 경험이 있다면요?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가로 글상자 2"/>
          <p:cNvSpPr txBox="1"/>
          <p:nvPr/>
        </p:nvSpPr>
        <p:spPr>
          <a:xfrm>
            <a:off x="3590501" y="1551941"/>
            <a:ext cx="12329583" cy="36067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일시: 2025년 4월 29일(</a:t>
            </a:r>
            <a:r>
              <a:rPr lang="ko-KR" altLang="en-US"/>
              <a:t>화</a:t>
            </a:r>
            <a:r>
              <a:rPr lang="en-US" altLang="ko-KR"/>
              <a:t>)</a:t>
            </a:r>
            <a:r>
              <a:rPr lang="ko-KR" altLang="en-US"/>
              <a:t> </a:t>
            </a:r>
            <a:r>
              <a:rPr lang="en-US" altLang="ko-KR"/>
              <a:t>7</a:t>
            </a:r>
            <a:r>
              <a:rPr lang="ko-KR" altLang="en-US"/>
              <a:t>명 </a:t>
            </a:r>
            <a:r>
              <a:rPr lang="en-US" altLang="ko-KR"/>
              <a:t>(20</a:t>
            </a:r>
            <a:r>
              <a:rPr lang="ko-KR" altLang="en-US"/>
              <a:t>대 </a:t>
            </a:r>
            <a:r>
              <a:rPr lang="en-US" altLang="ko-KR"/>
              <a:t>3</a:t>
            </a:r>
            <a:r>
              <a:rPr lang="ko-KR" altLang="en-US"/>
              <a:t>명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30</a:t>
            </a:r>
            <a:r>
              <a:rPr lang="ko-KR" altLang="en-US"/>
              <a:t>대 </a:t>
            </a:r>
            <a:r>
              <a:rPr lang="en-US" altLang="ko-KR"/>
              <a:t>4</a:t>
            </a:r>
            <a:r>
              <a:rPr lang="ko-KR" altLang="en-US"/>
              <a:t>명</a:t>
            </a:r>
            <a:r>
              <a:rPr lang="en-US" altLang="ko-KR"/>
              <a:t>)</a:t>
            </a:r>
            <a:endParaRPr lang="en-US" altLang="ko-KR"/>
          </a:p>
        </p:txBody>
      </p:sp>
      <p:sp>
        <p:nvSpPr>
          <p:cNvPr id="4" name="직사각형 3"/>
          <p:cNvSpPr/>
          <p:nvPr/>
        </p:nvSpPr>
        <p:spPr>
          <a:xfrm>
            <a:off x="3590499" y="2278865"/>
            <a:ext cx="12802789" cy="7291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투</a:t>
            </a:r>
            <a:r>
              <a:rPr xmlns:mc="http://schemas.openxmlformats.org/markup-compatibility/2006" xmlns:hp="http://schemas.haansoft.com/office/presentation/8.0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어에서 가장 중요하게 생각하는 요소는사진 촬영과숙소의 퀄리티일 것이다.</a:t>
            </a:r>
            <a:endParaRPr xmlns:mc="http://schemas.openxmlformats.org/markup-compatibility/2006" xmlns:hp="http://schemas.haansoft.com/office/presentation/8.0" sz="14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대부분의 투어는친목 위주로 구성되어 있어 낯선 사람들과 함께 가는 것에 부담을 느낄 것이다.</a:t>
            </a:r>
            <a:endParaRPr xmlns:mc="http://schemas.openxmlformats.org/markup-compatibility/2006" xmlns:hp="http://schemas.haansoft.com/office/presentation/8.0" sz="14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4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초보자일수록강사의 밀착 케어를 원할 것이다.</a:t>
            </a:r>
            <a:endParaRPr xmlns:mc="http://schemas.openxmlformats.org/markup-compatibility/2006" xmlns:hp="http://schemas.haansoft.com/office/presentation/8.0" sz="14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590501" y="3806457"/>
            <a:ext cx="8838230" cy="11255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국내 투어라도바다 환경이 좋고 일정 구성이 명확하면 만족도가 높음</a:t>
            </a:r>
            <a:endParaRPr xmlns:mc="http://schemas.openxmlformats.org/markup-compatibility/2006" xmlns:hp="http://schemas.haansoft.com/office/presentation/8.0" sz="17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강사 신뢰도와안전 관리가 최우선 요소로 언급됨 (7명 중 6명)</a:t>
            </a:r>
            <a:endParaRPr xmlns:mc="http://schemas.openxmlformats.org/markup-compatibility/2006" xmlns:hp="http://schemas.haansoft.com/office/presentation/8.0" sz="17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사진/영상보다도 "즐거운 사람들과의 분위기"를 더 중요하게 여김</a:t>
            </a:r>
            <a:endParaRPr xmlns:mc="http://schemas.openxmlformats.org/markup-compatibility/2006" xmlns:hp="http://schemas.haansoft.com/office/presentation/8.0" sz="17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7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SNS를 보고 따라간 투어가 많았지만, 실제 후기가 다르다는 불만도 있었음</a:t>
            </a:r>
            <a:endParaRPr xmlns:mc="http://schemas.openxmlformats.org/markup-compatibility/2006" xmlns:hp="http://schemas.haansoft.com/office/presentation/8.0" sz="17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590499" y="5981035"/>
            <a:ext cx="6032367" cy="20360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해외 투어보다 국내 프리미엄 투어에 대한 수요가 꽤 많았음 (예: 제주/통영의 숙소+다이빙 패키지)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사진/영상에 대한 기대는 높지만, 그보다"나를 케어해주는 느낌",편한 휴식,일정 유연성이 더 크게 작용함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비다이버 동반자와 함께할 수 있는 프로그램에 대한 관심이 있었음 (예: 남자친구, 친구와 함께)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SNS 콘텐츠 기반 투어에 대한 불신감도 존재 (겉보기에만 예쁜 투어에 실망한 경험)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209630" y="5857956"/>
            <a:ext cx="6183658" cy="30079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해외보다 안정적이고 쾌적한 국내 프리미엄 투어에 대한 니즈가 예상보다 강함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제주, 통영 등지에 프리미엄 숙소 + 유연한 일정 + 안전한 다이빙이 포함된 투어 기획 가능성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안전하고 케어받는 경험이 투어 선택의 핵심 기준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인증 강사/스태프의 존재, 응급 대처 훈련, 브리핑 시스템 강화 등이 고객 신뢰도를 높임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사람 중심의 분위기가 투어 만족도의 큰 요소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강사의 태도, 참가자 간 매칭, 작은 이벤트, 오리엔테이션이 차별화 포인트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SNS 마케팅보다 실제 경험기 중심 콘텐츠가 신뢰도 높음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체험 후기, Q&amp;A 영상, 실시간 피드백 등의 콘텐츠 전략 필요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mangoboard.net</ep:Company>
  <ep:Words>413</ep:Words>
  <ep:PresentationFormat>On-screen Show (16:9)</ep:PresentationFormat>
  <ep:Paragraphs>54</ep:Paragraphs>
  <ep:Slides>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2025-04-24T06:43:19.000</dcterms:created>
  <dc:creator>mangoboard.net_48059005</dc:creator>
  <cp:lastModifiedBy>mh975</cp:lastModifiedBy>
  <dcterms:modified xsi:type="dcterms:W3CDTF">2025-04-30T06:39:47.254</dcterms:modified>
  <cp:revision>11</cp:revision>
  <dc:subject>Presentation</dc:subject>
  <dc:title>러닝메이트 워크북v2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