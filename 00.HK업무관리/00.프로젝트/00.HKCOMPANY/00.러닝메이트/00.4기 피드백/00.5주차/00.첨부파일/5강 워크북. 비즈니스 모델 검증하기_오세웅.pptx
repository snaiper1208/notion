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60" r:id="rId5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05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76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437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AC391F-A529-9F54-1792-368A207B5586}"/>
              </a:ext>
            </a:extLst>
          </p:cNvPr>
          <p:cNvSpPr txBox="1"/>
          <p:nvPr/>
        </p:nvSpPr>
        <p:spPr>
          <a:xfrm>
            <a:off x="13729576" y="2681889"/>
            <a:ext cx="33810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암환자 제품</a:t>
            </a:r>
            <a:r>
              <a:rPr lang="en-US" altLang="ko-KR" dirty="0"/>
              <a:t>/</a:t>
            </a:r>
            <a:r>
              <a:rPr lang="ko-KR" altLang="en-US" dirty="0"/>
              <a:t>서비스를 제공하는</a:t>
            </a:r>
            <a:br>
              <a:rPr lang="en-GB" altLang="ko-KR" dirty="0"/>
            </a:br>
            <a:r>
              <a:rPr lang="en-US" altLang="ko-KR" dirty="0"/>
              <a:t>5</a:t>
            </a:r>
            <a:r>
              <a:rPr lang="ko-KR" altLang="en-US" dirty="0"/>
              <a:t>인 이하 소규모 기업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480E74-9DF1-77C2-8E28-0DAC54BC0C5C}"/>
              </a:ext>
            </a:extLst>
          </p:cNvPr>
          <p:cNvSpPr txBox="1"/>
          <p:nvPr/>
        </p:nvSpPr>
        <p:spPr>
          <a:xfrm>
            <a:off x="13729576" y="4258440"/>
            <a:ext cx="250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2025.05.26</a:t>
            </a:r>
            <a:r>
              <a:rPr lang="ko-KR" altLang="en-US" dirty="0"/>
              <a:t> </a:t>
            </a:r>
            <a:r>
              <a:rPr lang="en-US" altLang="ko-KR" dirty="0"/>
              <a:t>~</a:t>
            </a:r>
            <a:r>
              <a:rPr lang="ko-KR" altLang="en-US" dirty="0"/>
              <a:t> </a:t>
            </a:r>
            <a:r>
              <a:rPr lang="en-US" altLang="ko-KR" dirty="0"/>
              <a:t>2025.06.30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3EC019-82D0-7119-133F-142F47A3BF85}"/>
              </a:ext>
            </a:extLst>
          </p:cNvPr>
          <p:cNvSpPr txBox="1"/>
          <p:nvPr/>
        </p:nvSpPr>
        <p:spPr>
          <a:xfrm>
            <a:off x="13729576" y="5724633"/>
            <a:ext cx="33810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lang="en-US" altLang="ko-KR" dirty="0"/>
              <a:t>SNS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홈페이지를 통한 </a:t>
            </a:r>
            <a:br>
              <a:rPr lang="en-GB" altLang="ko-KR" dirty="0"/>
            </a:br>
            <a:r>
              <a:rPr lang="ko-KR" altLang="en-US" dirty="0"/>
              <a:t>고객사 연락 후 오피스 방문하여 진행</a:t>
            </a:r>
            <a:br>
              <a:rPr lang="en-US" altLang="ko-KR" dirty="0"/>
            </a:br>
            <a:r>
              <a:rPr lang="en-US" altLang="ko-KR" dirty="0"/>
              <a:t>2.</a:t>
            </a:r>
            <a:r>
              <a:rPr lang="ko-KR" altLang="en-US" dirty="0"/>
              <a:t> 온라인 </a:t>
            </a:r>
            <a:r>
              <a:rPr lang="ko-KR" altLang="en-US" dirty="0" err="1"/>
              <a:t>암뮤니티</a:t>
            </a:r>
            <a:r>
              <a:rPr lang="ko-KR" altLang="en-US" dirty="0"/>
              <a:t> 페이지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989EDC-2C7C-9B02-61DF-77800991B074}"/>
              </a:ext>
            </a:extLst>
          </p:cNvPr>
          <p:cNvSpPr txBox="1"/>
          <p:nvPr/>
        </p:nvSpPr>
        <p:spPr>
          <a:xfrm>
            <a:off x="13729576" y="7238123"/>
            <a:ext cx="33810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 고객사 방문 후 환자 채용까지 </a:t>
            </a:r>
            <a:r>
              <a:rPr lang="ko-KR" altLang="en-US" dirty="0" err="1"/>
              <a:t>전환율</a:t>
            </a:r>
            <a:r>
              <a:rPr lang="ko-KR" altLang="en-US" dirty="0"/>
              <a:t> 파악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2.</a:t>
            </a:r>
            <a:r>
              <a:rPr lang="ko-KR" altLang="en-US" dirty="0"/>
              <a:t> 랜딩페이지를 통한 </a:t>
            </a:r>
            <a:r>
              <a:rPr lang="en-US" altLang="ko-KR" dirty="0"/>
              <a:t>AARRR</a:t>
            </a:r>
            <a:r>
              <a:rPr lang="ko-KR" altLang="en-US" dirty="0"/>
              <a:t>파악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E2AAFE-2E4D-0E15-E6D6-56C51694E98F}"/>
              </a:ext>
            </a:extLst>
          </p:cNvPr>
          <p:cNvSpPr txBox="1"/>
          <p:nvPr/>
        </p:nvSpPr>
        <p:spPr>
          <a:xfrm>
            <a:off x="1117600" y="2421467"/>
            <a:ext cx="48878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현재 일선에서 물러난 </a:t>
            </a:r>
            <a:r>
              <a:rPr lang="ko-KR" altLang="en-US" dirty="0" err="1"/>
              <a:t>고스팩</a:t>
            </a:r>
            <a:r>
              <a:rPr lang="ko-KR" altLang="en-US" dirty="0"/>
              <a:t> 능력자 암환자를 </a:t>
            </a:r>
            <a:endParaRPr lang="en-GB" altLang="ko-KR" dirty="0"/>
          </a:p>
          <a:p>
            <a:r>
              <a:rPr lang="ko-KR" altLang="en-US" dirty="0"/>
              <a:t>합리적인 비용에 </a:t>
            </a:r>
            <a:r>
              <a:rPr lang="ko-KR" altLang="en-US" dirty="0" err="1"/>
              <a:t>긱워크</a:t>
            </a:r>
            <a:r>
              <a:rPr lang="ko-KR" altLang="en-US" dirty="0"/>
              <a:t> 스타일로 고용 가능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6731FE-4661-B840-96FE-21DA0D3972B4}"/>
              </a:ext>
            </a:extLst>
          </p:cNvPr>
          <p:cNvSpPr txBox="1"/>
          <p:nvPr/>
        </p:nvSpPr>
        <p:spPr>
          <a:xfrm>
            <a:off x="7525188" y="2387957"/>
            <a:ext cx="50561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환우 인재의 업무적 </a:t>
            </a:r>
            <a:r>
              <a:rPr lang="ko-KR" altLang="en-US" dirty="0" err="1"/>
              <a:t>스팩뿐</a:t>
            </a:r>
            <a:r>
              <a:rPr lang="ko-KR" altLang="en-US" dirty="0"/>
              <a:t> 아니라 </a:t>
            </a:r>
            <a:br>
              <a:rPr lang="en-GB" altLang="ko-KR" dirty="0"/>
            </a:br>
            <a:r>
              <a:rPr lang="ko-KR" altLang="en-US" dirty="0"/>
              <a:t>채용에 필요한 건강상태 및 병원 일정 등 조회</a:t>
            </a:r>
            <a:endParaRPr lang="en-GB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기업 </a:t>
            </a:r>
            <a:r>
              <a:rPr lang="en-US" altLang="ko-KR" dirty="0"/>
              <a:t>-</a:t>
            </a:r>
            <a:r>
              <a:rPr lang="ko-KR" altLang="en-US" dirty="0"/>
              <a:t>  환우 계약 채결 기능</a:t>
            </a:r>
            <a:endParaRPr lang="en-GB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5DBB44-6FCC-E457-9614-060B38EEBFFD}"/>
              </a:ext>
            </a:extLst>
          </p:cNvPr>
          <p:cNvSpPr txBox="1"/>
          <p:nvPr/>
        </p:nvSpPr>
        <p:spPr>
          <a:xfrm>
            <a:off x="1117600" y="4859867"/>
            <a:ext cx="568136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/>
              <a:t>프리토타이핑</a:t>
            </a:r>
            <a:r>
              <a:rPr lang="en-US" altLang="ko-KR" b="1" dirty="0"/>
              <a:t> &amp; </a:t>
            </a:r>
            <a:r>
              <a:rPr lang="ko-KR" altLang="en-US" b="1" dirty="0"/>
              <a:t>낮은 수준의 </a:t>
            </a:r>
            <a:r>
              <a:rPr lang="en-US" altLang="ko-KR" b="1" dirty="0"/>
              <a:t>MVP</a:t>
            </a:r>
          </a:p>
          <a:p>
            <a:endParaRPr lang="en-GB" altLang="ko-KR" b="1" dirty="0"/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ko-KR" altLang="en-US" dirty="0"/>
              <a:t>목표 타겟 </a:t>
            </a:r>
            <a:r>
              <a:rPr lang="ko-KR" altLang="en-US" dirty="0" err="1"/>
              <a:t>모객</a:t>
            </a:r>
            <a:r>
              <a:rPr lang="ko-KR" altLang="en-US" dirty="0"/>
              <a:t> 및 수요 검증</a:t>
            </a:r>
            <a:r>
              <a:rPr lang="ko-KR" altLang="en-US" b="1" dirty="0"/>
              <a:t> </a:t>
            </a:r>
            <a:r>
              <a:rPr lang="en-US" altLang="ko-KR" b="1" dirty="0"/>
              <a:t>Fake door test</a:t>
            </a:r>
          </a:p>
          <a:p>
            <a:pPr marL="342900" indent="-342900">
              <a:buAutoNum type="arabicPeriod"/>
            </a:pPr>
            <a:r>
              <a:rPr lang="en-US" altLang="ko-KR" dirty="0" err="1"/>
              <a:t>Slashpage</a:t>
            </a:r>
            <a:r>
              <a:rPr lang="en-US" altLang="ko-KR" dirty="0"/>
              <a:t>, Notion</a:t>
            </a:r>
            <a:r>
              <a:rPr lang="ko-KR" altLang="en-US" dirty="0"/>
              <a:t> 등을 활용한</a:t>
            </a:r>
            <a:r>
              <a:rPr lang="en-US" altLang="ko-KR" dirty="0"/>
              <a:t> </a:t>
            </a:r>
            <a:r>
              <a:rPr lang="ko-KR" altLang="en-US" b="1" dirty="0"/>
              <a:t>낮은 수준 </a:t>
            </a:r>
            <a:r>
              <a:rPr lang="en-US" altLang="ko-KR" b="1" dirty="0"/>
              <a:t>MVP</a:t>
            </a:r>
            <a:br>
              <a:rPr lang="en-US" altLang="ko-KR" dirty="0"/>
            </a:br>
            <a:r>
              <a:rPr lang="ko-KR" altLang="en-US" dirty="0"/>
              <a:t>환자 이력 및 건강상태 조회 기능 및 계약 제안 기능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dirty="0"/>
              <a:t>기업의 제안 등을 우리가 수집하여 </a:t>
            </a:r>
            <a:br>
              <a:rPr lang="en-GB" altLang="ko-KR" dirty="0"/>
            </a:br>
            <a:r>
              <a:rPr lang="ko-KR" altLang="en-US" dirty="0"/>
              <a:t>환자에게 우리가 직접 알림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GB" b="1" dirty="0"/>
              <a:t>Wizard of Oz Test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055D1A-BF02-0008-E76C-41614445C335}"/>
              </a:ext>
            </a:extLst>
          </p:cNvPr>
          <p:cNvSpPr txBox="1"/>
          <p:nvPr/>
        </p:nvSpPr>
        <p:spPr>
          <a:xfrm>
            <a:off x="7336224" y="4889317"/>
            <a:ext cx="610455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환자 채용에 어떤 종류의 기업과 업무가 관심이 있나</a:t>
            </a:r>
            <a:r>
              <a:rPr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lang="ko-KR" altLang="en-US" dirty="0"/>
              <a:t>관심의 강도는 </a:t>
            </a:r>
            <a:r>
              <a:rPr lang="ko-KR" altLang="en-US" dirty="0" err="1"/>
              <a:t>어느정도인가</a:t>
            </a:r>
            <a:r>
              <a:rPr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어떤 종류의 계약이 주를 이루는가</a:t>
            </a:r>
            <a:r>
              <a:rPr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채용 조건 및 제안의 수준은 </a:t>
            </a:r>
            <a:r>
              <a:rPr lang="ko-KR" altLang="en-US" dirty="0" err="1"/>
              <a:t>어떠한가</a:t>
            </a:r>
            <a:r>
              <a:rPr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수수료 모델의 적합성 및 수수료는 얼마가 적당한가</a:t>
            </a:r>
            <a:r>
              <a:rPr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lang="ko-KR" altLang="en-US" dirty="0"/>
              <a:t>환자</a:t>
            </a:r>
            <a:r>
              <a:rPr lang="en-US" altLang="ko-KR" dirty="0"/>
              <a:t>-</a:t>
            </a:r>
            <a:r>
              <a:rPr lang="ko-KR" altLang="en-US" dirty="0"/>
              <a:t>기업 매칭에 있어 환자와 기업이 느끼는 불편함은</a:t>
            </a:r>
            <a:r>
              <a:rPr lang="en-US" altLang="ko-KR" dirty="0"/>
              <a:t>?</a:t>
            </a:r>
            <a:endParaRPr lang="en-GB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실서비스 개발에서 집중해야 할 핵심 기능은</a:t>
            </a:r>
            <a:r>
              <a:rPr lang="en-US" altLang="ko-KR" dirty="0"/>
              <a:t>?</a:t>
            </a:r>
            <a:endParaRPr lang="en-GB" altLang="ko-K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187</Words>
  <Application>Microsoft Macintosh PowerPoint</Application>
  <PresentationFormat>Custom</PresentationFormat>
  <Paragraphs>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교육센터 암</cp:lastModifiedBy>
  <cp:revision>4</cp:revision>
  <dcterms:created xsi:type="dcterms:W3CDTF">2025-05-11T07:23:20Z</dcterms:created>
  <dcterms:modified xsi:type="dcterms:W3CDTF">2025-05-17T14:46:03Z</dcterms:modified>
</cp:coreProperties>
</file>