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379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054972-6A0C-47AC-8258-5BE2A509EC62}"/>
              </a:ext>
            </a:extLst>
          </p:cNvPr>
          <p:cNvSpPr txBox="1"/>
          <p:nvPr/>
        </p:nvSpPr>
        <p:spPr>
          <a:xfrm>
            <a:off x="654756" y="2144889"/>
            <a:ext cx="6152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실행 실패 경험이 반복된 사용자도 감정 기반의 자극과 리마인드를 통해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다시 루틴을 시작하고 지속할 수 있게 돕는 지속 실행 유도 솔루션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CB65A-67C3-4308-B06C-0C356A8827F7}"/>
              </a:ext>
            </a:extLst>
          </p:cNvPr>
          <p:cNvSpPr txBox="1"/>
          <p:nvPr/>
        </p:nvSpPr>
        <p:spPr>
          <a:xfrm>
            <a:off x="6959600" y="2144888"/>
            <a:ext cx="6152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사람이 직접 전화하는 방식의 </a:t>
            </a:r>
            <a:r>
              <a:rPr lang="ko-KR" altLang="en-US" dirty="0" err="1"/>
              <a:t>모닝콜</a:t>
            </a:r>
            <a:endParaRPr lang="en-US" altLang="ko-KR" dirty="0"/>
          </a:p>
          <a:p>
            <a:r>
              <a:rPr lang="ko-KR" altLang="en-US" dirty="0"/>
              <a:t>루틴 실패 시 사전에 등록된 인물에게 자동 알림 전송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3B29E-DCD7-4D34-B777-025D2D6BBC9D}"/>
              </a:ext>
            </a:extLst>
          </p:cNvPr>
          <p:cNvSpPr txBox="1"/>
          <p:nvPr/>
        </p:nvSpPr>
        <p:spPr>
          <a:xfrm>
            <a:off x="756356" y="4937919"/>
            <a:ext cx="59605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테스트 대상자 모집 </a:t>
            </a:r>
            <a:r>
              <a:rPr lang="en-US" altLang="ko-KR" dirty="0"/>
              <a:t>(</a:t>
            </a:r>
            <a:r>
              <a:rPr lang="ko-KR" altLang="en-US" dirty="0"/>
              <a:t>실행 실패 경험자 중심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사전 루틴 시간 설정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3.</a:t>
            </a:r>
            <a:r>
              <a:rPr lang="ko-KR" altLang="en-US" dirty="0"/>
              <a:t>사람이 직접 정해진 시간에 전화 </a:t>
            </a:r>
            <a:r>
              <a:rPr lang="ko-KR" altLang="en-US" dirty="0" err="1"/>
              <a:t>모닝콜</a:t>
            </a:r>
            <a:r>
              <a:rPr lang="ko-KR" altLang="en-US" dirty="0"/>
              <a:t> 실행</a:t>
            </a:r>
          </a:p>
          <a:p>
            <a:endParaRPr lang="ko-KR" altLang="en-US" dirty="0"/>
          </a:p>
          <a:p>
            <a:r>
              <a:rPr lang="en-US" altLang="ko-KR" dirty="0"/>
              <a:t>4. </a:t>
            </a:r>
            <a:r>
              <a:rPr lang="ko-KR" altLang="en-US" dirty="0"/>
              <a:t>전화 </a:t>
            </a:r>
            <a:r>
              <a:rPr lang="ko-KR" altLang="en-US" dirty="0" err="1"/>
              <a:t>미응답</a:t>
            </a:r>
            <a:r>
              <a:rPr lang="ko-KR" altLang="en-US" dirty="0"/>
              <a:t> 또는 루틴 실패 시</a:t>
            </a:r>
            <a:r>
              <a:rPr lang="en-US" altLang="ko-KR" dirty="0"/>
              <a:t>, </a:t>
            </a:r>
            <a:r>
              <a:rPr lang="ko-KR" altLang="en-US" dirty="0"/>
              <a:t>사전 등록된 인물에게 문자</a:t>
            </a:r>
            <a:r>
              <a:rPr lang="en-US" altLang="ko-KR" dirty="0"/>
              <a:t>/</a:t>
            </a:r>
            <a:r>
              <a:rPr lang="ko-KR" altLang="en-US" dirty="0"/>
              <a:t>카톡 알림 전송</a:t>
            </a:r>
          </a:p>
          <a:p>
            <a:endParaRPr lang="ko-KR" altLang="en-US" dirty="0"/>
          </a:p>
          <a:p>
            <a:r>
              <a:rPr lang="en-US" altLang="ko-KR" dirty="0"/>
              <a:t>5. 3</a:t>
            </a:r>
            <a:r>
              <a:rPr lang="ko-KR" altLang="en-US" dirty="0"/>
              <a:t>일간 실험 후 설문 및 인터뷰로 </a:t>
            </a:r>
            <a:r>
              <a:rPr lang="ko-KR" altLang="en-US" dirty="0" err="1"/>
              <a:t>실행률</a:t>
            </a:r>
            <a:r>
              <a:rPr lang="en-US" altLang="ko-KR" dirty="0"/>
              <a:t>, </a:t>
            </a:r>
            <a:r>
              <a:rPr lang="ko-KR" altLang="en-US" dirty="0"/>
              <a:t>감정 반응 등 피드백 수집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42B3E-84EB-40DE-8A18-F8F87C6C9155}"/>
              </a:ext>
            </a:extLst>
          </p:cNvPr>
          <p:cNvSpPr txBox="1"/>
          <p:nvPr/>
        </p:nvSpPr>
        <p:spPr>
          <a:xfrm>
            <a:off x="7134578" y="4937919"/>
            <a:ext cx="59774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사람이 전화를 거는 방식의 모닝콜이 기상 성공률을 실제로 높였는가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자동 알림 전송 기능이 루틴 실패 방지에 심리적 압박 및 효과적인 채찍 요소로 작용했는가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두 기능 모두에 대해 사용자가 반복 사용 의사를 보였는가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기존 사용 중인 알람</a:t>
            </a:r>
            <a:r>
              <a:rPr lang="en-US" altLang="ko-KR" dirty="0"/>
              <a:t>/</a:t>
            </a:r>
            <a:r>
              <a:rPr lang="ko-KR" altLang="en-US" dirty="0"/>
              <a:t>루틴 앱보다 유용하거나 지속 사용 가능성이 높다고 느꼈는가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2EC78-70BB-4CE8-AD35-5F020D7E8959}"/>
              </a:ext>
            </a:extLst>
          </p:cNvPr>
          <p:cNvSpPr txBox="1"/>
          <p:nvPr/>
        </p:nvSpPr>
        <p:spPr>
          <a:xfrm>
            <a:off x="13806311" y="2144888"/>
            <a:ext cx="327377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루틴 실패 경험이 있는 사람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일간 집중 실험 </a:t>
            </a:r>
            <a:r>
              <a:rPr lang="en-US" altLang="ko-KR" dirty="0"/>
              <a:t>(</a:t>
            </a:r>
            <a:r>
              <a:rPr lang="ko-KR" altLang="en-US" dirty="0" err="1"/>
              <a:t>모닝콜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실패 알림 기능 병행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온라인</a:t>
            </a:r>
            <a:r>
              <a:rPr lang="en-US" altLang="ko-KR" dirty="0"/>
              <a:t>(</a:t>
            </a:r>
            <a:r>
              <a:rPr lang="ko-KR" altLang="en-US" dirty="0"/>
              <a:t>오픈채팅방 운영</a:t>
            </a:r>
            <a:r>
              <a:rPr lang="en-US" altLang="ko-KR" dirty="0"/>
              <a:t>) + </a:t>
            </a:r>
            <a:r>
              <a:rPr lang="ko-KR" altLang="en-US" dirty="0"/>
              <a:t>전화 실행 </a:t>
            </a:r>
            <a:r>
              <a:rPr lang="en-US" altLang="ko-KR" dirty="0"/>
              <a:t>+ </a:t>
            </a:r>
            <a:r>
              <a:rPr lang="ko-KR" altLang="en-US" dirty="0" err="1"/>
              <a:t>구글폼</a:t>
            </a:r>
            <a:r>
              <a:rPr lang="ko-KR" altLang="en-US" dirty="0"/>
              <a:t> 후속 피드백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사전설문 → 전화 및 알림 기능 사용 → 실험 후 설문 및 인터뷰 진행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정량</a:t>
            </a:r>
            <a:r>
              <a:rPr lang="en-US" altLang="ko-KR" dirty="0"/>
              <a:t>(</a:t>
            </a:r>
            <a:r>
              <a:rPr lang="ko-KR" altLang="en-US" dirty="0"/>
              <a:t>기상 성공률</a:t>
            </a:r>
            <a:r>
              <a:rPr lang="en-US" altLang="ko-KR" dirty="0"/>
              <a:t>, </a:t>
            </a:r>
            <a:r>
              <a:rPr lang="ko-KR" altLang="en-US" dirty="0"/>
              <a:t>응답률</a:t>
            </a:r>
            <a:r>
              <a:rPr lang="en-US" altLang="ko-KR" dirty="0"/>
              <a:t>) + </a:t>
            </a:r>
            <a:r>
              <a:rPr lang="ko-KR" altLang="en-US" dirty="0"/>
              <a:t>정성</a:t>
            </a:r>
            <a:r>
              <a:rPr lang="en-US" altLang="ko-KR" dirty="0"/>
              <a:t>(</a:t>
            </a:r>
            <a:r>
              <a:rPr lang="ko-KR" altLang="en-US" dirty="0"/>
              <a:t>피드백</a:t>
            </a:r>
            <a:r>
              <a:rPr lang="en-US" altLang="ko-KR" dirty="0"/>
              <a:t>, </a:t>
            </a:r>
            <a:r>
              <a:rPr lang="ko-KR" altLang="en-US" dirty="0"/>
              <a:t>감정 변화</a:t>
            </a:r>
            <a:r>
              <a:rPr lang="en-US" altLang="ko-KR" dirty="0"/>
              <a:t>) </a:t>
            </a:r>
            <a:r>
              <a:rPr lang="ko-KR" altLang="en-US" dirty="0"/>
              <a:t>평가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218</Words>
  <Application>Microsoft Office PowerPoint</Application>
  <PresentationFormat>사용자 지정</PresentationFormat>
  <Paragraphs>42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? ??</cp:lastModifiedBy>
  <cp:revision>4</cp:revision>
  <dcterms:created xsi:type="dcterms:W3CDTF">2025-05-11T07:23:20Z</dcterms:created>
  <dcterms:modified xsi:type="dcterms:W3CDTF">2025-05-17T13:41:42Z</dcterms:modified>
</cp:coreProperties>
</file>