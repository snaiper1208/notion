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9" r:id="rId3"/>
    <p:sldId id="260" r:id="rId4"/>
  </p:sldIdLst>
  <p:sldSz cx="17556163" cy="9875838"/>
  <p:notesSz cx="9875838" cy="1755616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41" d="100"/>
          <a:sy n="41" d="100"/>
        </p:scale>
        <p:origin x="-126" y="-1062"/>
      </p:cViewPr>
      <p:guideLst>
        <p:guide orient="horz" pos="3110"/>
        <p:guide pos="552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598310" y="2417846"/>
            <a:ext cx="6242755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1" lang="en-US" altLang="ko-KR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굴림" charset="-127"/>
                <a:ea typeface="굴림" charset="-127"/>
                <a:cs typeface="굴림" charset="-127"/>
              </a:rPr>
              <a:t>1. 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굴림" charset="-127"/>
                <a:ea typeface="굴림" charset="-127"/>
                <a:cs typeface="굴림" charset="-127"/>
              </a:rPr>
              <a:t>30</a:t>
            </a:r>
            <a:r>
              <a:rPr kumimoji="1" lang="ko-KR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굴림" charset="-127"/>
                <a:ea typeface="굴림" charset="-127"/>
                <a:cs typeface="굴림" charset="-127"/>
              </a:rPr>
              <a:t>분 안에 핵심 지식 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굴림" charset="-127"/>
                <a:ea typeface="굴림" charset="-127"/>
                <a:cs typeface="굴림" charset="-127"/>
              </a:rPr>
              <a:t>&amp; </a:t>
            </a:r>
            <a:r>
              <a:rPr kumimoji="1" lang="ko-KR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굴림" charset="-127"/>
                <a:ea typeface="굴림" charset="-127"/>
                <a:cs typeface="굴림" charset="-127"/>
              </a:rPr>
              <a:t>실행 플랜</a:t>
            </a:r>
            <a:r>
              <a:rPr kumimoji="1" lang="ko-KR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굴림" charset="-127"/>
                <a:ea typeface="굴림" charset="-127"/>
                <a:cs typeface="굴림" charset="-127"/>
              </a:rPr>
              <a:t>을 얻는 </a:t>
            </a:r>
            <a:r>
              <a:rPr kumimoji="1" lang="ko-KR" altLang="ko-KR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굴림" charset="-127"/>
                <a:ea typeface="굴림" charset="-127"/>
                <a:cs typeface="굴림" charset="-127"/>
              </a:rPr>
              <a:t>AI </a:t>
            </a:r>
            <a:r>
              <a:rPr kumimoji="1" lang="ko-KR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굴림" charset="-127"/>
                <a:ea typeface="굴림" charset="-127"/>
                <a:cs typeface="굴림" charset="-127"/>
              </a:rPr>
              <a:t>기반 요약</a:t>
            </a:r>
            <a:r>
              <a:rPr kumimoji="1" lang="ko-KR" altLang="ko-KR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/>
                <a:ea typeface="굴림" charset="-127"/>
                <a:cs typeface="굴림" charset="-127"/>
              </a:rPr>
              <a:t>·</a:t>
            </a:r>
            <a:r>
              <a:rPr kumimoji="1" lang="ko-KR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굴림" charset="-127"/>
                <a:ea typeface="굴림" charset="-127"/>
                <a:cs typeface="굴림" charset="-127"/>
              </a:rPr>
              <a:t>플래시카드 솔루션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1" lang="en-US" altLang="ko-KR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굴림" charset="-127"/>
                <a:ea typeface="굴림" charset="-127"/>
                <a:cs typeface="굴림" charset="-127"/>
              </a:rPr>
              <a:t>2. </a:t>
            </a:r>
            <a:r>
              <a:rPr kumimoji="1" lang="ko-KR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굴림" charset="-127"/>
                <a:ea typeface="굴림" charset="-127"/>
                <a:cs typeface="굴림" charset="-127"/>
              </a:rPr>
              <a:t>커뮤니티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굴림" charset="-127"/>
                <a:ea typeface="굴림" charset="-127"/>
                <a:cs typeface="굴림" charset="-127"/>
              </a:rPr>
              <a:t>-</a:t>
            </a:r>
            <a:r>
              <a:rPr kumimoji="1" lang="ko-KR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굴림" charset="-127"/>
                <a:ea typeface="굴림" charset="-127"/>
                <a:cs typeface="굴림" charset="-127"/>
              </a:rPr>
              <a:t>기반 </a:t>
            </a:r>
            <a:r>
              <a:rPr kumimoji="1" lang="ko-KR" sz="1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굴림" charset="-127"/>
                <a:ea typeface="굴림" charset="-127"/>
                <a:cs typeface="굴림" charset="-127"/>
              </a:rPr>
              <a:t>피어러닝</a:t>
            </a:r>
            <a:r>
              <a:rPr kumimoji="1" lang="ko-KR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굴림" charset="-127"/>
                <a:ea typeface="굴림" charset="-127"/>
                <a:cs typeface="굴림" charset="-127"/>
              </a:rPr>
              <a:t>으로</a:t>
            </a:r>
            <a:r>
              <a:rPr kumimoji="1" lang="ko-KR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굴림" charset="-127"/>
                <a:ea typeface="굴림" charset="-127"/>
                <a:cs typeface="굴림" charset="-127"/>
              </a:rPr>
              <a:t> 독서 습관</a:t>
            </a:r>
            <a:r>
              <a:rPr kumimoji="1" lang="ko-KR" altLang="ko-KR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/>
                <a:ea typeface="굴림" charset="-127"/>
                <a:cs typeface="굴림" charset="-127"/>
              </a:rPr>
              <a:t>·</a:t>
            </a:r>
            <a:r>
              <a:rPr kumimoji="1" lang="ko-KR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굴림" charset="-127"/>
                <a:ea typeface="굴림" charset="-127"/>
                <a:cs typeface="굴림" charset="-127"/>
              </a:rPr>
              <a:t>실행력을 자연스럽게 </a:t>
            </a:r>
            <a:r>
              <a:rPr kumimoji="1" lang="ko-KR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굴림" charset="-127"/>
                <a:ea typeface="굴림" charset="-127"/>
                <a:cs typeface="굴림" charset="-127"/>
              </a:rPr>
              <a:t>체화</a:t>
            </a:r>
            <a:endParaRPr kumimoji="1" lang="ko-KR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굴림" charset="-127"/>
              <a:ea typeface="굴림" charset="-127"/>
              <a:cs typeface="굴림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1" lang="en-US" altLang="ko-KR" sz="1400" b="1" dirty="0" smtClean="0">
                <a:latin typeface="굴림" charset="-127"/>
                <a:ea typeface="굴림" charset="-127"/>
                <a:cs typeface="굴림" charset="-127"/>
              </a:rPr>
              <a:t>3. </a:t>
            </a:r>
            <a:r>
              <a:rPr kumimoji="1" lang="ko-KR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굴림" charset="-127"/>
                <a:ea typeface="굴림" charset="-127"/>
                <a:cs typeface="굴림" charset="-127"/>
              </a:rPr>
              <a:t>데이터로 증명된 성장 경험</a:t>
            </a:r>
            <a:r>
              <a:rPr kumimoji="1" lang="ko-KR" altLang="ko-KR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굴림" charset="-127"/>
                <a:ea typeface="굴림" charset="-127"/>
                <a:cs typeface="굴림" charset="-127"/>
              </a:rPr>
              <a:t>(</a:t>
            </a:r>
            <a:r>
              <a:rPr kumimoji="1" lang="ko-KR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굴림" charset="-127"/>
                <a:ea typeface="굴림" charset="-127"/>
                <a:cs typeface="굴림" charset="-127"/>
              </a:rPr>
              <a:t>읽기 → 이해 → 적용 → 피드백</a:t>
            </a:r>
            <a:r>
              <a:rPr kumimoji="1" lang="ko-KR" altLang="ko-KR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굴림" charset="-127"/>
                <a:ea typeface="굴림" charset="-127"/>
                <a:cs typeface="굴림" charset="-127"/>
              </a:rPr>
              <a:t>) </a:t>
            </a:r>
            <a:r>
              <a:rPr kumimoji="1" lang="ko-KR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굴림" charset="-127"/>
                <a:ea typeface="굴림" charset="-127"/>
                <a:cs typeface="굴림" charset="-127"/>
              </a:rPr>
              <a:t>제공</a:t>
            </a:r>
          </a:p>
        </p:txBody>
      </p:sp>
      <p:sp>
        <p:nvSpPr>
          <p:cNvPr id="4099" name="Rectangle 3"/>
          <p:cNvSpPr>
            <a:spLocks noChangeArrowheads="1"/>
          </p:cNvSpPr>
          <p:nvPr/>
        </p:nvSpPr>
        <p:spPr bwMode="auto">
          <a:xfrm>
            <a:off x="7157152" y="2411440"/>
            <a:ext cx="5712178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1" lang="en-US" altLang="ko-KR" sz="1400" b="1" dirty="0" smtClean="0">
                <a:latin typeface="굴림" charset="-127"/>
                <a:ea typeface="굴림" charset="-127"/>
                <a:cs typeface="굴림" charset="-127"/>
              </a:rPr>
              <a:t>1) 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굴림" charset="-127"/>
                <a:ea typeface="굴림" charset="-127"/>
                <a:cs typeface="굴림" charset="-127"/>
              </a:rPr>
              <a:t>AI </a:t>
            </a:r>
            <a:r>
              <a:rPr kumimoji="1" lang="ko-KR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굴림" charset="-127"/>
                <a:ea typeface="굴림" charset="-127"/>
                <a:cs typeface="굴림" charset="-127"/>
              </a:rPr>
              <a:t>요약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/>
                <a:ea typeface="굴림" charset="-127"/>
                <a:cs typeface="굴림" charset="-127"/>
              </a:rPr>
              <a:t>·</a:t>
            </a:r>
            <a:r>
              <a:rPr kumimoji="1" lang="ko-KR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굴림" charset="-127"/>
                <a:ea typeface="굴림" charset="-127"/>
                <a:cs typeface="굴림" charset="-127"/>
              </a:rPr>
              <a:t>퀴즈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/>
                <a:ea typeface="굴림" charset="-127"/>
                <a:cs typeface="굴림" charset="-127"/>
              </a:rPr>
              <a:t>·</a:t>
            </a:r>
            <a:r>
              <a:rPr kumimoji="1" lang="ko-KR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굴림" charset="-127"/>
                <a:ea typeface="굴림" charset="-127"/>
                <a:cs typeface="굴림" charset="-127"/>
              </a:rPr>
              <a:t>플래시카드 자동 생성</a:t>
            </a:r>
            <a:endParaRPr kumimoji="1" lang="ko-KR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굴림" charset="-127"/>
              <a:ea typeface="굴림" charset="-127"/>
              <a:cs typeface="굴림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1" lang="en-US" altLang="ko-KR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굴림" charset="-127"/>
                <a:ea typeface="굴림" charset="-127"/>
                <a:cs typeface="굴림" charset="-127"/>
              </a:rPr>
              <a:t>2)</a:t>
            </a:r>
            <a:r>
              <a:rPr kumimoji="1" lang="en-US" altLang="ko-KR" sz="14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굴림" charset="-127"/>
                <a:ea typeface="굴림" charset="-127"/>
                <a:cs typeface="굴림" charset="-127"/>
              </a:rPr>
              <a:t> </a:t>
            </a:r>
            <a:r>
              <a:rPr kumimoji="1" lang="ko-KR" sz="1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굴림" charset="-127"/>
                <a:ea typeface="굴림" charset="-127"/>
                <a:cs typeface="굴림" charset="-127"/>
              </a:rPr>
              <a:t>챗봇</a:t>
            </a:r>
            <a:r>
              <a:rPr kumimoji="1" lang="ko-KR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굴림" charset="-127"/>
                <a:ea typeface="굴림" charset="-127"/>
                <a:cs typeface="굴림" charset="-127"/>
              </a:rPr>
              <a:t> 코치</a:t>
            </a:r>
            <a:r>
              <a:rPr kumimoji="1" lang="ko-KR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굴림" charset="-127"/>
                <a:ea typeface="굴림" charset="-127"/>
                <a:cs typeface="굴림" charset="-127"/>
              </a:rPr>
              <a:t>가 매일 실천 미션</a:t>
            </a:r>
            <a:r>
              <a:rPr kumimoji="1" lang="ko-KR" altLang="ko-KR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/>
                <a:ea typeface="굴림" charset="-127"/>
                <a:cs typeface="굴림" charset="-127"/>
              </a:rPr>
              <a:t>·</a:t>
            </a:r>
            <a:r>
              <a:rPr kumimoji="1" lang="ko-KR" altLang="ko-KR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굴림" charset="-127"/>
                <a:ea typeface="굴림" charset="-127"/>
                <a:cs typeface="굴림" charset="-127"/>
              </a:rPr>
              <a:t>Q&amp;A </a:t>
            </a:r>
            <a:r>
              <a:rPr kumimoji="1" lang="ko-KR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굴림" charset="-127"/>
                <a:ea typeface="굴림" charset="-127"/>
                <a:cs typeface="굴림" charset="-127"/>
              </a:rPr>
              <a:t>지원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1" lang="en-US" altLang="ko-KR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굴림" charset="-127"/>
                <a:ea typeface="굴림" charset="-127"/>
                <a:cs typeface="굴림" charset="-127"/>
              </a:rPr>
              <a:t>3) </a:t>
            </a:r>
            <a:r>
              <a:rPr kumimoji="1" lang="ko-KR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굴림" charset="-127"/>
                <a:ea typeface="굴림" charset="-127"/>
                <a:cs typeface="굴림" charset="-127"/>
              </a:rPr>
              <a:t>진행률 </a:t>
            </a:r>
            <a:r>
              <a:rPr kumimoji="1" lang="ko-KR" sz="1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굴림" charset="-127"/>
                <a:ea typeface="굴림" charset="-127"/>
                <a:cs typeface="굴림" charset="-127"/>
              </a:rPr>
              <a:t>대시보드</a:t>
            </a:r>
            <a:r>
              <a:rPr kumimoji="1" lang="ko-KR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굴림" charset="-127"/>
                <a:ea typeface="굴림" charset="-127"/>
                <a:cs typeface="굴림" charset="-127"/>
              </a:rPr>
              <a:t> </a:t>
            </a:r>
            <a:r>
              <a:rPr kumimoji="1" lang="ko-KR" altLang="ko-KR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굴림" charset="-127"/>
                <a:ea typeface="굴림" charset="-127"/>
                <a:cs typeface="굴림" charset="-127"/>
              </a:rPr>
              <a:t>&amp; </a:t>
            </a:r>
            <a:r>
              <a:rPr kumimoji="1" lang="ko-KR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굴림" charset="-127"/>
                <a:ea typeface="굴림" charset="-127"/>
                <a:cs typeface="굴림" charset="-127"/>
              </a:rPr>
              <a:t>개인화 추천</a:t>
            </a:r>
            <a:r>
              <a:rPr kumimoji="1" lang="ko-KR" altLang="ko-KR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굴림" charset="-127"/>
                <a:ea typeface="굴림" charset="-127"/>
                <a:cs typeface="굴림" charset="-127"/>
              </a:rPr>
              <a:t>(</a:t>
            </a:r>
            <a:r>
              <a:rPr kumimoji="1" lang="ko-KR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굴림" charset="-127"/>
                <a:ea typeface="굴림" charset="-127"/>
                <a:cs typeface="굴림" charset="-127"/>
              </a:rPr>
              <a:t>다음 도서</a:t>
            </a:r>
            <a:r>
              <a:rPr kumimoji="1" lang="ko-KR" altLang="ko-KR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/>
                <a:ea typeface="굴림" charset="-127"/>
                <a:cs typeface="굴림" charset="-127"/>
              </a:rPr>
              <a:t>·</a:t>
            </a:r>
            <a:r>
              <a:rPr kumimoji="1" lang="ko-KR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굴림" charset="-127"/>
                <a:ea typeface="굴림" charset="-127"/>
                <a:cs typeface="굴림" charset="-127"/>
              </a:rPr>
              <a:t>미션 제안</a:t>
            </a:r>
            <a:r>
              <a:rPr kumimoji="1" lang="ko-KR" altLang="ko-KR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굴림" charset="-127"/>
                <a:ea typeface="굴림" charset="-127"/>
                <a:cs typeface="굴림" charset="-127"/>
              </a:rPr>
              <a:t>)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598310" y="5675789"/>
            <a:ext cx="6242755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smtClean="0"/>
              <a:t>• </a:t>
            </a:r>
            <a:r>
              <a:rPr lang="ko-KR" altLang="en-US" sz="1400" smtClean="0"/>
              <a:t>핵심 타깃 </a:t>
            </a:r>
            <a:r>
              <a:rPr lang="en-US" altLang="ko-KR" sz="1400" smtClean="0"/>
              <a:t>15</a:t>
            </a:r>
            <a:r>
              <a:rPr lang="ko-KR" altLang="en-US" sz="1400" smtClean="0"/>
              <a:t>명 모집</a:t>
            </a:r>
            <a:br>
              <a:rPr lang="ko-KR" altLang="en-US" sz="1400" smtClean="0"/>
            </a:br>
            <a:r>
              <a:rPr lang="en-US" altLang="ko-KR" sz="1400" smtClean="0"/>
              <a:t>• 3</a:t>
            </a:r>
            <a:r>
              <a:rPr lang="ko-KR" altLang="en-US" sz="1400" smtClean="0"/>
              <a:t>권 요약</a:t>
            </a:r>
            <a:r>
              <a:rPr lang="en-US" altLang="ko-KR" sz="1400" smtClean="0"/>
              <a:t>·</a:t>
            </a:r>
            <a:r>
              <a:rPr lang="ko-KR" altLang="en-US" sz="1400" smtClean="0"/>
              <a:t>플래시카드 </a:t>
            </a:r>
            <a:r>
              <a:rPr lang="ko-KR" altLang="en-US" sz="1400" b="1" smtClean="0"/>
              <a:t>수동 제작</a:t>
            </a:r>
            <a:r>
              <a:rPr lang="ko-KR" altLang="en-US" sz="1400" smtClean="0"/>
              <a:t> 후 카카오톡</a:t>
            </a:r>
            <a:r>
              <a:rPr lang="en-US" altLang="ko-KR" sz="1400" smtClean="0"/>
              <a:t>·Google Drive </a:t>
            </a:r>
            <a:r>
              <a:rPr lang="ko-KR" altLang="en-US" sz="1400" smtClean="0"/>
              <a:t>배포</a:t>
            </a:r>
            <a:br>
              <a:rPr lang="ko-KR" altLang="en-US" sz="1400" smtClean="0"/>
            </a:br>
            <a:r>
              <a:rPr lang="en-US" altLang="ko-KR" sz="1400" smtClean="0"/>
              <a:t>• </a:t>
            </a:r>
            <a:r>
              <a:rPr lang="ko-KR" altLang="en-US" sz="1400" smtClean="0"/>
              <a:t>챗봇 역할을 사람이 직접 수행</a:t>
            </a:r>
            <a:r>
              <a:rPr lang="en-US" altLang="ko-KR" sz="1400" smtClean="0"/>
              <a:t>(“</a:t>
            </a:r>
            <a:r>
              <a:rPr lang="ko-KR" altLang="en-US" sz="1400" smtClean="0"/>
              <a:t>오즈의 마법사” 방식</a:t>
            </a:r>
            <a:r>
              <a:rPr lang="en-US" altLang="ko-KR" sz="1400" smtClean="0"/>
              <a:t>)</a:t>
            </a:r>
            <a:br>
              <a:rPr lang="en-US" altLang="ko-KR" sz="1400" smtClean="0"/>
            </a:br>
            <a:r>
              <a:rPr lang="en-US" altLang="ko-KR" sz="1400" smtClean="0"/>
              <a:t>• </a:t>
            </a:r>
            <a:r>
              <a:rPr lang="ko-KR" altLang="en-US" sz="1400" smtClean="0"/>
              <a:t>주 </a:t>
            </a:r>
            <a:r>
              <a:rPr lang="en-US" altLang="ko-KR" sz="1400" smtClean="0"/>
              <a:t>1</a:t>
            </a:r>
            <a:r>
              <a:rPr lang="ko-KR" altLang="en-US" sz="1400" smtClean="0"/>
              <a:t>회 </a:t>
            </a:r>
            <a:r>
              <a:rPr lang="en-US" altLang="ko-KR" sz="1400" smtClean="0"/>
              <a:t>Zoom </a:t>
            </a:r>
            <a:r>
              <a:rPr lang="ko-KR" altLang="en-US" sz="1400" smtClean="0"/>
              <a:t>리플렉션 </a:t>
            </a:r>
            <a:r>
              <a:rPr lang="en-US" altLang="ko-KR" sz="1400" smtClean="0"/>
              <a:t>&amp; </a:t>
            </a:r>
            <a:r>
              <a:rPr lang="ko-KR" altLang="en-US" sz="1400" smtClean="0"/>
              <a:t>실천 로드맵 공유</a:t>
            </a:r>
            <a:br>
              <a:rPr lang="ko-KR" altLang="en-US" sz="1400" smtClean="0"/>
            </a:br>
            <a:r>
              <a:rPr lang="en-US" altLang="ko-KR" sz="1400" smtClean="0"/>
              <a:t>• </a:t>
            </a:r>
            <a:r>
              <a:rPr lang="ko-KR" altLang="en-US" sz="1400" smtClean="0"/>
              <a:t>최종 설문</a:t>
            </a:r>
            <a:r>
              <a:rPr lang="en-US" altLang="ko-KR" sz="1400" smtClean="0"/>
              <a:t>·1:1 </a:t>
            </a:r>
            <a:r>
              <a:rPr lang="ko-KR" altLang="en-US" sz="1400" smtClean="0"/>
              <a:t>인터뷰</a:t>
            </a:r>
            <a:endParaRPr lang="ko-KR" altLang="en-US" sz="1400" dirty="0"/>
          </a:p>
        </p:txBody>
      </p:sp>
      <p:sp>
        <p:nvSpPr>
          <p:cNvPr id="7" name="직사각형 6"/>
          <p:cNvSpPr/>
          <p:nvPr/>
        </p:nvSpPr>
        <p:spPr>
          <a:xfrm>
            <a:off x="7157152" y="5675789"/>
            <a:ext cx="6255116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 smtClean="0"/>
              <a:t>1. </a:t>
            </a:r>
            <a:r>
              <a:rPr lang="ko-KR" altLang="en-US" sz="1400" dirty="0" smtClean="0"/>
              <a:t>이용자들이 실제로 요약</a:t>
            </a:r>
            <a:r>
              <a:rPr lang="en-US" altLang="ko-KR" sz="1400" dirty="0" smtClean="0"/>
              <a:t>·</a:t>
            </a:r>
            <a:r>
              <a:rPr lang="ko-KR" altLang="en-US" sz="1400" dirty="0" smtClean="0"/>
              <a:t>플래시카드를 </a:t>
            </a:r>
            <a:r>
              <a:rPr lang="ko-KR" altLang="en-US" sz="1400" b="1" dirty="0" smtClean="0"/>
              <a:t>열람</a:t>
            </a:r>
            <a:r>
              <a:rPr lang="en-US" altLang="ko-KR" sz="1400" b="1" dirty="0" smtClean="0"/>
              <a:t>·</a:t>
            </a:r>
            <a:r>
              <a:rPr lang="ko-KR" altLang="en-US" sz="1400" b="1" dirty="0" smtClean="0"/>
              <a:t>활용</a:t>
            </a:r>
            <a:r>
              <a:rPr lang="ko-KR" altLang="en-US" sz="1400" dirty="0" smtClean="0"/>
              <a:t>하는가</a:t>
            </a:r>
            <a:r>
              <a:rPr lang="en-US" altLang="ko-KR" sz="1400" dirty="0" smtClean="0"/>
              <a:t>?</a:t>
            </a:r>
            <a:br>
              <a:rPr lang="en-US" altLang="ko-KR" sz="1400" dirty="0" smtClean="0"/>
            </a:br>
            <a:r>
              <a:rPr lang="en-US" altLang="ko-KR" sz="1400" dirty="0" smtClean="0"/>
              <a:t>2. </a:t>
            </a:r>
            <a:r>
              <a:rPr lang="ko-KR" altLang="en-US" sz="1400" dirty="0" smtClean="0"/>
              <a:t>수동 </a:t>
            </a:r>
            <a:r>
              <a:rPr lang="ko-KR" altLang="en-US" sz="1400" dirty="0" err="1" smtClean="0"/>
              <a:t>챗봇</a:t>
            </a:r>
            <a:r>
              <a:rPr lang="ko-KR" altLang="en-US" sz="1400" dirty="0" smtClean="0"/>
              <a:t> </a:t>
            </a:r>
            <a:r>
              <a:rPr lang="ko-KR" altLang="en-US" sz="1400" dirty="0" err="1" smtClean="0"/>
              <a:t>코칭이</a:t>
            </a:r>
            <a:r>
              <a:rPr lang="ko-KR" altLang="en-US" sz="1400" dirty="0" smtClean="0"/>
              <a:t> 기존 독서 모임 대비 </a:t>
            </a:r>
            <a:r>
              <a:rPr lang="ko-KR" altLang="en-US" sz="1400" b="1" dirty="0" smtClean="0"/>
              <a:t>가치</a:t>
            </a:r>
            <a:r>
              <a:rPr lang="en-US" altLang="ko-KR" sz="1400" b="1" dirty="0" smtClean="0"/>
              <a:t>·</a:t>
            </a:r>
            <a:r>
              <a:rPr lang="ko-KR" altLang="en-US" sz="1400" b="1" dirty="0" smtClean="0"/>
              <a:t>불편 개선</a:t>
            </a:r>
            <a:r>
              <a:rPr lang="ko-KR" altLang="en-US" sz="1400" dirty="0" smtClean="0"/>
              <a:t>을 느끼게 하는가</a:t>
            </a:r>
            <a:r>
              <a:rPr lang="en-US" altLang="ko-KR" sz="1400" dirty="0" smtClean="0"/>
              <a:t>?</a:t>
            </a:r>
            <a:br>
              <a:rPr lang="en-US" altLang="ko-KR" sz="1400" dirty="0" smtClean="0"/>
            </a:br>
            <a:r>
              <a:rPr lang="en-US" altLang="ko-KR" sz="1400" dirty="0" smtClean="0"/>
              <a:t>3. </a:t>
            </a:r>
            <a:r>
              <a:rPr lang="ko-KR" altLang="en-US" sz="1400" b="1" dirty="0" smtClean="0"/>
              <a:t>퀴즈 점수</a:t>
            </a:r>
            <a:r>
              <a:rPr lang="en-US" altLang="ko-KR" sz="1400" b="1" dirty="0" smtClean="0"/>
              <a:t>(</a:t>
            </a:r>
            <a:r>
              <a:rPr lang="ko-KR" altLang="en-US" sz="1400" b="1" dirty="0" smtClean="0"/>
              <a:t>지식 정착</a:t>
            </a:r>
            <a:r>
              <a:rPr lang="en-US" altLang="ko-KR" sz="1400" b="1" dirty="0" smtClean="0"/>
              <a:t>)</a:t>
            </a:r>
            <a:r>
              <a:rPr lang="ko-KR" altLang="en-US" sz="1400" dirty="0" smtClean="0"/>
              <a:t> </a:t>
            </a:r>
            <a:r>
              <a:rPr lang="en-US" altLang="ko-KR" sz="1400" dirty="0" smtClean="0"/>
              <a:t>: 2</a:t>
            </a:r>
            <a:r>
              <a:rPr lang="ko-KR" altLang="en-US" sz="1400" dirty="0" smtClean="0"/>
              <a:t>주 전후 </a:t>
            </a:r>
            <a:r>
              <a:rPr lang="en-US" altLang="ko-KR" sz="1400" dirty="0" smtClean="0"/>
              <a:t>30%↑ </a:t>
            </a:r>
            <a:r>
              <a:rPr lang="ko-KR" altLang="en-US" sz="1400" dirty="0" smtClean="0"/>
              <a:t>달성 여부</a:t>
            </a:r>
            <a:br>
              <a:rPr lang="ko-KR" altLang="en-US" sz="1400" dirty="0" smtClean="0"/>
            </a:br>
            <a:r>
              <a:rPr lang="en-US" altLang="ko-KR" sz="1400" dirty="0" smtClean="0"/>
              <a:t>4. </a:t>
            </a:r>
            <a:r>
              <a:rPr lang="ko-KR" altLang="en-US" sz="1400" dirty="0" smtClean="0"/>
              <a:t>월 정기 구독</a:t>
            </a:r>
            <a:r>
              <a:rPr lang="en-US" altLang="ko-KR" sz="1400" dirty="0" smtClean="0"/>
              <a:t>(3 </a:t>
            </a:r>
            <a:r>
              <a:rPr lang="ko-KR" altLang="en-US" sz="1400" dirty="0" smtClean="0"/>
              <a:t>만원</a:t>
            </a:r>
            <a:r>
              <a:rPr lang="en-US" altLang="ko-KR" sz="1400" dirty="0" smtClean="0"/>
              <a:t>) </a:t>
            </a:r>
            <a:r>
              <a:rPr lang="ko-KR" altLang="en-US" sz="1400" b="1" dirty="0" smtClean="0"/>
              <a:t>결제 의향 ≥ </a:t>
            </a:r>
            <a:r>
              <a:rPr lang="en-US" altLang="ko-KR" sz="1400" b="1" dirty="0" smtClean="0"/>
              <a:t>70 %</a:t>
            </a:r>
            <a:r>
              <a:rPr lang="en-US" altLang="ko-KR" sz="1400" dirty="0" smtClean="0"/>
              <a:t>?</a:t>
            </a:r>
            <a:br>
              <a:rPr lang="en-US" altLang="ko-KR" sz="1400" dirty="0" smtClean="0"/>
            </a:br>
            <a:r>
              <a:rPr lang="en-US" altLang="ko-KR" sz="1400" dirty="0" smtClean="0"/>
              <a:t>5. </a:t>
            </a:r>
            <a:r>
              <a:rPr lang="ko-KR" altLang="en-US" sz="1400" dirty="0" smtClean="0"/>
              <a:t>향후 “</a:t>
            </a:r>
            <a:r>
              <a:rPr lang="en-US" altLang="ko-KR" sz="1400" dirty="0" smtClean="0"/>
              <a:t>AI </a:t>
            </a:r>
            <a:r>
              <a:rPr lang="ko-KR" altLang="en-US" sz="1400" dirty="0" smtClean="0"/>
              <a:t>자동화 버전” 출시 시 </a:t>
            </a:r>
            <a:r>
              <a:rPr lang="ko-KR" altLang="en-US" sz="1400" b="1" dirty="0" err="1" smtClean="0"/>
              <a:t>웨이팅</a:t>
            </a:r>
            <a:r>
              <a:rPr lang="ko-KR" altLang="en-US" sz="1400" b="1" dirty="0" smtClean="0"/>
              <a:t> 리스트 등록 의사</a:t>
            </a:r>
            <a:r>
              <a:rPr lang="ko-KR" altLang="en-US" sz="1400" dirty="0" smtClean="0"/>
              <a:t>가 있는가</a:t>
            </a:r>
            <a:r>
              <a:rPr lang="en-US" altLang="ko-KR" sz="1400" dirty="0" smtClean="0"/>
              <a:t>?</a:t>
            </a:r>
            <a:endParaRPr lang="ko-KR" altLang="en-US" sz="1400" dirty="0"/>
          </a:p>
        </p:txBody>
      </p:sp>
      <p:sp>
        <p:nvSpPr>
          <p:cNvPr id="8" name="직사각형 7"/>
          <p:cNvSpPr/>
          <p:nvPr/>
        </p:nvSpPr>
        <p:spPr>
          <a:xfrm>
            <a:off x="13697561" y="2780772"/>
            <a:ext cx="444976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 dirty="0" smtClean="0"/>
              <a:t>상위 </a:t>
            </a:r>
            <a:r>
              <a:rPr lang="en-US" altLang="ko-KR" sz="1200" dirty="0" smtClean="0"/>
              <a:t>4 % </a:t>
            </a:r>
            <a:r>
              <a:rPr lang="ko-KR" altLang="en-US" sz="1200" dirty="0" smtClean="0"/>
              <a:t>사업가</a:t>
            </a:r>
            <a:r>
              <a:rPr lang="en-US" altLang="ko-KR" sz="1200" dirty="0" smtClean="0"/>
              <a:t>·</a:t>
            </a:r>
            <a:r>
              <a:rPr lang="ko-KR" altLang="en-US" sz="1200" dirty="0" smtClean="0"/>
              <a:t>전문직을 지향하는 독서가</a:t>
            </a:r>
            <a:br>
              <a:rPr lang="ko-KR" altLang="en-US" sz="1200" dirty="0" smtClean="0"/>
            </a:br>
            <a:r>
              <a:rPr lang="ko-KR" altLang="en-US" sz="1200" dirty="0" smtClean="0"/>
              <a:t>연 </a:t>
            </a:r>
            <a:r>
              <a:rPr lang="ko-KR" altLang="en-US" sz="1200" dirty="0" smtClean="0"/>
              <a:t>소득 </a:t>
            </a:r>
            <a:r>
              <a:rPr lang="en-US" altLang="ko-KR" sz="1200" dirty="0" smtClean="0"/>
              <a:t>5 </a:t>
            </a:r>
            <a:r>
              <a:rPr lang="ko-KR" altLang="en-US" sz="1200" dirty="0" smtClean="0"/>
              <a:t>천만 원↑ 또는 팀 리더 </a:t>
            </a:r>
            <a:r>
              <a:rPr lang="en-US" altLang="ko-KR" sz="1200" dirty="0" smtClean="0"/>
              <a:t>/ </a:t>
            </a:r>
            <a:r>
              <a:rPr lang="ko-KR" altLang="en-US" sz="1200" dirty="0" smtClean="0"/>
              <a:t>창업자</a:t>
            </a:r>
            <a:br>
              <a:rPr lang="ko-KR" altLang="en-US" sz="1200" dirty="0" smtClean="0"/>
            </a:br>
            <a:r>
              <a:rPr lang="ko-KR" altLang="en-US" sz="1200" dirty="0" smtClean="0"/>
              <a:t>월 </a:t>
            </a:r>
            <a:r>
              <a:rPr lang="en-US" altLang="ko-KR" sz="1200" dirty="0" smtClean="0"/>
              <a:t>3</a:t>
            </a:r>
            <a:r>
              <a:rPr lang="ko-KR" altLang="en-US" sz="1200" dirty="0" smtClean="0"/>
              <a:t>권 이상 읽지만 실행</a:t>
            </a:r>
            <a:r>
              <a:rPr lang="en-US" altLang="ko-KR" sz="1200" dirty="0" smtClean="0"/>
              <a:t>·</a:t>
            </a:r>
            <a:r>
              <a:rPr lang="ko-KR" altLang="en-US" sz="1200" dirty="0" smtClean="0"/>
              <a:t>적용에 갈증을 느끼는 분</a:t>
            </a:r>
            <a:endParaRPr lang="ko-KR" altLang="en-US" sz="1200" dirty="0"/>
          </a:p>
        </p:txBody>
      </p:sp>
      <p:sp>
        <p:nvSpPr>
          <p:cNvPr id="9" name="직사각형 8"/>
          <p:cNvSpPr/>
          <p:nvPr/>
        </p:nvSpPr>
        <p:spPr>
          <a:xfrm>
            <a:off x="14049053" y="4444682"/>
            <a:ext cx="213552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 smtClean="0"/>
              <a:t>2025-06-10 ~ 2025-06-24 (2</a:t>
            </a:r>
            <a:r>
              <a:rPr lang="ko-KR" altLang="en-US" sz="1200" dirty="0" smtClean="0"/>
              <a:t>주</a:t>
            </a:r>
            <a:r>
              <a:rPr lang="en-US" altLang="ko-KR" sz="1200" dirty="0" smtClean="0"/>
              <a:t>)</a:t>
            </a:r>
            <a:endParaRPr lang="ko-KR" altLang="en-US" sz="1200" dirty="0"/>
          </a:p>
        </p:txBody>
      </p:sp>
      <p:sp>
        <p:nvSpPr>
          <p:cNvPr id="10" name="직사각형 9"/>
          <p:cNvSpPr/>
          <p:nvPr/>
        </p:nvSpPr>
        <p:spPr>
          <a:xfrm>
            <a:off x="13697561" y="5937399"/>
            <a:ext cx="51297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 dirty="0" smtClean="0"/>
              <a:t>온라인 </a:t>
            </a:r>
            <a:r>
              <a:rPr lang="en-US" altLang="ko-KR" sz="1200" dirty="0" smtClean="0"/>
              <a:t>: </a:t>
            </a:r>
            <a:r>
              <a:rPr lang="ko-KR" altLang="en-US" sz="1200" dirty="0" err="1" smtClean="0"/>
              <a:t>카카오톡</a:t>
            </a:r>
            <a:r>
              <a:rPr lang="ko-KR" altLang="en-US" sz="1200" dirty="0" smtClean="0"/>
              <a:t> </a:t>
            </a:r>
            <a:r>
              <a:rPr lang="ko-KR" altLang="en-US" sz="1200" dirty="0" err="1" smtClean="0"/>
              <a:t>오픈채팅</a:t>
            </a:r>
            <a:r>
              <a:rPr lang="en-US" altLang="ko-KR" sz="1200" dirty="0" smtClean="0"/>
              <a:t>, Zoom</a:t>
            </a:r>
            <a:br>
              <a:rPr lang="en-US" altLang="ko-KR" sz="1200" dirty="0" smtClean="0"/>
            </a:br>
            <a:r>
              <a:rPr lang="ko-KR" altLang="en-US" sz="1200" dirty="0" smtClean="0"/>
              <a:t>오프라인</a:t>
            </a:r>
            <a:r>
              <a:rPr lang="en-US" altLang="ko-KR" sz="1200" dirty="0" smtClean="0"/>
              <a:t>(</a:t>
            </a:r>
            <a:r>
              <a:rPr lang="ko-KR" altLang="en-US" sz="1200" dirty="0" smtClean="0"/>
              <a:t>선택</a:t>
            </a:r>
            <a:r>
              <a:rPr lang="en-US" altLang="ko-KR" sz="1200" dirty="0" smtClean="0"/>
              <a:t>) : </a:t>
            </a:r>
            <a:r>
              <a:rPr lang="ko-KR" altLang="en-US" sz="1200" dirty="0" smtClean="0"/>
              <a:t>서울 역삼 공유오피스 </a:t>
            </a:r>
            <a:r>
              <a:rPr lang="ko-KR" altLang="en-US" sz="1200" dirty="0" smtClean="0"/>
              <a:t>소회의실</a:t>
            </a:r>
            <a:endParaRPr lang="ko-KR" altLang="en-US" sz="1200" dirty="0"/>
          </a:p>
        </p:txBody>
      </p:sp>
      <p:sp>
        <p:nvSpPr>
          <p:cNvPr id="11" name="직사각형 10"/>
          <p:cNvSpPr/>
          <p:nvPr/>
        </p:nvSpPr>
        <p:spPr>
          <a:xfrm>
            <a:off x="13697561" y="7385538"/>
            <a:ext cx="337123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dirty="0" smtClean="0"/>
              <a:t>1. Google Form </a:t>
            </a:r>
            <a:r>
              <a:rPr lang="ko-KR" altLang="en-US" sz="1200" dirty="0" smtClean="0"/>
              <a:t>모집→</a:t>
            </a:r>
            <a:r>
              <a:rPr lang="ko-KR" altLang="en-US" sz="1200" dirty="0" err="1" smtClean="0"/>
              <a:t>카톡</a:t>
            </a:r>
            <a:r>
              <a:rPr lang="ko-KR" altLang="en-US" sz="1200" dirty="0" smtClean="0"/>
              <a:t> 초대</a:t>
            </a:r>
            <a:br>
              <a:rPr lang="ko-KR" altLang="en-US" sz="1200" dirty="0" smtClean="0"/>
            </a:br>
            <a:r>
              <a:rPr lang="en-US" altLang="ko-KR" sz="1200" dirty="0" smtClean="0"/>
              <a:t>2. </a:t>
            </a:r>
            <a:r>
              <a:rPr lang="ko-KR" altLang="en-US" sz="1200" dirty="0" smtClean="0"/>
              <a:t>요약 </a:t>
            </a:r>
            <a:r>
              <a:rPr lang="en-US" altLang="ko-KR" sz="1200" dirty="0" smtClean="0"/>
              <a:t>PDF·</a:t>
            </a:r>
            <a:r>
              <a:rPr lang="ko-KR" altLang="en-US" sz="1200" dirty="0" smtClean="0"/>
              <a:t>플래시카드</a:t>
            </a:r>
            <a:r>
              <a:rPr lang="en-US" altLang="ko-KR" sz="1200" dirty="0" smtClean="0"/>
              <a:t>·</a:t>
            </a:r>
            <a:r>
              <a:rPr lang="ko-KR" altLang="en-US" sz="1200" dirty="0" err="1" smtClean="0"/>
              <a:t>데일리</a:t>
            </a:r>
            <a:r>
              <a:rPr lang="ko-KR" altLang="en-US" sz="1200" dirty="0" smtClean="0"/>
              <a:t> 미션 배포</a:t>
            </a:r>
            <a:br>
              <a:rPr lang="ko-KR" altLang="en-US" sz="1200" dirty="0" smtClean="0"/>
            </a:br>
            <a:r>
              <a:rPr lang="en-US" altLang="ko-KR" sz="1200" dirty="0" smtClean="0"/>
              <a:t>3. </a:t>
            </a:r>
            <a:r>
              <a:rPr lang="ko-KR" altLang="en-US" sz="1200" dirty="0" smtClean="0"/>
              <a:t>매일 체크</a:t>
            </a:r>
            <a:r>
              <a:rPr lang="en-US" altLang="ko-KR" sz="1200" dirty="0" smtClean="0"/>
              <a:t>-</a:t>
            </a:r>
            <a:r>
              <a:rPr lang="ko-KR" altLang="en-US" sz="1200" dirty="0" smtClean="0"/>
              <a:t>인</a:t>
            </a:r>
            <a:r>
              <a:rPr lang="en-US" altLang="ko-KR" sz="1200" dirty="0" smtClean="0"/>
              <a:t>·Q&amp;A, </a:t>
            </a:r>
            <a:r>
              <a:rPr lang="ko-KR" altLang="en-US" sz="1200" dirty="0" smtClean="0"/>
              <a:t>주 </a:t>
            </a:r>
            <a:r>
              <a:rPr lang="en-US" altLang="ko-KR" sz="1200" dirty="0" smtClean="0"/>
              <a:t>1</a:t>
            </a:r>
            <a:r>
              <a:rPr lang="ko-KR" altLang="en-US" sz="1200" dirty="0" smtClean="0"/>
              <a:t>회 </a:t>
            </a:r>
            <a:r>
              <a:rPr lang="en-US" altLang="ko-KR" sz="1200" dirty="0" smtClean="0"/>
              <a:t>Zoom </a:t>
            </a:r>
            <a:r>
              <a:rPr lang="ko-KR" altLang="en-US" sz="1200" dirty="0" smtClean="0"/>
              <a:t>그룹 </a:t>
            </a:r>
            <a:r>
              <a:rPr lang="ko-KR" altLang="en-US" sz="1200" dirty="0" err="1" smtClean="0"/>
              <a:t>코칭</a:t>
            </a:r>
            <a:r>
              <a:rPr lang="ko-KR" altLang="en-US" sz="1200" dirty="0" smtClean="0"/>
              <a:t/>
            </a:r>
            <a:br>
              <a:rPr lang="ko-KR" altLang="en-US" sz="1200" dirty="0" smtClean="0"/>
            </a:br>
            <a:r>
              <a:rPr lang="en-US" altLang="ko-KR" sz="1200" dirty="0" smtClean="0"/>
              <a:t>4. </a:t>
            </a:r>
            <a:r>
              <a:rPr lang="ko-KR" altLang="en-US" sz="1200" dirty="0" smtClean="0"/>
              <a:t>테스트 종료 후 퀴즈</a:t>
            </a:r>
            <a:r>
              <a:rPr lang="en-US" altLang="ko-KR" sz="1200" dirty="0" smtClean="0"/>
              <a:t>·NPS </a:t>
            </a:r>
            <a:r>
              <a:rPr lang="ko-KR" altLang="en-US" sz="1200" dirty="0" smtClean="0"/>
              <a:t>설문</a:t>
            </a:r>
            <a:r>
              <a:rPr lang="en-US" altLang="ko-KR" sz="1200" dirty="0" smtClean="0"/>
              <a:t>·</a:t>
            </a:r>
            <a:r>
              <a:rPr lang="ko-KR" altLang="en-US" sz="1200" dirty="0" smtClean="0"/>
              <a:t>인터뷰</a:t>
            </a:r>
            <a:endParaRPr lang="ko-KR" alt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128</Words>
  <Application>Microsoft Office PowerPoint</Application>
  <PresentationFormat>사용자 지정</PresentationFormat>
  <Paragraphs>15</Paragraphs>
  <Slides>3</Slides>
  <Notes>3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4" baseType="lpstr">
      <vt:lpstr>Office Theme</vt:lpstr>
      <vt:lpstr>슬라이드 1</vt:lpstr>
      <vt:lpstr>슬라이드 2</vt:lpstr>
      <vt:lpstr>슬라이드 3</vt:lpstr>
    </vt:vector>
  </TitlesOfParts>
  <Company>mangoboard.net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러닝메이트 워크북v2</dc:title>
  <dc:subject>Presentation</dc:subject>
  <dc:creator>mangoboard.net_48059005</dc:creator>
  <cp:lastModifiedBy>Customer</cp:lastModifiedBy>
  <cp:revision>2</cp:revision>
  <dcterms:created xsi:type="dcterms:W3CDTF">2025-05-11T07:23:20Z</dcterms:created>
  <dcterms:modified xsi:type="dcterms:W3CDTF">2025-05-17T15:00:59Z</dcterms:modified>
</cp:coreProperties>
</file>