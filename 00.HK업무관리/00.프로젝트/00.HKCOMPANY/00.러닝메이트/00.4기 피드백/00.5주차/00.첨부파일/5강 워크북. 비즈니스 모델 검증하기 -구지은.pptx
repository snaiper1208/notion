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914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D092F94-AC33-493B-8B38-36C3945E0145}"/>
              </a:ext>
            </a:extLst>
          </p:cNvPr>
          <p:cNvSpPr/>
          <p:nvPr/>
        </p:nvSpPr>
        <p:spPr>
          <a:xfrm>
            <a:off x="562972" y="7181189"/>
            <a:ext cx="58774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 </a:t>
            </a:r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키트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일기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카드 </a:t>
            </a:r>
            <a:r>
              <a:rPr lang="en-US" altLang="ko-KR" dirty="0">
                <a:latin typeface="+mj-ea"/>
                <a:ea typeface="+mj-ea"/>
              </a:rPr>
              <a:t>+ </a:t>
            </a:r>
            <a:r>
              <a:rPr lang="ko-KR" altLang="en-US" dirty="0">
                <a:latin typeface="+mj-ea"/>
                <a:ea typeface="+mj-ea"/>
              </a:rPr>
              <a:t>가이드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를 </a:t>
            </a:r>
            <a:r>
              <a:rPr lang="en-US" altLang="ko-KR" dirty="0">
                <a:latin typeface="+mj-ea"/>
                <a:ea typeface="+mj-ea"/>
              </a:rPr>
              <a:t>30</a:t>
            </a:r>
            <a:r>
              <a:rPr lang="ko-KR" altLang="en-US" dirty="0">
                <a:latin typeface="+mj-ea"/>
                <a:ea typeface="+mj-ea"/>
              </a:rPr>
              <a:t>가정에 배포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- 4</a:t>
            </a:r>
            <a:r>
              <a:rPr lang="ko-KR" altLang="en-US" dirty="0">
                <a:latin typeface="+mj-ea"/>
                <a:ea typeface="+mj-ea"/>
              </a:rPr>
              <a:t>주간 사용 후 정량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정성 설문 수집</a:t>
            </a:r>
            <a:br>
              <a:rPr lang="ko-KR" altLang="en-US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- </a:t>
            </a:r>
            <a:r>
              <a:rPr lang="ko-KR" altLang="en-US" dirty="0">
                <a:latin typeface="+mj-ea"/>
                <a:ea typeface="+mj-ea"/>
              </a:rPr>
              <a:t>부모</a:t>
            </a:r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아이 인터뷰 진행</a:t>
            </a:r>
            <a:r>
              <a:rPr lang="en-US" altLang="ko-KR" dirty="0">
                <a:latin typeface="+mj-ea"/>
                <a:ea typeface="+mj-ea"/>
              </a:rPr>
              <a:t>(5</a:t>
            </a:r>
            <a:r>
              <a:rPr lang="ko-KR" altLang="en-US" dirty="0">
                <a:latin typeface="+mj-ea"/>
                <a:ea typeface="+mj-ea"/>
              </a:rPr>
              <a:t>가정</a:t>
            </a:r>
            <a:r>
              <a:rPr lang="en-US" altLang="ko-KR" dirty="0">
                <a:latin typeface="+mj-ea"/>
                <a:ea typeface="+mj-ea"/>
              </a:rPr>
              <a:t>)</a:t>
            </a:r>
            <a:br>
              <a:rPr lang="en-US" altLang="ko-KR" dirty="0">
                <a:latin typeface="+mj-ea"/>
                <a:ea typeface="+mj-ea"/>
              </a:rPr>
            </a:br>
            <a:r>
              <a:rPr lang="en-US" altLang="ko-KR" dirty="0">
                <a:latin typeface="+mj-ea"/>
                <a:ea typeface="+mj-ea"/>
              </a:rPr>
              <a:t>- </a:t>
            </a:r>
            <a:r>
              <a:rPr lang="ko-KR" altLang="en-US" dirty="0">
                <a:latin typeface="+mj-ea"/>
                <a:ea typeface="+mj-ea"/>
              </a:rPr>
              <a:t>사용자 행동 변화 및 만족도 분석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D0CFA8-F7D6-4F11-8253-764E2C7FB035}"/>
              </a:ext>
            </a:extLst>
          </p:cNvPr>
          <p:cNvSpPr/>
          <p:nvPr/>
        </p:nvSpPr>
        <p:spPr>
          <a:xfrm>
            <a:off x="836043" y="2352558"/>
            <a:ext cx="56044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 </a:t>
            </a:r>
            <a:r>
              <a:rPr lang="ko-KR" altLang="en-US" b="1" dirty="0">
                <a:latin typeface="+mj-ea"/>
                <a:ea typeface="+mj-ea"/>
              </a:rPr>
              <a:t>부모와 아이가 함께 감정을 표현하고</a:t>
            </a:r>
            <a:endParaRPr lang="en-US" altLang="ko-KR" b="1" dirty="0">
              <a:latin typeface="+mj-ea"/>
              <a:ea typeface="+mj-ea"/>
            </a:endParaRPr>
          </a:p>
          <a:p>
            <a:r>
              <a:rPr lang="en-US" altLang="ko-KR" b="1" dirty="0">
                <a:latin typeface="+mj-ea"/>
                <a:ea typeface="+mj-ea"/>
              </a:rPr>
              <a:t> </a:t>
            </a:r>
            <a:r>
              <a:rPr lang="ko-KR" altLang="en-US" b="1" dirty="0">
                <a:latin typeface="+mj-ea"/>
                <a:ea typeface="+mj-ea"/>
              </a:rPr>
              <a:t>정서적 회복탄력성을 키우는 놀이 기반의 정서 케어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9A79B0-6464-42D7-8052-E69FF713BF08}"/>
              </a:ext>
            </a:extLst>
          </p:cNvPr>
          <p:cNvSpPr/>
          <p:nvPr/>
        </p:nvSpPr>
        <p:spPr>
          <a:xfrm>
            <a:off x="836043" y="3022594"/>
            <a:ext cx="58448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놀이</a:t>
            </a:r>
            <a:r>
              <a:rPr lang="en-US" altLang="ko-KR" dirty="0">
                <a:latin typeface="+mj-ea"/>
                <a:ea typeface="+mj-ea"/>
              </a:rPr>
              <a:t>+</a:t>
            </a:r>
            <a:r>
              <a:rPr lang="ko-KR" altLang="en-US" dirty="0">
                <a:latin typeface="+mj-ea"/>
                <a:ea typeface="+mj-ea"/>
              </a:rPr>
              <a:t>기록</a:t>
            </a:r>
            <a:r>
              <a:rPr lang="en-US" altLang="ko-KR" dirty="0">
                <a:latin typeface="+mj-ea"/>
                <a:ea typeface="+mj-ea"/>
              </a:rPr>
              <a:t>+</a:t>
            </a:r>
            <a:r>
              <a:rPr lang="ko-KR" altLang="en-US" dirty="0">
                <a:latin typeface="+mj-ea"/>
                <a:ea typeface="+mj-ea"/>
              </a:rPr>
              <a:t>대화</a:t>
            </a:r>
            <a:r>
              <a:rPr lang="en-US" altLang="ko-KR" dirty="0">
                <a:latin typeface="+mj-ea"/>
                <a:ea typeface="+mj-ea"/>
              </a:rPr>
              <a:t>+</a:t>
            </a:r>
            <a:r>
              <a:rPr lang="ko-KR" altLang="en-US" dirty="0">
                <a:latin typeface="+mj-ea"/>
                <a:ea typeface="+mj-ea"/>
              </a:rPr>
              <a:t>회복을 하나로 묶은 </a:t>
            </a:r>
            <a:r>
              <a:rPr lang="ko-KR" altLang="en-US" dirty="0" err="1">
                <a:latin typeface="+mj-ea"/>
                <a:ea typeface="+mj-ea"/>
              </a:rPr>
              <a:t>정서돌봄</a:t>
            </a:r>
            <a:r>
              <a:rPr lang="ko-KR" altLang="en-US" dirty="0">
                <a:latin typeface="+mj-ea"/>
                <a:ea typeface="+mj-ea"/>
              </a:rPr>
              <a:t> 솔루션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E38426-5B4F-4DEB-A7B9-8F0B1B156900}"/>
              </a:ext>
            </a:extLst>
          </p:cNvPr>
          <p:cNvSpPr/>
          <p:nvPr/>
        </p:nvSpPr>
        <p:spPr>
          <a:xfrm>
            <a:off x="7054261" y="2191597"/>
            <a:ext cx="61130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감정카드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표정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상황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와 그림일기를 활용한 감정 표현 훈련</a:t>
            </a:r>
          </a:p>
          <a:p>
            <a:pPr>
              <a:buFont typeface="+mj-lt"/>
              <a:buAutoNum type="arabicPeriod"/>
            </a:pPr>
            <a:r>
              <a:rPr lang="ko-KR" altLang="en-US" dirty="0" err="1">
                <a:latin typeface="+mj-ea"/>
                <a:ea typeface="+mj-ea"/>
              </a:rPr>
              <a:t>부모용</a:t>
            </a:r>
            <a:r>
              <a:rPr lang="ko-KR" altLang="en-US" dirty="0">
                <a:latin typeface="+mj-ea"/>
                <a:ea typeface="+mj-ea"/>
              </a:rPr>
              <a:t> 질문 가이드와 정서놀이법 안내서로 소통 유도</a:t>
            </a:r>
          </a:p>
          <a:p>
            <a:pPr>
              <a:buFont typeface="+mj-lt"/>
              <a:buAutoNum type="arabicPeriod"/>
            </a:pPr>
            <a:r>
              <a:rPr lang="en-US" altLang="ko-KR" dirty="0">
                <a:latin typeface="+mj-ea"/>
                <a:ea typeface="+mj-ea"/>
              </a:rPr>
              <a:t>4</a:t>
            </a:r>
            <a:r>
              <a:rPr lang="ko-KR" altLang="en-US" dirty="0">
                <a:latin typeface="+mj-ea"/>
                <a:ea typeface="+mj-ea"/>
              </a:rPr>
              <a:t>주 간 감정 </a:t>
            </a:r>
            <a:r>
              <a:rPr lang="ko-KR" altLang="en-US" dirty="0" err="1">
                <a:latin typeface="+mj-ea"/>
                <a:ea typeface="+mj-ea"/>
              </a:rPr>
              <a:t>미션북으로</a:t>
            </a:r>
            <a:r>
              <a:rPr lang="ko-KR" altLang="en-US" dirty="0">
                <a:latin typeface="+mj-ea"/>
                <a:ea typeface="+mj-ea"/>
              </a:rPr>
              <a:t> 반복 실천 가능하게 구성</a:t>
            </a:r>
          </a:p>
          <a:p>
            <a:pPr>
              <a:buFont typeface="+mj-lt"/>
              <a:buAutoNum type="arabicPeriod"/>
            </a:pPr>
            <a:r>
              <a:rPr lang="en-US" altLang="ko-KR" dirty="0">
                <a:latin typeface="+mj-ea"/>
                <a:ea typeface="+mj-ea"/>
              </a:rPr>
              <a:t>QR </a:t>
            </a:r>
            <a:r>
              <a:rPr lang="ko-KR" altLang="en-US" dirty="0">
                <a:latin typeface="+mj-ea"/>
                <a:ea typeface="+mj-ea"/>
              </a:rPr>
              <a:t>영상으로 놀이 방법 제공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기초형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07D616-9190-450C-BECA-EE9F57B30394}"/>
              </a:ext>
            </a:extLst>
          </p:cNvPr>
          <p:cNvSpPr/>
          <p:nvPr/>
        </p:nvSpPr>
        <p:spPr>
          <a:xfrm>
            <a:off x="640716" y="4872865"/>
            <a:ext cx="64135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타겟 부모 대상 감정</a:t>
            </a:r>
            <a:r>
              <a:rPr lang="en-US" altLang="ko-KR" dirty="0">
                <a:latin typeface="+mj-ea"/>
                <a:ea typeface="+mj-ea"/>
              </a:rPr>
              <a:t>ON </a:t>
            </a:r>
            <a:r>
              <a:rPr lang="ko-KR" altLang="en-US" dirty="0">
                <a:latin typeface="+mj-ea"/>
                <a:ea typeface="+mj-ea"/>
              </a:rPr>
              <a:t>키트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기본형</a:t>
            </a:r>
            <a:r>
              <a:rPr lang="en-US" altLang="ko-KR" dirty="0">
                <a:latin typeface="+mj-ea"/>
                <a:ea typeface="+mj-ea"/>
              </a:rPr>
              <a:t>) </a:t>
            </a:r>
            <a:r>
              <a:rPr lang="ko-KR" altLang="en-US" dirty="0">
                <a:latin typeface="+mj-ea"/>
                <a:ea typeface="+mj-ea"/>
              </a:rPr>
              <a:t>배송 및 </a:t>
            </a:r>
            <a:r>
              <a:rPr lang="en-US" altLang="ko-KR" dirty="0">
                <a:latin typeface="+mj-ea"/>
                <a:ea typeface="+mj-ea"/>
              </a:rPr>
              <a:t>1</a:t>
            </a:r>
            <a:r>
              <a:rPr lang="ko-KR" altLang="en-US" dirty="0">
                <a:latin typeface="+mj-ea"/>
                <a:ea typeface="+mj-ea"/>
              </a:rPr>
              <a:t>주일 사용 유도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일기 작성 횟수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감정카드 활용 빈도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부모</a:t>
            </a:r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아이 대화 유도 여부 체크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간단한 피드백 설문 및 </a:t>
            </a:r>
            <a:r>
              <a:rPr lang="ko-KR" altLang="en-US" dirty="0" err="1">
                <a:latin typeface="+mj-ea"/>
                <a:ea typeface="+mj-ea"/>
              </a:rPr>
              <a:t>오픈톡방을</a:t>
            </a:r>
            <a:r>
              <a:rPr lang="ko-KR" altLang="en-US" dirty="0">
                <a:latin typeface="+mj-ea"/>
                <a:ea typeface="+mj-ea"/>
              </a:rPr>
              <a:t> 통한 사용 후기 수집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놀이 </a:t>
            </a:r>
            <a:r>
              <a:rPr lang="ko-KR" altLang="en-US" dirty="0" err="1">
                <a:latin typeface="+mj-ea"/>
                <a:ea typeface="+mj-ea"/>
              </a:rPr>
              <a:t>실행률과</a:t>
            </a:r>
            <a:r>
              <a:rPr lang="ko-KR" altLang="en-US" dirty="0">
                <a:latin typeface="+mj-ea"/>
                <a:ea typeface="+mj-ea"/>
              </a:rPr>
              <a:t> 감정표현 변화에 대한 부모 인터뷰 진행</a:t>
            </a:r>
          </a:p>
          <a:p>
            <a:pPr>
              <a:buFont typeface="+mj-lt"/>
              <a:buAutoNum type="arabicPeriod"/>
            </a:pPr>
            <a:r>
              <a:rPr lang="ko-KR" altLang="en-US" dirty="0">
                <a:latin typeface="+mj-ea"/>
                <a:ea typeface="+mj-ea"/>
              </a:rPr>
              <a:t>반복 구매 의사 및 향후 정기 구독 상품에 대한 관심도 </a:t>
            </a:r>
            <a:r>
              <a:rPr lang="ko-KR" altLang="en-US" dirty="0"/>
              <a:t>조사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EA5E33-F3E3-4D76-8260-3378327E2AE3}"/>
              </a:ext>
            </a:extLst>
          </p:cNvPr>
          <p:cNvSpPr/>
          <p:nvPr/>
        </p:nvSpPr>
        <p:spPr>
          <a:xfrm>
            <a:off x="7132004" y="4860012"/>
            <a:ext cx="61130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부모가 제품을 실제로 사용하고 자발적으로 아이와 놀이를 시도했는가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r>
              <a:rPr lang="ko-KR" altLang="en-US" dirty="0">
                <a:latin typeface="+mj-ea"/>
                <a:ea typeface="+mj-ea"/>
              </a:rPr>
              <a:t>아이가 감정 표현을 스스로 하려는 변화가 있었는가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r>
              <a:rPr lang="ko-KR" altLang="en-US" dirty="0">
                <a:latin typeface="+mj-ea"/>
                <a:ea typeface="+mj-ea"/>
              </a:rPr>
              <a:t>부모</a:t>
            </a:r>
            <a:r>
              <a:rPr lang="en-US" altLang="ko-KR" dirty="0">
                <a:latin typeface="+mj-ea"/>
                <a:ea typeface="+mj-ea"/>
              </a:rPr>
              <a:t>-</a:t>
            </a:r>
            <a:r>
              <a:rPr lang="ko-KR" altLang="en-US" dirty="0">
                <a:latin typeface="+mj-ea"/>
                <a:ea typeface="+mj-ea"/>
              </a:rPr>
              <a:t>아이의 정서적 대화 시간이 늘어났는가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r>
              <a:rPr lang="ko-KR" altLang="en-US" dirty="0">
                <a:latin typeface="+mj-ea"/>
                <a:ea typeface="+mj-ea"/>
              </a:rPr>
              <a:t>재구매 의향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추가 콘텐츠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영상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>
                <a:latin typeface="+mj-ea"/>
                <a:ea typeface="+mj-ea"/>
              </a:rPr>
              <a:t>클래스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대한 니즈는 존재하는가</a:t>
            </a:r>
            <a:r>
              <a:rPr lang="en-US" altLang="ko-KR" dirty="0">
                <a:latin typeface="+mj-ea"/>
                <a:ea typeface="+mj-ea"/>
              </a:rPr>
              <a:t>?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F0C16BF3-0C2E-408B-B523-208762AB2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9251" y="2222375"/>
            <a:ext cx="3207027" cy="1969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5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~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10세 자녀를 둔 3040대 부모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감정 표현에 어려움을 겪는 아동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과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 보호자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부모교육에 관심 있는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</a:rPr>
              <a:t>워킹맘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661B550-54CB-4F09-A39B-D19D20439671}"/>
              </a:ext>
            </a:extLst>
          </p:cNvPr>
          <p:cNvSpPr/>
          <p:nvPr/>
        </p:nvSpPr>
        <p:spPr>
          <a:xfrm>
            <a:off x="13779634" y="4346033"/>
            <a:ext cx="264527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+mj-ea"/>
                <a:ea typeface="+mj-ea"/>
              </a:rPr>
              <a:t>2025.05 30 ~ 2025.06.12  </a:t>
            </a:r>
          </a:p>
          <a:p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ko-KR" altLang="en-US" sz="1600" dirty="0">
                <a:latin typeface="+mj-ea"/>
                <a:ea typeface="+mj-ea"/>
              </a:rPr>
              <a:t>약 </a:t>
            </a:r>
            <a:r>
              <a:rPr lang="en-US" altLang="ko-KR" sz="1600" dirty="0">
                <a:latin typeface="+mj-ea"/>
                <a:ea typeface="+mj-ea"/>
              </a:rPr>
              <a:t>2</a:t>
            </a:r>
            <a:r>
              <a:rPr lang="ko-KR" altLang="en-US" sz="1600" dirty="0">
                <a:latin typeface="+mj-ea"/>
                <a:ea typeface="+mj-ea"/>
              </a:rPr>
              <a:t>주 </a:t>
            </a:r>
            <a:r>
              <a:rPr lang="en-US" altLang="ko-KR" sz="1600" dirty="0">
                <a:latin typeface="+mj-ea"/>
                <a:ea typeface="+mj-ea"/>
              </a:rPr>
              <a:t>MVP </a:t>
            </a:r>
            <a:r>
              <a:rPr lang="ko-KR" altLang="en-US" sz="1600" dirty="0">
                <a:latin typeface="+mj-ea"/>
                <a:ea typeface="+mj-ea"/>
              </a:rPr>
              <a:t>테스트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359E433-1164-42E3-B0BA-85CDF41E3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2714" y="5757350"/>
            <a:ext cx="3567877" cy="774259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50E4D390-2A3D-4995-A352-0FFDB6FCFF65}"/>
              </a:ext>
            </a:extLst>
          </p:cNvPr>
          <p:cNvSpPr/>
          <p:nvPr/>
        </p:nvSpPr>
        <p:spPr>
          <a:xfrm>
            <a:off x="13752714" y="7144818"/>
            <a:ext cx="367389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dirty="0"/>
              <a:t>MVP </a:t>
            </a:r>
            <a:r>
              <a:rPr lang="ko-KR" altLang="en-US" dirty="0"/>
              <a:t>키트 배포 후 </a:t>
            </a:r>
            <a:r>
              <a:rPr lang="ko-KR" altLang="en-US" dirty="0" err="1"/>
              <a:t>오픈톡방을</a:t>
            </a:r>
            <a:r>
              <a:rPr lang="ko-KR" altLang="en-US" dirty="0"/>
              <a:t> 통한 실시간 피드백 수집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활동 체크리스트 </a:t>
            </a:r>
            <a:r>
              <a:rPr lang="en-US" altLang="ko-KR" dirty="0"/>
              <a:t>+ </a:t>
            </a:r>
            <a:r>
              <a:rPr lang="ko-KR" altLang="en-US" dirty="0"/>
              <a:t>후기 공유 이벤트 운영</a:t>
            </a:r>
          </a:p>
          <a:p>
            <a:pPr>
              <a:buFont typeface="+mj-lt"/>
              <a:buAutoNum type="arabicPeriod"/>
            </a:pPr>
            <a:r>
              <a:rPr lang="en-US" altLang="ko-KR" dirty="0"/>
              <a:t>NPS </a:t>
            </a:r>
            <a:r>
              <a:rPr lang="ko-KR" altLang="en-US" dirty="0"/>
              <a:t>기반 만족도 조사 및 반복 </a:t>
            </a:r>
            <a:r>
              <a:rPr lang="ko-KR" altLang="en-US" dirty="0" err="1"/>
              <a:t>사용율</a:t>
            </a:r>
            <a:r>
              <a:rPr lang="ko-KR" altLang="en-US" dirty="0"/>
              <a:t>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230</Words>
  <Application>Microsoft Office PowerPoint</Application>
  <PresentationFormat>사용자 지정</PresentationFormat>
  <Paragraphs>30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지은 구</cp:lastModifiedBy>
  <cp:revision>7</cp:revision>
  <dcterms:created xsi:type="dcterms:W3CDTF">2025-05-11T07:23:20Z</dcterms:created>
  <dcterms:modified xsi:type="dcterms:W3CDTF">2025-05-17T16:03:44Z</dcterms:modified>
</cp:coreProperties>
</file>