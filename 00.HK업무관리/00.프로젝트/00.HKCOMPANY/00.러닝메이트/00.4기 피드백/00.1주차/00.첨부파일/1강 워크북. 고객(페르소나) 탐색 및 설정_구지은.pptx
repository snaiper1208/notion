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7" r:id="rId3"/>
    <p:sldId id="268" r:id="rId4"/>
    <p:sldId id="279" r:id="rId5"/>
    <p:sldId id="280" r:id="rId6"/>
    <p:sldId id="269" r:id="rId7"/>
    <p:sldId id="278" r:id="rId8"/>
  </p:sldIdLst>
  <p:sldSz cx="17556163" cy="9875838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2" d="100"/>
          <a:sy n="52" d="100"/>
        </p:scale>
        <p:origin x="97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742" tIns="27871" rIns="55742" bIns="278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742" tIns="27871" rIns="55742" bIns="27871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742" tIns="27871" rIns="55742" bIns="278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742" tIns="27871" rIns="55742" bIns="27871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742" tIns="27871" rIns="55742" bIns="278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742" tIns="27871" rIns="55742" bIns="27871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742" tIns="27871" rIns="55742" bIns="278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742" tIns="27871" rIns="55742" bIns="27871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42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742" tIns="27871" rIns="55742" bIns="278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742" tIns="27871" rIns="55742" bIns="27871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8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742" tIns="27871" rIns="55742" bIns="278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742" tIns="27871" rIns="55742" bIns="27871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742" tIns="27871" rIns="55742" bIns="278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742" tIns="27871" rIns="55742" bIns="27871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  <a:solidFill>
            <a:srgbClr val="FF0000"/>
          </a:solidFill>
          <a:ln>
            <a:solidFill>
              <a:schemeClr val="accent6">
                <a:lumMod val="75000"/>
              </a:schemeClr>
            </a:solidFill>
            <a:prstDash val="sysDot"/>
          </a:ln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0974F9B-6985-46B5-BEEA-A45EAEA5C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46316"/>
              </p:ext>
            </p:extLst>
          </p:nvPr>
        </p:nvGraphicFramePr>
        <p:xfrm>
          <a:off x="8778081" y="2079523"/>
          <a:ext cx="3840480" cy="1433297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72144204"/>
                    </a:ext>
                  </a:extLst>
                </a:gridCol>
              </a:tblGrid>
              <a:tr h="14332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solidFill>
                        <a:schemeClr val="accent6">
                          <a:lumMod val="50000"/>
                        </a:schemeClr>
                      </a:solidFill>
                      <a:prstDash val="sysDash"/>
                    </a:lnL>
                    <a:lnR w="12700" cmpd="sng">
                      <a:solidFill>
                        <a:schemeClr val="accent6">
                          <a:lumMod val="50000"/>
                        </a:schemeClr>
                      </a:solidFill>
                      <a:prstDash val="sysDash"/>
                    </a:lnR>
                    <a:lnT w="12700" cmpd="sng">
                      <a:solidFill>
                        <a:schemeClr val="accent6">
                          <a:lumMod val="50000"/>
                        </a:schemeClr>
                      </a:solidFill>
                      <a:prstDash val="sysDash"/>
                    </a:lnT>
                    <a:lnB w="12700" cmpd="sng">
                      <a:solidFill>
                        <a:schemeClr val="accent6">
                          <a:lumMod val="50000"/>
                        </a:schemeClr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953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B5DDAE6-1046-443E-8745-EF8DEBA68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922069"/>
              </p:ext>
            </p:extLst>
          </p:nvPr>
        </p:nvGraphicFramePr>
        <p:xfrm>
          <a:off x="8911713" y="6312310"/>
          <a:ext cx="3848100" cy="1681070"/>
        </p:xfrm>
        <a:graphic>
          <a:graphicData uri="http://schemas.openxmlformats.org/drawingml/2006/table">
            <a:tbl>
              <a:tblPr/>
              <a:tblGrid>
                <a:gridCol w="3848100">
                  <a:extLst>
                    <a:ext uri="{9D8B030D-6E8A-4147-A177-3AD203B41FA5}">
                      <a16:colId xmlns:a16="http://schemas.microsoft.com/office/drawing/2014/main" val="3189573129"/>
                    </a:ext>
                  </a:extLst>
                </a:gridCol>
              </a:tblGrid>
              <a:tr h="168107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accent6">
                          <a:lumMod val="50000"/>
                        </a:schemeClr>
                      </a:solidFill>
                      <a:prstDash val="sysDash"/>
                    </a:lnL>
                    <a:lnR w="12700" cmpd="sng">
                      <a:solidFill>
                        <a:schemeClr val="accent6">
                          <a:lumMod val="50000"/>
                        </a:schemeClr>
                      </a:solidFill>
                      <a:prstDash val="sysDash"/>
                    </a:lnR>
                    <a:lnT w="12700" cmpd="sng">
                      <a:solidFill>
                        <a:schemeClr val="accent6">
                          <a:lumMod val="50000"/>
                        </a:schemeClr>
                      </a:solidFill>
                      <a:prstDash val="sysDash"/>
                    </a:lnT>
                    <a:lnB w="12700" cmpd="sng">
                      <a:solidFill>
                        <a:schemeClr val="accent6">
                          <a:lumMod val="50000"/>
                        </a:schemeClr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6706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7314DAE-BD6F-46E8-BC16-D10652E97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1" y="1776389"/>
            <a:ext cx="3360420" cy="304380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CEF0713-9EEF-44AE-B50D-5FB347C05303}"/>
              </a:ext>
            </a:extLst>
          </p:cNvPr>
          <p:cNvSpPr/>
          <p:nvPr/>
        </p:nvSpPr>
        <p:spPr>
          <a:xfrm>
            <a:off x="1247579" y="5810551"/>
            <a:ext cx="5179623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이름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지우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가명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r>
              <a:rPr lang="ko-KR" altLang="en-US" dirty="0">
                <a:latin typeface="+mj-ea"/>
                <a:ea typeface="+mj-ea"/>
              </a:rPr>
              <a:t>나이</a:t>
            </a:r>
            <a:r>
              <a:rPr lang="en-US" altLang="ko-KR" dirty="0">
                <a:latin typeface="+mj-ea"/>
                <a:ea typeface="+mj-ea"/>
              </a:rPr>
              <a:t>: 9</a:t>
            </a:r>
            <a:r>
              <a:rPr lang="ko-KR" altLang="en-US" dirty="0">
                <a:latin typeface="+mj-ea"/>
                <a:ea typeface="+mj-ea"/>
              </a:rPr>
              <a:t>세</a:t>
            </a:r>
            <a:r>
              <a:rPr lang="en-US" altLang="ko-KR" dirty="0">
                <a:latin typeface="+mj-ea"/>
                <a:ea typeface="+mj-ea"/>
              </a:rPr>
              <a:t>,</a:t>
            </a:r>
            <a:r>
              <a:rPr lang="ko-KR" altLang="en-US" dirty="0">
                <a:latin typeface="+mj-ea"/>
                <a:ea typeface="+mj-ea"/>
              </a:rPr>
              <a:t>초등학교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학년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거주지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서울 거주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육아방식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맞벌이로 할머니와 부모님의 공동육아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가족형태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맞벌이 가정의 외동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주거형태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아파트 혹은 주택 전세이상</a:t>
            </a:r>
            <a:endParaRPr lang="en-US" altLang="ko-KR" dirty="0">
              <a:latin typeface="+mj-ea"/>
              <a:ea typeface="+mj-ea"/>
            </a:endParaRPr>
          </a:p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F6A070-C8E7-499F-8805-19D82EF7CB4F}"/>
              </a:ext>
            </a:extLst>
          </p:cNvPr>
          <p:cNvSpPr/>
          <p:nvPr/>
        </p:nvSpPr>
        <p:spPr>
          <a:xfrm>
            <a:off x="7459209" y="2369861"/>
            <a:ext cx="910449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감정  회피형 반응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>
                <a:latin typeface="+mj-ea"/>
                <a:ea typeface="+mj-ea"/>
              </a:rPr>
              <a:t>친구들 사이에서 감정 표현이 서툴러 오해를 자주 삼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en-US" altLang="ko-KR" sz="1600" dirty="0">
                <a:latin typeface="+mj-ea"/>
                <a:ea typeface="+mj-ea"/>
              </a:rPr>
              <a:t>                         </a:t>
            </a:r>
            <a:r>
              <a:rPr lang="ko-KR" altLang="en-US" sz="1600" dirty="0">
                <a:latin typeface="+mj-ea"/>
                <a:ea typeface="+mj-ea"/>
              </a:rPr>
              <a:t>문제 상황에 대해 말하거나 설명하려 하지 않음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b="1" dirty="0">
                <a:latin typeface="+mj-ea"/>
                <a:ea typeface="+mj-ea"/>
              </a:rPr>
              <a:t>관찰 중심형 반응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>
                <a:latin typeface="+mj-ea"/>
                <a:ea typeface="+mj-ea"/>
              </a:rPr>
              <a:t>학교생활은 성실하나 친구와의 관계에서 종종 눈치를 봄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en-US" altLang="ko-KR" sz="1600" dirty="0">
                <a:latin typeface="+mj-ea"/>
                <a:ea typeface="+mj-ea"/>
              </a:rPr>
              <a:t>                       </a:t>
            </a:r>
            <a:r>
              <a:rPr lang="ko-KR" altLang="en-US" sz="1600" dirty="0">
                <a:latin typeface="+mj-ea"/>
                <a:ea typeface="+mj-ea"/>
              </a:rPr>
              <a:t>‘먼저 말 </a:t>
            </a:r>
            <a:r>
              <a:rPr lang="ko-KR" altLang="en-US" sz="1600" dirty="0" err="1">
                <a:latin typeface="+mj-ea"/>
                <a:ea typeface="+mj-ea"/>
              </a:rPr>
              <a:t>걸기’를</a:t>
            </a:r>
            <a:r>
              <a:rPr lang="ko-KR" altLang="en-US" sz="1600" dirty="0">
                <a:latin typeface="+mj-ea"/>
                <a:ea typeface="+mj-ea"/>
              </a:rPr>
              <a:t> 어려워함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놀이시간에 먼저 참여하지 않고 구경</a:t>
            </a:r>
          </a:p>
          <a:p>
            <a:r>
              <a:rPr lang="ko-KR" altLang="en-US" sz="1600" b="1" dirty="0">
                <a:latin typeface="+mj-ea"/>
                <a:ea typeface="+mj-ea"/>
              </a:rPr>
              <a:t>비언어적 감정 표현 사용</a:t>
            </a:r>
            <a:r>
              <a:rPr lang="en-US" altLang="ko-KR" sz="1600" b="1" dirty="0">
                <a:latin typeface="+mj-ea"/>
                <a:ea typeface="+mj-ea"/>
              </a:rPr>
              <a:t>:</a:t>
            </a:r>
            <a:r>
              <a:rPr lang="ko-KR" altLang="en-US" sz="1600" b="1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혼자 있는 시간에 그림일기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</a:p>
          <a:p>
            <a:r>
              <a:rPr lang="ko-KR" altLang="en-US" sz="1600" dirty="0">
                <a:latin typeface="+mj-ea"/>
                <a:ea typeface="+mj-ea"/>
              </a:rPr>
              <a:t>                                  손톱을 물어뜯거나 손을  주무르는 등 긴장할 때 습관적행동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b="1" dirty="0">
                <a:latin typeface="+mj-ea"/>
                <a:ea typeface="+mj-ea"/>
              </a:rPr>
              <a:t>정서적 단어 사용 부족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엄마와의 관계에서 눈치를 보며 감정을 숨기거나 늦게 표현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                   할머니와의 관계에서 더 쉽게 감정을 표현하거나 어린아이처럼 행동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91036E-4D9E-434C-803E-7DD864A1AF0F}"/>
              </a:ext>
            </a:extLst>
          </p:cNvPr>
          <p:cNvSpPr/>
          <p:nvPr/>
        </p:nvSpPr>
        <p:spPr>
          <a:xfrm>
            <a:off x="7459209" y="5866381"/>
            <a:ext cx="87757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지우의  심리적 단기 욕구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감정을 잘 표현하고 싶지만 어떻게 해야 할지 모름 </a:t>
            </a:r>
            <a:br>
              <a:rPr lang="ko-KR" altLang="en-US" sz="1600" dirty="0">
                <a:latin typeface="+mj-ea"/>
                <a:ea typeface="+mj-ea"/>
              </a:rPr>
            </a:br>
            <a:r>
              <a:rPr lang="ko-KR" altLang="en-US" sz="1600" dirty="0">
                <a:latin typeface="+mj-ea"/>
                <a:ea typeface="+mj-ea"/>
              </a:rPr>
              <a:t>                                 친구와 잘 지내고 싶고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혼나는 일이 줄었으면 좋겠음</a:t>
            </a:r>
          </a:p>
          <a:p>
            <a:r>
              <a:rPr lang="ko-KR" altLang="en-US" sz="1600" dirty="0">
                <a:latin typeface="+mj-ea"/>
                <a:ea typeface="+mj-ea"/>
              </a:rPr>
              <a:t>지우의  심리적 장기 욕구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>
                <a:latin typeface="+mj-ea"/>
                <a:ea typeface="+mj-ea"/>
              </a:rPr>
              <a:t>내가 느끼는 감정을 적절하게 표현하고 싶다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r>
              <a:rPr lang="en-US" altLang="ko-KR" sz="1600" dirty="0">
                <a:latin typeface="+mj-ea"/>
                <a:ea typeface="+mj-ea"/>
              </a:rPr>
              <a:t>                                   </a:t>
            </a:r>
            <a:r>
              <a:rPr lang="ko-KR" altLang="en-US" sz="1600" dirty="0">
                <a:latin typeface="+mj-ea"/>
                <a:ea typeface="+mj-ea"/>
              </a:rPr>
              <a:t>엄마한테 감정을 표현하고 잘 지내고 싶다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r>
              <a:rPr lang="en-US" altLang="ko-KR" sz="1600" dirty="0">
                <a:latin typeface="+mj-ea"/>
                <a:ea typeface="+mj-ea"/>
              </a:rPr>
              <a:t>                                   </a:t>
            </a:r>
            <a:r>
              <a:rPr lang="ko-KR" altLang="en-US" sz="1600" dirty="0" err="1">
                <a:latin typeface="+mj-ea"/>
                <a:ea typeface="+mj-ea"/>
              </a:rPr>
              <a:t>친구랑</a:t>
            </a:r>
            <a:r>
              <a:rPr lang="ko-KR" altLang="en-US" sz="1600" dirty="0">
                <a:latin typeface="+mj-ea"/>
                <a:ea typeface="+mj-ea"/>
              </a:rPr>
              <a:t> 잘 어울리고 싶다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r>
              <a:rPr lang="en-US" altLang="ko-KR" sz="1600" dirty="0">
                <a:latin typeface="+mj-ea"/>
                <a:ea typeface="+mj-ea"/>
              </a:rPr>
              <a:t>                                   </a:t>
            </a:r>
            <a:r>
              <a:rPr lang="ko-KR" altLang="en-US" sz="1600" dirty="0">
                <a:latin typeface="+mj-ea"/>
                <a:ea typeface="+mj-ea"/>
              </a:rPr>
              <a:t>할머니 말씀을 잘 듣고 함께 </a:t>
            </a:r>
            <a:r>
              <a:rPr lang="ko-KR" altLang="en-US" sz="1600" dirty="0" err="1">
                <a:latin typeface="+mj-ea"/>
                <a:ea typeface="+mj-ea"/>
              </a:rPr>
              <a:t>놀고싶다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0BCE8B-A24B-488B-A33C-53E233E7B5D5}"/>
              </a:ext>
            </a:extLst>
          </p:cNvPr>
          <p:cNvSpPr/>
          <p:nvPr/>
        </p:nvSpPr>
        <p:spPr>
          <a:xfrm>
            <a:off x="1251947" y="5590800"/>
            <a:ext cx="538507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이름 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수진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가명</a:t>
            </a:r>
            <a:r>
              <a:rPr lang="en-US" altLang="ko-KR" sz="1600" dirty="0">
                <a:latin typeface="+mj-ea"/>
                <a:ea typeface="+mj-ea"/>
              </a:rPr>
              <a:t>) ,</a:t>
            </a:r>
            <a:r>
              <a:rPr lang="ko-KR" altLang="en-US" sz="1600" dirty="0">
                <a:latin typeface="+mj-ea"/>
                <a:ea typeface="+mj-ea"/>
              </a:rPr>
              <a:t>나이</a:t>
            </a:r>
            <a:r>
              <a:rPr lang="en-US" altLang="ko-KR" sz="1600" dirty="0">
                <a:latin typeface="+mj-ea"/>
                <a:ea typeface="+mj-ea"/>
              </a:rPr>
              <a:t>:34</a:t>
            </a:r>
            <a:r>
              <a:rPr lang="ko-KR" altLang="en-US" sz="1600" dirty="0">
                <a:latin typeface="+mj-ea"/>
                <a:ea typeface="+mj-ea"/>
              </a:rPr>
              <a:t>세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직업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대기업  마케팅 팀 과장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 err="1">
                <a:latin typeface="+mj-ea"/>
                <a:ea typeface="+mj-ea"/>
              </a:rPr>
              <a:t>워킹맘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r>
              <a:rPr lang="ko-KR" altLang="en-US" sz="1600" dirty="0">
                <a:latin typeface="+mj-ea"/>
                <a:ea typeface="+mj-ea"/>
              </a:rPr>
              <a:t>거주지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 서울 아파트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가족구성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남편</a:t>
            </a:r>
            <a:r>
              <a:rPr lang="en-US" altLang="ko-KR" sz="1600" dirty="0">
                <a:latin typeface="+mj-ea"/>
                <a:ea typeface="+mj-ea"/>
              </a:rPr>
              <a:t>(IT </a:t>
            </a:r>
            <a:r>
              <a:rPr lang="ko-KR" altLang="en-US" sz="1600" dirty="0">
                <a:latin typeface="+mj-ea"/>
                <a:ea typeface="+mj-ea"/>
              </a:rPr>
              <a:t>직군</a:t>
            </a:r>
            <a:r>
              <a:rPr lang="en-US" altLang="ko-KR" sz="1600" dirty="0">
                <a:latin typeface="+mj-ea"/>
                <a:ea typeface="+mj-ea"/>
              </a:rPr>
              <a:t>), </a:t>
            </a:r>
            <a:r>
              <a:rPr lang="ko-KR" altLang="en-US" sz="1600" dirty="0">
                <a:latin typeface="+mj-ea"/>
                <a:ea typeface="+mj-ea"/>
              </a:rPr>
              <a:t>딸</a:t>
            </a:r>
            <a:r>
              <a:rPr lang="en-US" altLang="ko-KR" sz="1600" dirty="0">
                <a:latin typeface="+mj-ea"/>
                <a:ea typeface="+mj-ea"/>
              </a:rPr>
              <a:t>(8</a:t>
            </a:r>
            <a:r>
              <a:rPr lang="ko-KR" altLang="en-US" sz="1600" dirty="0">
                <a:latin typeface="+mj-ea"/>
                <a:ea typeface="+mj-ea"/>
              </a:rPr>
              <a:t>세</a:t>
            </a:r>
            <a:r>
              <a:rPr lang="en-US" altLang="ko-KR" sz="1600" dirty="0">
                <a:latin typeface="+mj-ea"/>
                <a:ea typeface="+mj-ea"/>
              </a:rPr>
              <a:t>), </a:t>
            </a:r>
            <a:r>
              <a:rPr lang="ko-KR" altLang="en-US" sz="1600" dirty="0">
                <a:latin typeface="+mj-ea"/>
                <a:ea typeface="+mj-ea"/>
              </a:rPr>
              <a:t>시어머니 또는 친정어머니와 공동 양육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소득수준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월 가계 소득 약 </a:t>
            </a:r>
            <a:r>
              <a:rPr lang="en-US" altLang="ko-KR" sz="1600" dirty="0">
                <a:latin typeface="+mj-ea"/>
                <a:ea typeface="+mj-ea"/>
              </a:rPr>
              <a:t>850</a:t>
            </a:r>
            <a:r>
              <a:rPr lang="ko-KR" altLang="en-US" sz="1600" dirty="0">
                <a:latin typeface="+mj-ea"/>
                <a:ea typeface="+mj-ea"/>
              </a:rPr>
              <a:t>만원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라이프스타일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평일엔 야근</a:t>
            </a:r>
            <a:r>
              <a:rPr lang="en-US" altLang="ko-KR" sz="1600" dirty="0">
                <a:latin typeface="+mj-ea"/>
                <a:ea typeface="+mj-ea"/>
              </a:rPr>
              <a:t>/</a:t>
            </a:r>
            <a:r>
              <a:rPr lang="ko-KR" altLang="en-US" sz="1600" dirty="0">
                <a:latin typeface="+mj-ea"/>
                <a:ea typeface="+mj-ea"/>
              </a:rPr>
              <a:t>퇴근 지연 빈번</a:t>
            </a:r>
            <a:r>
              <a:rPr lang="en-US" altLang="ko-KR" sz="1600" dirty="0">
                <a:latin typeface="+mj-ea"/>
                <a:ea typeface="+mj-ea"/>
              </a:rPr>
              <a:t>,</a:t>
            </a:r>
          </a:p>
          <a:p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주말엔 육아와 ‘보상 육아’ 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 err="1">
                <a:latin typeface="+mj-ea"/>
                <a:ea typeface="+mj-ea"/>
              </a:rPr>
              <a:t>병행육아형태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 방과 후 돌봄 → 할머니 집 귀가 →                        저녁에 엄마와 만남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271DBE-6108-4B88-AFE3-830EE48EDE05}"/>
              </a:ext>
            </a:extLst>
          </p:cNvPr>
          <p:cNvSpPr/>
          <p:nvPr/>
        </p:nvSpPr>
        <p:spPr>
          <a:xfrm>
            <a:off x="7459209" y="2437457"/>
            <a:ext cx="87757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정보탐색 경로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ko-KR" altLang="en-US" sz="1600" dirty="0" err="1">
                <a:latin typeface="+mj-ea"/>
                <a:ea typeface="+mj-ea"/>
              </a:rPr>
              <a:t>맘카페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인스타그램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유튜브 </a:t>
            </a:r>
            <a:r>
              <a:rPr lang="ko-KR" altLang="en-US" sz="1600" dirty="0" err="1">
                <a:latin typeface="+mj-ea"/>
                <a:ea typeface="+mj-ea"/>
              </a:rPr>
              <a:t>키즈</a:t>
            </a:r>
            <a:r>
              <a:rPr lang="ko-KR" altLang="en-US" sz="1600" dirty="0">
                <a:latin typeface="+mj-ea"/>
                <a:ea typeface="+mj-ea"/>
              </a:rPr>
              <a:t> 전문가 채널 구독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콘텐츠 소비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짧은 영상 위주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육아 팁</a:t>
            </a:r>
            <a:r>
              <a:rPr lang="en-US" altLang="ko-KR" sz="1600" dirty="0">
                <a:latin typeface="+mj-ea"/>
                <a:ea typeface="+mj-ea"/>
              </a:rPr>
              <a:t>/</a:t>
            </a:r>
            <a:r>
              <a:rPr lang="ko-KR" altLang="en-US" sz="1600" dirty="0">
                <a:latin typeface="+mj-ea"/>
                <a:ea typeface="+mj-ea"/>
              </a:rPr>
              <a:t>심리 콘텐츠 선호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교육 소비 패턴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체험 키트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홈클래스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주말 프로그램에 지출 적극적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자녀와의 활동시간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저녁 </a:t>
            </a:r>
            <a:r>
              <a:rPr lang="en-US" altLang="ko-KR" sz="1600" dirty="0">
                <a:latin typeface="+mj-ea"/>
                <a:ea typeface="+mj-ea"/>
              </a:rPr>
              <a:t>1~2</a:t>
            </a:r>
            <a:r>
              <a:rPr lang="ko-KR" altLang="en-US" sz="1600" dirty="0">
                <a:latin typeface="+mj-ea"/>
                <a:ea typeface="+mj-ea"/>
              </a:rPr>
              <a:t>시간 </a:t>
            </a:r>
            <a:r>
              <a:rPr lang="en-US" altLang="ko-KR" sz="1600" dirty="0">
                <a:latin typeface="+mj-ea"/>
                <a:ea typeface="+mj-ea"/>
              </a:rPr>
              <a:t>/ </a:t>
            </a:r>
            <a:r>
              <a:rPr lang="ko-KR" altLang="en-US" sz="1600" dirty="0">
                <a:latin typeface="+mj-ea"/>
                <a:ea typeface="+mj-ea"/>
              </a:rPr>
              <a:t>주말 반나절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자녀 교육 우선순위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정서 표현력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친구 관계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감정 안정 → 학습보다 정서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128B8B5-3121-4C27-B173-AEC70389AC18}"/>
              </a:ext>
            </a:extLst>
          </p:cNvPr>
          <p:cNvSpPr/>
          <p:nvPr/>
        </p:nvSpPr>
        <p:spPr>
          <a:xfrm>
            <a:off x="7376159" y="5649080"/>
            <a:ext cx="760476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육아감정</a:t>
            </a:r>
            <a:r>
              <a:rPr lang="en-US" altLang="ko-KR" dirty="0"/>
              <a:t>:</a:t>
            </a:r>
            <a:r>
              <a:rPr lang="ko-KR" altLang="en-US" dirty="0"/>
              <a:t>죄책감</a:t>
            </a:r>
            <a:r>
              <a:rPr lang="en-US" altLang="ko-KR" dirty="0"/>
              <a:t>, </a:t>
            </a:r>
            <a:r>
              <a:rPr lang="ko-KR" altLang="en-US" dirty="0"/>
              <a:t>양가감정</a:t>
            </a:r>
            <a:r>
              <a:rPr lang="en-US" altLang="ko-KR" dirty="0"/>
              <a:t>, </a:t>
            </a:r>
            <a:r>
              <a:rPr lang="ko-KR" altLang="en-US" dirty="0"/>
              <a:t>감정적 소진</a:t>
            </a:r>
            <a:endParaRPr lang="en-US" altLang="ko-KR" dirty="0"/>
          </a:p>
          <a:p>
            <a:r>
              <a:rPr lang="ko-KR" altLang="en-US" dirty="0"/>
              <a:t>주된 스트레스 요인</a:t>
            </a:r>
            <a:r>
              <a:rPr lang="en-US" altLang="ko-KR" dirty="0"/>
              <a:t>:</a:t>
            </a:r>
            <a:r>
              <a:rPr lang="ko-KR" altLang="en-US" dirty="0"/>
              <a:t>아이와 보내는 시간이 부족해 관계가 얕아질까 두려움</a:t>
            </a:r>
            <a:endParaRPr lang="en-US" altLang="ko-KR" dirty="0"/>
          </a:p>
          <a:p>
            <a:r>
              <a:rPr lang="ko-KR" altLang="en-US" dirty="0"/>
              <a:t>육아 </a:t>
            </a:r>
            <a:r>
              <a:rPr lang="ko-KR" altLang="en-US" sz="1600" dirty="0">
                <a:latin typeface="+mj-ea"/>
                <a:ea typeface="+mj-ea"/>
              </a:rPr>
              <a:t>가치관</a:t>
            </a:r>
            <a:r>
              <a:rPr lang="en-US" altLang="ko-KR" dirty="0"/>
              <a:t>:</a:t>
            </a:r>
            <a:r>
              <a:rPr lang="ko-KR" altLang="en-US" dirty="0"/>
              <a:t>“공감 육아”</a:t>
            </a:r>
            <a:r>
              <a:rPr lang="en-US" altLang="ko-KR" dirty="0"/>
              <a:t>, “</a:t>
            </a:r>
            <a:r>
              <a:rPr lang="ko-KR" altLang="en-US" dirty="0"/>
              <a:t>정서 </a:t>
            </a:r>
            <a:r>
              <a:rPr lang="ko-KR" altLang="en-US" dirty="0" err="1"/>
              <a:t>소통”에</a:t>
            </a:r>
            <a:r>
              <a:rPr lang="ko-KR" altLang="en-US" dirty="0"/>
              <a:t> 대한 관심은 높으나 실천은 어려움</a:t>
            </a:r>
            <a:endParaRPr lang="en-US" altLang="ko-KR" dirty="0"/>
          </a:p>
          <a:p>
            <a:r>
              <a:rPr lang="ko-KR" altLang="en-US" dirty="0"/>
              <a:t>감정표현 방식</a:t>
            </a:r>
            <a:r>
              <a:rPr lang="en-US" altLang="ko-KR" dirty="0"/>
              <a:t>:</a:t>
            </a:r>
            <a:r>
              <a:rPr lang="ko-KR" altLang="en-US" dirty="0"/>
              <a:t>아이에게 감정을 조절하라고는 하지만</a:t>
            </a:r>
            <a:r>
              <a:rPr lang="en-US" altLang="ko-KR" dirty="0"/>
              <a:t>, </a:t>
            </a:r>
            <a:r>
              <a:rPr lang="ko-KR" altLang="en-US" dirty="0"/>
              <a:t>본인도 감정을 언어화 하지 못함</a:t>
            </a:r>
            <a:endParaRPr lang="en-US" altLang="ko-KR" dirty="0"/>
          </a:p>
          <a:p>
            <a:r>
              <a:rPr lang="ko-KR" altLang="en-US" dirty="0"/>
              <a:t>자주 드는 생각</a:t>
            </a:r>
            <a:r>
              <a:rPr lang="en-US" altLang="ko-KR" dirty="0"/>
              <a:t>:</a:t>
            </a:r>
            <a:r>
              <a:rPr lang="ko-KR" altLang="en-US" dirty="0"/>
              <a:t>“나는 좋은 엄마일까</a:t>
            </a:r>
            <a:r>
              <a:rPr lang="en-US" altLang="ko-KR" dirty="0"/>
              <a:t>?” / “</a:t>
            </a:r>
            <a:r>
              <a:rPr lang="ko-KR" altLang="en-US" dirty="0"/>
              <a:t>우리 아이 감정 괜찮을까</a:t>
            </a:r>
            <a:r>
              <a:rPr lang="en-US" altLang="ko-KR" dirty="0"/>
              <a:t>?”</a:t>
            </a:r>
          </a:p>
          <a:p>
            <a:r>
              <a:rPr lang="ko-KR" altLang="en-US" dirty="0"/>
              <a:t> 역할 충돌에서 오는 내면의 혼란</a:t>
            </a:r>
            <a:r>
              <a:rPr lang="en-US" altLang="ko-KR" dirty="0"/>
              <a:t>: </a:t>
            </a:r>
            <a:r>
              <a:rPr lang="ko-KR" altLang="en-US" dirty="0"/>
              <a:t>양쪽에 충실하지 못하다는 무력감</a:t>
            </a:r>
            <a:endParaRPr lang="en-US" altLang="ko-KR" dirty="0"/>
          </a:p>
          <a:p>
            <a:r>
              <a:rPr lang="ko-KR" altLang="en-US" dirty="0"/>
              <a:t>양육방식차이</a:t>
            </a:r>
            <a:r>
              <a:rPr lang="en-US" altLang="ko-KR" dirty="0"/>
              <a:t>: </a:t>
            </a:r>
            <a:r>
              <a:rPr lang="ko-KR" altLang="en-US" dirty="0" err="1"/>
              <a:t>친정엄마와의</a:t>
            </a:r>
            <a:r>
              <a:rPr lang="ko-KR" altLang="en-US" dirty="0"/>
              <a:t> 양육방식으로 속앓이</a:t>
            </a:r>
            <a:endParaRPr lang="en-US" altLang="ko-KR" dirty="0"/>
          </a:p>
          <a:p>
            <a:r>
              <a:rPr lang="ko-KR" altLang="en-US" dirty="0"/>
              <a:t>목표</a:t>
            </a:r>
            <a:r>
              <a:rPr lang="en-US" altLang="ko-KR" dirty="0"/>
              <a:t>:</a:t>
            </a:r>
            <a:r>
              <a:rPr lang="ko-KR" altLang="en-US" dirty="0"/>
              <a:t>아이가 자기 감정을 잘 표현하고</a:t>
            </a:r>
            <a:r>
              <a:rPr lang="en-US" altLang="ko-KR" dirty="0"/>
              <a:t>, </a:t>
            </a:r>
            <a:r>
              <a:rPr lang="ko-KR" altLang="en-US" dirty="0"/>
              <a:t>건강하게 사회생활을 하길 바람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5DADF96-92E0-4184-91CD-61E623607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1730493"/>
            <a:ext cx="3328124" cy="310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6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206E921-0400-404E-ADD6-E29AB4F463B2}"/>
              </a:ext>
            </a:extLst>
          </p:cNvPr>
          <p:cNvSpPr/>
          <p:nvPr/>
        </p:nvSpPr>
        <p:spPr>
          <a:xfrm>
            <a:off x="1321254" y="5643903"/>
            <a:ext cx="56308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이름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박명자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가명</a:t>
            </a:r>
            <a:r>
              <a:rPr lang="en-US" altLang="ko-KR" sz="1600" dirty="0">
                <a:latin typeface="+mj-ea"/>
                <a:ea typeface="+mj-ea"/>
              </a:rPr>
              <a:t>) </a:t>
            </a:r>
            <a:r>
              <a:rPr lang="ko-KR" altLang="en-US" sz="1600" dirty="0">
                <a:latin typeface="+mj-ea"/>
                <a:ea typeface="+mj-ea"/>
              </a:rPr>
              <a:t>나이</a:t>
            </a:r>
            <a:r>
              <a:rPr lang="en-US" altLang="ko-KR" sz="1600" dirty="0">
                <a:latin typeface="+mj-ea"/>
                <a:ea typeface="+mj-ea"/>
              </a:rPr>
              <a:t>:68</a:t>
            </a:r>
            <a:r>
              <a:rPr lang="ko-KR" altLang="en-US" sz="1600" dirty="0">
                <a:latin typeface="+mj-ea"/>
                <a:ea typeface="+mj-ea"/>
              </a:rPr>
              <a:t>세 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거주형태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딸 가족과 </a:t>
            </a:r>
            <a:r>
              <a:rPr lang="ko-KR" altLang="en-US" sz="1600" dirty="0" err="1">
                <a:latin typeface="+mj-ea"/>
                <a:ea typeface="+mj-ea"/>
              </a:rPr>
              <a:t>반동거</a:t>
            </a:r>
            <a:r>
              <a:rPr lang="ko-KR" altLang="en-US" sz="1600" dirty="0">
                <a:latin typeface="+mj-ea"/>
                <a:ea typeface="+mj-ea"/>
              </a:rPr>
              <a:t> 또는 평일 </a:t>
            </a:r>
            <a:r>
              <a:rPr lang="ko-KR" altLang="en-US" sz="1600" dirty="0" err="1">
                <a:latin typeface="+mj-ea"/>
                <a:ea typeface="+mj-ea"/>
              </a:rPr>
              <a:t>등하교</a:t>
            </a:r>
            <a:r>
              <a:rPr lang="ko-KR" altLang="en-US" sz="1600" dirty="0">
                <a:latin typeface="+mj-ea"/>
                <a:ea typeface="+mj-ea"/>
              </a:rPr>
              <a:t> 책임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직업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정년퇴직 교사 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은퇴 상태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r>
              <a:rPr lang="ko-KR" altLang="en-US" sz="1600" dirty="0">
                <a:latin typeface="+mj-ea"/>
                <a:ea typeface="+mj-ea"/>
              </a:rPr>
              <a:t>소득수준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국민연금 </a:t>
            </a:r>
            <a:r>
              <a:rPr lang="en-US" altLang="ko-KR" sz="1600" dirty="0">
                <a:latin typeface="+mj-ea"/>
                <a:ea typeface="+mj-ea"/>
              </a:rPr>
              <a:t>+ </a:t>
            </a:r>
            <a:r>
              <a:rPr lang="ko-KR" altLang="en-US" sz="1600" dirty="0">
                <a:latin typeface="+mj-ea"/>
                <a:ea typeface="+mj-ea"/>
              </a:rPr>
              <a:t>퇴직연금 약간의 자산 </a:t>
            </a:r>
            <a:r>
              <a:rPr lang="en-US" altLang="ko-KR" sz="1600" dirty="0">
                <a:latin typeface="+mj-ea"/>
                <a:ea typeface="+mj-ea"/>
              </a:rPr>
              <a:t>/ </a:t>
            </a:r>
          </a:p>
          <a:p>
            <a:r>
              <a:rPr lang="ko-KR" altLang="en-US" sz="1600" dirty="0">
                <a:latin typeface="+mj-ea"/>
                <a:ea typeface="+mj-ea"/>
              </a:rPr>
              <a:t>생활비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>
                <a:latin typeface="+mj-ea"/>
                <a:ea typeface="+mj-ea"/>
              </a:rPr>
              <a:t>퇴직연금과 보조양육자로 자녀가 보조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교육 수준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대졸 이상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교육이나 생활지식이 풍부함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디지털 활용도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기본적인 스마트폰 사용 가능</a:t>
            </a:r>
            <a:r>
              <a:rPr lang="en-US" altLang="ko-KR" sz="1600" dirty="0">
                <a:latin typeface="+mj-ea"/>
                <a:ea typeface="+mj-ea"/>
              </a:rPr>
              <a:t>,</a:t>
            </a:r>
          </a:p>
          <a:p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육아 경험</a:t>
            </a:r>
            <a:r>
              <a:rPr lang="en-US" altLang="ko-KR" sz="1600" dirty="0">
                <a:latin typeface="+mj-ea"/>
                <a:ea typeface="+mj-ea"/>
              </a:rPr>
              <a:t>:80-90</a:t>
            </a:r>
            <a:r>
              <a:rPr lang="ko-KR" altLang="en-US" sz="1600" dirty="0">
                <a:latin typeface="+mj-ea"/>
                <a:ea typeface="+mj-ea"/>
              </a:rPr>
              <a:t>년대식 ‘인내’</a:t>
            </a:r>
            <a:r>
              <a:rPr lang="en-US" altLang="ko-KR" sz="1600" dirty="0">
                <a:latin typeface="+mj-ea"/>
                <a:ea typeface="+mj-ea"/>
              </a:rPr>
              <a:t>, ‘</a:t>
            </a:r>
            <a:r>
              <a:rPr lang="ko-KR" altLang="en-US" sz="1600" dirty="0">
                <a:latin typeface="+mj-ea"/>
                <a:ea typeface="+mj-ea"/>
              </a:rPr>
              <a:t>예절’</a:t>
            </a:r>
            <a:r>
              <a:rPr lang="en-US" altLang="ko-KR" sz="1600" dirty="0">
                <a:latin typeface="+mj-ea"/>
                <a:ea typeface="+mj-ea"/>
              </a:rPr>
              <a:t>, ‘</a:t>
            </a:r>
            <a:r>
              <a:rPr lang="ko-KR" altLang="en-US" sz="1600" dirty="0">
                <a:latin typeface="+mj-ea"/>
                <a:ea typeface="+mj-ea"/>
              </a:rPr>
              <a:t>질서’ 강조형    양육 스타일 경험자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E5BB25-571D-423C-B7F2-C56D836E4CC3}"/>
              </a:ext>
            </a:extLst>
          </p:cNvPr>
          <p:cNvSpPr/>
          <p:nvPr/>
        </p:nvSpPr>
        <p:spPr>
          <a:xfrm>
            <a:off x="7551738" y="2305636"/>
            <a:ext cx="80768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44CD0C-60F4-433E-BE82-D2F7705130FB}"/>
              </a:ext>
            </a:extLst>
          </p:cNvPr>
          <p:cNvSpPr/>
          <p:nvPr/>
        </p:nvSpPr>
        <p:spPr>
          <a:xfrm>
            <a:off x="7475538" y="5874415"/>
            <a:ext cx="80768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감정상태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: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손녀가 예쁘고 소중하지만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가끔 육체적 피로와 정서적 소외감 느낌</a:t>
            </a: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/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세대 차이 인식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: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“요즘 애들은 감정 표현이 많네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…” / “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엄마처럼 참는 게 좋은 줄 알았지”</a:t>
            </a: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/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양육에 대한 책임감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: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“내가 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도와야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딸이 맘 편히 일하지” → 사명감과 책임감 강함</a:t>
            </a: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/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자기표현 방식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: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감정보다 행동 위주 표현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(“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밥 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먹었어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?”, “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따뜻하게 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입었니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?”)</a:t>
            </a:r>
          </a:p>
          <a:p>
            <a:pPr lvl="0"/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자녀와의 관계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: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딸에게 ‘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고맙다’는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말을 듣지만 가끔 소외감을 느낌</a:t>
            </a: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/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희망사항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: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손녀와 더 가까워지고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감정도 잘 나누며 친구처럼 지내고 싶음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6935B8-69AC-487F-92C6-1FCC157EFBF1}"/>
              </a:ext>
            </a:extLst>
          </p:cNvPr>
          <p:cNvSpPr/>
          <p:nvPr/>
        </p:nvSpPr>
        <p:spPr>
          <a:xfrm>
            <a:off x="7475538" y="2460745"/>
            <a:ext cx="87757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일상 루틴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아침 등교 준비 → 하원 후 간식 → 숙제 지도 → 엄마 퇴근 전 돌봄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양육 방식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생활습관은 엄격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감정 표현에는 약함 </a:t>
            </a:r>
            <a:r>
              <a:rPr lang="en-US" altLang="ko-KR" sz="1600" dirty="0">
                <a:latin typeface="+mj-ea"/>
                <a:ea typeface="+mj-ea"/>
              </a:rPr>
              <a:t>(“</a:t>
            </a:r>
            <a:r>
              <a:rPr lang="ko-KR" altLang="en-US" sz="1600" dirty="0">
                <a:latin typeface="+mj-ea"/>
                <a:ea typeface="+mj-ea"/>
              </a:rPr>
              <a:t>그럴 수도 있지”보다 “</a:t>
            </a:r>
            <a:r>
              <a:rPr lang="ko-KR" altLang="en-US" sz="1600" dirty="0" err="1">
                <a:latin typeface="+mj-ea"/>
                <a:ea typeface="+mj-ea"/>
              </a:rPr>
              <a:t>참아야지</a:t>
            </a:r>
            <a:r>
              <a:rPr lang="ko-KR" altLang="en-US" sz="1600" dirty="0">
                <a:latin typeface="+mj-ea"/>
                <a:ea typeface="+mj-ea"/>
              </a:rPr>
              <a:t>” 선호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r>
              <a:rPr lang="ko-KR" altLang="en-US" sz="1600" dirty="0">
                <a:latin typeface="+mj-ea"/>
                <a:ea typeface="+mj-ea"/>
              </a:rPr>
              <a:t>교육관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정서보다는 ‘예절’</a:t>
            </a:r>
            <a:r>
              <a:rPr lang="en-US" altLang="ko-KR" sz="1600" dirty="0">
                <a:latin typeface="+mj-ea"/>
                <a:ea typeface="+mj-ea"/>
              </a:rPr>
              <a:t>, ‘</a:t>
            </a:r>
            <a:r>
              <a:rPr lang="ko-KR" altLang="en-US" sz="1600" dirty="0">
                <a:latin typeface="+mj-ea"/>
                <a:ea typeface="+mj-ea"/>
              </a:rPr>
              <a:t>성실함’</a:t>
            </a:r>
            <a:r>
              <a:rPr lang="en-US" altLang="ko-KR" sz="1600" dirty="0">
                <a:latin typeface="+mj-ea"/>
                <a:ea typeface="+mj-ea"/>
              </a:rPr>
              <a:t>, ‘</a:t>
            </a:r>
            <a:r>
              <a:rPr lang="ko-KR" altLang="en-US" sz="1600" dirty="0" err="1">
                <a:latin typeface="+mj-ea"/>
                <a:ea typeface="+mj-ea"/>
              </a:rPr>
              <a:t>질서’를</a:t>
            </a:r>
            <a:r>
              <a:rPr lang="ko-KR" altLang="en-US" sz="1600" dirty="0">
                <a:latin typeface="+mj-ea"/>
                <a:ea typeface="+mj-ea"/>
              </a:rPr>
              <a:t> 강조하지만 감정교육에 흥미 있음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양육 방식의 차이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딸이 정서교육을 중시하는 것을 보며 다소 의아해함</a:t>
            </a:r>
            <a:r>
              <a:rPr lang="en-US" altLang="ko-KR" sz="1600" dirty="0">
                <a:latin typeface="+mj-ea"/>
                <a:ea typeface="+mj-ea"/>
              </a:rPr>
              <a:t>,</a:t>
            </a:r>
            <a:r>
              <a:rPr lang="ko-KR" altLang="en-US" sz="1600" dirty="0">
                <a:latin typeface="+mj-ea"/>
                <a:ea typeface="+mj-ea"/>
              </a:rPr>
              <a:t> 정서교육을 존중하긴 하지만 방법은 잘 모름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손녀와의 관계에서 정서 공감은 어색하지만 시도하려 함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주말 활동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간단한 산책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동화책 읽기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간식 만들기 등 실생활 기반 놀이 선호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B7F6EB-AA36-4E22-BB4C-200594D6E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221" y="1676400"/>
            <a:ext cx="3160034" cy="314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6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0D3F37E-D9D4-463B-A920-E17AF50BA4CA}"/>
              </a:ext>
            </a:extLst>
          </p:cNvPr>
          <p:cNvSpPr/>
          <p:nvPr/>
        </p:nvSpPr>
        <p:spPr>
          <a:xfrm>
            <a:off x="1232038" y="2230485"/>
            <a:ext cx="1218634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가정환경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엄마와 대화 시간이 부족해 감정 표현을 배울 기회가 적음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양육간 차이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할머니는 감정표현보다 인내와 예절을 중시함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놀이 공간 부적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집에 감정표현을 할 수 있는 자유 공간이 없음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학교내 정서교육 부제정서 표현보다는 학습 위주의 커리큘럼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정서 교육 콘텐츠에 대한 사회적 인식부족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감정교육에 대한 인식이 낮아 놀이나 캐릭터 활동이 ‘부가적 ’으로  </a:t>
            </a:r>
            <a:r>
              <a:rPr lang="ko-KR" altLang="en-US" dirty="0" err="1">
                <a:latin typeface="+mj-ea"/>
                <a:ea typeface="+mj-ea"/>
              </a:rPr>
              <a:t>여겨짐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776ABD-ADE9-4634-AC63-09A14B455EF7}"/>
              </a:ext>
            </a:extLst>
          </p:cNvPr>
          <p:cNvSpPr/>
          <p:nvPr/>
        </p:nvSpPr>
        <p:spPr>
          <a:xfrm>
            <a:off x="1232038" y="4604975"/>
            <a:ext cx="885530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정서 소통의 기회제공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가족과 함께 감정 표현 놀이를 할 수 있는 구조 제시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놀이형 활동을 통한 접근성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글이 서툴러도 스티커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그림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카드 등으로 감정 표현 가능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가정 내 활동 가능한 콘텐츠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거창한 교육이 아니라 ‘일상 속 </a:t>
            </a:r>
            <a:r>
              <a:rPr lang="en-US" altLang="ko-KR" dirty="0">
                <a:latin typeface="+mj-ea"/>
                <a:ea typeface="+mj-ea"/>
              </a:rPr>
              <a:t>10</a:t>
            </a:r>
            <a:r>
              <a:rPr lang="ko-KR" altLang="en-US" dirty="0">
                <a:latin typeface="+mj-ea"/>
                <a:ea typeface="+mj-ea"/>
              </a:rPr>
              <a:t>분’ 놀이로 구성됨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비 언어적 접근 포함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말이 아닌 그림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색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표정 등 시각자료 중심 콘텐츠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세대 통합형 구성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할머니도 함께 참여할 수 있도록 큼직한 글씨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설명 카드 등 포함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학교 및 </a:t>
            </a:r>
            <a:r>
              <a:rPr lang="ko-KR" altLang="en-US" dirty="0" err="1">
                <a:latin typeface="+mj-ea"/>
                <a:ea typeface="+mj-ea"/>
              </a:rPr>
              <a:t>기간연게</a:t>
            </a:r>
            <a:r>
              <a:rPr lang="ko-KR" altLang="en-US" dirty="0">
                <a:latin typeface="+mj-ea"/>
                <a:ea typeface="+mj-ea"/>
              </a:rPr>
              <a:t> 가능성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담임교사 또는 지역아동센터와 연계 시 효과 확대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1EDCC2-B82B-4CE8-94B1-DF1AEAD5EA77}"/>
              </a:ext>
            </a:extLst>
          </p:cNvPr>
          <p:cNvSpPr/>
          <p:nvPr/>
        </p:nvSpPr>
        <p:spPr>
          <a:xfrm>
            <a:off x="1232038" y="6933079"/>
            <a:ext cx="1497519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문제 경험 영역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 감정 인식 및 표현의 어려움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“그냥 싫었어요”</a:t>
            </a:r>
            <a:r>
              <a:rPr lang="en-US" altLang="ko-KR" sz="1600" dirty="0">
                <a:latin typeface="+mj-ea"/>
                <a:ea typeface="+mj-ea"/>
              </a:rPr>
              <a:t>, “</a:t>
            </a:r>
            <a:r>
              <a:rPr lang="ko-KR" altLang="en-US" sz="1600" dirty="0">
                <a:latin typeface="+mj-ea"/>
                <a:ea typeface="+mj-ea"/>
              </a:rPr>
              <a:t>왜 울었는지 </a:t>
            </a:r>
            <a:r>
              <a:rPr lang="ko-KR" altLang="en-US" sz="1600" dirty="0" err="1">
                <a:latin typeface="+mj-ea"/>
                <a:ea typeface="+mj-ea"/>
              </a:rPr>
              <a:t>모르겠어요</a:t>
            </a:r>
            <a:r>
              <a:rPr lang="ko-KR" altLang="en-US" sz="1600" dirty="0">
                <a:latin typeface="+mj-ea"/>
                <a:ea typeface="+mj-ea"/>
              </a:rPr>
              <a:t>”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r>
              <a:rPr lang="ko-KR" altLang="en-US" sz="1600" dirty="0">
                <a:latin typeface="+mj-ea"/>
                <a:ea typeface="+mj-ea"/>
              </a:rPr>
              <a:t>표현 방식	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말보다는 행동이나 그림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침묵으로 표현	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억지 웃음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자리 피하기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그림일기 속  표현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r>
              <a:rPr lang="ko-KR" altLang="en-US" sz="1600" dirty="0">
                <a:latin typeface="+mj-ea"/>
                <a:ea typeface="+mj-ea"/>
              </a:rPr>
              <a:t>관계 내 행동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친구와 갈등 시 대면보다 회피 선택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“그냥 내가 참으면 돼요”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r>
              <a:rPr lang="ko-KR" altLang="en-US" sz="1600" dirty="0">
                <a:latin typeface="+mj-ea"/>
                <a:ea typeface="+mj-ea"/>
              </a:rPr>
              <a:t>감정 어휘 부족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>
                <a:latin typeface="+mj-ea"/>
                <a:ea typeface="+mj-ea"/>
              </a:rPr>
              <a:t>슬픔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짜증 정도의 단어만 사용복합 감정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억울함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민망함 등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r>
              <a:rPr lang="ko-KR" altLang="en-US" sz="1600" dirty="0">
                <a:latin typeface="+mj-ea"/>
                <a:ea typeface="+mj-ea"/>
              </a:rPr>
              <a:t>을 설명하지 못함 눈치 보는 경향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주변 반응에 민감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자기 감정보다 타인의 감정에 우선 반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“엄마가 피곤해 보여서 그냥 말 안 했어요”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자기표현 위축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감정을 정확히 알더라도 말하지 </a:t>
            </a:r>
            <a:r>
              <a:rPr lang="ko-KR" altLang="en-US" sz="1600" dirty="0" err="1">
                <a:latin typeface="+mj-ea"/>
                <a:ea typeface="+mj-ea"/>
              </a:rPr>
              <a:t>않음표현해도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ko-KR" altLang="en-US" sz="1600" dirty="0" err="1">
                <a:latin typeface="+mj-ea"/>
                <a:ea typeface="+mj-ea"/>
              </a:rPr>
              <a:t>공감받지</a:t>
            </a:r>
            <a:r>
              <a:rPr lang="ko-KR" altLang="en-US" sz="1600" dirty="0">
                <a:latin typeface="+mj-ea"/>
                <a:ea typeface="+mj-ea"/>
              </a:rPr>
              <a:t> 못할까 봐 두려움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대화 경험의 부족가족과 감정에 대한 대화가 부족하거나 일방적임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“</a:t>
            </a:r>
            <a:r>
              <a:rPr lang="ko-KR" altLang="en-US" sz="1600" dirty="0" err="1">
                <a:latin typeface="+mj-ea"/>
                <a:ea typeface="+mj-ea"/>
              </a:rPr>
              <a:t>속상했어</a:t>
            </a:r>
            <a:r>
              <a:rPr lang="en-US" altLang="ko-KR" sz="1600" dirty="0">
                <a:latin typeface="+mj-ea"/>
                <a:ea typeface="+mj-ea"/>
              </a:rPr>
              <a:t>? → </a:t>
            </a:r>
            <a:r>
              <a:rPr lang="ko-KR" altLang="en-US" sz="1600" dirty="0">
                <a:latin typeface="+mj-ea"/>
                <a:ea typeface="+mj-ea"/>
              </a:rPr>
              <a:t>그럴 수도 있지”로 끝나는 대화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r>
              <a:rPr lang="ko-KR" altLang="en-US" sz="1600" dirty="0">
                <a:latin typeface="+mj-ea"/>
                <a:ea typeface="+mj-ea"/>
              </a:rPr>
              <a:t>내면의 욕구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“나도 내 마음을 알고 싶고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말하고 싶어요”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감정을 표현해보고 싶지만 방법을 모름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endParaRPr lang="ko-KR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812</Words>
  <Application>Microsoft Office PowerPoint</Application>
  <PresentationFormat>사용자 지정</PresentationFormat>
  <Paragraphs>84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지은 구</cp:lastModifiedBy>
  <cp:revision>21</cp:revision>
  <cp:lastPrinted>2025-04-19T10:17:34Z</cp:lastPrinted>
  <dcterms:created xsi:type="dcterms:W3CDTF">2025-04-11T08:42:54Z</dcterms:created>
  <dcterms:modified xsi:type="dcterms:W3CDTF">2025-04-19T14:31:37Z</dcterms:modified>
</cp:coreProperties>
</file>