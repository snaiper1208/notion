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7416800" cy="4178300"/>
  <p:notesSz cx="7416800" cy="4178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89E9F2-8D3B-40F9-91FA-7CC150E18760}" v="7" dt="2025-04-19T09:11:57.7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2" d="100"/>
          <a:sy n="162" d="100"/>
        </p:scale>
        <p:origin x="156" y="1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260" y="1295273"/>
            <a:ext cx="6304280" cy="877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 u="sng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12520" y="2339848"/>
            <a:ext cx="5191760" cy="1044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 u="sng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 u="sng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0840" y="961009"/>
            <a:ext cx="3226308" cy="27576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19652" y="961009"/>
            <a:ext cx="3226308" cy="27576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 u="sng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6203" y="423415"/>
            <a:ext cx="2499360" cy="35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 u="sng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0840" y="961009"/>
            <a:ext cx="6675120" cy="27576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21712" y="3885819"/>
            <a:ext cx="2373376" cy="208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0840" y="3885819"/>
            <a:ext cx="1705864" cy="208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40096" y="3885819"/>
            <a:ext cx="1705864" cy="208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" y="0"/>
            <a:ext cx="7415276" cy="4178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26833" y="970198"/>
            <a:ext cx="3577590" cy="7316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Malgun Gothic"/>
                <a:cs typeface="Malgun Gothic"/>
              </a:rPr>
              <a:t>반려동물</a:t>
            </a:r>
            <a:r>
              <a:rPr sz="750" dirty="0">
                <a:latin typeface="Calibri"/>
                <a:cs typeface="Calibri"/>
              </a:rPr>
              <a:t>:</a:t>
            </a:r>
            <a:r>
              <a:rPr sz="750" spc="25" dirty="0">
                <a:latin typeface="Calibri"/>
                <a:cs typeface="Calibri"/>
              </a:rPr>
              <a:t> </a:t>
            </a:r>
            <a:r>
              <a:rPr lang="en-US" sz="750" spc="-10" dirty="0">
                <a:latin typeface="Calibri"/>
                <a:cs typeface="Calibri"/>
              </a:rPr>
              <a:t>10</a:t>
            </a:r>
            <a:r>
              <a:rPr sz="750" spc="-10" dirty="0">
                <a:latin typeface="Malgun Gothic"/>
                <a:cs typeface="Malgun Gothic"/>
              </a:rPr>
              <a:t>살</a:t>
            </a:r>
            <a:r>
              <a:rPr sz="750" spc="-80" dirty="0">
                <a:latin typeface="Malgun Gothic"/>
                <a:cs typeface="Malgun Gothic"/>
              </a:rPr>
              <a:t> </a:t>
            </a:r>
            <a:r>
              <a:rPr sz="750" dirty="0">
                <a:latin typeface="Malgun Gothic"/>
                <a:cs typeface="Malgun Gothic"/>
              </a:rPr>
              <a:t>된</a:t>
            </a:r>
            <a:r>
              <a:rPr sz="750" spc="-80" dirty="0">
                <a:latin typeface="Malgun Gothic"/>
                <a:cs typeface="Malgun Gothic"/>
              </a:rPr>
              <a:t> </a:t>
            </a:r>
            <a:r>
              <a:rPr lang="ko-KR" altLang="en-US" sz="750" spc="-80" dirty="0" err="1">
                <a:latin typeface="Malgun Gothic"/>
                <a:cs typeface="Malgun Gothic"/>
              </a:rPr>
              <a:t>포메라니안</a:t>
            </a:r>
            <a:r>
              <a:rPr lang="ko-KR" altLang="en-US" sz="750" spc="-80" dirty="0">
                <a:latin typeface="Malgun Gothic"/>
                <a:cs typeface="Malgun Gothic"/>
              </a:rPr>
              <a:t> </a:t>
            </a:r>
            <a:r>
              <a:rPr sz="750" spc="-60" dirty="0">
                <a:latin typeface="Malgun Gothic"/>
                <a:cs typeface="Malgun Gothic"/>
              </a:rPr>
              <a:t> </a:t>
            </a:r>
            <a:r>
              <a:rPr lang="ko-KR" altLang="en-US" sz="750" dirty="0">
                <a:latin typeface="Calibri"/>
                <a:cs typeface="Calibri"/>
              </a:rPr>
              <a:t>＇</a:t>
            </a:r>
            <a:r>
              <a:rPr lang="ko-KR" altLang="en-US" sz="750" dirty="0" err="1">
                <a:latin typeface="Malgun Gothic"/>
                <a:cs typeface="Calibri"/>
              </a:rPr>
              <a:t>뽀미</a:t>
            </a:r>
            <a:r>
              <a:rPr sz="750" dirty="0">
                <a:latin typeface="Calibri"/>
                <a:cs typeface="Calibri"/>
              </a:rPr>
              <a:t>＇</a:t>
            </a:r>
            <a:r>
              <a:rPr sz="750" dirty="0">
                <a:latin typeface="Malgun Gothic"/>
                <a:cs typeface="Malgun Gothic"/>
              </a:rPr>
              <a:t>와</a:t>
            </a:r>
            <a:r>
              <a:rPr sz="750" spc="-80" dirty="0">
                <a:latin typeface="Malgun Gothic"/>
                <a:cs typeface="Malgun Gothic"/>
              </a:rPr>
              <a:t> </a:t>
            </a:r>
            <a:r>
              <a:rPr sz="750" dirty="0" err="1">
                <a:latin typeface="Malgun Gothic"/>
                <a:cs typeface="Malgun Gothic"/>
              </a:rPr>
              <a:t>함께</a:t>
            </a:r>
            <a:r>
              <a:rPr sz="750" spc="-80" dirty="0">
                <a:latin typeface="Malgun Gothic"/>
                <a:cs typeface="Malgun Gothic"/>
              </a:rPr>
              <a:t> </a:t>
            </a:r>
            <a:r>
              <a:rPr lang="ko-KR" altLang="en-US" sz="750" spc="-25" dirty="0">
                <a:latin typeface="Malgun Gothic"/>
                <a:cs typeface="Malgun Gothic"/>
              </a:rPr>
              <a:t>살고 있음</a:t>
            </a:r>
            <a:endParaRPr lang="en-US" altLang="ko-KR" sz="750" spc="-25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 err="1">
                <a:latin typeface="Malgun Gothic"/>
                <a:cs typeface="Malgun Gothic"/>
              </a:rPr>
              <a:t>라이프스타일</a:t>
            </a:r>
            <a:r>
              <a:rPr sz="750" dirty="0">
                <a:latin typeface="Calibri"/>
                <a:cs typeface="Calibri"/>
              </a:rPr>
              <a:t>:</a:t>
            </a:r>
            <a:r>
              <a:rPr sz="750" spc="15" dirty="0">
                <a:latin typeface="Calibri"/>
                <a:cs typeface="Calibri"/>
              </a:rPr>
              <a:t> </a:t>
            </a:r>
            <a:r>
              <a:rPr lang="ko-KR" altLang="en-US" sz="750" dirty="0" err="1">
                <a:latin typeface="Malgun Gothic"/>
                <a:cs typeface="Malgun Gothic"/>
              </a:rPr>
              <a:t>노견의</a:t>
            </a:r>
            <a:r>
              <a:rPr lang="ko-KR" altLang="en-US" sz="750" dirty="0">
                <a:latin typeface="Malgun Gothic"/>
                <a:cs typeface="Malgun Gothic"/>
              </a:rPr>
              <a:t> 건강을 생각해서 </a:t>
            </a:r>
            <a:r>
              <a:rPr lang="en-US" altLang="ko-KR" sz="750" dirty="0">
                <a:latin typeface="Malgun Gothic"/>
                <a:cs typeface="Malgun Gothic"/>
              </a:rPr>
              <a:t>2</a:t>
            </a:r>
            <a:r>
              <a:rPr lang="ko-KR" altLang="en-US" sz="750" dirty="0">
                <a:latin typeface="Malgun Gothic"/>
                <a:cs typeface="Malgun Gothic"/>
              </a:rPr>
              <a:t>일에 한번씩 주변 산책</a:t>
            </a:r>
            <a:r>
              <a:rPr lang="en-US" altLang="ko-KR" sz="750" dirty="0">
                <a:latin typeface="Malgun Gothic"/>
                <a:cs typeface="Malgun Gothic"/>
              </a:rPr>
              <a:t>, </a:t>
            </a:r>
            <a:r>
              <a:rPr lang="ko-KR" altLang="en-US" sz="750" dirty="0">
                <a:latin typeface="Malgun Gothic"/>
                <a:cs typeface="Malgun Gothic"/>
              </a:rPr>
              <a:t>주기적으로 건강에 </a:t>
            </a:r>
            <a:endParaRPr lang="en-US" altLang="ko-KR" sz="75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dirty="0">
                <a:latin typeface="Malgun Gothic"/>
                <a:cs typeface="Malgun Gothic"/>
              </a:rPr>
              <a:t>좋은 영양제를 구매하고 반려견의 건강 관련 정보를 </a:t>
            </a:r>
            <a:r>
              <a:rPr lang="ko-KR" altLang="en-US" sz="750" dirty="0" err="1">
                <a:latin typeface="Malgun Gothic"/>
                <a:cs typeface="Malgun Gothic"/>
              </a:rPr>
              <a:t>찾아보는것이</a:t>
            </a:r>
            <a:r>
              <a:rPr lang="ko-KR" altLang="en-US" sz="750" dirty="0">
                <a:latin typeface="Malgun Gothic"/>
                <a:cs typeface="Malgun Gothic"/>
              </a:rPr>
              <a:t> 일상임</a:t>
            </a:r>
            <a:r>
              <a:rPr lang="en-US" altLang="ko-KR" sz="750" dirty="0">
                <a:latin typeface="Malgun Gothic"/>
                <a:cs typeface="Malgun Gothic"/>
              </a:rPr>
              <a:t> </a:t>
            </a:r>
            <a:endParaRPr sz="750" dirty="0">
              <a:latin typeface="Malgun Gothic"/>
              <a:cs typeface="Malgun Gothic"/>
            </a:endParaRPr>
          </a:p>
          <a:p>
            <a:pPr marL="12700" marR="56515">
              <a:lnSpc>
                <a:spcPts val="910"/>
              </a:lnSpc>
              <a:spcBef>
                <a:spcPts val="5"/>
              </a:spcBef>
            </a:pPr>
            <a:r>
              <a:rPr sz="750" dirty="0">
                <a:latin typeface="Malgun Gothic"/>
                <a:cs typeface="Malgun Gothic"/>
              </a:rPr>
              <a:t>소비</a:t>
            </a:r>
            <a:r>
              <a:rPr sz="750" spc="-85" dirty="0">
                <a:latin typeface="Malgun Gothic"/>
                <a:cs typeface="Malgun Gothic"/>
              </a:rPr>
              <a:t> </a:t>
            </a:r>
            <a:r>
              <a:rPr sz="750" dirty="0">
                <a:latin typeface="Malgun Gothic"/>
                <a:cs typeface="Malgun Gothic"/>
              </a:rPr>
              <a:t>성향</a:t>
            </a:r>
            <a:r>
              <a:rPr sz="750" dirty="0">
                <a:latin typeface="Calibri"/>
                <a:cs typeface="Calibri"/>
              </a:rPr>
              <a:t>:</a:t>
            </a:r>
            <a:r>
              <a:rPr sz="750" spc="10" dirty="0">
                <a:latin typeface="Calibri"/>
                <a:cs typeface="Calibri"/>
              </a:rPr>
              <a:t> </a:t>
            </a:r>
            <a:r>
              <a:rPr lang="ko-KR" altLang="en-US" sz="750" dirty="0">
                <a:latin typeface="Malgun Gothic"/>
                <a:cs typeface="Malgun Gothic"/>
              </a:rPr>
              <a:t>비용이 들더라도 건강에 좋은 영양제</a:t>
            </a:r>
            <a:r>
              <a:rPr lang="en-US" altLang="ko-KR" sz="750" dirty="0">
                <a:latin typeface="Malgun Gothic"/>
                <a:cs typeface="Malgun Gothic"/>
              </a:rPr>
              <a:t> </a:t>
            </a:r>
            <a:r>
              <a:rPr lang="ko-KR" altLang="en-US" sz="750" dirty="0">
                <a:latin typeface="Malgun Gothic"/>
                <a:cs typeface="Malgun Gothic"/>
              </a:rPr>
              <a:t>구매</a:t>
            </a:r>
            <a:r>
              <a:rPr lang="en-US" altLang="ko-KR" sz="750" dirty="0">
                <a:latin typeface="Malgun Gothic"/>
                <a:cs typeface="Malgun Gothic"/>
              </a:rPr>
              <a:t>, </a:t>
            </a:r>
            <a:r>
              <a:rPr lang="ko-KR" altLang="en-US" sz="750" dirty="0">
                <a:latin typeface="Malgun Gothic"/>
                <a:cs typeface="Malgun Gothic"/>
              </a:rPr>
              <a:t>아이의 상황을 수시로 체크하고 이상 증상 발생시 주변 지인에게 문의</a:t>
            </a:r>
            <a:r>
              <a:rPr lang="en-US" altLang="ko-KR" sz="750" dirty="0">
                <a:latin typeface="Malgun Gothic"/>
                <a:cs typeface="Malgun Gothic"/>
              </a:rPr>
              <a:t>. </a:t>
            </a:r>
            <a:r>
              <a:rPr lang="ko-KR" altLang="en-US" sz="750" dirty="0">
                <a:latin typeface="Malgun Gothic"/>
                <a:cs typeface="Malgun Gothic"/>
              </a:rPr>
              <a:t>전문가 상담은 어려워서 자가 체크 가능한 건강 관련 제품을 다양하게 구매하여 사용중임</a:t>
            </a:r>
            <a:endParaRPr sz="750" dirty="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3824" y="780986"/>
            <a:ext cx="560070" cy="128270"/>
            <a:chOff x="473824" y="780986"/>
            <a:chExt cx="560070" cy="128270"/>
          </a:xfrm>
        </p:grpSpPr>
        <p:sp>
          <p:nvSpPr>
            <p:cNvPr id="6" name="object 6"/>
            <p:cNvSpPr/>
            <p:nvPr/>
          </p:nvSpPr>
          <p:spPr>
            <a:xfrm>
              <a:off x="476859" y="784034"/>
              <a:ext cx="553720" cy="121920"/>
            </a:xfrm>
            <a:custGeom>
              <a:avLst/>
              <a:gdLst/>
              <a:ahLst/>
              <a:cxnLst/>
              <a:rect l="l" t="t" r="r" b="b"/>
              <a:pathLst>
                <a:path w="553719" h="121919">
                  <a:moveTo>
                    <a:pt x="553681" y="0"/>
                  </a:moveTo>
                  <a:lnTo>
                    <a:pt x="0" y="0"/>
                  </a:lnTo>
                  <a:lnTo>
                    <a:pt x="0" y="121907"/>
                  </a:lnTo>
                  <a:lnTo>
                    <a:pt x="553681" y="121907"/>
                  </a:lnTo>
                  <a:lnTo>
                    <a:pt x="553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3824" y="780986"/>
              <a:ext cx="560070" cy="128270"/>
            </a:xfrm>
            <a:custGeom>
              <a:avLst/>
              <a:gdLst/>
              <a:ahLst/>
              <a:cxnLst/>
              <a:rect l="l" t="t" r="r" b="b"/>
              <a:pathLst>
                <a:path w="560069" h="128269">
                  <a:moveTo>
                    <a:pt x="559765" y="0"/>
                  </a:moveTo>
                  <a:lnTo>
                    <a:pt x="0" y="0"/>
                  </a:lnTo>
                  <a:lnTo>
                    <a:pt x="0" y="128092"/>
                  </a:lnTo>
                  <a:lnTo>
                    <a:pt x="559765" y="128092"/>
                  </a:lnTo>
                  <a:lnTo>
                    <a:pt x="559765" y="124955"/>
                  </a:lnTo>
                  <a:lnTo>
                    <a:pt x="6083" y="124955"/>
                  </a:lnTo>
                  <a:lnTo>
                    <a:pt x="3035" y="121907"/>
                  </a:lnTo>
                  <a:lnTo>
                    <a:pt x="6083" y="121907"/>
                  </a:lnTo>
                  <a:lnTo>
                    <a:pt x="6083" y="6184"/>
                  </a:lnTo>
                  <a:lnTo>
                    <a:pt x="3035" y="6184"/>
                  </a:lnTo>
                  <a:lnTo>
                    <a:pt x="6083" y="3048"/>
                  </a:lnTo>
                  <a:lnTo>
                    <a:pt x="559765" y="3048"/>
                  </a:lnTo>
                  <a:lnTo>
                    <a:pt x="559765" y="0"/>
                  </a:lnTo>
                  <a:close/>
                </a:path>
                <a:path w="560069" h="128269">
                  <a:moveTo>
                    <a:pt x="6083" y="121907"/>
                  </a:moveTo>
                  <a:lnTo>
                    <a:pt x="3035" y="121907"/>
                  </a:lnTo>
                  <a:lnTo>
                    <a:pt x="6083" y="124955"/>
                  </a:lnTo>
                  <a:lnTo>
                    <a:pt x="6083" y="121907"/>
                  </a:lnTo>
                  <a:close/>
                </a:path>
                <a:path w="560069" h="128269">
                  <a:moveTo>
                    <a:pt x="553681" y="121907"/>
                  </a:moveTo>
                  <a:lnTo>
                    <a:pt x="6083" y="121907"/>
                  </a:lnTo>
                  <a:lnTo>
                    <a:pt x="6083" y="124955"/>
                  </a:lnTo>
                  <a:lnTo>
                    <a:pt x="553681" y="124955"/>
                  </a:lnTo>
                  <a:lnTo>
                    <a:pt x="553681" y="121907"/>
                  </a:lnTo>
                  <a:close/>
                </a:path>
                <a:path w="560069" h="128269">
                  <a:moveTo>
                    <a:pt x="553681" y="3048"/>
                  </a:moveTo>
                  <a:lnTo>
                    <a:pt x="553681" y="124955"/>
                  </a:lnTo>
                  <a:lnTo>
                    <a:pt x="556717" y="121907"/>
                  </a:lnTo>
                  <a:lnTo>
                    <a:pt x="559765" y="121907"/>
                  </a:lnTo>
                  <a:lnTo>
                    <a:pt x="559765" y="6184"/>
                  </a:lnTo>
                  <a:lnTo>
                    <a:pt x="556717" y="6184"/>
                  </a:lnTo>
                  <a:lnTo>
                    <a:pt x="553681" y="3048"/>
                  </a:lnTo>
                  <a:close/>
                </a:path>
                <a:path w="560069" h="128269">
                  <a:moveTo>
                    <a:pt x="559765" y="121907"/>
                  </a:moveTo>
                  <a:lnTo>
                    <a:pt x="556717" y="121907"/>
                  </a:lnTo>
                  <a:lnTo>
                    <a:pt x="553681" y="124955"/>
                  </a:lnTo>
                  <a:lnTo>
                    <a:pt x="559765" y="124955"/>
                  </a:lnTo>
                  <a:lnTo>
                    <a:pt x="559765" y="121907"/>
                  </a:lnTo>
                  <a:close/>
                </a:path>
                <a:path w="560069" h="128269">
                  <a:moveTo>
                    <a:pt x="6083" y="3048"/>
                  </a:moveTo>
                  <a:lnTo>
                    <a:pt x="3035" y="6184"/>
                  </a:lnTo>
                  <a:lnTo>
                    <a:pt x="6083" y="6184"/>
                  </a:lnTo>
                  <a:lnTo>
                    <a:pt x="6083" y="3048"/>
                  </a:lnTo>
                  <a:close/>
                </a:path>
                <a:path w="560069" h="128269">
                  <a:moveTo>
                    <a:pt x="553681" y="3048"/>
                  </a:moveTo>
                  <a:lnTo>
                    <a:pt x="6083" y="3048"/>
                  </a:lnTo>
                  <a:lnTo>
                    <a:pt x="6083" y="6184"/>
                  </a:lnTo>
                  <a:lnTo>
                    <a:pt x="553681" y="6184"/>
                  </a:lnTo>
                  <a:lnTo>
                    <a:pt x="553681" y="3048"/>
                  </a:lnTo>
                  <a:close/>
                </a:path>
                <a:path w="560069" h="128269">
                  <a:moveTo>
                    <a:pt x="559765" y="3048"/>
                  </a:moveTo>
                  <a:lnTo>
                    <a:pt x="553681" y="3048"/>
                  </a:lnTo>
                  <a:lnTo>
                    <a:pt x="556717" y="6184"/>
                  </a:lnTo>
                  <a:lnTo>
                    <a:pt x="559765" y="6184"/>
                  </a:lnTo>
                  <a:lnTo>
                    <a:pt x="559765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3824" y="780986"/>
              <a:ext cx="560070" cy="128270"/>
            </a:xfrm>
            <a:custGeom>
              <a:avLst/>
              <a:gdLst/>
              <a:ahLst/>
              <a:cxnLst/>
              <a:rect l="l" t="t" r="r" b="b"/>
              <a:pathLst>
                <a:path w="560069" h="128269">
                  <a:moveTo>
                    <a:pt x="0" y="0"/>
                  </a:moveTo>
                  <a:lnTo>
                    <a:pt x="559765" y="0"/>
                  </a:lnTo>
                  <a:lnTo>
                    <a:pt x="559765" y="128092"/>
                  </a:lnTo>
                  <a:lnTo>
                    <a:pt x="0" y="128092"/>
                  </a:lnTo>
                  <a:lnTo>
                    <a:pt x="0" y="0"/>
                  </a:lnTo>
                  <a:close/>
                </a:path>
                <a:path w="560069" h="128269">
                  <a:moveTo>
                    <a:pt x="6083" y="124955"/>
                  </a:moveTo>
                  <a:lnTo>
                    <a:pt x="3035" y="121907"/>
                  </a:lnTo>
                  <a:lnTo>
                    <a:pt x="556717" y="121907"/>
                  </a:lnTo>
                  <a:lnTo>
                    <a:pt x="553681" y="124955"/>
                  </a:lnTo>
                  <a:lnTo>
                    <a:pt x="553681" y="3048"/>
                  </a:lnTo>
                  <a:lnTo>
                    <a:pt x="556717" y="6184"/>
                  </a:lnTo>
                  <a:lnTo>
                    <a:pt x="3035" y="6184"/>
                  </a:lnTo>
                  <a:lnTo>
                    <a:pt x="6083" y="3048"/>
                  </a:lnTo>
                  <a:lnTo>
                    <a:pt x="6083" y="124955"/>
                  </a:lnTo>
                  <a:close/>
                </a:path>
              </a:pathLst>
            </a:custGeom>
            <a:ln w="3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32834" y="2501900"/>
            <a:ext cx="3090165" cy="5007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dirty="0">
                <a:latin typeface="Malgun Gothic"/>
                <a:cs typeface="Malgun Gothic"/>
              </a:rPr>
              <a:t>반려견을 가족으로 생각하기 때문에 급식</a:t>
            </a:r>
            <a:r>
              <a:rPr lang="en-US" altLang="ko-KR" sz="750" dirty="0">
                <a:latin typeface="Malgun Gothic"/>
                <a:cs typeface="Malgun Gothic"/>
              </a:rPr>
              <a:t>, </a:t>
            </a:r>
            <a:r>
              <a:rPr lang="ko-KR" altLang="en-US" sz="750" dirty="0">
                <a:latin typeface="Malgun Gothic"/>
                <a:cs typeface="Malgun Gothic"/>
              </a:rPr>
              <a:t>영양제</a:t>
            </a:r>
            <a:r>
              <a:rPr lang="en-US" altLang="ko-KR" sz="750" dirty="0">
                <a:latin typeface="Malgun Gothic"/>
                <a:cs typeface="Malgun Gothic"/>
              </a:rPr>
              <a:t>, </a:t>
            </a:r>
            <a:r>
              <a:rPr lang="ko-KR" altLang="en-US" sz="750" dirty="0">
                <a:latin typeface="Malgun Gothic"/>
                <a:cs typeface="Malgun Gothic"/>
              </a:rPr>
              <a:t>이상 증상에 대한 처방약을 시간에 맞춰 줘야 한다는 걱정 스러움이 많음</a:t>
            </a:r>
            <a:r>
              <a:rPr lang="en-US" altLang="ko-KR" sz="750" dirty="0">
                <a:latin typeface="Malgun Gothic"/>
                <a:cs typeface="Malgun Gothic"/>
              </a:rPr>
              <a:t>.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75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dirty="0">
                <a:latin typeface="Malgun Gothic"/>
                <a:cs typeface="Malgun Gothic"/>
              </a:rPr>
              <a:t>반려견과 더 오랫동안 건강하게 살고 싶은 마음을 항상 가지고 있음</a:t>
            </a:r>
            <a:endParaRPr sz="750" dirty="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886" y="2501900"/>
            <a:ext cx="1835913" cy="2419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0"/>
              </a:spcBef>
            </a:pPr>
            <a:r>
              <a:rPr sz="750" dirty="0">
                <a:latin typeface="Malgun Gothic"/>
                <a:cs typeface="Malgun Gothic"/>
              </a:rPr>
              <a:t>연령</a:t>
            </a:r>
            <a:r>
              <a:rPr sz="750" spc="-75" dirty="0">
                <a:latin typeface="Malgun Gothic"/>
                <a:cs typeface="Malgun Gothic"/>
              </a:rPr>
              <a:t> </a:t>
            </a:r>
            <a:r>
              <a:rPr sz="750" dirty="0">
                <a:latin typeface="Calibri"/>
                <a:cs typeface="Calibri"/>
              </a:rPr>
              <a:t>28-</a:t>
            </a:r>
            <a:r>
              <a:rPr sz="750" spc="-25" dirty="0">
                <a:latin typeface="Calibri"/>
                <a:cs typeface="Calibri"/>
              </a:rPr>
              <a:t>39</a:t>
            </a:r>
            <a:r>
              <a:rPr sz="750" spc="-25" dirty="0">
                <a:latin typeface="Malgun Gothic"/>
                <a:cs typeface="Malgun Gothic"/>
              </a:rPr>
              <a:t>세 </a:t>
            </a:r>
            <a:r>
              <a:rPr lang="en-US" sz="750" dirty="0">
                <a:latin typeface="Malgun Gothic"/>
                <a:cs typeface="Malgun Gothic"/>
              </a:rPr>
              <a:t>10</a:t>
            </a:r>
            <a:r>
              <a:rPr lang="ko-KR" altLang="en-US" sz="750" dirty="0">
                <a:latin typeface="Malgun Gothic"/>
                <a:cs typeface="Malgun Gothic"/>
              </a:rPr>
              <a:t>살 이상 되는 </a:t>
            </a:r>
            <a:r>
              <a:rPr lang="ko-KR" altLang="en-US" sz="750" dirty="0" err="1">
                <a:latin typeface="Malgun Gothic"/>
                <a:cs typeface="Malgun Gothic"/>
              </a:rPr>
              <a:t>노견을</a:t>
            </a:r>
            <a:r>
              <a:rPr lang="ko-KR" altLang="en-US" sz="750" dirty="0">
                <a:latin typeface="Malgun Gothic"/>
                <a:cs typeface="Malgun Gothic"/>
              </a:rPr>
              <a:t> 키우는 </a:t>
            </a:r>
            <a:r>
              <a:rPr sz="750" dirty="0">
                <a:latin typeface="Calibri"/>
                <a:cs typeface="Calibri"/>
              </a:rPr>
              <a:t>1</a:t>
            </a:r>
            <a:r>
              <a:rPr sz="750" dirty="0">
                <a:latin typeface="Malgun Gothic"/>
                <a:cs typeface="Malgun Gothic"/>
              </a:rPr>
              <a:t>인</a:t>
            </a:r>
            <a:r>
              <a:rPr sz="750" spc="-85" dirty="0">
                <a:latin typeface="Malgun Gothic"/>
                <a:cs typeface="Malgun Gothic"/>
              </a:rPr>
              <a:t> </a:t>
            </a:r>
            <a:r>
              <a:rPr sz="750" dirty="0" err="1">
                <a:latin typeface="Malgun Gothic"/>
                <a:cs typeface="Malgun Gothic"/>
              </a:rPr>
              <a:t>가구</a:t>
            </a:r>
            <a:endParaRPr sz="750" dirty="0">
              <a:latin typeface="Malgun Gothic"/>
              <a:cs typeface="Malgun Gothic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9CDCA43-B677-F793-900A-C24E7C4CC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80" y="752269"/>
            <a:ext cx="853440" cy="12457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" y="0"/>
            <a:ext cx="7415276" cy="4178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4183" y="1058672"/>
            <a:ext cx="1753617" cy="3853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ko-KR" sz="750" spc="-10" dirty="0">
                <a:latin typeface="Calibri"/>
                <a:cs typeface="Calibri"/>
              </a:rPr>
              <a:t>(</a:t>
            </a:r>
            <a:r>
              <a:rPr lang="ko-KR" altLang="en-US" sz="750" spc="-10" dirty="0" err="1">
                <a:latin typeface="Calibri"/>
                <a:cs typeface="Calibri"/>
              </a:rPr>
              <a:t>반려견</a:t>
            </a:r>
            <a:r>
              <a:rPr lang="en-US" altLang="ko-KR" sz="750" spc="-10" dirty="0">
                <a:latin typeface="Calibri"/>
                <a:cs typeface="Calibri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spc="-10" dirty="0">
                <a:latin typeface="Calibri"/>
                <a:cs typeface="Calibri"/>
              </a:rPr>
              <a:t>제때 못 먹거나 과식</a:t>
            </a:r>
            <a:r>
              <a:rPr lang="en-US" altLang="ko-KR" sz="750" spc="-10" dirty="0">
                <a:latin typeface="Calibri"/>
                <a:cs typeface="Calibri"/>
              </a:rPr>
              <a:t>,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spc="-10" dirty="0">
                <a:latin typeface="Calibri"/>
                <a:cs typeface="Calibri"/>
              </a:rPr>
              <a:t>치명적인 병이 있는 경우 증상 악화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183" y="1986788"/>
            <a:ext cx="1290955" cy="2571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spc="-10" dirty="0">
                <a:latin typeface="Calibri"/>
                <a:cs typeface="Calibri"/>
              </a:rPr>
              <a:t>시간에 맞게 급여</a:t>
            </a:r>
            <a:r>
              <a:rPr lang="en-US" altLang="ko-KR" sz="750" spc="-10" dirty="0">
                <a:latin typeface="Calibri"/>
                <a:cs typeface="Calibri"/>
              </a:rPr>
              <a:t>, </a:t>
            </a:r>
            <a:r>
              <a:rPr lang="ko-KR" altLang="en-US" sz="750" spc="-10" dirty="0">
                <a:latin typeface="Calibri"/>
                <a:cs typeface="Calibri"/>
              </a:rPr>
              <a:t>약 제공</a:t>
            </a:r>
            <a:endParaRPr lang="en-US" altLang="ko-KR" sz="75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dirty="0">
                <a:latin typeface="Calibri"/>
                <a:cs typeface="Calibri"/>
              </a:rPr>
              <a:t>보호자에게 상황 전달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4183" y="2917951"/>
            <a:ext cx="1327150" cy="3572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2555">
              <a:lnSpc>
                <a:spcPct val="101299"/>
              </a:lnSpc>
              <a:spcBef>
                <a:spcPts val="95"/>
              </a:spcBef>
            </a:pPr>
            <a:r>
              <a:rPr lang="ko-KR" altLang="en-US" sz="750" spc="-10" dirty="0">
                <a:latin typeface="Calibri"/>
                <a:cs typeface="Calibri"/>
              </a:rPr>
              <a:t>기존 사료 급식 뿐만 아니라 약과 영양제도 함께 제공하여 자동으로 건강이 관리됨</a:t>
            </a:r>
            <a:endParaRPr sz="750" dirty="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4067" y="1058672"/>
            <a:ext cx="2225040" cy="1288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spc="-10" dirty="0">
                <a:latin typeface="Calibri"/>
                <a:cs typeface="Calibri"/>
              </a:rPr>
              <a:t>걱정</a:t>
            </a:r>
            <a:r>
              <a:rPr lang="en-US" altLang="ko-KR" sz="750" spc="-10" dirty="0">
                <a:latin typeface="Calibri"/>
                <a:cs typeface="Calibri"/>
              </a:rPr>
              <a:t>, </a:t>
            </a:r>
            <a:r>
              <a:rPr lang="ko-KR" altLang="en-US" sz="750" spc="-10" dirty="0">
                <a:latin typeface="Calibri"/>
                <a:cs typeface="Calibri"/>
              </a:rPr>
              <a:t>번거로움</a:t>
            </a:r>
            <a:r>
              <a:rPr lang="en-US" altLang="ko-KR" sz="750" spc="-10" dirty="0">
                <a:latin typeface="Calibri"/>
                <a:cs typeface="Calibri"/>
              </a:rPr>
              <a:t>, </a:t>
            </a:r>
            <a:r>
              <a:rPr lang="ko-KR" altLang="en-US" sz="750" spc="-10" dirty="0">
                <a:latin typeface="Calibri"/>
                <a:cs typeface="Calibri"/>
              </a:rPr>
              <a:t>출근 및 외출 시 불안</a:t>
            </a:r>
            <a:endParaRPr lang="ko-KR" altLang="en-US" sz="7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4066" y="2050795"/>
            <a:ext cx="2834133" cy="3853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spc="-10" dirty="0">
                <a:latin typeface="Calibri"/>
                <a:cs typeface="Calibri"/>
              </a:rPr>
              <a:t>정기적인 급식과 영양제</a:t>
            </a:r>
            <a:r>
              <a:rPr lang="en-US" altLang="ko-KR" sz="750" spc="-10" dirty="0">
                <a:latin typeface="Calibri"/>
                <a:cs typeface="Calibri"/>
              </a:rPr>
              <a:t>/</a:t>
            </a:r>
            <a:r>
              <a:rPr lang="ko-KR" altLang="en-US" sz="750" spc="-10" dirty="0">
                <a:latin typeface="Calibri"/>
                <a:cs typeface="Calibri"/>
              </a:rPr>
              <a:t>약을 함께 투여 함에 따라 번거로움 해결</a:t>
            </a:r>
            <a:endParaRPr lang="en-US" altLang="ko-KR" sz="75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spc="-10" dirty="0">
                <a:latin typeface="Calibri"/>
                <a:cs typeface="Calibri"/>
              </a:rPr>
              <a:t>상황을 수시로 온라인으로 점검</a:t>
            </a:r>
            <a:endParaRPr lang="en-US" altLang="ko-KR" sz="75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750" spc="-10" dirty="0">
                <a:latin typeface="Calibri"/>
                <a:cs typeface="Calibri"/>
              </a:rPr>
              <a:t>불안함을 해결</a:t>
            </a:r>
            <a:endParaRPr sz="750" dirty="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4066" y="2917951"/>
            <a:ext cx="2376933" cy="3597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 err="1">
                <a:latin typeface="Malgun Gothic"/>
                <a:cs typeface="Malgun Gothic"/>
              </a:rPr>
              <a:t>반려견을</a:t>
            </a:r>
            <a:r>
              <a:rPr sz="750" spc="-60" dirty="0">
                <a:latin typeface="Malgun Gothic"/>
                <a:cs typeface="Malgun Gothic"/>
              </a:rPr>
              <a:t> </a:t>
            </a:r>
            <a:r>
              <a:rPr sz="750" dirty="0" err="1">
                <a:latin typeface="Malgun Gothic"/>
                <a:cs typeface="Malgun Gothic"/>
              </a:rPr>
              <a:t>가족처럼</a:t>
            </a:r>
            <a:r>
              <a:rPr sz="750" spc="-70" dirty="0">
                <a:latin typeface="Malgun Gothic"/>
                <a:cs typeface="Malgun Gothic"/>
              </a:rPr>
              <a:t> </a:t>
            </a:r>
            <a:r>
              <a:rPr lang="ko-KR" altLang="en-US" sz="750" spc="-25" dirty="0">
                <a:latin typeface="Malgun Gothic"/>
                <a:cs typeface="Malgun Gothic"/>
              </a:rPr>
              <a:t>돌보면서 건강하게 살고 싶음</a:t>
            </a:r>
            <a:endParaRPr sz="75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ko-KR" altLang="en-US" sz="750" dirty="0">
                <a:latin typeface="Malgun Gothic"/>
                <a:cs typeface="Malgun Gothic"/>
              </a:rPr>
              <a:t>정기적으로 건강 체크 제품을 구매하여 직접 사용</a:t>
            </a:r>
            <a:endParaRPr lang="en-US" altLang="ko-KR" sz="75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ko-KR" altLang="en-US" sz="750" dirty="0">
                <a:latin typeface="Malgun Gothic"/>
                <a:cs typeface="Malgun Gothic"/>
              </a:rPr>
              <a:t>비용이 높더라도 구매하여 사용하고자 함</a:t>
            </a:r>
            <a:endParaRPr sz="7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" y="0"/>
            <a:ext cx="7415276" cy="4178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7418" y="1006855"/>
            <a:ext cx="1846582" cy="1288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 indent="-52069">
              <a:lnSpc>
                <a:spcPct val="100000"/>
              </a:lnSpc>
              <a:spcBef>
                <a:spcPts val="105"/>
              </a:spcBef>
              <a:buFont typeface="Calibri"/>
              <a:buChar char="-"/>
              <a:tabLst>
                <a:tab pos="64769" algn="l"/>
              </a:tabLst>
            </a:pPr>
            <a:r>
              <a:rPr sz="750" dirty="0" err="1">
                <a:latin typeface="Malgun Gothic"/>
                <a:cs typeface="Malgun Gothic"/>
              </a:rPr>
              <a:t>사료</a:t>
            </a:r>
            <a:r>
              <a:rPr lang="en-US" sz="750" dirty="0">
                <a:latin typeface="Malgun Gothic"/>
                <a:cs typeface="Malgun Gothic"/>
              </a:rPr>
              <a:t>/</a:t>
            </a:r>
            <a:r>
              <a:rPr lang="ko-KR" altLang="en-US" sz="750" dirty="0">
                <a:latin typeface="Malgun Gothic"/>
                <a:cs typeface="Malgun Gothic"/>
              </a:rPr>
              <a:t>영양제</a:t>
            </a:r>
            <a:r>
              <a:rPr lang="en-US" altLang="ko-KR" sz="750" dirty="0">
                <a:latin typeface="Malgun Gothic"/>
                <a:cs typeface="Malgun Gothic"/>
              </a:rPr>
              <a:t>/</a:t>
            </a:r>
            <a:r>
              <a:rPr lang="ko-KR" altLang="en-US" sz="750" dirty="0">
                <a:latin typeface="Malgun Gothic"/>
                <a:cs typeface="Malgun Gothic"/>
              </a:rPr>
              <a:t>약의 기호</a:t>
            </a:r>
            <a:r>
              <a:rPr lang="en-US" altLang="ko-KR" sz="750" dirty="0">
                <a:latin typeface="Malgun Gothic"/>
                <a:cs typeface="Malgun Gothic"/>
              </a:rPr>
              <a:t>(</a:t>
            </a:r>
            <a:r>
              <a:rPr lang="ko-KR" altLang="en-US" sz="750" dirty="0">
                <a:latin typeface="Malgun Gothic"/>
                <a:cs typeface="Malgun Gothic"/>
              </a:rPr>
              <a:t>먹는다</a:t>
            </a:r>
            <a:r>
              <a:rPr lang="en-US" altLang="ko-KR" sz="750" dirty="0">
                <a:latin typeface="Malgun Gothic"/>
                <a:cs typeface="Malgun Gothic"/>
              </a:rPr>
              <a:t>,</a:t>
            </a:r>
            <a:r>
              <a:rPr lang="ko-KR" altLang="en-US" sz="750" dirty="0" err="1">
                <a:latin typeface="Malgun Gothic"/>
                <a:cs typeface="Malgun Gothic"/>
              </a:rPr>
              <a:t>안먹는다</a:t>
            </a:r>
            <a:r>
              <a:rPr lang="en-US" altLang="ko-KR" sz="750" dirty="0">
                <a:latin typeface="Malgun Gothic"/>
                <a:cs typeface="Malgun Gothic"/>
              </a:rPr>
              <a:t>)</a:t>
            </a:r>
            <a:r>
              <a:rPr lang="ko-KR" altLang="en-US" sz="750" dirty="0">
                <a:latin typeface="Malgun Gothic"/>
                <a:cs typeface="Malgun Gothic"/>
              </a:rPr>
              <a:t> </a:t>
            </a:r>
            <a:endParaRPr sz="75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416" y="1957832"/>
            <a:ext cx="1791970" cy="3597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 indent="-52069">
              <a:lnSpc>
                <a:spcPct val="100000"/>
              </a:lnSpc>
              <a:spcBef>
                <a:spcPts val="10"/>
              </a:spcBef>
              <a:buFont typeface="Calibri"/>
              <a:buChar char="-"/>
              <a:tabLst>
                <a:tab pos="64769" algn="l"/>
              </a:tabLst>
            </a:pPr>
            <a:r>
              <a:rPr lang="ko-KR" altLang="en-US" sz="750" dirty="0">
                <a:latin typeface="Malgun Gothic"/>
                <a:cs typeface="Malgun Gothic"/>
              </a:rPr>
              <a:t>급여 이후 부작용이 있는지 없는지</a:t>
            </a:r>
            <a:endParaRPr lang="en-US" altLang="ko-KR" sz="750" dirty="0">
              <a:latin typeface="Malgun Gothic"/>
              <a:cs typeface="Malgun Gothic"/>
            </a:endParaRPr>
          </a:p>
          <a:p>
            <a:pPr marL="64769" indent="-52069">
              <a:lnSpc>
                <a:spcPct val="100000"/>
              </a:lnSpc>
              <a:spcBef>
                <a:spcPts val="10"/>
              </a:spcBef>
              <a:buFont typeface="Calibri"/>
              <a:buChar char="-"/>
              <a:tabLst>
                <a:tab pos="64769" algn="l"/>
              </a:tabLst>
            </a:pPr>
            <a:r>
              <a:rPr lang="ko-KR" altLang="en-US" sz="750" dirty="0">
                <a:latin typeface="Malgun Gothic"/>
                <a:cs typeface="Malgun Gothic"/>
              </a:rPr>
              <a:t>처음 먹는 향이거나 종류의 경우 먹을지 </a:t>
            </a:r>
            <a:r>
              <a:rPr lang="ko-KR" altLang="en-US" sz="750" dirty="0" err="1">
                <a:latin typeface="Malgun Gothic"/>
                <a:cs typeface="Malgun Gothic"/>
              </a:rPr>
              <a:t>안먹을지</a:t>
            </a:r>
            <a:r>
              <a:rPr lang="ko-KR" altLang="en-US" sz="750" dirty="0">
                <a:latin typeface="Malgun Gothic"/>
                <a:cs typeface="Malgun Gothic"/>
              </a:rPr>
              <a:t> 판단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5416" y="2908807"/>
            <a:ext cx="1757045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 indent="-52069">
              <a:lnSpc>
                <a:spcPct val="100000"/>
              </a:lnSpc>
              <a:spcBef>
                <a:spcPts val="105"/>
              </a:spcBef>
              <a:buFont typeface="Calibri"/>
              <a:buChar char="-"/>
              <a:tabLst>
                <a:tab pos="64769" algn="l"/>
              </a:tabLst>
            </a:pPr>
            <a:r>
              <a:rPr lang="ko-KR" altLang="en-US" sz="750" dirty="0">
                <a:latin typeface="Malgun Gothic"/>
                <a:cs typeface="Malgun Gothic"/>
              </a:rPr>
              <a:t>사료</a:t>
            </a:r>
            <a:r>
              <a:rPr lang="en-US" altLang="ko-KR" sz="750" dirty="0">
                <a:latin typeface="Malgun Gothic"/>
                <a:cs typeface="Malgun Gothic"/>
              </a:rPr>
              <a:t>+</a:t>
            </a:r>
            <a:r>
              <a:rPr lang="ko-KR" altLang="en-US" sz="750" dirty="0">
                <a:latin typeface="Malgun Gothic"/>
                <a:cs typeface="Malgun Gothic"/>
              </a:rPr>
              <a:t>영양제 </a:t>
            </a:r>
            <a:r>
              <a:rPr lang="en-US" altLang="ko-KR" sz="750" dirty="0">
                <a:latin typeface="Malgun Gothic"/>
                <a:cs typeface="Malgun Gothic"/>
              </a:rPr>
              <a:t>/ </a:t>
            </a:r>
            <a:r>
              <a:rPr lang="ko-KR" altLang="en-US" sz="750" dirty="0">
                <a:latin typeface="Malgun Gothic"/>
                <a:cs typeface="Malgun Gothic"/>
              </a:rPr>
              <a:t>사료</a:t>
            </a:r>
            <a:r>
              <a:rPr lang="en-US" altLang="ko-KR" sz="750" dirty="0">
                <a:latin typeface="Malgun Gothic"/>
                <a:cs typeface="Malgun Gothic"/>
              </a:rPr>
              <a:t>+</a:t>
            </a:r>
            <a:r>
              <a:rPr lang="ko-KR" altLang="en-US" sz="750" dirty="0">
                <a:latin typeface="Malgun Gothic"/>
                <a:cs typeface="Malgun Gothic"/>
              </a:rPr>
              <a:t>처방전 을 섞어서 제공하는 경우 거부 반응 유무</a:t>
            </a:r>
            <a:endParaRPr sz="750" dirty="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9682" y="1006855"/>
            <a:ext cx="3010917" cy="1288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 indent="-52069">
              <a:lnSpc>
                <a:spcPct val="100000"/>
              </a:lnSpc>
              <a:spcBef>
                <a:spcPts val="105"/>
              </a:spcBef>
              <a:buFont typeface="Calibri"/>
              <a:buChar char="-"/>
              <a:tabLst>
                <a:tab pos="64769" algn="l"/>
              </a:tabLst>
            </a:pPr>
            <a:r>
              <a:rPr lang="ko-KR" altLang="en-US" sz="750" dirty="0">
                <a:latin typeface="Malgun Gothic"/>
                <a:cs typeface="Malgun Gothic"/>
              </a:rPr>
              <a:t>다양한 사료와 영양제</a:t>
            </a:r>
            <a:r>
              <a:rPr lang="en-US" altLang="ko-KR" sz="750" dirty="0">
                <a:latin typeface="Malgun Gothic"/>
                <a:cs typeface="Malgun Gothic"/>
              </a:rPr>
              <a:t>/</a:t>
            </a:r>
            <a:r>
              <a:rPr lang="ko-KR" altLang="en-US" sz="750" dirty="0">
                <a:latin typeface="Malgun Gothic"/>
                <a:cs typeface="Malgun Gothic"/>
              </a:rPr>
              <a:t>처방약을 시도하여 기호에 맞는 조합 판단</a:t>
            </a:r>
            <a:endParaRPr sz="750" dirty="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9682" y="1957832"/>
            <a:ext cx="3010917" cy="1288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 indent="-52069">
              <a:lnSpc>
                <a:spcPct val="100000"/>
              </a:lnSpc>
              <a:spcBef>
                <a:spcPts val="105"/>
              </a:spcBef>
              <a:buFont typeface="Calibri"/>
              <a:buChar char="-"/>
              <a:tabLst>
                <a:tab pos="64769" algn="l"/>
              </a:tabLst>
            </a:pPr>
            <a:r>
              <a:rPr lang="ko-KR" altLang="en-US" sz="750" dirty="0">
                <a:latin typeface="Malgun Gothic"/>
                <a:cs typeface="Malgun Gothic"/>
              </a:rPr>
              <a:t>사료와 함께 영양제</a:t>
            </a:r>
            <a:r>
              <a:rPr lang="en-US" altLang="ko-KR" sz="750" dirty="0">
                <a:latin typeface="Malgun Gothic"/>
                <a:cs typeface="Malgun Gothic"/>
              </a:rPr>
              <a:t>/</a:t>
            </a:r>
            <a:r>
              <a:rPr lang="ko-KR" altLang="en-US" sz="750" dirty="0">
                <a:latin typeface="Malgun Gothic"/>
                <a:cs typeface="Malgun Gothic"/>
              </a:rPr>
              <a:t>처방약을 섞어서 급여하는 경우 부작용 유무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9683" y="2908807"/>
            <a:ext cx="3239517" cy="3597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 indent="-52069">
              <a:lnSpc>
                <a:spcPct val="100000"/>
              </a:lnSpc>
              <a:spcBef>
                <a:spcPts val="105"/>
              </a:spcBef>
              <a:buFont typeface="Calibri"/>
              <a:buChar char="-"/>
              <a:tabLst>
                <a:tab pos="64769" algn="l"/>
              </a:tabLst>
            </a:pPr>
            <a:r>
              <a:rPr lang="ko-KR" altLang="en-US" sz="750" dirty="0">
                <a:latin typeface="Malgun Gothic"/>
                <a:cs typeface="Malgun Gothic"/>
              </a:rPr>
              <a:t>상기 문제를 해결하기 위해 사료와 섞어도 가능한 영양제</a:t>
            </a:r>
            <a:r>
              <a:rPr lang="en-US" altLang="ko-KR" sz="750" dirty="0">
                <a:latin typeface="Malgun Gothic"/>
                <a:cs typeface="Malgun Gothic"/>
              </a:rPr>
              <a:t>/</a:t>
            </a:r>
            <a:r>
              <a:rPr lang="ko-KR" altLang="en-US" sz="750" dirty="0">
                <a:latin typeface="Malgun Gothic"/>
                <a:cs typeface="Malgun Gothic"/>
              </a:rPr>
              <a:t>처방약 을 전문가 </a:t>
            </a:r>
            <a:r>
              <a:rPr lang="en-US" altLang="ko-KR" sz="750" dirty="0">
                <a:latin typeface="Malgun Gothic"/>
                <a:cs typeface="Malgun Gothic"/>
              </a:rPr>
              <a:t>(</a:t>
            </a:r>
            <a:r>
              <a:rPr lang="ko-KR" altLang="en-US" sz="750" dirty="0">
                <a:latin typeface="Malgun Gothic"/>
                <a:cs typeface="Malgun Gothic"/>
              </a:rPr>
              <a:t>동물병원 및 전문 판매처</a:t>
            </a:r>
            <a:r>
              <a:rPr lang="en-US" altLang="ko-KR" sz="750" dirty="0">
                <a:latin typeface="Malgun Gothic"/>
                <a:cs typeface="Malgun Gothic"/>
              </a:rPr>
              <a:t>) </a:t>
            </a:r>
            <a:r>
              <a:rPr lang="ko-KR" altLang="en-US" sz="750" dirty="0">
                <a:latin typeface="Malgun Gothic"/>
                <a:cs typeface="Malgun Gothic"/>
              </a:rPr>
              <a:t>에서 함께 제공하는 경우 고객의 구매 선호도가 높을지 </a:t>
            </a:r>
            <a:r>
              <a:rPr lang="ko-KR" altLang="en-US" sz="750" dirty="0" err="1">
                <a:latin typeface="Malgun Gothic"/>
                <a:cs typeface="Malgun Gothic"/>
              </a:rPr>
              <a:t>낮을지가</a:t>
            </a:r>
            <a:r>
              <a:rPr lang="ko-KR" altLang="en-US" sz="750" dirty="0">
                <a:latin typeface="Malgun Gothic"/>
                <a:cs typeface="Malgun Gothic"/>
              </a:rPr>
              <a:t> 의문임</a:t>
            </a:r>
            <a:endParaRPr sz="7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" y="0"/>
            <a:ext cx="7415276" cy="4178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275</Words>
  <Application>Microsoft Office PowerPoint</Application>
  <PresentationFormat>사용자 지정</PresentationFormat>
  <Paragraphs>28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Calibri</vt:lpstr>
      <vt:lpstr>Lucida Sans Unicode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kt123</dc:creator>
  <cp:lastModifiedBy>현철 최</cp:lastModifiedBy>
  <cp:revision>3</cp:revision>
  <dcterms:created xsi:type="dcterms:W3CDTF">2025-04-19T08:30:21Z</dcterms:created>
  <dcterms:modified xsi:type="dcterms:W3CDTF">2025-04-19T09:17:44Z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2025-04-17T00:00:00Z</vt:filetime>
  </property>
  <property fmtid="{D5CDD505-2E9C-101B-9397-08002B2CF9AE}" pid="3" name="Creator">
    <vt:lpwstr>Show 2024 13.0.0.2151</vt:lpwstr>
  </property>
  <property fmtid="{D5CDD505-2E9C-101B-9397-08002B2CF9AE}" pid="4" name="LastSaved">
    <vt:filetime>2025-04-19T00:00:00Z</vt:filetime>
  </property>
  <property fmtid="{D5CDD505-2E9C-101B-9397-08002B2CF9AE}" pid="5" name="PDFVersion">
    <vt:lpwstr>1.4</vt:lpwstr>
  </property>
  <property fmtid="{D5CDD505-2E9C-101B-9397-08002B2CF9AE}" pid="6" name="Producer">
    <vt:lpwstr>Hancom PDF 1.3.0.550</vt:lpwstr>
  </property>
</Properties>
</file>