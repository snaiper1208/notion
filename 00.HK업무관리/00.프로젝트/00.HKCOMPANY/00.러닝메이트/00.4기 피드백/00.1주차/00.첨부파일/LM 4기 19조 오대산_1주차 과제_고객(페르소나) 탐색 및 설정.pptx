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7" r:id="rId3"/>
    <p:sldId id="268" r:id="rId4"/>
    <p:sldId id="269" r:id="rId5"/>
    <p:sldId id="273" r:id="rId6"/>
    <p:sldId id="274" r:id="rId7"/>
    <p:sldId id="278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8" d="100"/>
          <a:sy n="38" d="100"/>
        </p:scale>
        <p:origin x="5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BC67C6-73A5-4C92-CFB0-391D24FAC461}"/>
              </a:ext>
            </a:extLst>
          </p:cNvPr>
          <p:cNvSpPr txBox="1"/>
          <p:nvPr/>
        </p:nvSpPr>
        <p:spPr>
          <a:xfrm>
            <a:off x="7573106" y="2199024"/>
            <a:ext cx="8651631" cy="263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취미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성수동 카페 탐방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쇼핑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소비 패턴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“기분 전환형 소비” 많음 </a:t>
            </a:r>
            <a:r>
              <a:rPr lang="en-US" altLang="ko-KR" sz="1600" dirty="0">
                <a:latin typeface="+mn-ea"/>
              </a:rPr>
              <a:t>(ex. </a:t>
            </a:r>
            <a:r>
              <a:rPr lang="ko-KR" altLang="en-US" sz="1600" dirty="0">
                <a:latin typeface="+mn-ea"/>
              </a:rPr>
              <a:t>고급 디저트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뷰티 제품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감성 인테리어 소품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월 말에는 급격히 소비 줄이고 죄책감 느낌	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금융 공부는 </a:t>
            </a:r>
            <a:r>
              <a:rPr lang="en-US" altLang="ko-KR" sz="1600" dirty="0">
                <a:latin typeface="+mn-ea"/>
              </a:rPr>
              <a:t>‘</a:t>
            </a:r>
            <a:r>
              <a:rPr lang="ko-KR" altLang="en-US" sz="1600" dirty="0" err="1">
                <a:latin typeface="+mn-ea"/>
              </a:rPr>
              <a:t>슈카월드</a:t>
            </a:r>
            <a:r>
              <a:rPr lang="en-US" altLang="ko-KR" sz="1600" dirty="0">
                <a:latin typeface="+mn-ea"/>
              </a:rPr>
              <a:t>’</a:t>
            </a:r>
            <a:r>
              <a:rPr lang="ko-KR" altLang="en-US" sz="1600" dirty="0">
                <a:latin typeface="+mn-ea"/>
              </a:rPr>
              <a:t>로만 진행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EB065-BAAD-C758-008C-4B1754DBDB34}"/>
              </a:ext>
            </a:extLst>
          </p:cNvPr>
          <p:cNvSpPr txBox="1"/>
          <p:nvPr/>
        </p:nvSpPr>
        <p:spPr>
          <a:xfrm>
            <a:off x="7443173" y="5738441"/>
            <a:ext cx="8911495" cy="226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b="1" dirty="0">
                <a:latin typeface="+mn-ea"/>
              </a:rPr>
              <a:t>📌 목표</a:t>
            </a:r>
            <a:r>
              <a:rPr lang="en-US" altLang="ko-KR" sz="1600" b="1" dirty="0">
                <a:latin typeface="+mn-ea"/>
              </a:rPr>
              <a:t>: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지출을 스스로 통제하고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금융을 어렵지 않게 배워가며 현명한 소비자가 되고 싶다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b="1" dirty="0">
                <a:latin typeface="+mn-ea"/>
              </a:rPr>
              <a:t>📌 욕구</a:t>
            </a:r>
            <a:r>
              <a:rPr lang="en-US" altLang="ko-KR" sz="1600" b="1" dirty="0">
                <a:latin typeface="+mn-ea"/>
              </a:rPr>
              <a:t>: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감정과 연결된 소비 분석을 통해 내 소비 패턴을 이해하고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따뜻한 피드백을 받고 싶다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</a:rPr>
              <a:t>📌 </a:t>
            </a:r>
            <a:r>
              <a:rPr lang="ko-KR" altLang="en-US" sz="1600" b="1" dirty="0" err="1">
                <a:latin typeface="+mn-ea"/>
              </a:rPr>
              <a:t>페인포인트</a:t>
            </a:r>
            <a:r>
              <a:rPr lang="en-US" altLang="ko-KR" sz="1600" b="1" dirty="0">
                <a:latin typeface="+mn-ea"/>
              </a:rPr>
              <a:t>: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금융 앱은 숫자만 보여줄 뿐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내 소비의 진짜 원인이나 감정은 알려주지 않는다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ko-KR" altLang="en-US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CFB3F-FE90-95D1-FE73-FEFE11A9E238}"/>
              </a:ext>
            </a:extLst>
          </p:cNvPr>
          <p:cNvSpPr txBox="1"/>
          <p:nvPr/>
        </p:nvSpPr>
        <p:spPr>
          <a:xfrm>
            <a:off x="1331427" y="5553776"/>
            <a:ext cx="5225681" cy="263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이름</a:t>
            </a:r>
            <a:r>
              <a:rPr lang="en-US" altLang="ko-KR" sz="1600" dirty="0">
                <a:latin typeface="+mn-ea"/>
              </a:rPr>
              <a:t>:</a:t>
            </a:r>
            <a:r>
              <a:rPr lang="ko-KR" altLang="en-US" sz="1600" dirty="0">
                <a:latin typeface="+mn-ea"/>
              </a:rPr>
              <a:t> 오</a:t>
            </a:r>
            <a:r>
              <a:rPr lang="en-US" altLang="ko-KR" sz="1600" dirty="0">
                <a:latin typeface="+mn-ea"/>
              </a:rPr>
              <a:t>OO</a:t>
            </a:r>
            <a:endParaRPr lang="ko-KR" altLang="en-US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나이</a:t>
            </a:r>
            <a:r>
              <a:rPr lang="en-US" altLang="ko-KR" sz="1600" dirty="0">
                <a:latin typeface="+mn-ea"/>
              </a:rPr>
              <a:t>: 29</a:t>
            </a:r>
            <a:r>
              <a:rPr lang="ko-KR" altLang="en-US" sz="1600" dirty="0">
                <a:latin typeface="+mn-ea"/>
              </a:rPr>
              <a:t>세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성별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여성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직업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대기업 사무직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 err="1">
                <a:latin typeface="+mn-ea"/>
              </a:rPr>
              <a:t>홍보팀</a:t>
            </a:r>
            <a:r>
              <a:rPr lang="ko-KR" altLang="en-US" sz="1600" dirty="0">
                <a:latin typeface="+mn-ea"/>
              </a:rPr>
              <a:t> 사원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교육 수준 </a:t>
            </a:r>
            <a:r>
              <a:rPr lang="en-US" altLang="ko-KR" sz="1600" dirty="0">
                <a:latin typeface="+mn-ea"/>
              </a:rPr>
              <a:t>: 4</a:t>
            </a:r>
            <a:r>
              <a:rPr lang="ko-KR" altLang="en-US" sz="1600" dirty="0">
                <a:latin typeface="+mn-ea"/>
              </a:rPr>
              <a:t>년제 대학교 졸업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거주 지역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서울 성동구 거주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월 소득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 err="1">
                <a:latin typeface="+mn-ea"/>
              </a:rPr>
              <a:t>실수령</a:t>
            </a:r>
            <a:r>
              <a:rPr lang="ko-KR" altLang="en-US" sz="1600" dirty="0">
                <a:latin typeface="+mn-ea"/>
              </a:rPr>
              <a:t> 기준 약 </a:t>
            </a:r>
            <a:r>
              <a:rPr lang="en-US" altLang="ko-KR" sz="1600" dirty="0">
                <a:latin typeface="+mn-ea"/>
              </a:rPr>
              <a:t>300</a:t>
            </a:r>
            <a:r>
              <a:rPr lang="ko-KR" altLang="en-US" sz="1600" dirty="0">
                <a:latin typeface="+mn-ea"/>
              </a:rPr>
              <a:t>만 원</a:t>
            </a: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722E842A-F01E-7B50-42C0-BB479C06C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563" y="2371725"/>
            <a:ext cx="2140137" cy="214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D54E20-66E2-9ECD-81FD-8B13B838B789}"/>
              </a:ext>
            </a:extLst>
          </p:cNvPr>
          <p:cNvSpPr txBox="1"/>
          <p:nvPr/>
        </p:nvSpPr>
        <p:spPr>
          <a:xfrm>
            <a:off x="1339509" y="2315137"/>
            <a:ext cx="148771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기존 </a:t>
            </a:r>
            <a:r>
              <a:rPr lang="ko-KR" altLang="en-US" sz="2000" dirty="0" err="1">
                <a:latin typeface="+mn-ea"/>
              </a:rPr>
              <a:t>핀테크</a:t>
            </a:r>
            <a:r>
              <a:rPr lang="ko-KR" altLang="en-US" sz="2000" dirty="0">
                <a:latin typeface="+mn-ea"/>
              </a:rPr>
              <a:t> 앱을 통해서 소비 분석은 이미 충분히 얻을 수 있지만</a:t>
            </a:r>
            <a:r>
              <a:rPr lang="en-US" altLang="ko-KR" sz="2000" dirty="0">
                <a:latin typeface="+mn-ea"/>
              </a:rPr>
              <a:t>,</a:t>
            </a: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그걸 보고도 내가 행동을 바꿀 ‘</a:t>
            </a:r>
            <a:r>
              <a:rPr lang="ko-KR" altLang="en-US" sz="2000" dirty="0" err="1">
                <a:latin typeface="+mn-ea"/>
              </a:rPr>
              <a:t>동기’가</a:t>
            </a:r>
            <a:r>
              <a:rPr lang="ko-KR" altLang="en-US" sz="2000" dirty="0">
                <a:latin typeface="+mn-ea"/>
              </a:rPr>
              <a:t> 안 생긴다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endParaRPr lang="en-US" altLang="ko-KR" sz="2000" dirty="0">
              <a:latin typeface="+mn-ea"/>
            </a:endParaRPr>
          </a:p>
          <a:p>
            <a:endParaRPr lang="ko-KR" altLang="en-US" sz="20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D9579-715D-5AD0-AEC8-1874876F7A63}"/>
              </a:ext>
            </a:extLst>
          </p:cNvPr>
          <p:cNvSpPr txBox="1"/>
          <p:nvPr/>
        </p:nvSpPr>
        <p:spPr>
          <a:xfrm>
            <a:off x="1339509" y="4767325"/>
            <a:ext cx="148771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나의 소비를 감정과 </a:t>
            </a:r>
            <a:r>
              <a:rPr lang="ko-KR" altLang="en-US" sz="2000" dirty="0" err="1">
                <a:latin typeface="+mn-ea"/>
              </a:rPr>
              <a:t>연결지어</a:t>
            </a:r>
            <a:r>
              <a:rPr lang="ko-KR" altLang="en-US" sz="2000" dirty="0">
                <a:latin typeface="+mn-ea"/>
              </a:rPr>
              <a:t> 설명해주는 공감 기반의 대화형 피드백을 기대한다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정보를 주는 것보다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내가 스스로 행동하게끔 유도하는 감정적 메시지를 원한다</a:t>
            </a:r>
            <a:endParaRPr lang="en-US" altLang="ko-KR" sz="20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endParaRPr lang="ko-KR" altLang="en-US" sz="20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BB532-021D-C626-1A20-C0D08762BC1E}"/>
              </a:ext>
            </a:extLst>
          </p:cNvPr>
          <p:cNvSpPr txBox="1"/>
          <p:nvPr/>
        </p:nvSpPr>
        <p:spPr>
          <a:xfrm>
            <a:off x="1339507" y="7219514"/>
            <a:ext cx="14877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금융정보는 이미 여러 곳에서 접하지만</a:t>
            </a:r>
            <a:r>
              <a:rPr lang="en-US" altLang="ko-KR" sz="2000" dirty="0">
                <a:latin typeface="+mn-ea"/>
              </a:rPr>
              <a:t>, ‘</a:t>
            </a:r>
            <a:r>
              <a:rPr lang="ko-KR" altLang="en-US" sz="2000" dirty="0">
                <a:latin typeface="+mn-ea"/>
              </a:rPr>
              <a:t>계속 쓰게 만드는 </a:t>
            </a:r>
            <a:r>
              <a:rPr lang="ko-KR" altLang="en-US" sz="2000" dirty="0" err="1">
                <a:latin typeface="+mn-ea"/>
              </a:rPr>
              <a:t>재미’는</a:t>
            </a:r>
            <a:r>
              <a:rPr lang="ko-KR" altLang="en-US" sz="2000" dirty="0">
                <a:latin typeface="+mn-ea"/>
              </a:rPr>
              <a:t> 거의 없다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자극적이고 불친절한 금융 조언보단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나를 ‘친구처럼’ 대해주는 서비스에 끌린다</a:t>
            </a:r>
            <a:r>
              <a:rPr lang="en-US" altLang="ko-KR" sz="2000" dirty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57B5C5-B72A-5DA5-2308-76090F49E14F}"/>
              </a:ext>
            </a:extLst>
          </p:cNvPr>
          <p:cNvSpPr txBox="1"/>
          <p:nvPr/>
        </p:nvSpPr>
        <p:spPr>
          <a:xfrm>
            <a:off x="1339508" y="7286389"/>
            <a:ext cx="14877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어떤 콘텐츠 톤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장난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진지함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위로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팩폭</a:t>
            </a:r>
            <a:r>
              <a:rPr lang="ko-KR" altLang="en-US" sz="1600" dirty="0">
                <a:latin typeface="+mn-ea"/>
              </a:rPr>
              <a:t> 등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이 가장 큰 반응을 일으키는가</a:t>
            </a:r>
            <a:r>
              <a:rPr lang="en-US" altLang="ko-KR" sz="1600" dirty="0">
                <a:latin typeface="+mn-ea"/>
              </a:rPr>
              <a:t>?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MZ</a:t>
            </a:r>
            <a:r>
              <a:rPr lang="ko-KR" altLang="en-US" sz="1600" dirty="0">
                <a:latin typeface="+mn-ea"/>
              </a:rPr>
              <a:t>세대</a:t>
            </a:r>
            <a:r>
              <a:rPr lang="ko-KR" altLang="en-US" sz="1600" dirty="0"/>
              <a:t>에게 가장 효과적인 실천 유도 방식은 무엇인가 </a:t>
            </a:r>
            <a:r>
              <a:rPr lang="en-US" altLang="ko-KR" sz="1600" dirty="0"/>
              <a:t>(</a:t>
            </a:r>
            <a:r>
              <a:rPr lang="ko-KR" altLang="en-US" sz="1600" dirty="0"/>
              <a:t>챌린지</a:t>
            </a:r>
            <a:r>
              <a:rPr lang="en-US" altLang="ko-KR" sz="1600" dirty="0"/>
              <a:t>, </a:t>
            </a:r>
            <a:r>
              <a:rPr lang="ko-KR" altLang="en-US" sz="1600" dirty="0"/>
              <a:t>보상</a:t>
            </a:r>
            <a:r>
              <a:rPr lang="en-US" altLang="ko-KR" sz="1600" dirty="0"/>
              <a:t>, </a:t>
            </a:r>
            <a:r>
              <a:rPr lang="ko-KR" altLang="en-US" sz="1600" dirty="0"/>
              <a:t>친구와 공유</a:t>
            </a:r>
            <a:r>
              <a:rPr lang="en-US" altLang="ko-KR" sz="1600" dirty="0"/>
              <a:t>, </a:t>
            </a:r>
            <a:r>
              <a:rPr lang="ko-KR" altLang="en-US" sz="1600" dirty="0"/>
              <a:t>스티커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리마인더</a:t>
            </a:r>
            <a:r>
              <a:rPr lang="ko-KR" altLang="en-US" sz="1600" dirty="0"/>
              <a:t> 등</a:t>
            </a:r>
            <a:r>
              <a:rPr lang="en-US" altLang="ko-KR" sz="1600" dirty="0"/>
              <a:t>)</a:t>
            </a:r>
            <a:endParaRPr lang="en-US" altLang="ko-KR" sz="16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CB17E-1B75-9EEA-A76F-EFCD7A77FBA3}"/>
              </a:ext>
            </a:extLst>
          </p:cNvPr>
          <p:cNvSpPr txBox="1"/>
          <p:nvPr/>
        </p:nvSpPr>
        <p:spPr>
          <a:xfrm>
            <a:off x="1339509" y="2881303"/>
            <a:ext cx="14877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청년 세대는 금융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소비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지출 등에 대한 교육을 충분히 받지 못했다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사람들은 자신의 소비 금액에 대해서는 이미 어느 정도는 알고 있다</a:t>
            </a:r>
            <a:r>
              <a:rPr lang="en-US" altLang="ko-KR" sz="1600" dirty="0">
                <a:latin typeface="+mn-ea"/>
              </a:rPr>
              <a:t>.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친근하고 감성적인 </a:t>
            </a:r>
            <a:r>
              <a:rPr lang="en-US" altLang="ko-KR" sz="1600" dirty="0">
                <a:latin typeface="+mn-ea"/>
              </a:rPr>
              <a:t>UX</a:t>
            </a:r>
            <a:r>
              <a:rPr lang="ko-KR" altLang="en-US" sz="1600" dirty="0">
                <a:latin typeface="+mn-ea"/>
              </a:rPr>
              <a:t>를 선호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공감형 콘텐츠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대화형 </a:t>
            </a:r>
            <a:r>
              <a:rPr lang="ko-KR" altLang="en-US" sz="1600" dirty="0" err="1">
                <a:latin typeface="+mn-ea"/>
              </a:rPr>
              <a:t>챗봇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미니멀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UI</a:t>
            </a:r>
            <a:r>
              <a:rPr lang="ko-KR" altLang="en-US" sz="1600" dirty="0">
                <a:latin typeface="+mn-ea"/>
              </a:rPr>
              <a:t>에 끌림</a:t>
            </a:r>
            <a:endParaRPr lang="en-US" altLang="ko-KR" sz="16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0BA34-8EE6-ACA6-7723-ECB8DADF96C2}"/>
              </a:ext>
            </a:extLst>
          </p:cNvPr>
          <p:cNvSpPr txBox="1"/>
          <p:nvPr/>
        </p:nvSpPr>
        <p:spPr>
          <a:xfrm>
            <a:off x="1339507" y="5054972"/>
            <a:ext cx="14877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감정 기반 피드백이 실제 행동 변화를 유도할 수 있을까</a:t>
            </a:r>
            <a:r>
              <a:rPr lang="en-US" altLang="ko-KR" sz="1600" dirty="0">
                <a:latin typeface="+mn-ea"/>
              </a:rPr>
              <a:t>?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지출 후 느끼는 감정의 빈도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강도는 어느 정도인가</a:t>
            </a:r>
            <a:r>
              <a:rPr lang="en-US" altLang="ko-KR" sz="1600" dirty="0">
                <a:latin typeface="+mn-ea"/>
              </a:rPr>
              <a:t>?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어떤 형태의 피드백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유머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응원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공감 등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에 가장 잘 반응하는가</a:t>
            </a:r>
            <a:r>
              <a:rPr lang="en-US" altLang="ko-KR" sz="1600" dirty="0">
                <a:latin typeface="+mn-ea"/>
              </a:rPr>
              <a:t>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334</Words>
  <Application>Microsoft Office PowerPoint</Application>
  <PresentationFormat>사용자 지정</PresentationFormat>
  <Paragraphs>48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대산 오</cp:lastModifiedBy>
  <cp:revision>5</cp:revision>
  <dcterms:created xsi:type="dcterms:W3CDTF">2025-04-11T08:42:54Z</dcterms:created>
  <dcterms:modified xsi:type="dcterms:W3CDTF">2025-04-19T12:36:38Z</dcterms:modified>
</cp:coreProperties>
</file>