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</p:sldIdLst>
  <p:sldSz cx="17556163" cy="9875838"/>
  <p:notesSz cx="9875838" cy="17556163"/>
  <p:embeddedFontLst>
    <p:embeddedFont>
      <p:font typeface="Pretendard Medium" panose="02000603000000020004" pitchFamily="50" charset="-127"/>
      <p:regular r:id="rId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99818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0D25723F-4F99-04EE-B279-D8580BE304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07569" y="2648561"/>
            <a:ext cx="656301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행사 일정과 협찬 관련 업무를 병행하며 하루가 촘촘하게 구성됨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메일, DM, 카톡 등 다양한 채널로 기업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컨택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인스타그램을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활용해 학과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소식·이벤트·기업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협찬 콘텐츠 홍보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 학과 학생회 및 중앙 총학생회와 협업 경험 있음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엑셀,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구글폼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등 실무 도구에 익숙함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C4FC79-3B5D-3BCE-A9BA-606A3AE4CC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6092" y="6125943"/>
            <a:ext cx="5362365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22세 여성, 이화여대 경제학과 3학년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학과 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학생회장 역할 수행 중 </a:t>
            </a:r>
            <a:endParaRPr kumimoji="0" lang="en-US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서울 거주, 소셜미디어 사용 활발 (인스타그램 중심)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학과 내 100여 명 단체 커뮤니케이션 운영 경험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50B009B9-90D9-CA48-4F1E-015B733B80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74653" y="5972054"/>
            <a:ext cx="6526146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“나라도 안 하면 아무도 안 할 것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같아서”라는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책임감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컨택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시 '을의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입장'으로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느껴지는 피로감 존재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협찬을 잘 따내면 ‘나로 인해 학과가 더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좋아졌다’는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자부심 생김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실무 역량을 쌓고 싶어 함 (이력서/스펙보다 실전 경험 중시)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학생회 활동이 자칫 ‘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봉사’로만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소비되는 것에 대한 고민</a:t>
            </a:r>
          </a:p>
        </p:txBody>
      </p:sp>
      <p:pic>
        <p:nvPicPr>
          <p:cNvPr id="1030" name="Picture 6" descr="생성된 이미지">
            <a:extLst>
              <a:ext uri="{FF2B5EF4-FFF2-40B4-BE49-F238E27FC236}">
                <a16:creationId xmlns:a16="http://schemas.microsoft.com/office/drawing/2014/main" id="{84D7FF29-6F17-FBFD-C5FE-37834BC394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688" y="1759354"/>
            <a:ext cx="2031495" cy="30474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5EDB2208-6FBB-BC2D-8CA2-2BF99CF22A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154" y="2081481"/>
            <a:ext cx="7261924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협찬을 받고 싶은데,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컨택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메일에 답이 안 오거나 회신 속도가 느림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구글폼·인스타·이메일을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번갈아 쓰다 보니 자료 관리가 비효율적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행사 예산이 매번 부족한데, 협찬 루트가 개인 인맥 외엔 거의 없음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다른 학생회나 단과대는 이미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협찬받는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걸 보면 상대적 박탈감 느낌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E7F8DF8D-3D1D-2B73-C1CD-20F32244CF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154" y="4437819"/>
            <a:ext cx="7207422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플랫폼 하나에서 협찬 가능 기업 리스트나 조건을 한눈에 보고싶음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클릭 몇 번으로 기업에 제안서 보내고 </a:t>
            </a:r>
            <a:r>
              <a:rPr kumimoji="0" lang="ko-KR" altLang="ko-KR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승인받을</a:t>
            </a: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있는 간편한 구조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진행 이력이나 후기 등 신뢰 기반 시스템이 있으면 활용 가능성 ↑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홍보 자료, 포스터, 후기 가이드도 함께 있으면 협업이 훨씬 수월할 듯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A345004D-3F68-5890-94B3-46B7B681C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154" y="6899666"/>
            <a:ext cx="6564618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책임감이 강하고 학과 대표로서 좋은 결과를 만들고 싶어 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실무 능력도 키우고 싶어서 학생회 활동에 적극적으로 임함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예산 확보, 홍보, 협찬 모두를 혼자 해결해야 하는 </a:t>
            </a:r>
            <a:r>
              <a:rPr kumimoji="0" lang="ko-KR" altLang="ko-KR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복합적 </a:t>
            </a:r>
            <a:r>
              <a:rPr kumimoji="0" lang="ko-KR" altLang="ko-KR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역할자</a:t>
            </a:r>
            <a:endParaRPr kumimoji="0" lang="ko-KR" altLang="ko-KR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커뮤니케이션에 능숙하고 트렌드 민감도 높음 (SNS 익숙함)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8B4E05C-31DF-05AB-3675-2004CA5D84EA}"/>
              </a:ext>
            </a:extLst>
          </p:cNvPr>
          <p:cNvSpPr txBox="1"/>
          <p:nvPr/>
        </p:nvSpPr>
        <p:spPr>
          <a:xfrm>
            <a:off x="2084269" y="2885733"/>
            <a:ext cx="8782050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대학생 대상 홍보를 하고 싶은데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검증된 루트가 없음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매번 제휴 문의는 오지만 결과 보고서가 없음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예산은 있는데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소규모 진행처가 없어 예산 집행 불가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9E4D2E-1D08-F19C-6C26-AE6F8BAB7E6F}"/>
              </a:ext>
            </a:extLst>
          </p:cNvPr>
          <p:cNvSpPr txBox="1"/>
          <p:nvPr/>
        </p:nvSpPr>
        <p:spPr>
          <a:xfrm>
            <a:off x="2084269" y="5251699"/>
            <a:ext cx="8867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타겟 맞춤 홍보 채널을 정기적으로 활용하고 싶음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가볍게 시작할 수 있는 체험단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제품 협찬 루트 필요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56797A-0356-79BA-059B-B3AFC1C61F2D}"/>
              </a:ext>
            </a:extLst>
          </p:cNvPr>
          <p:cNvSpPr txBox="1"/>
          <p:nvPr/>
        </p:nvSpPr>
        <p:spPr>
          <a:xfrm>
            <a:off x="2088286" y="7286610"/>
            <a:ext cx="878205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SNS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MZ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세대 마케팅에 관심 많음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ROI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에 민감하며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숫자 기반 리포트 선호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2F846A5-84F0-B254-C44A-E33BE7DE7267}"/>
              </a:ext>
            </a:extLst>
          </p:cNvPr>
          <p:cNvSpPr txBox="1"/>
          <p:nvPr/>
        </p:nvSpPr>
        <p:spPr>
          <a:xfrm>
            <a:off x="2867025" y="1861261"/>
            <a:ext cx="878205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마케팅 담당자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FD74AB-DEE0-3FBC-D388-515FCC3543F6}"/>
              </a:ext>
            </a:extLst>
          </p:cNvPr>
          <p:cNvSpPr txBox="1"/>
          <p:nvPr/>
        </p:nvSpPr>
        <p:spPr>
          <a:xfrm>
            <a:off x="8034338" y="1877589"/>
            <a:ext cx="88677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학생회 대표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948FF3A-4E50-89E8-F87A-61C208BD40EE}"/>
              </a:ext>
            </a:extLst>
          </p:cNvPr>
          <p:cNvSpPr txBox="1"/>
          <p:nvPr/>
        </p:nvSpPr>
        <p:spPr>
          <a:xfrm>
            <a:off x="7031038" y="2885719"/>
            <a:ext cx="8867774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기업에 제안 보내고 기다리는 시간이 오래 걸림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회신 없음 → 행사 일정이 꼬임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자료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후기 등 준비할 게 많음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BBC840D-F5DC-D430-B6DF-ACDED2A5919C}"/>
              </a:ext>
            </a:extLst>
          </p:cNvPr>
          <p:cNvSpPr txBox="1"/>
          <p:nvPr/>
        </p:nvSpPr>
        <p:spPr>
          <a:xfrm>
            <a:off x="7031038" y="5245641"/>
            <a:ext cx="8867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 곳에서 협찬 기업을 찾고 제안하고 후기까지 관리하고 싶음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매칭 프로세스가 직관적이었으면 함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64B4B65-3EB1-C0EB-02D5-D17FBEDE4876}"/>
              </a:ext>
            </a:extLst>
          </p:cNvPr>
          <p:cNvSpPr txBox="1"/>
          <p:nvPr/>
        </p:nvSpPr>
        <p:spPr>
          <a:xfrm>
            <a:off x="7031038" y="7280552"/>
            <a:ext cx="8867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실무 역량 높음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엑셀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구글폼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인스타 콘텐츠 제작 등 가능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b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행사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컨텐츠 운영 경험 많음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D2BF4B2-254D-B265-FDD1-E00DF6314B70}"/>
              </a:ext>
            </a:extLst>
          </p:cNvPr>
          <p:cNvSpPr txBox="1"/>
          <p:nvPr/>
        </p:nvSpPr>
        <p:spPr>
          <a:xfrm>
            <a:off x="12031778" y="7286610"/>
            <a:ext cx="886777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일정 규모 이상 단체로 구성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콘텐츠나 후기 작성에 긍정적이며 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SNS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활용도 높음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87FBCDF-20F3-C676-B226-CEF73B3F4EE2}"/>
              </a:ext>
            </a:extLst>
          </p:cNvPr>
          <p:cNvSpPr txBox="1"/>
          <p:nvPr/>
        </p:nvSpPr>
        <p:spPr>
          <a:xfrm>
            <a:off x="12031778" y="5251699"/>
            <a:ext cx="102108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쉽게 협찬을 받아서 단체 활동을 좀 더 풍성하게 만들고 싶음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좋은 사례가 있으면 다른 </a:t>
            </a:r>
            <a:r>
              <a:rPr lang="ko-KR" altLang="en-US" sz="1500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단체와도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공유하고 싶음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EEE41F5-4867-29FD-A397-19B0AC6D042C}"/>
              </a:ext>
            </a:extLst>
          </p:cNvPr>
          <p:cNvSpPr txBox="1"/>
          <p:nvPr/>
        </p:nvSpPr>
        <p:spPr>
          <a:xfrm>
            <a:off x="11947526" y="2987364"/>
            <a:ext cx="1098232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학과</a:t>
            </a: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동아리 예산이 너무 부족해 기본적인 행사 운영도 어려움</a:t>
            </a:r>
            <a:b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sz="1500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개인 사비 부담이 생기기도 함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08AF515-CF23-6EDE-E993-FC73EFD15EE0}"/>
              </a:ext>
            </a:extLst>
          </p:cNvPr>
          <p:cNvSpPr txBox="1"/>
          <p:nvPr/>
        </p:nvSpPr>
        <p:spPr>
          <a:xfrm>
            <a:off x="13180326" y="1877575"/>
            <a:ext cx="111570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예산 부족한 대학 단체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1CD24CE-2B43-0FBE-077C-2C9CD121DD40}"/>
              </a:ext>
            </a:extLst>
          </p:cNvPr>
          <p:cNvSpPr txBox="1"/>
          <p:nvPr/>
        </p:nvSpPr>
        <p:spPr>
          <a:xfrm>
            <a:off x="2181225" y="2624435"/>
            <a:ext cx="44100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각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단과대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학생회에서 제휴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요청이 수시로 들어오는데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일일이 중개하거나 서포트하기 어려움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예산 배분과 운영이 일관되지 않아 투명성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효율성 문제 발생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8267C81-B5DE-B711-F238-179A2E56BA1D}"/>
              </a:ext>
            </a:extLst>
          </p:cNvPr>
          <p:cNvGraphicFramePr>
            <a:graphicFrameLocks noGrp="1"/>
          </p:cNvGraphicFramePr>
          <p:nvPr/>
        </p:nvGraphicFramePr>
        <p:xfrm>
          <a:off x="1206500" y="5578951"/>
          <a:ext cx="15143163" cy="365760"/>
        </p:xfrm>
        <a:graphic>
          <a:graphicData uri="http://schemas.openxmlformats.org/drawingml/2006/table">
            <a:tbl>
              <a:tblPr/>
              <a:tblGrid>
                <a:gridCol w="15143163">
                  <a:extLst>
                    <a:ext uri="{9D8B030D-6E8A-4147-A177-3AD203B41FA5}">
                      <a16:colId xmlns:a16="http://schemas.microsoft.com/office/drawing/2014/main" val="12309440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99622324"/>
                  </a:ext>
                </a:extLst>
              </a:tr>
            </a:tbl>
          </a:graphicData>
        </a:graphic>
      </p:graphicFrame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8B4AFB49-1E35-CCC9-FD4E-508704650B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9877022"/>
              </p:ext>
            </p:extLst>
          </p:nvPr>
        </p:nvGraphicFramePr>
        <p:xfrm>
          <a:off x="2231234" y="4751526"/>
          <a:ext cx="4622799" cy="1188720"/>
        </p:xfrm>
        <a:graphic>
          <a:graphicData uri="http://schemas.openxmlformats.org/drawingml/2006/table">
            <a:tbl>
              <a:tblPr/>
              <a:tblGrid>
                <a:gridCol w="4622799">
                  <a:extLst>
                    <a:ext uri="{9D8B030D-6E8A-4147-A177-3AD203B41FA5}">
                      <a16:colId xmlns:a16="http://schemas.microsoft.com/office/drawing/2014/main" val="31055217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- </a:t>
                      </a:r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단과대별 협찬 요청이 </a:t>
                      </a:r>
                      <a:r>
                        <a:rPr lang="ko-KR" altLang="en-US" b="1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표준화된 경로</a:t>
                      </a:r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로 들어오고</a:t>
                      </a:r>
                      <a:b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일관된 시스템으로 처리되면 행정 부담이 줄어들 것</a:t>
                      </a:r>
                      <a:b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</a:br>
                      <a:r>
                        <a:rPr lang="en-US" altLang="ko-KR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- </a:t>
                      </a:r>
                      <a:r>
                        <a:rPr lang="ko-KR" altLang="en-US" dirty="0">
                          <a:latin typeface="Pretendard Medium" panose="02000603000000020004" pitchFamily="50" charset="-127"/>
                          <a:ea typeface="Pretendard Medium" panose="02000603000000020004" pitchFamily="50" charset="-127"/>
                          <a:cs typeface="Pretendard Medium" panose="02000603000000020004" pitchFamily="50" charset="-127"/>
                        </a:rPr>
                        <a:t>전체 단체에 동일한 수준의 기회 제공 가능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3443357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C67A2CCE-BE2F-F12C-B2A5-2786AFBAD707}"/>
              </a:ext>
            </a:extLst>
          </p:cNvPr>
          <p:cNvSpPr txBox="1"/>
          <p:nvPr/>
        </p:nvSpPr>
        <p:spPr>
          <a:xfrm>
            <a:off x="2231234" y="6960234"/>
            <a:ext cx="36052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학교 전체 차원의 예산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행정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공식 커뮤니케이션 담당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다양한 학생단체를 거버넌스 하듯 관리하는 역할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D6CAE1-EDA5-4FC5-511B-38F0B1369E13}"/>
              </a:ext>
            </a:extLst>
          </p:cNvPr>
          <p:cNvSpPr txBox="1"/>
          <p:nvPr/>
        </p:nvSpPr>
        <p:spPr>
          <a:xfrm>
            <a:off x="7183439" y="7262951"/>
            <a:ext cx="878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스스로의 문제 해결 의지는 높지만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시스템과 리소스가 부족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매년 인원이 바뀌는 구조라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b="1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지속 가능한 운영 방식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필요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SNS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와 콘텐츠 작성에는 능숙하나 제휴는 낯설고 어렵게 느낌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E5E1FD4-EE5D-0604-A436-5A827936209C}"/>
              </a:ext>
            </a:extLst>
          </p:cNvPr>
          <p:cNvSpPr txBox="1"/>
          <p:nvPr/>
        </p:nvSpPr>
        <p:spPr>
          <a:xfrm>
            <a:off x="7183439" y="5021381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한 번의 회원가입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프로필 작성으로 여러 제휴 기회를 받을 수 있음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기업과의 소통이 자동화되거나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템플릿화되어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효율 상승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성과를 자동으로 리포트로 정리해주는 기능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93A396F-E012-CD74-F697-E42337EF31F6}"/>
              </a:ext>
            </a:extLst>
          </p:cNvPr>
          <p:cNvSpPr txBox="1"/>
          <p:nvPr/>
        </p:nvSpPr>
        <p:spPr>
          <a:xfrm>
            <a:off x="7183439" y="2901434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제휴를 시도해도 매번 개인이 담당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시스템 없음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행사 준비에 집중해야 할 시점에 협찬까지 챙기기 힘듦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 성과가 불분명해서 나중에 정산이나 보고서 작성에 어려움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5A26B99-4B62-EDC1-26E3-8187DB9B1826}"/>
              </a:ext>
            </a:extLst>
          </p:cNvPr>
          <p:cNvSpPr txBox="1"/>
          <p:nvPr/>
        </p:nvSpPr>
        <p:spPr>
          <a:xfrm>
            <a:off x="2431257" y="2472035"/>
            <a:ext cx="3814762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갑작스러운 홍보 요청에 콘텐츠를 빠르게 만들어야 함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요구사항이 많아졌을 때 과업 부담이 큼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리워드나 혜택이 명확하지 않은 협업엔 동기부여가 떨어짐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A65F466-DFE2-9147-2F59-97D621DFB6A7}"/>
              </a:ext>
            </a:extLst>
          </p:cNvPr>
          <p:cNvSpPr txBox="1"/>
          <p:nvPr/>
        </p:nvSpPr>
        <p:spPr>
          <a:xfrm>
            <a:off x="2431257" y="4821911"/>
            <a:ext cx="341947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간단한 템플릿 기반으로 콘텐츠 제작이 가능하고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홍보 시 리워드가 명확했으면 함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학과 이미지에 무리 없는 자연스러운 협찬 방식 선호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6B056C-6FEF-31AC-2CB0-6EE0CF74BC64}"/>
              </a:ext>
            </a:extLst>
          </p:cNvPr>
          <p:cNvSpPr txBox="1"/>
          <p:nvPr/>
        </p:nvSpPr>
        <p:spPr>
          <a:xfrm>
            <a:off x="2355055" y="7125385"/>
            <a:ext cx="389096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SNS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활용 및 홍보 콘텐츠 제작에 능숙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학기 중 시간 제약이 있고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사전 안내와 보상이 중요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60389F-93FB-04E2-E545-AACEC075A28E}"/>
              </a:ext>
            </a:extLst>
          </p:cNvPr>
          <p:cNvSpPr txBox="1"/>
          <p:nvPr/>
        </p:nvSpPr>
        <p:spPr>
          <a:xfrm>
            <a:off x="7457044" y="7125385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MZ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세대 대상 제품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서비스 보유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실무자가 홍보를 혼자 맡는 소규모 팀 구조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단기 성과보다 팬 확보 및 입소문을 중시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B2F2765-856B-EF53-DAAB-AA6142BBA835}"/>
              </a:ext>
            </a:extLst>
          </p:cNvPr>
          <p:cNvSpPr txBox="1"/>
          <p:nvPr/>
        </p:nvSpPr>
        <p:spPr>
          <a:xfrm>
            <a:off x="7457044" y="4937760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소규모 비용으로도 확실한 홍보 노출이 가능했으면 함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대학생이 직접 경험하고 소개해주는 방식 → 신뢰성 기대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 리포트나 후기 콘텐츠 확보로 브랜드 이미지 제고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B299D56-DE3B-7E51-F034-9FECB663F870}"/>
              </a:ext>
            </a:extLst>
          </p:cNvPr>
          <p:cNvSpPr txBox="1"/>
          <p:nvPr/>
        </p:nvSpPr>
        <p:spPr>
          <a:xfrm>
            <a:off x="7457044" y="2754918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대학생 타겟 홍보를 하고 싶어도 실질적인 채널이 없음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광고비용은 한정돼 있고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효율도 낮음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제휴는 시도했지만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운영이 복잡하고 결과도 불확실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8A33AA97-CB38-E031-9C71-620BCAD0E0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2733586"/>
            <a:ext cx="700384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협찬을 받으면 학과/동아리 행사에 도움이 된다는 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일부 다른 학생회는 협찬을 통해 간식,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굿즈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홍보물 등을 제공받고 있다는 것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기업에 제안서를 보내거나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DM을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보내면 </a:t>
            </a: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컨택할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수 있다는 경험적 인식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학생들이 협찬 물품에 긍정적인 반응을 보인다는 것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94662F0C-1211-44AD-27E0-FAB2B7C4C5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4848136"/>
            <a:ext cx="566052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기업이 협찬에 관심이 있는지, 기준이 무엇인지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나와 같은 단체가 어떤 방식으로 제휴를 진행해야 효율적인지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회신률을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높일 수 있는 제안서 포맷이나 커뮤니케이션 방식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 이후 기업이 원하는 홍보 성과나 정량적 기준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F07C8BBB-3619-895C-40E2-2537D9C73E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800" y="7052786"/>
            <a:ext cx="5479385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내가 속한 단체 규모/타겟에 맞는 기업 리스트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이전에 성공적으로 협찬을 받은 사례나 기업 리스트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콘텐츠(후기, 피드백 등)가 효과적인지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외에도 가능했던 기업 연계 활동은 무엇이 있는지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ko-KR" altLang="ko-KR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성공률을 높이는 실전 노하우 (템플릿, 후기, Q&amp;A 등)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364A99F-67C6-C20E-EAC8-E70483563F7D}"/>
              </a:ext>
            </a:extLst>
          </p:cNvPr>
          <p:cNvSpPr txBox="1"/>
          <p:nvPr/>
        </p:nvSpPr>
        <p:spPr>
          <a:xfrm>
            <a:off x="2390775" y="2896285"/>
            <a:ext cx="454342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대학생 타겟 홍보는 브랜드 인지도를 높이기에 효과적임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협찬을 통한 체험 기반 마케팅이 효과 있다는 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4C6CBD8-6C62-7C15-0151-8100645C2C3C}"/>
              </a:ext>
            </a:extLst>
          </p:cNvPr>
          <p:cNvSpPr txBox="1"/>
          <p:nvPr/>
        </p:nvSpPr>
        <p:spPr>
          <a:xfrm>
            <a:off x="7375526" y="3034784"/>
            <a:ext cx="38988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제안서를 보내면 간식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물품 등을 받을 수 있다는 것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일부 성공사례가 있다는 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5D1685-3709-27E4-7C4F-288B363CA53F}"/>
              </a:ext>
            </a:extLst>
          </p:cNvPr>
          <p:cNvSpPr txBox="1"/>
          <p:nvPr/>
        </p:nvSpPr>
        <p:spPr>
          <a:xfrm>
            <a:off x="12466003" y="2758649"/>
            <a:ext cx="3898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예산이 부족해 행사를 열거나 간식을 준비하는 게 쉽지 않다는 것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타과는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협찬받았다는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이야기를 들은 적 있음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FAA6642-4644-BA9A-03C2-82339495FE5D}"/>
              </a:ext>
            </a:extLst>
          </p:cNvPr>
          <p:cNvSpPr txBox="1"/>
          <p:nvPr/>
        </p:nvSpPr>
        <p:spPr>
          <a:xfrm>
            <a:off x="2390775" y="4782300"/>
            <a:ext cx="4081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단체가 신뢰도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후 어떤 콘텐츠가 제작되고 어디에 노출되는지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홍보 효과가 얼마나 있는지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정량화 어려움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FFE59D7-BC19-6172-2635-76136C7C2F02}"/>
              </a:ext>
            </a:extLst>
          </p:cNvPr>
          <p:cNvSpPr txBox="1"/>
          <p:nvPr/>
        </p:nvSpPr>
        <p:spPr>
          <a:xfrm>
            <a:off x="7284244" y="4813575"/>
            <a:ext cx="40814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기업이 협찬에 열려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제안이 왜 거절됐는지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회신을 안 받은 이유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이후 기업이 원하는 피드백이나 포맷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AC55280-5F2A-AB38-23A4-6E92AE3A33FD}"/>
              </a:ext>
            </a:extLst>
          </p:cNvPr>
          <p:cNvSpPr txBox="1"/>
          <p:nvPr/>
        </p:nvSpPr>
        <p:spPr>
          <a:xfrm>
            <a:off x="12466003" y="4782300"/>
            <a:ext cx="36814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방식으로 협찬을 요청해야 하는지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나 같은 단체도 제휴가 가능한지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기업들이 대학생과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협업하려는지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7C419C-C09D-4BA5-8505-37A2CAF3CECF}"/>
              </a:ext>
            </a:extLst>
          </p:cNvPr>
          <p:cNvSpPr txBox="1"/>
          <p:nvPr/>
        </p:nvSpPr>
        <p:spPr>
          <a:xfrm>
            <a:off x="2390775" y="7163485"/>
            <a:ext cx="408146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신뢰할 수 있는 단체와 효율적으로 협업할 수 있는 플랫폼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 성과를 정량적으로 파악할 수 있는 방법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AA4B38F-76EE-951B-A23C-F662FAEB2D13}"/>
              </a:ext>
            </a:extLst>
          </p:cNvPr>
          <p:cNvSpPr txBox="1"/>
          <p:nvPr/>
        </p:nvSpPr>
        <p:spPr>
          <a:xfrm>
            <a:off x="7329488" y="7146364"/>
            <a:ext cx="36814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제안서 템플릿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성공률 높은 제휴 방법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간편한 협찬 연결 시스템 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(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중개 플랫폼 등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)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8A4E221-8BAB-390D-F00B-40B3073E2656}"/>
              </a:ext>
            </a:extLst>
          </p:cNvPr>
          <p:cNvSpPr txBox="1"/>
          <p:nvPr/>
        </p:nvSpPr>
        <p:spPr>
          <a:xfrm>
            <a:off x="12296301" y="7007864"/>
            <a:ext cx="38988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쉽게 쓸 수 있는 협찬 시스템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기업이 원하는 제휴 방식이 어떤 건지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우리가 줄 수 있는 콘텐츠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피드백이 도움이 되는지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6BBE72-2377-38F2-49AC-154CC318B849}"/>
              </a:ext>
            </a:extLst>
          </p:cNvPr>
          <p:cNvSpPr txBox="1"/>
          <p:nvPr/>
        </p:nvSpPr>
        <p:spPr>
          <a:xfrm>
            <a:off x="2447925" y="2629585"/>
            <a:ext cx="38576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단과대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학생회들이 협찬 제휴를 스스로 추진하고 있다는 것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학교 전체 차원에서 기업 연계를 지원할 수 있으면 좋다는 요청이 반복되고 있음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EB54C-F12A-03EF-EF68-3228CEC374C4}"/>
              </a:ext>
            </a:extLst>
          </p:cNvPr>
          <p:cNvSpPr txBox="1"/>
          <p:nvPr/>
        </p:nvSpPr>
        <p:spPr>
          <a:xfrm>
            <a:off x="2262188" y="4775224"/>
            <a:ext cx="4043362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개별 학생회들이 얼마나 많은 협찬 수요를 갖고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현재 제휴 제안의 성공률이나 성과는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어떠한지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단과대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운영진의 실제 협업 어려움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106518F-9915-E72F-657F-9FF4402C1E0B}"/>
              </a:ext>
            </a:extLst>
          </p:cNvPr>
          <p:cNvSpPr txBox="1"/>
          <p:nvPr/>
        </p:nvSpPr>
        <p:spPr>
          <a:xfrm>
            <a:off x="2447924" y="6886915"/>
            <a:ext cx="38576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실제 협찬 수요가 얼마나 되는지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단과대별 제휴 진행을 도울 수 있는 중앙 시스템의 필요성 여부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학교 차원의 가이드 제공이 실효성이 있는지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834FA97-321A-83EE-DF0B-753C41E980E4}"/>
              </a:ext>
            </a:extLst>
          </p:cNvPr>
          <p:cNvSpPr txBox="1"/>
          <p:nvPr/>
        </p:nvSpPr>
        <p:spPr>
          <a:xfrm>
            <a:off x="7348538" y="7163914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내가 준비한 제안서가 경쟁력이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유니커넥트를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통해 어떤 기업과 매칭될 수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요청 후 어떤 행동을 해야 성사될 확률이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높은지</a:t>
            </a:r>
            <a:endParaRPr lang="ko-KR" altLang="en-US" dirty="0">
              <a:latin typeface="Pretendard Medium" panose="02000603000000020004" pitchFamily="50" charset="-127"/>
              <a:ea typeface="Pretendard Medium" panose="02000603000000020004" pitchFamily="50" charset="-127"/>
              <a:cs typeface="Pretendard Medium" panose="02000603000000020004" pitchFamily="50" charset="-127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9DB8EEF-CB09-AB4C-039A-53C4EABBE3F9}"/>
              </a:ext>
            </a:extLst>
          </p:cNvPr>
          <p:cNvSpPr txBox="1"/>
          <p:nvPr/>
        </p:nvSpPr>
        <p:spPr>
          <a:xfrm>
            <a:off x="7348538" y="5052223"/>
            <a:ext cx="8867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기업이 협찬 제안서를 볼 때 가장 중요하게 보는 기준이 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회신을 유도할 수 있는 효과적인 말투나 포맷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타 단체는 어떻게 협찬을 받고 있는지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DBB50F-BA82-10AD-511B-C642948CA3D5}"/>
              </a:ext>
            </a:extLst>
          </p:cNvPr>
          <p:cNvSpPr txBox="1"/>
          <p:nvPr/>
        </p:nvSpPr>
        <p:spPr>
          <a:xfrm>
            <a:off x="7348538" y="2802282"/>
            <a:ext cx="878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제안서를 기업에 보내도 회신이 없거나 느림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좋은 기업과 연결되면 행사 만족도가 매우 높아짐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학과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/</a:t>
            </a:r>
            <a:r>
              <a:rPr lang="ko-KR" altLang="en-US" dirty="0" err="1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행사별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 특성에 맞는 협찬 기업을 찾기 어려움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9FAAFC2-8FFD-1C6E-5E2E-0B9254DC05AF}"/>
              </a:ext>
            </a:extLst>
          </p:cNvPr>
          <p:cNvSpPr txBox="1"/>
          <p:nvPr/>
        </p:nvSpPr>
        <p:spPr>
          <a:xfrm>
            <a:off x="2424112" y="2648635"/>
            <a:ext cx="393382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 제품을 행사에 노출하거나 후기를 써주는 방식으로 협업이 가능함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브랜드 협찬이 행사 퀄리티를 높이고 학우 만족도를 높인다는 것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777C8E4-9EB1-5B7A-A262-DB1D6A10DD9C}"/>
              </a:ext>
            </a:extLst>
          </p:cNvPr>
          <p:cNvSpPr txBox="1"/>
          <p:nvPr/>
        </p:nvSpPr>
        <p:spPr>
          <a:xfrm>
            <a:off x="2424112" y="4662785"/>
            <a:ext cx="393382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기업이 어떤 기준으로 학생회를 고르는지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방식의 후기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·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콘텐츠가 도움이 되는지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제휴 후 실제 브랜드에 어떤 영향을 주는지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F1315C8-A584-3599-D788-3017BA6A64F9}"/>
              </a:ext>
            </a:extLst>
          </p:cNvPr>
          <p:cNvSpPr txBox="1"/>
          <p:nvPr/>
        </p:nvSpPr>
        <p:spPr>
          <a:xfrm>
            <a:off x="2516982" y="6774598"/>
            <a:ext cx="364331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협찬을 잘 받기 위한 제안서 작성 팁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협업 성공 사례 및 후기 작성 가이드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더 많은 기업과 연결될 수 있는 방법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BD81605-4C32-E7C9-4FFF-2A68D0D62B9B}"/>
              </a:ext>
            </a:extLst>
          </p:cNvPr>
          <p:cNvSpPr txBox="1"/>
          <p:nvPr/>
        </p:nvSpPr>
        <p:spPr>
          <a:xfrm>
            <a:off x="7467362" y="7190096"/>
            <a:ext cx="878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브랜드에 적합한 학생회 추천 및 자동 매칭 방식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협찬 진행 후 결과를 보고할 수 있는 포맷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소규모 예산으로 효과적으로 제휴하는 실질적인 방법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A86B53-ACC0-523A-1037-3371F9F6EA53}"/>
              </a:ext>
            </a:extLst>
          </p:cNvPr>
          <p:cNvSpPr txBox="1"/>
          <p:nvPr/>
        </p:nvSpPr>
        <p:spPr>
          <a:xfrm>
            <a:off x="7467124" y="4933950"/>
            <a:ext cx="87820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어떤 단체와 매칭하면 브랜드에 잘 맞는지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후기가 얼마나 노출되고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반응이 있는지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학생회가 얼마나 진정성 있게 참여하는지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861C65-FA30-AB23-F890-AC32B8F97CC9}"/>
              </a:ext>
            </a:extLst>
          </p:cNvPr>
          <p:cNvSpPr txBox="1"/>
          <p:nvPr/>
        </p:nvSpPr>
        <p:spPr>
          <a:xfrm>
            <a:off x="7467124" y="2954803"/>
            <a:ext cx="87820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대학생 타겟 홍보는 중요하지만</a:t>
            </a: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,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마땅한 접점이 부족함</a:t>
            </a:r>
            <a:b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</a:br>
            <a:r>
              <a:rPr lang="en-US" altLang="ko-KR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- SNS </a:t>
            </a:r>
            <a:r>
              <a:rPr lang="ko-KR" altLang="en-US" dirty="0">
                <a:latin typeface="Pretendard Medium" panose="02000603000000020004" pitchFamily="50" charset="-127"/>
                <a:ea typeface="Pretendard Medium" panose="02000603000000020004" pitchFamily="50" charset="-127"/>
                <a:cs typeface="Pretendard Medium" panose="02000603000000020004" pitchFamily="50" charset="-127"/>
              </a:rPr>
              <a:t>후기 기반의 협찬 마케팅은 비용 대비 효율이 높다는 것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7556480" cy="9875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1394</Words>
  <Application>Microsoft Office PowerPoint</Application>
  <PresentationFormat>사용자 지정</PresentationFormat>
  <Paragraphs>99</Paragraphs>
  <Slides>15</Slides>
  <Notes>15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8" baseType="lpstr">
      <vt:lpstr>Arial</vt:lpstr>
      <vt:lpstr>Pretendard Medium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mangoboard.net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러닝메이트 워크북</dc:title>
  <dc:subject>Presentation</dc:subject>
  <dc:creator>mangoboard.net_47904958</dc:creator>
  <cp:lastModifiedBy>Lina Kang</cp:lastModifiedBy>
  <cp:revision>5</cp:revision>
  <dcterms:created xsi:type="dcterms:W3CDTF">2025-04-11T08:42:54Z</dcterms:created>
  <dcterms:modified xsi:type="dcterms:W3CDTF">2025-04-19T13:07:36Z</dcterms:modified>
</cp:coreProperties>
</file>