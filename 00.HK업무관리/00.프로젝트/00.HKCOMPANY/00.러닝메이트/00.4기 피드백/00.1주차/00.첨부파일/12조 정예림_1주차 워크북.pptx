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7" r:id="rId3"/>
    <p:sldId id="268" r:id="rId4"/>
    <p:sldId id="281" r:id="rId5"/>
    <p:sldId id="272" r:id="rId6"/>
    <p:sldId id="277" r:id="rId7"/>
    <p:sldId id="278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9T05:25:33.528"/>
    </inkml:context>
    <inkml:brush xml:id="br0">
      <inkml:brushProperty name="width" value="0.2" units="cm"/>
      <inkml:brushProperty name="height" value="0.2" units="cm"/>
      <inkml:brushProperty name="color" value="#FF4E00"/>
      <inkml:brushProperty name="inkEffects" value="rainbow"/>
      <inkml:brushProperty name="anchorX" value="0"/>
      <inkml:brushProperty name="anchorY" value="0"/>
      <inkml:brushProperty name="scaleFactor" value="0.5"/>
    </inkml:brush>
  </inkml:definitions>
  <inkml:trace contextRef="#ctx0" brushRef="#br0">0 1 24575,'0'0'0,"0"13"0,8 12 0,7 13 0,7 13 0,7 2 0,5 8 0,-5 5 0,-5-4 0,-1 18 0,2 2 0,10 17 0,-4 0 0,2 6 0,9 2 0,1-4 0,0-15 0,-7 2 0,-3-7 0,-8-3 0,1-9 0,0-10 0,-5-9 0,2-14 0,-4 2 0,2-10 0,-19-30 0,0 2 0,0 0 0,0 0 0,0-1 0,0 1 0,1-1 0,-1 0 0,0 0 0,4 2 0,-4-3 0,0 1 0,0-1 0,0 0 0,0 0 0,0 0 0,0 0 0,0 0 0,0 0 0,1 0 0,-1-1 0,3 0 0,-4 1 0,2-1 0,-1 0 0,1-1 0,-1 1 0,0 0 0,1-1 0,-1 1 0,4-4 0,13-21 0,2-7 0,-5-12 0,3-2 0,-3-9 0,4-6 0,3 3 0,-12 43 0,-2 1 0,14-17 0,17-34 0,16-3 0,1 5 0,13-1 0,12-2 0,-3-1 0,-8 5 0,-1-2 0,-9 6 0,1-1 0,0 5 0,-11-3 0,2 4 0,2 4 0,-2-19 0,-3 11 0,-11-4 0,-4 12 0,-2 13 0,-9 5 0,1 11 0,-6 0 0,2 5 0,3 6 0,-11-5 0,-5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60421-5276-6D3C-6172-D625A42A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1C862-BDCE-0B42-0183-0BD0E36C9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F16B3-10C9-8448-DD41-2C6E64417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8AB9-63BB-AAD1-8A96-991032D71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58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713468-F5A9-7AB1-8BB1-E83DD0AB62C1}"/>
              </a:ext>
            </a:extLst>
          </p:cNvPr>
          <p:cNvSpPr txBox="1"/>
          <p:nvPr/>
        </p:nvSpPr>
        <p:spPr>
          <a:xfrm>
            <a:off x="11744769" y="2275298"/>
            <a:ext cx="84272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팀 </a:t>
            </a:r>
            <a:r>
              <a:rPr lang="ko-KR" altLang="en-US" sz="4400" b="1" dirty="0" err="1"/>
              <a:t>두리안</a:t>
            </a:r>
            <a:r>
              <a:rPr lang="en-US" altLang="ko-KR" sz="4400" b="1" dirty="0"/>
              <a:t>(</a:t>
            </a:r>
            <a:r>
              <a:rPr lang="ko-KR" altLang="en-US" sz="4400" b="1" dirty="0"/>
              <a:t>정예림</a:t>
            </a:r>
            <a:r>
              <a:rPr lang="en-US" altLang="ko-KR" sz="4400" b="1" dirty="0"/>
              <a:t>)</a:t>
            </a:r>
          </a:p>
          <a:p>
            <a:r>
              <a:rPr lang="en-US" altLang="ko-KR" sz="4400" b="1" dirty="0"/>
              <a:t>&lt;</a:t>
            </a:r>
            <a:r>
              <a:rPr lang="ko-KR" altLang="en-US" sz="4400" b="1" dirty="0" err="1"/>
              <a:t>아이똑똑</a:t>
            </a:r>
            <a:r>
              <a:rPr lang="en-US" altLang="ko-KR" sz="4400" b="1" dirty="0"/>
              <a:t> </a:t>
            </a:r>
            <a:r>
              <a:rPr lang="ko-KR" altLang="en-US" sz="4400" b="1" dirty="0"/>
              <a:t>똥피하기</a:t>
            </a:r>
            <a:r>
              <a:rPr lang="en-US" altLang="ko-KR" sz="4400" b="1" dirty="0"/>
              <a:t>&gt;</a:t>
            </a:r>
          </a:p>
        </p:txBody>
      </p:sp>
      <p:pic>
        <p:nvPicPr>
          <p:cNvPr id="3074" name="Picture 2" descr="과일의 왕'이라고 불리우는 두리안, 왜 악취가 나는 걸까? : 네이버 블로그">
            <a:extLst>
              <a:ext uri="{FF2B5EF4-FFF2-40B4-BE49-F238E27FC236}">
                <a16:creationId xmlns:a16="http://schemas.microsoft.com/office/drawing/2014/main" id="{8D5232D3-FD0C-F5E7-DF41-B6D5BE58A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2480" y="4074784"/>
            <a:ext cx="4525905" cy="334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DBE66F3-057F-7099-6351-9D5FBBCD0576}"/>
                  </a:ext>
                </a:extLst>
              </p14:cNvPr>
              <p14:cNvContentPartPr/>
              <p14:nvPr/>
            </p14:nvContentPartPr>
            <p14:xfrm>
              <a:off x="12846424" y="1908974"/>
              <a:ext cx="767880" cy="6102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DBE66F3-057F-7099-6351-9D5FBBCD05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10424" y="1873334"/>
                <a:ext cx="839520" cy="68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22A5E0-BC0E-243F-F40F-B3B3E2C28764}"/>
              </a:ext>
            </a:extLst>
          </p:cNvPr>
          <p:cNvSpPr txBox="1"/>
          <p:nvPr/>
        </p:nvSpPr>
        <p:spPr>
          <a:xfrm>
            <a:off x="7692720" y="2430418"/>
            <a:ext cx="8250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취미</a:t>
            </a:r>
            <a:r>
              <a:rPr lang="en-US" altLang="ko-KR" b="1" dirty="0"/>
              <a:t>: </a:t>
            </a:r>
            <a:r>
              <a:rPr lang="ko-KR" altLang="en-US" b="1" dirty="0" err="1"/>
              <a:t>웹소설</a:t>
            </a:r>
            <a:r>
              <a:rPr lang="ko-KR" altLang="en-US" b="1" dirty="0"/>
              <a:t> 읽기</a:t>
            </a:r>
            <a:r>
              <a:rPr lang="en-US" altLang="ko-KR" b="1" dirty="0"/>
              <a:t>, </a:t>
            </a:r>
            <a:r>
              <a:rPr lang="ko-KR" altLang="en-US" b="1" dirty="0"/>
              <a:t>주말에 아이와 태화강 국가정원 산책</a:t>
            </a:r>
            <a:endParaRPr lang="en-US" altLang="ko-KR" b="1" dirty="0"/>
          </a:p>
          <a:p>
            <a:r>
              <a:rPr lang="ko-KR" altLang="en-US" b="1" dirty="0"/>
              <a:t>구매 습관</a:t>
            </a:r>
            <a:r>
              <a:rPr lang="en-US" altLang="ko-KR" b="1" dirty="0"/>
              <a:t>: </a:t>
            </a:r>
            <a:r>
              <a:rPr lang="ko-KR" altLang="en-US" b="1" dirty="0"/>
              <a:t>시간이 많이 없기 때문에 가끔 뜨는 특가 세일 광고를 보고 인터넷 구매 혹은 인스타그램 공구</a:t>
            </a:r>
            <a:endParaRPr lang="en-US" altLang="ko-KR" b="1" dirty="0"/>
          </a:p>
          <a:p>
            <a:r>
              <a:rPr lang="ko-KR" altLang="en-US" b="1" dirty="0"/>
              <a:t>사용 습관</a:t>
            </a:r>
            <a:r>
              <a:rPr lang="en-US" altLang="ko-KR" b="1" dirty="0"/>
              <a:t>: </a:t>
            </a:r>
            <a:r>
              <a:rPr lang="ko-KR" altLang="en-US" b="1" dirty="0"/>
              <a:t>모바일 중심</a:t>
            </a:r>
            <a:r>
              <a:rPr lang="en-US" altLang="ko-KR" b="1" dirty="0"/>
              <a:t>, </a:t>
            </a:r>
            <a:r>
              <a:rPr lang="ko-KR" altLang="en-US" b="1" dirty="0" err="1"/>
              <a:t>숏폼의</a:t>
            </a:r>
            <a:r>
              <a:rPr lang="ko-KR" altLang="en-US" b="1" dirty="0"/>
              <a:t> 짧은 육아 팁 콘텐츠 즐겨 봄</a:t>
            </a:r>
            <a:endParaRPr lang="en-US" altLang="ko-KR" b="1" dirty="0"/>
          </a:p>
          <a:p>
            <a:r>
              <a:rPr lang="ko-KR" altLang="en-US" b="1" dirty="0"/>
              <a:t>소비 패턴</a:t>
            </a:r>
            <a:r>
              <a:rPr lang="en-US" altLang="ko-KR" b="1" dirty="0"/>
              <a:t>: </a:t>
            </a:r>
            <a:r>
              <a:rPr lang="ko-KR" altLang="en-US" b="1" dirty="0"/>
              <a:t>가성비를 따지지만 교육 관련 제품에는 투자하려는 성향</a:t>
            </a:r>
            <a:endParaRPr lang="en-US" altLang="ko-KR" b="1" dirty="0"/>
          </a:p>
          <a:p>
            <a:r>
              <a:rPr lang="ko-KR" altLang="en-US" b="1" dirty="0"/>
              <a:t>정보 수집 방법</a:t>
            </a:r>
            <a:r>
              <a:rPr lang="en-US" altLang="ko-KR" b="1" dirty="0"/>
              <a:t>: </a:t>
            </a:r>
            <a:r>
              <a:rPr lang="ko-KR" altLang="en-US" b="1" dirty="0"/>
              <a:t>지역 </a:t>
            </a:r>
            <a:r>
              <a:rPr lang="ko-KR" altLang="en-US" b="1" dirty="0" err="1"/>
              <a:t>맘카페</a:t>
            </a:r>
            <a:r>
              <a:rPr lang="en-US" altLang="ko-KR" b="1" dirty="0"/>
              <a:t>, </a:t>
            </a:r>
            <a:r>
              <a:rPr lang="ko-KR" altLang="en-US" b="1" dirty="0"/>
              <a:t>육아 </a:t>
            </a:r>
            <a:r>
              <a:rPr lang="ko-KR" altLang="en-US" b="1" dirty="0" err="1"/>
              <a:t>인플루언서</a:t>
            </a:r>
            <a:r>
              <a:rPr lang="en-US" altLang="ko-KR" b="1" dirty="0"/>
              <a:t>, </a:t>
            </a:r>
            <a:r>
              <a:rPr lang="ko-KR" altLang="en-US" b="1" dirty="0"/>
              <a:t>네이버 블로그</a:t>
            </a:r>
            <a:endParaRPr lang="en-US" altLang="ko-KR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E237C-C62B-629E-A732-94FE9A3919FC}"/>
              </a:ext>
            </a:extLst>
          </p:cNvPr>
          <p:cNvSpPr txBox="1"/>
          <p:nvPr/>
        </p:nvSpPr>
        <p:spPr>
          <a:xfrm>
            <a:off x="1296836" y="5694729"/>
            <a:ext cx="34245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나이</a:t>
            </a:r>
            <a:r>
              <a:rPr lang="en-US" altLang="ko-KR" b="1" dirty="0"/>
              <a:t>: 37</a:t>
            </a:r>
            <a:r>
              <a:rPr lang="ko-KR" altLang="en-US" b="1" dirty="0"/>
              <a:t>세</a:t>
            </a:r>
            <a:endParaRPr lang="en-US" altLang="ko-KR" b="1" dirty="0"/>
          </a:p>
          <a:p>
            <a:r>
              <a:rPr lang="ko-KR" altLang="en-US" b="1" dirty="0"/>
              <a:t>성별</a:t>
            </a:r>
            <a:r>
              <a:rPr lang="en-US" altLang="ko-KR" b="1" dirty="0"/>
              <a:t>: </a:t>
            </a:r>
            <a:r>
              <a:rPr lang="ko-KR" altLang="en-US" b="1" dirty="0"/>
              <a:t>여성</a:t>
            </a:r>
            <a:endParaRPr lang="en-US" altLang="ko-KR" b="1" dirty="0"/>
          </a:p>
          <a:p>
            <a:r>
              <a:rPr lang="ko-KR" altLang="en-US" b="1" dirty="0"/>
              <a:t>직업</a:t>
            </a:r>
            <a:r>
              <a:rPr lang="en-US" altLang="ko-KR" b="1" dirty="0"/>
              <a:t>: </a:t>
            </a:r>
            <a:r>
              <a:rPr lang="ko-KR" altLang="en-US" b="1" dirty="0"/>
              <a:t>회사원</a:t>
            </a:r>
            <a:r>
              <a:rPr lang="en-US" altLang="ko-KR" b="1" dirty="0"/>
              <a:t>(</a:t>
            </a:r>
            <a:r>
              <a:rPr lang="ko-KR" altLang="en-US" b="1" dirty="0"/>
              <a:t>대리</a:t>
            </a:r>
            <a:r>
              <a:rPr lang="en-US" altLang="ko-KR" b="1" dirty="0"/>
              <a:t>)</a:t>
            </a:r>
          </a:p>
          <a:p>
            <a:r>
              <a:rPr lang="ko-KR" altLang="en-US" b="1" dirty="0"/>
              <a:t>교육 수준</a:t>
            </a:r>
            <a:r>
              <a:rPr lang="en-US" altLang="ko-KR" b="1" dirty="0"/>
              <a:t>: 4</a:t>
            </a:r>
            <a:r>
              <a:rPr lang="ko-KR" altLang="en-US" b="1" dirty="0"/>
              <a:t>년제 대학교 졸업</a:t>
            </a:r>
            <a:endParaRPr lang="en-US" altLang="ko-KR" b="1" dirty="0"/>
          </a:p>
          <a:p>
            <a:r>
              <a:rPr lang="ko-KR" altLang="en-US" b="1" dirty="0"/>
              <a:t>소득 수준</a:t>
            </a:r>
            <a:r>
              <a:rPr lang="en-US" altLang="ko-KR" b="1" dirty="0"/>
              <a:t>: </a:t>
            </a:r>
            <a:r>
              <a:rPr lang="ko-KR" altLang="en-US" b="1" dirty="0"/>
              <a:t>연 </a:t>
            </a:r>
            <a:r>
              <a:rPr lang="en-US" altLang="ko-KR" b="1" dirty="0"/>
              <a:t>4,500</a:t>
            </a:r>
            <a:r>
              <a:rPr lang="ko-KR" altLang="en-US" b="1" dirty="0"/>
              <a:t>만 원</a:t>
            </a:r>
            <a:endParaRPr lang="en-US" altLang="ko-KR" b="1" dirty="0"/>
          </a:p>
          <a:p>
            <a:r>
              <a:rPr lang="ko-KR" altLang="en-US" b="1" dirty="0"/>
              <a:t>가구 형태</a:t>
            </a:r>
            <a:r>
              <a:rPr lang="en-US" altLang="ko-KR" b="1" dirty="0"/>
              <a:t>: 3</a:t>
            </a:r>
            <a:r>
              <a:rPr lang="ko-KR" altLang="en-US" b="1" dirty="0"/>
              <a:t>인 맞벌이 가구</a:t>
            </a:r>
            <a:endParaRPr lang="en-US" altLang="ko-KR" b="1" dirty="0"/>
          </a:p>
          <a:p>
            <a:r>
              <a:rPr lang="ko-KR" altLang="en-US" b="1" dirty="0"/>
              <a:t>거주 지역</a:t>
            </a:r>
            <a:r>
              <a:rPr lang="en-US" altLang="ko-KR" b="1" dirty="0"/>
              <a:t>: </a:t>
            </a:r>
            <a:r>
              <a:rPr lang="ko-KR" altLang="en-US" b="1" dirty="0"/>
              <a:t>울산광역시 남구</a:t>
            </a:r>
            <a:endParaRPr lang="en-US" altLang="ko-KR" b="1" dirty="0"/>
          </a:p>
          <a:p>
            <a:r>
              <a:rPr lang="ko-KR" altLang="en-US" b="1" dirty="0"/>
              <a:t>주거 형태</a:t>
            </a:r>
            <a:r>
              <a:rPr lang="en-US" altLang="ko-KR" b="1" dirty="0"/>
              <a:t>: </a:t>
            </a:r>
            <a:r>
              <a:rPr lang="ko-KR" altLang="en-US" b="1" dirty="0"/>
              <a:t>아파트</a:t>
            </a:r>
            <a:endParaRPr lang="en-US" altLang="ko-K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42767-F179-090E-67BA-8C5F2264FABC}"/>
              </a:ext>
            </a:extLst>
          </p:cNvPr>
          <p:cNvSpPr txBox="1"/>
          <p:nvPr/>
        </p:nvSpPr>
        <p:spPr>
          <a:xfrm>
            <a:off x="7692718" y="5694729"/>
            <a:ext cx="84272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목표</a:t>
            </a:r>
            <a:r>
              <a:rPr lang="en-US" altLang="ko-KR" b="1" dirty="0"/>
              <a:t>: </a:t>
            </a:r>
            <a:r>
              <a:rPr lang="ko-KR" altLang="en-US" b="1" dirty="0"/>
              <a:t>시간과 돈 절약</a:t>
            </a:r>
            <a:r>
              <a:rPr lang="en-US" altLang="ko-KR" b="1" dirty="0"/>
              <a:t>, </a:t>
            </a:r>
            <a:r>
              <a:rPr lang="ko-KR" altLang="en-US" b="1" dirty="0"/>
              <a:t>아이 초등학교 입학 전 사회성과 기초 지식을 자연스레 키우길 바람 </a:t>
            </a:r>
            <a:endParaRPr lang="en-US" altLang="ko-KR" b="1" dirty="0"/>
          </a:p>
          <a:p>
            <a:r>
              <a:rPr lang="ko-KR" altLang="en-US" b="1" dirty="0"/>
              <a:t>욕구</a:t>
            </a:r>
            <a:r>
              <a:rPr lang="en-US" altLang="ko-KR" b="1" dirty="0"/>
              <a:t>: </a:t>
            </a:r>
            <a:r>
              <a:rPr lang="ko-KR" altLang="en-US" b="1" dirty="0"/>
              <a:t>아이가 스마트폰 사용을 조금 줄였으면 함</a:t>
            </a:r>
            <a:r>
              <a:rPr lang="en-US" altLang="ko-KR" b="1" dirty="0"/>
              <a:t>, </a:t>
            </a:r>
            <a:r>
              <a:rPr lang="ko-KR" altLang="en-US" b="1" dirty="0"/>
              <a:t>아이가 스스로 교육적인 부분에 흥미를 붙이길 바람 </a:t>
            </a:r>
            <a:endParaRPr lang="en-US" altLang="ko-KR" b="1" dirty="0"/>
          </a:p>
          <a:p>
            <a:r>
              <a:rPr lang="ko-KR" altLang="en-US" b="1" dirty="0"/>
              <a:t>페인 포인트</a:t>
            </a:r>
            <a:r>
              <a:rPr lang="en-US" altLang="ko-KR" b="1" dirty="0"/>
              <a:t>: </a:t>
            </a:r>
            <a:r>
              <a:rPr lang="ko-KR" altLang="en-US" b="1" dirty="0"/>
              <a:t>우리 아이가 다른 아이보다 뒤쳐지지 않나 싶은 불안</a:t>
            </a:r>
            <a:r>
              <a:rPr lang="en-US" altLang="ko-KR" b="1" dirty="0"/>
              <a:t>, </a:t>
            </a:r>
            <a:r>
              <a:rPr lang="ko-KR" altLang="en-US" b="1" dirty="0"/>
              <a:t>울산 지역 교육 인프라에 대한 불신</a:t>
            </a:r>
            <a:endParaRPr lang="en-US" altLang="ko-KR" b="1" dirty="0"/>
          </a:p>
        </p:txBody>
      </p:sp>
      <p:pic>
        <p:nvPicPr>
          <p:cNvPr id="2050" name="Picture 2" descr="귀여움 감동 다 잡았다&quot;…'미니언즈' 아닌 '슈퍼배드4'로 돌아온 이유 - 머니투데이">
            <a:extLst>
              <a:ext uri="{FF2B5EF4-FFF2-40B4-BE49-F238E27FC236}">
                <a16:creationId xmlns:a16="http://schemas.microsoft.com/office/drawing/2014/main" id="{91B4C085-35D8-4238-52E6-91B4530C5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36" y="1872785"/>
            <a:ext cx="5334535" cy="288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AB8F61-177E-4E2E-BBDF-1288490ED249}"/>
              </a:ext>
            </a:extLst>
          </p:cNvPr>
          <p:cNvSpPr txBox="1"/>
          <p:nvPr/>
        </p:nvSpPr>
        <p:spPr>
          <a:xfrm>
            <a:off x="4721383" y="1306094"/>
            <a:ext cx="825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이름</a:t>
            </a:r>
            <a:r>
              <a:rPr lang="en-US" altLang="ko-KR" b="1" dirty="0"/>
              <a:t>: </a:t>
            </a:r>
            <a:r>
              <a:rPr lang="ko-KR" altLang="en-US" b="1" dirty="0" err="1"/>
              <a:t>박돌숙</a:t>
            </a:r>
            <a:endParaRPr lang="en-US" altLang="ko-KR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207E-8843-E5BC-47FD-431CCBE9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1E68FC0-D550-7780-8C82-BDA3223650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16D329-443E-5BA7-DEA3-16615DB66769}"/>
              </a:ext>
            </a:extLst>
          </p:cNvPr>
          <p:cNvSpPr txBox="1"/>
          <p:nvPr/>
        </p:nvSpPr>
        <p:spPr>
          <a:xfrm>
            <a:off x="7692720" y="2430418"/>
            <a:ext cx="87964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취미</a:t>
            </a:r>
            <a:r>
              <a:rPr lang="en-US" altLang="ko-KR" b="1" dirty="0"/>
              <a:t>: </a:t>
            </a:r>
            <a:r>
              <a:rPr lang="ko-KR" altLang="en-US" b="1" dirty="0"/>
              <a:t>유치원 놀이 시간에 </a:t>
            </a:r>
            <a:r>
              <a:rPr lang="ko-KR" altLang="en-US" b="1" dirty="0" err="1"/>
              <a:t>친구랑</a:t>
            </a:r>
            <a:r>
              <a:rPr lang="ko-KR" altLang="en-US" b="1" dirty="0"/>
              <a:t> 놀기</a:t>
            </a:r>
            <a:r>
              <a:rPr lang="en-US" altLang="ko-KR" b="1" dirty="0"/>
              <a:t>, </a:t>
            </a:r>
            <a:r>
              <a:rPr lang="ko-KR" altLang="en-US" b="1" dirty="0"/>
              <a:t>간식 먹기</a:t>
            </a:r>
            <a:r>
              <a:rPr lang="en-US" altLang="ko-KR" b="1" dirty="0"/>
              <a:t>, </a:t>
            </a:r>
            <a:r>
              <a:rPr lang="ko-KR" altLang="en-US" b="1" dirty="0"/>
              <a:t>패드로 게임하고 유튜브 하기</a:t>
            </a:r>
            <a:endParaRPr lang="en-US" altLang="ko-KR" b="1" dirty="0"/>
          </a:p>
          <a:p>
            <a:r>
              <a:rPr lang="ko-KR" altLang="en-US" b="1" dirty="0"/>
              <a:t>구매 습관</a:t>
            </a:r>
            <a:r>
              <a:rPr lang="en-US" altLang="ko-KR" b="1" dirty="0"/>
              <a:t>: </a:t>
            </a:r>
            <a:r>
              <a:rPr lang="ko-KR" altLang="en-US" b="1" dirty="0" err="1"/>
              <a:t>삘에</a:t>
            </a:r>
            <a:r>
              <a:rPr lang="ko-KR" altLang="en-US" b="1" dirty="0"/>
              <a:t> 꽂히는 물건이 생기면 엄마에게 조름</a:t>
            </a:r>
            <a:endParaRPr lang="en-US" altLang="ko-KR" b="1" dirty="0"/>
          </a:p>
          <a:p>
            <a:r>
              <a:rPr lang="ko-KR" altLang="en-US" b="1" dirty="0"/>
              <a:t>사용 습관</a:t>
            </a:r>
            <a:r>
              <a:rPr lang="en-US" altLang="ko-KR" b="1" dirty="0"/>
              <a:t>: </a:t>
            </a:r>
            <a:r>
              <a:rPr lang="ko-KR" altLang="en-US" b="1" dirty="0"/>
              <a:t>시각적</a:t>
            </a:r>
            <a:r>
              <a:rPr lang="en-US" altLang="ko-KR" b="1" dirty="0"/>
              <a:t>, </a:t>
            </a:r>
            <a:r>
              <a:rPr lang="ko-KR" altLang="en-US" b="1" dirty="0"/>
              <a:t>청각적 효과에 민감하게 반응함</a:t>
            </a:r>
            <a:r>
              <a:rPr lang="en-US" altLang="ko-KR" b="1" dirty="0"/>
              <a:t>, </a:t>
            </a:r>
            <a:r>
              <a:rPr lang="ko-KR" altLang="en-US" b="1" dirty="0"/>
              <a:t>쉽게 질려 하나 게임은 곧잘 함</a:t>
            </a:r>
            <a:endParaRPr lang="en-US" altLang="ko-KR" b="1" dirty="0"/>
          </a:p>
          <a:p>
            <a:r>
              <a:rPr lang="ko-KR" altLang="en-US" b="1" dirty="0"/>
              <a:t>소비 패턴</a:t>
            </a:r>
            <a:r>
              <a:rPr lang="en-US" altLang="ko-KR" b="1" dirty="0"/>
              <a:t>: </a:t>
            </a:r>
            <a:r>
              <a:rPr lang="ko-KR" altLang="en-US" b="1" dirty="0"/>
              <a:t>부모가 골라 주는 것을 수동적으로 소비하나</a:t>
            </a:r>
            <a:r>
              <a:rPr lang="en-US" altLang="ko-KR" b="1" dirty="0"/>
              <a:t>,</a:t>
            </a:r>
            <a:r>
              <a:rPr lang="ko-KR" altLang="en-US" b="1" dirty="0"/>
              <a:t> 점점 싫고 좋음이 명확해 지는 중</a:t>
            </a:r>
            <a:endParaRPr lang="en-US" altLang="ko-KR" b="1" dirty="0"/>
          </a:p>
          <a:p>
            <a:r>
              <a:rPr lang="ko-KR" altLang="en-US" b="1" dirty="0"/>
              <a:t>정보 수집 방법</a:t>
            </a:r>
            <a:r>
              <a:rPr lang="en-US" altLang="ko-KR" b="1" dirty="0"/>
              <a:t>: </a:t>
            </a:r>
            <a:r>
              <a:rPr lang="ko-KR" altLang="en-US" b="1" dirty="0"/>
              <a:t>유튜브 </a:t>
            </a:r>
            <a:r>
              <a:rPr lang="ko-KR" altLang="en-US" b="1" dirty="0" err="1"/>
              <a:t>키즈</a:t>
            </a:r>
            <a:r>
              <a:rPr lang="en-US" altLang="ko-KR" b="1" dirty="0"/>
              <a:t>, </a:t>
            </a:r>
            <a:r>
              <a:rPr lang="ko-KR" altLang="en-US" b="1" dirty="0"/>
              <a:t>친구들</a:t>
            </a:r>
            <a:r>
              <a:rPr lang="en-US" altLang="ko-KR" b="1" dirty="0"/>
              <a:t>, </a:t>
            </a:r>
            <a:r>
              <a:rPr lang="ko-KR" altLang="en-US" b="1" dirty="0"/>
              <a:t>친구들이 자주 하는 게임</a:t>
            </a:r>
            <a:endParaRPr lang="en-US" altLang="ko-KR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8D2C5-D5DC-B98E-E5E1-5F555558945F}"/>
              </a:ext>
            </a:extLst>
          </p:cNvPr>
          <p:cNvSpPr txBox="1"/>
          <p:nvPr/>
        </p:nvSpPr>
        <p:spPr>
          <a:xfrm>
            <a:off x="1296836" y="5694729"/>
            <a:ext cx="34245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나이</a:t>
            </a:r>
            <a:r>
              <a:rPr lang="en-US" altLang="ko-KR" b="1" dirty="0"/>
              <a:t>: 6</a:t>
            </a:r>
            <a:r>
              <a:rPr lang="ko-KR" altLang="en-US" b="1" dirty="0"/>
              <a:t>세</a:t>
            </a:r>
            <a:endParaRPr lang="en-US" altLang="ko-KR" b="1" dirty="0"/>
          </a:p>
          <a:p>
            <a:r>
              <a:rPr lang="ko-KR" altLang="en-US" b="1" dirty="0"/>
              <a:t>성별</a:t>
            </a:r>
            <a:r>
              <a:rPr lang="en-US" altLang="ko-KR" b="1" dirty="0"/>
              <a:t>: </a:t>
            </a:r>
            <a:r>
              <a:rPr lang="ko-KR" altLang="en-US" b="1" dirty="0"/>
              <a:t>남성</a:t>
            </a:r>
            <a:endParaRPr lang="en-US" altLang="ko-KR" b="1" dirty="0"/>
          </a:p>
          <a:p>
            <a:r>
              <a:rPr lang="ko-KR" altLang="en-US" b="1" dirty="0"/>
              <a:t>직업</a:t>
            </a:r>
            <a:r>
              <a:rPr lang="en-US" altLang="ko-KR" b="1" dirty="0"/>
              <a:t>: </a:t>
            </a:r>
            <a:r>
              <a:rPr lang="ko-KR" altLang="en-US" b="1" dirty="0"/>
              <a:t>유치원생</a:t>
            </a:r>
            <a:endParaRPr lang="en-US" altLang="ko-KR" b="1" dirty="0"/>
          </a:p>
          <a:p>
            <a:r>
              <a:rPr lang="ko-KR" altLang="en-US" b="1" dirty="0"/>
              <a:t>교육 수준</a:t>
            </a:r>
            <a:r>
              <a:rPr lang="en-US" altLang="ko-KR" b="1" dirty="0"/>
              <a:t>: </a:t>
            </a:r>
            <a:r>
              <a:rPr lang="ko-KR" altLang="en-US" b="1" dirty="0"/>
              <a:t>유치원 재원 중</a:t>
            </a:r>
            <a:endParaRPr lang="en-US" altLang="ko-KR" b="1" dirty="0"/>
          </a:p>
          <a:p>
            <a:r>
              <a:rPr lang="ko-KR" altLang="en-US" b="1" dirty="0"/>
              <a:t>소득 수준</a:t>
            </a:r>
            <a:r>
              <a:rPr lang="en-US" altLang="ko-KR" b="1" dirty="0"/>
              <a:t>: 0</a:t>
            </a:r>
            <a:r>
              <a:rPr lang="ko-KR" altLang="en-US" b="1" dirty="0"/>
              <a:t>원</a:t>
            </a:r>
            <a:endParaRPr lang="en-US" altLang="ko-KR" b="1" dirty="0"/>
          </a:p>
          <a:p>
            <a:r>
              <a:rPr lang="ko-KR" altLang="en-US" b="1" dirty="0"/>
              <a:t>가구 형태</a:t>
            </a:r>
            <a:r>
              <a:rPr lang="en-US" altLang="ko-KR" b="1" dirty="0"/>
              <a:t>: 3</a:t>
            </a:r>
            <a:r>
              <a:rPr lang="ko-KR" altLang="en-US" b="1" dirty="0"/>
              <a:t>인 맞벌이 가구</a:t>
            </a:r>
            <a:endParaRPr lang="en-US" altLang="ko-KR" b="1" dirty="0"/>
          </a:p>
          <a:p>
            <a:r>
              <a:rPr lang="ko-KR" altLang="en-US" b="1" dirty="0"/>
              <a:t>거주 지역</a:t>
            </a:r>
            <a:r>
              <a:rPr lang="en-US" altLang="ko-KR" b="1" dirty="0"/>
              <a:t>: </a:t>
            </a:r>
            <a:r>
              <a:rPr lang="ko-KR" altLang="en-US" b="1" dirty="0"/>
              <a:t>울산광역시 남구</a:t>
            </a:r>
            <a:endParaRPr lang="en-US" altLang="ko-KR" b="1" dirty="0"/>
          </a:p>
          <a:p>
            <a:r>
              <a:rPr lang="ko-KR" altLang="en-US" b="1" dirty="0"/>
              <a:t>주거 형태</a:t>
            </a:r>
            <a:r>
              <a:rPr lang="en-US" altLang="ko-KR" b="1" dirty="0"/>
              <a:t>: </a:t>
            </a:r>
            <a:r>
              <a:rPr lang="ko-KR" altLang="en-US" b="1" dirty="0"/>
              <a:t>아파트</a:t>
            </a:r>
            <a:endParaRPr lang="en-US" altLang="ko-K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3423B-DAEF-E65A-E8AE-C3BC258F4AC9}"/>
              </a:ext>
            </a:extLst>
          </p:cNvPr>
          <p:cNvSpPr txBox="1"/>
          <p:nvPr/>
        </p:nvSpPr>
        <p:spPr>
          <a:xfrm>
            <a:off x="7692718" y="5694729"/>
            <a:ext cx="8427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목표</a:t>
            </a:r>
            <a:r>
              <a:rPr lang="en-US" altLang="ko-KR" b="1" dirty="0"/>
              <a:t>: </a:t>
            </a:r>
            <a:r>
              <a:rPr lang="ko-KR" altLang="en-US" b="1" dirty="0"/>
              <a:t>재밌는 것과 친구들과 함께 할 수 있는 것</a:t>
            </a:r>
            <a:endParaRPr lang="en-US" altLang="ko-KR" b="1" dirty="0"/>
          </a:p>
          <a:p>
            <a:r>
              <a:rPr lang="ko-KR" altLang="en-US" b="1" dirty="0"/>
              <a:t>욕구</a:t>
            </a:r>
            <a:r>
              <a:rPr lang="en-US" altLang="ko-KR" b="1" dirty="0"/>
              <a:t>: </a:t>
            </a:r>
            <a:r>
              <a:rPr lang="ko-KR" altLang="en-US" b="1" dirty="0"/>
              <a:t>재미</a:t>
            </a:r>
            <a:r>
              <a:rPr lang="en-US" altLang="ko-KR" b="1" dirty="0"/>
              <a:t>, </a:t>
            </a:r>
            <a:r>
              <a:rPr lang="ko-KR" altLang="en-US" b="1" dirty="0" err="1"/>
              <a:t>친구들과의</a:t>
            </a:r>
            <a:r>
              <a:rPr lang="ko-KR" altLang="en-US" b="1" dirty="0"/>
              <a:t> 유대감 </a:t>
            </a:r>
            <a:endParaRPr lang="en-US" altLang="ko-KR" b="1" dirty="0"/>
          </a:p>
          <a:p>
            <a:r>
              <a:rPr lang="ko-KR" altLang="en-US" b="1" dirty="0"/>
              <a:t>페인 포인트</a:t>
            </a:r>
            <a:r>
              <a:rPr lang="en-US" altLang="ko-KR" b="1" dirty="0"/>
              <a:t>: </a:t>
            </a:r>
            <a:r>
              <a:rPr lang="ko-KR" altLang="en-US" b="1" dirty="0"/>
              <a:t>엄마와 아빠가 바빠서 잘 놀아주지 않음</a:t>
            </a:r>
            <a:r>
              <a:rPr lang="en-US" altLang="ko-KR" b="1" dirty="0"/>
              <a:t>, </a:t>
            </a:r>
            <a:r>
              <a:rPr lang="ko-KR" altLang="en-US" b="1" dirty="0"/>
              <a:t>친구들이 하는 게임을 엄마가 막음</a:t>
            </a:r>
            <a:endParaRPr lang="en-US" altLang="ko-KR" b="1" dirty="0"/>
          </a:p>
        </p:txBody>
      </p:sp>
      <p:pic>
        <p:nvPicPr>
          <p:cNvPr id="1028" name="Picture 4" descr="인기 캐릭터 &amp;#39;미니언즈&amp;#39;, 5년만에 극장 리턴 &lt; 미디어·엔터 &lt; 게임·콘텐츠 &lt; 기사본문 - IT조선">
            <a:extLst>
              <a:ext uri="{FF2B5EF4-FFF2-40B4-BE49-F238E27FC236}">
                <a16:creationId xmlns:a16="http://schemas.microsoft.com/office/drawing/2014/main" id="{22D4AAF9-F0AC-E85E-70BD-FBE844716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869" y="1805328"/>
            <a:ext cx="3009794" cy="2969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DB4F60-3E5E-F767-E7F1-F6A096E9088A}"/>
              </a:ext>
            </a:extLst>
          </p:cNvPr>
          <p:cNvSpPr txBox="1"/>
          <p:nvPr/>
        </p:nvSpPr>
        <p:spPr>
          <a:xfrm>
            <a:off x="4721383" y="1306094"/>
            <a:ext cx="825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이름</a:t>
            </a:r>
            <a:r>
              <a:rPr lang="en-US" altLang="ko-KR" b="1" dirty="0"/>
              <a:t>: </a:t>
            </a:r>
            <a:r>
              <a:rPr lang="ko-KR" altLang="en-US" b="1" dirty="0" err="1"/>
              <a:t>김코코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20085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419DBE-D000-4EF5-A752-3D98148692C0}"/>
              </a:ext>
            </a:extLst>
          </p:cNvPr>
          <p:cNvSpPr txBox="1"/>
          <p:nvPr/>
        </p:nvSpPr>
        <p:spPr>
          <a:xfrm>
            <a:off x="2869305" y="1745478"/>
            <a:ext cx="4120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엄마 아빠가 잘 놀아주지도 않으면서</a:t>
            </a:r>
            <a:endParaRPr lang="en-US" altLang="ko-KR" dirty="0"/>
          </a:p>
          <a:p>
            <a:r>
              <a:rPr lang="ko-KR" altLang="en-US" dirty="0"/>
              <a:t>패드도 오래 못 사용하게 해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나도 친구들이 하는 게임 하고 싶은데</a:t>
            </a:r>
            <a:r>
              <a:rPr lang="en-US" altLang="ko-KR" dirty="0"/>
              <a:t>..”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26BA1-7511-F857-0304-61D4DADA0AD1}"/>
              </a:ext>
            </a:extLst>
          </p:cNvPr>
          <p:cNvSpPr txBox="1"/>
          <p:nvPr/>
        </p:nvSpPr>
        <p:spPr>
          <a:xfrm>
            <a:off x="8778081" y="1745478"/>
            <a:ext cx="8619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다른 아이들은 벌써 학원 다닌다는데 우리 애는 맨날 놀 생각만 하네</a:t>
            </a:r>
            <a:r>
              <a:rPr lang="en-US" altLang="ko-KR" dirty="0"/>
              <a:t>..</a:t>
            </a:r>
          </a:p>
          <a:p>
            <a:r>
              <a:rPr lang="ko-KR" altLang="en-US" dirty="0"/>
              <a:t>원래 애들이 그런 거겠지만</a:t>
            </a:r>
            <a:r>
              <a:rPr lang="en-US" altLang="ko-KR" dirty="0"/>
              <a:t>, </a:t>
            </a:r>
            <a:r>
              <a:rPr lang="ko-KR" altLang="en-US" dirty="0"/>
              <a:t>그래도 불안하다</a:t>
            </a:r>
            <a:r>
              <a:rPr lang="en-US" altLang="ko-KR" dirty="0"/>
              <a:t>..</a:t>
            </a:r>
          </a:p>
          <a:p>
            <a:r>
              <a:rPr lang="ko-KR" altLang="en-US" dirty="0"/>
              <a:t>그리고 부쩍 패드 사용 시간이 늘어난 것 같아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E9726-473D-A63F-9F40-F6672F11A189}"/>
              </a:ext>
            </a:extLst>
          </p:cNvPr>
          <p:cNvSpPr txBox="1"/>
          <p:nvPr/>
        </p:nvSpPr>
        <p:spPr>
          <a:xfrm>
            <a:off x="2352233" y="2821208"/>
            <a:ext cx="36022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부모의 통제가 답답하다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지루한 콘텐츠가 싫다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친구와 함께 스마트폰 </a:t>
            </a:r>
            <a:r>
              <a:rPr lang="en-US" altLang="ko-KR" b="1" dirty="0"/>
              <a:t>/ </a:t>
            </a:r>
            <a:r>
              <a:rPr lang="ko-KR" altLang="en-US" b="1" dirty="0"/>
              <a:t>패드로</a:t>
            </a:r>
            <a:endParaRPr lang="en-US" altLang="ko-KR" b="1" dirty="0"/>
          </a:p>
          <a:p>
            <a:r>
              <a:rPr lang="en-US" altLang="ko-KR" b="1" dirty="0"/>
              <a:t>       </a:t>
            </a:r>
            <a:r>
              <a:rPr lang="ko-KR" altLang="en-US" b="1" dirty="0"/>
              <a:t>놀고 싶다</a:t>
            </a:r>
            <a:r>
              <a:rPr lang="en-US" altLang="ko-KR" b="1" dirty="0"/>
              <a:t>(+</a:t>
            </a:r>
            <a:r>
              <a:rPr lang="ko-KR" altLang="en-US" b="1" dirty="0"/>
              <a:t>자랑</a:t>
            </a:r>
            <a:r>
              <a:rPr lang="en-US" altLang="ko-KR" b="1" dirty="0"/>
              <a:t>, </a:t>
            </a:r>
            <a:r>
              <a:rPr lang="ko-KR" altLang="en-US" b="1" dirty="0"/>
              <a:t>공유</a:t>
            </a:r>
            <a:r>
              <a:rPr lang="en-US" altLang="ko-KR" b="1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68094-7B7E-56D4-4EDE-009A46CC93B2}"/>
              </a:ext>
            </a:extLst>
          </p:cNvPr>
          <p:cNvSpPr txBox="1"/>
          <p:nvPr/>
        </p:nvSpPr>
        <p:spPr>
          <a:xfrm>
            <a:off x="7288904" y="2815617"/>
            <a:ext cx="77011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스마트폰 </a:t>
            </a:r>
            <a:r>
              <a:rPr lang="en-US" altLang="ko-KR" b="1" dirty="0"/>
              <a:t>/ </a:t>
            </a:r>
            <a:r>
              <a:rPr lang="ko-KR" altLang="en-US" b="1" dirty="0"/>
              <a:t>패드 통제가 어렵다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기존 교육 콘텐츠는 지루하거나 형식적이어서 아이가 집중을 잘 안 한다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지역 교육 인프라가 부족하다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아이의 콘텐츠 선택이 불안하다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FFE1D-2233-BE73-AF08-5891339DED6C}"/>
              </a:ext>
            </a:extLst>
          </p:cNvPr>
          <p:cNvSpPr txBox="1"/>
          <p:nvPr/>
        </p:nvSpPr>
        <p:spPr>
          <a:xfrm>
            <a:off x="2352233" y="4937760"/>
            <a:ext cx="37962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재미와 성취감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편한 조작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꾸준한 자극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친구와 이야기 나눌 수 있는 소재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2B4F7-37AF-2CA3-B660-93141A91FAE2}"/>
              </a:ext>
            </a:extLst>
          </p:cNvPr>
          <p:cNvSpPr txBox="1"/>
          <p:nvPr/>
        </p:nvSpPr>
        <p:spPr>
          <a:xfrm>
            <a:off x="7288904" y="4937760"/>
            <a:ext cx="62985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시간 낭비가 아닌 콘텐츠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아이가 좋아하면서 스스로 할 수 있는 학습</a:t>
            </a:r>
            <a:r>
              <a:rPr lang="en-US" altLang="ko-KR" b="1" dirty="0"/>
              <a:t>(</a:t>
            </a:r>
            <a:r>
              <a:rPr lang="ko-KR" altLang="en-US" b="1" dirty="0"/>
              <a:t>자기주도학습</a:t>
            </a:r>
            <a:r>
              <a:rPr lang="en-US" altLang="ko-KR" b="1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b="1" dirty="0"/>
              <a:t>부모도 안심할 수 있는 콘텐츠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아이의 지식 상승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18590-0588-F013-BB04-6777618AD4D0}"/>
              </a:ext>
            </a:extLst>
          </p:cNvPr>
          <p:cNvSpPr txBox="1"/>
          <p:nvPr/>
        </p:nvSpPr>
        <p:spPr>
          <a:xfrm>
            <a:off x="7288904" y="6947937"/>
            <a:ext cx="57486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일 때문에 바쁜데도 아이 교육에 신경을 많이 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그렇지만 많은 시간을 쏟을 수 없어 미안하고 걱정됨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아이가 뒤쳐질까 불안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모바일에 친숙하고 스마트폰 </a:t>
            </a:r>
            <a:r>
              <a:rPr lang="en-US" altLang="ko-KR" b="1" dirty="0"/>
              <a:t>/ </a:t>
            </a:r>
            <a:r>
              <a:rPr lang="ko-KR" altLang="en-US" b="1" dirty="0"/>
              <a:t>패드 사용을 자주 함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 err="1"/>
              <a:t>맘카페</a:t>
            </a:r>
            <a:r>
              <a:rPr lang="en-US" altLang="ko-KR" b="1" dirty="0"/>
              <a:t>, </a:t>
            </a:r>
            <a:r>
              <a:rPr lang="ko-KR" altLang="en-US" b="1" dirty="0"/>
              <a:t>육아 </a:t>
            </a:r>
            <a:r>
              <a:rPr lang="ko-KR" altLang="en-US" b="1" dirty="0" err="1"/>
              <a:t>인플루언서에</a:t>
            </a:r>
            <a:r>
              <a:rPr lang="ko-KR" altLang="en-US" b="1" dirty="0"/>
              <a:t> 의존하는 </a:t>
            </a:r>
            <a:r>
              <a:rPr lang="ko-KR" altLang="en-US" b="1" dirty="0" err="1"/>
              <a:t>경햠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258D9-0157-D7A4-6250-9C72C012459B}"/>
              </a:ext>
            </a:extLst>
          </p:cNvPr>
          <p:cNvSpPr txBox="1"/>
          <p:nvPr/>
        </p:nvSpPr>
        <p:spPr>
          <a:xfrm>
            <a:off x="2352233" y="6947937"/>
            <a:ext cx="43428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영상과 게임에 익숙함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단순하고 알기 쉬운 </a:t>
            </a:r>
            <a:r>
              <a:rPr lang="en-US" altLang="ko-KR" b="1" dirty="0"/>
              <a:t>UI, </a:t>
            </a:r>
            <a:r>
              <a:rPr lang="ko-KR" altLang="en-US" b="1" dirty="0"/>
              <a:t>반복 구조 선호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재미 중심으로 움직임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몰입한 대상에 큰 애착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친구를 많이 고려</a:t>
            </a:r>
            <a:endParaRPr lang="en-US" altLang="ko-KR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D9D776-9AD2-270B-E746-B16A29EEF5A1}"/>
              </a:ext>
            </a:extLst>
          </p:cNvPr>
          <p:cNvSpPr txBox="1"/>
          <p:nvPr/>
        </p:nvSpPr>
        <p:spPr>
          <a:xfrm>
            <a:off x="2185978" y="2725072"/>
            <a:ext cx="43476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재미있는 것과 친구를 좋아한다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스마트폰 </a:t>
            </a:r>
            <a:r>
              <a:rPr lang="en-US" altLang="ko-KR" b="1" dirty="0"/>
              <a:t>/ </a:t>
            </a:r>
            <a:r>
              <a:rPr lang="ko-KR" altLang="en-US" b="1" dirty="0"/>
              <a:t>패드에 자주 노출되어 있다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유해한 콘텐츠에 노출될 위험이 크다</a:t>
            </a:r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FC193-10DF-D2AC-EF31-D49DD857AD27}"/>
              </a:ext>
            </a:extLst>
          </p:cNvPr>
          <p:cNvSpPr txBox="1"/>
          <p:nvPr/>
        </p:nvSpPr>
        <p:spPr>
          <a:xfrm>
            <a:off x="7459018" y="2709715"/>
            <a:ext cx="5642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아이의 스마트폰 사용에 대해 갈등함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아이의 콘텐츠에 대해 불안감이 있음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지방에 살기 때문에 교육 접근성이 수도권보다 낮음</a:t>
            </a: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FB9BC-B7D0-E465-BBB7-5658633A0D85}"/>
              </a:ext>
            </a:extLst>
          </p:cNvPr>
          <p:cNvSpPr txBox="1"/>
          <p:nvPr/>
        </p:nvSpPr>
        <p:spPr>
          <a:xfrm>
            <a:off x="7459017" y="4937760"/>
            <a:ext cx="82525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하루에 얼마 정도를 스마트폰에 허용하도록 하는지 </a:t>
            </a:r>
            <a:r>
              <a:rPr lang="en-US" altLang="ko-KR" b="1" dirty="0"/>
              <a:t>/ </a:t>
            </a:r>
            <a:r>
              <a:rPr lang="ko-KR" altLang="en-US" b="1" dirty="0"/>
              <a:t>제한이나 규칙이 있는지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아이에게 교육 앱을 하도록 해 본 경험이 있는지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스마트폰을 사용하지 않을 때에는 아이와 어떤 시간을 보내는지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어떤 콘텐츠를 좋은 콘텐츠라고 느끼는지</a:t>
            </a:r>
            <a:endParaRPr lang="en-US" altLang="ko-KR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B077E-5298-D3E7-558C-38220B41E1DC}"/>
              </a:ext>
            </a:extLst>
          </p:cNvPr>
          <p:cNvSpPr txBox="1"/>
          <p:nvPr/>
        </p:nvSpPr>
        <p:spPr>
          <a:xfrm>
            <a:off x="2185978" y="4710637"/>
            <a:ext cx="41981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스마트폰 </a:t>
            </a:r>
            <a:r>
              <a:rPr lang="en-US" altLang="ko-KR" b="1" dirty="0"/>
              <a:t>/ </a:t>
            </a:r>
            <a:r>
              <a:rPr lang="ko-KR" altLang="en-US" b="1" dirty="0"/>
              <a:t>패드의 사용에 있어 어떤 콘텐츠에 가장 큰 관심을 쏟는지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교육 게임과 일반 게임을 구분하는지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게임을 할 때 어떻게 사용하는지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좋아하거나 싫어하는 콘텐츠 요소</a:t>
            </a:r>
            <a:endParaRPr lang="en-US" altLang="ko-K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99544-792C-BA7F-2E52-A2A403AB6A1E}"/>
              </a:ext>
            </a:extLst>
          </p:cNvPr>
          <p:cNvSpPr txBox="1"/>
          <p:nvPr/>
        </p:nvSpPr>
        <p:spPr>
          <a:xfrm>
            <a:off x="2185977" y="6758338"/>
            <a:ext cx="44974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가장 좋아하거나 자주 사용하는 콘텐츠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반복해서 사용하는 이유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어떤 피드백을 가장 좋아하는지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어떤 콘텐츠에 끝까지 집중력을 잃지 않는지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좋아하는 콘텐츠 요소</a:t>
            </a:r>
            <a:endParaRPr lang="en-US" altLang="ko-K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81B16-0871-1821-4622-639AE671845C}"/>
              </a:ext>
            </a:extLst>
          </p:cNvPr>
          <p:cNvSpPr txBox="1"/>
          <p:nvPr/>
        </p:nvSpPr>
        <p:spPr>
          <a:xfrm>
            <a:off x="7459018" y="6905286"/>
            <a:ext cx="76535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자녀에게 스마트폰을 허용하는 시간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어떤 순간에 어떤 콘텐츠가 괜찮다고 느끼는지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교육적 콘텐츠를 선택할 때 가장 먼저 고려하는 요소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아이에게 콘텐츠 유료 결제를 해 주었던 경험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자녀와 부모가 함께 즐긴 콘텐츠는 무엇이 있는지</a:t>
            </a:r>
            <a:endParaRPr lang="en-US" altLang="ko-K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635</Words>
  <Application>Microsoft Office PowerPoint</Application>
  <PresentationFormat>사용자 지정</PresentationFormat>
  <Paragraphs>99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예림 정</cp:lastModifiedBy>
  <cp:revision>16</cp:revision>
  <dcterms:created xsi:type="dcterms:W3CDTF">2025-04-11T08:42:54Z</dcterms:created>
  <dcterms:modified xsi:type="dcterms:W3CDTF">2025-04-19T14:10:06Z</dcterms:modified>
</cp:coreProperties>
</file>