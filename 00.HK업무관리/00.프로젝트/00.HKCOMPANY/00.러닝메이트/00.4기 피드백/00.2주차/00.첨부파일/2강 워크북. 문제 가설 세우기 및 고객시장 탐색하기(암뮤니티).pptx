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4" r:id="rId7"/>
    <p:sldId id="265" r:id="rId8"/>
    <p:sldId id="273" r:id="rId9"/>
    <p:sldId id="267" r:id="rId10"/>
    <p:sldId id="272" r:id="rId11"/>
  </p:sldIdLst>
  <p:sldSz cx="17556163" cy="9875838"/>
  <p:notesSz cx="9875838" cy="17556163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3C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524"/>
    <p:restoredTop sz="94610"/>
  </p:normalViewPr>
  <p:slideViewPr>
    <p:cSldViewPr snapToGrid="0" snapToObjects="1">
      <p:cViewPr varScale="1">
        <p:scale>
          <a:sx n="88" d="100"/>
          <a:sy n="88" d="100"/>
        </p:scale>
        <p:origin x="416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100465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8B0E99-35DB-03FF-F4FF-0F0E6983D4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654F74-6D70-3EF5-3CF3-73AEEA7622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5B3869-A53F-DEB2-C06C-730F484240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E04166-1D2C-9421-89AB-EBB1241123D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634086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4ABE7F4-978B-E988-C124-AE819C6E3160}"/>
              </a:ext>
            </a:extLst>
          </p:cNvPr>
          <p:cNvSpPr txBox="1"/>
          <p:nvPr/>
        </p:nvSpPr>
        <p:spPr>
          <a:xfrm>
            <a:off x="1190171" y="2403398"/>
            <a:ext cx="118146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소규모 </a:t>
            </a:r>
            <a:r>
              <a:rPr lang="en-US" altLang="ko-KR" dirty="0"/>
              <a:t>(5</a:t>
            </a:r>
            <a:r>
              <a:rPr lang="ko-KR" altLang="en-US" dirty="0" err="1"/>
              <a:t>인이하</a:t>
            </a:r>
            <a:r>
              <a:rPr lang="en-US" altLang="ko-KR" dirty="0"/>
              <a:t>)</a:t>
            </a:r>
            <a:r>
              <a:rPr lang="ko-KR" altLang="en-US" dirty="0"/>
              <a:t> 암환자 제품 및 서비스 제공 기업은 현 마케팅 채널에 수</a:t>
            </a:r>
            <a:r>
              <a:rPr lang="en-US" altLang="ko-KR" dirty="0"/>
              <a:t>(Quantity)</a:t>
            </a:r>
            <a:r>
              <a:rPr lang="ko-KR" altLang="en-US" dirty="0"/>
              <a:t>적으로 부족하다고 느껴 새로운 마케팅 채널을 </a:t>
            </a:r>
            <a:r>
              <a:rPr lang="ko-KR" altLang="en-US" dirty="0" err="1"/>
              <a:t>원할것이다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950746C-FDC7-994D-23C7-2C73CA74EA19}"/>
              </a:ext>
            </a:extLst>
          </p:cNvPr>
          <p:cNvSpPr txBox="1"/>
          <p:nvPr/>
        </p:nvSpPr>
        <p:spPr>
          <a:xfrm>
            <a:off x="1190170" y="3386527"/>
            <a:ext cx="118146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소규모 </a:t>
            </a:r>
            <a:r>
              <a:rPr lang="en-US" altLang="ko-KR" dirty="0"/>
              <a:t>(5</a:t>
            </a:r>
            <a:r>
              <a:rPr lang="ko-KR" altLang="en-US" dirty="0" err="1"/>
              <a:t>인이하</a:t>
            </a:r>
            <a:r>
              <a:rPr lang="en-US" altLang="ko-KR" dirty="0"/>
              <a:t>)</a:t>
            </a:r>
            <a:r>
              <a:rPr lang="ko-KR" altLang="en-US" dirty="0"/>
              <a:t> 암환자 제품 및 서비스 제공 기업은 현 마케팅 채널에 질</a:t>
            </a:r>
            <a:r>
              <a:rPr lang="en-US" altLang="ko-KR" dirty="0"/>
              <a:t>(Quality)</a:t>
            </a:r>
            <a:r>
              <a:rPr lang="ko-KR" altLang="en-US" dirty="0"/>
              <a:t>적으로 부족하다고 느껴 더 가성비 좋은 마케팅 채널을 선호할 것이다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609748F-B951-2E57-2F5D-B4709CC3DF5E}"/>
              </a:ext>
            </a:extLst>
          </p:cNvPr>
          <p:cNvSpPr txBox="1"/>
          <p:nvPr/>
        </p:nvSpPr>
        <p:spPr>
          <a:xfrm>
            <a:off x="1190170" y="4415332"/>
            <a:ext cx="118146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소규모 </a:t>
            </a:r>
            <a:r>
              <a:rPr lang="en-US" altLang="ko-KR" dirty="0"/>
              <a:t>(5</a:t>
            </a:r>
            <a:r>
              <a:rPr lang="ko-KR" altLang="en-US" dirty="0" err="1"/>
              <a:t>인이하</a:t>
            </a:r>
            <a:r>
              <a:rPr lang="en-US" altLang="ko-KR" dirty="0"/>
              <a:t>)</a:t>
            </a:r>
            <a:r>
              <a:rPr lang="ko-KR" altLang="en-US" dirty="0"/>
              <a:t> 암환자 제품 및 서비스 제공 기업은</a:t>
            </a:r>
            <a:r>
              <a:rPr lang="en-US" altLang="ko-KR" dirty="0"/>
              <a:t> </a:t>
            </a:r>
            <a:r>
              <a:rPr lang="ko-KR" altLang="en-US" dirty="0"/>
              <a:t>환자의 경험 및</a:t>
            </a:r>
            <a:r>
              <a:rPr lang="en-US" altLang="ko-KR" dirty="0"/>
              <a:t> VOC</a:t>
            </a:r>
            <a:r>
              <a:rPr lang="ko-KR" altLang="en-US" dirty="0" err="1"/>
              <a:t>를</a:t>
            </a:r>
            <a:r>
              <a:rPr lang="ko-KR" altLang="en-US" dirty="0"/>
              <a:t> 활용하기 위해 암환자 채용을 선호 할 것이다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0DB463-9E8B-5436-639A-5B48F445C96D}"/>
              </a:ext>
            </a:extLst>
          </p:cNvPr>
          <p:cNvSpPr txBox="1"/>
          <p:nvPr/>
        </p:nvSpPr>
        <p:spPr>
          <a:xfrm>
            <a:off x="13658200" y="4437958"/>
            <a:ext cx="270779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u="sng" dirty="0"/>
              <a:t>테스트 진행 중</a:t>
            </a:r>
            <a:r>
              <a:rPr lang="en-US" altLang="ko-KR" b="1" u="sng" dirty="0"/>
              <a:t>:</a:t>
            </a:r>
            <a:br>
              <a:rPr lang="en-GB" altLang="ko-KR" dirty="0"/>
            </a:br>
            <a:r>
              <a:rPr lang="en-US" altLang="ko-KR" dirty="0"/>
              <a:t>2</a:t>
            </a:r>
            <a:r>
              <a:rPr lang="ko-KR" altLang="en-US" dirty="0"/>
              <a:t>곳 중 </a:t>
            </a:r>
            <a:r>
              <a:rPr lang="en-US" altLang="ko-KR" dirty="0"/>
              <a:t>2</a:t>
            </a:r>
            <a:r>
              <a:rPr lang="ko-KR" altLang="en-US" dirty="0"/>
              <a:t>곳 채용의사 밝힘</a:t>
            </a:r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E58683B-FC22-1435-A4B6-F6B583970BA6}"/>
              </a:ext>
            </a:extLst>
          </p:cNvPr>
          <p:cNvSpPr txBox="1"/>
          <p:nvPr/>
        </p:nvSpPr>
        <p:spPr>
          <a:xfrm>
            <a:off x="13658200" y="3303709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u="sng" dirty="0"/>
              <a:t>X</a:t>
            </a:r>
            <a:endParaRPr 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036408F-EF60-B41A-2319-BA9AF3E7862E}"/>
              </a:ext>
            </a:extLst>
          </p:cNvPr>
          <p:cNvSpPr txBox="1"/>
          <p:nvPr/>
        </p:nvSpPr>
        <p:spPr>
          <a:xfrm>
            <a:off x="13658200" y="2371380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u="sng" dirty="0"/>
              <a:t>X</a:t>
            </a:r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BE9CCB3-2B0E-66CE-BF75-F8ED21FC0FAA}"/>
              </a:ext>
            </a:extLst>
          </p:cNvPr>
          <p:cNvSpPr txBox="1"/>
          <p:nvPr/>
        </p:nvSpPr>
        <p:spPr>
          <a:xfrm>
            <a:off x="13586484" y="6369639"/>
            <a:ext cx="29915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u="sng" dirty="0"/>
              <a:t>테스트 진행 중</a:t>
            </a:r>
            <a:r>
              <a:rPr lang="en-US" altLang="ko-KR" b="1" u="sng" dirty="0"/>
              <a:t>:</a:t>
            </a:r>
            <a:br>
              <a:rPr lang="en-GB" altLang="ko-KR" dirty="0"/>
            </a:br>
            <a:r>
              <a:rPr lang="en-US" altLang="ko-KR" dirty="0"/>
              <a:t>2</a:t>
            </a:r>
            <a:r>
              <a:rPr lang="ko-KR" altLang="en-US" dirty="0"/>
              <a:t>곳 중 </a:t>
            </a:r>
            <a:r>
              <a:rPr lang="en-US" altLang="ko-KR" dirty="0"/>
              <a:t>2</a:t>
            </a:r>
            <a:r>
              <a:rPr lang="ko-KR" altLang="en-US" dirty="0"/>
              <a:t>곳 </a:t>
            </a:r>
            <a:r>
              <a:rPr lang="ko-KR" altLang="en-US" dirty="0" err="1"/>
              <a:t>긱워크</a:t>
            </a:r>
            <a:r>
              <a:rPr lang="ko-KR" altLang="en-US" dirty="0"/>
              <a:t> 선호 밝힘</a:t>
            </a:r>
            <a:endParaRPr lang="en-US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298062E-7E38-16A8-555E-8AD22B5721A6}"/>
              </a:ext>
            </a:extLst>
          </p:cNvPr>
          <p:cNvSpPr txBox="1"/>
          <p:nvPr/>
        </p:nvSpPr>
        <p:spPr>
          <a:xfrm>
            <a:off x="13658200" y="7337827"/>
            <a:ext cx="270779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u="sng" dirty="0"/>
              <a:t>테스트 진행 중</a:t>
            </a:r>
            <a:r>
              <a:rPr lang="en-US" altLang="ko-KR" b="1" u="sng" dirty="0"/>
              <a:t>:</a:t>
            </a:r>
            <a:br>
              <a:rPr lang="en-GB" altLang="ko-KR" dirty="0"/>
            </a:br>
            <a:r>
              <a:rPr lang="en-US" altLang="ko-KR" dirty="0"/>
              <a:t>2</a:t>
            </a:r>
            <a:r>
              <a:rPr lang="ko-KR" altLang="en-US" dirty="0"/>
              <a:t>곳 중 </a:t>
            </a:r>
            <a:r>
              <a:rPr lang="en-US" altLang="ko-KR" dirty="0"/>
              <a:t>2</a:t>
            </a:r>
            <a:r>
              <a:rPr lang="ko-KR" altLang="en-US" dirty="0"/>
              <a:t>곳 채용의사 밝힘</a:t>
            </a:r>
            <a:endParaRPr 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3513ACC-C175-C9D0-8A2C-77DB7FBCDC09}"/>
              </a:ext>
            </a:extLst>
          </p:cNvPr>
          <p:cNvSpPr txBox="1"/>
          <p:nvPr/>
        </p:nvSpPr>
        <p:spPr>
          <a:xfrm>
            <a:off x="1190170" y="5446866"/>
            <a:ext cx="114142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소규모 </a:t>
            </a:r>
            <a:r>
              <a:rPr lang="en-US" altLang="ko-KR" dirty="0"/>
              <a:t>(5</a:t>
            </a:r>
            <a:r>
              <a:rPr lang="ko-KR" altLang="en-US" dirty="0" err="1"/>
              <a:t>인이하</a:t>
            </a:r>
            <a:r>
              <a:rPr lang="en-US" altLang="ko-KR" dirty="0"/>
              <a:t>)</a:t>
            </a:r>
            <a:r>
              <a:rPr lang="ko-KR" altLang="en-US" dirty="0"/>
              <a:t> 암환자 제품 및 서비스 제공 기업은 채용 인건비에 부담을 느껴 </a:t>
            </a:r>
            <a:r>
              <a:rPr lang="ko-KR" altLang="en-US" dirty="0" err="1"/>
              <a:t>긱워커</a:t>
            </a:r>
            <a:r>
              <a:rPr lang="ko-KR" altLang="en-US" dirty="0"/>
              <a:t> 채용을 선호할 것이다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825B1C0-DB66-0521-69CC-D56274F7613D}"/>
              </a:ext>
            </a:extLst>
          </p:cNvPr>
          <p:cNvSpPr txBox="1"/>
          <p:nvPr/>
        </p:nvSpPr>
        <p:spPr>
          <a:xfrm>
            <a:off x="13658200" y="5329733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u="sng" dirty="0"/>
              <a:t>X</a:t>
            </a:r>
            <a:endParaRPr 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824BBFB-7D20-99B0-BB8F-912E7EF77C30}"/>
              </a:ext>
            </a:extLst>
          </p:cNvPr>
          <p:cNvSpPr txBox="1"/>
          <p:nvPr/>
        </p:nvSpPr>
        <p:spPr>
          <a:xfrm>
            <a:off x="1190170" y="6369638"/>
            <a:ext cx="1141420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소규모 </a:t>
            </a:r>
            <a:r>
              <a:rPr lang="en-US" altLang="ko-KR" dirty="0"/>
              <a:t>(5</a:t>
            </a:r>
            <a:r>
              <a:rPr lang="ko-KR" altLang="en-US" dirty="0" err="1"/>
              <a:t>인이하</a:t>
            </a:r>
            <a:r>
              <a:rPr lang="en-US" altLang="ko-KR" dirty="0"/>
              <a:t>)</a:t>
            </a:r>
            <a:r>
              <a:rPr lang="ko-KR" altLang="en-US" dirty="0"/>
              <a:t> 암환자 제품 및 서비스 제공 기업은 마케팅 비용 부담으로 암환자 채용 공고를 통한 마케팅 효과를 얻고 싶을 것이다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B8B9D1C-3BD7-A205-8F9B-E62A031C1186}"/>
              </a:ext>
            </a:extLst>
          </p:cNvPr>
          <p:cNvSpPr txBox="1"/>
          <p:nvPr/>
        </p:nvSpPr>
        <p:spPr>
          <a:xfrm>
            <a:off x="1190170" y="7319659"/>
            <a:ext cx="1141420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소규모 </a:t>
            </a:r>
            <a:r>
              <a:rPr lang="en-US" altLang="ko-KR" dirty="0"/>
              <a:t>(5</a:t>
            </a:r>
            <a:r>
              <a:rPr lang="ko-KR" altLang="en-US" dirty="0" err="1"/>
              <a:t>인이하</a:t>
            </a:r>
            <a:r>
              <a:rPr lang="en-US" altLang="ko-KR" dirty="0"/>
              <a:t>)</a:t>
            </a:r>
            <a:r>
              <a:rPr lang="ko-KR" altLang="en-US" dirty="0"/>
              <a:t> 암환자 제품 및 서비스 제공 기업은 암환자 대상 인터뷰 및 설문조사를 할 곳을 찾기 힘들어 해당 기능이 있는 커뮤니티를 유료로 활용할 것이다</a:t>
            </a:r>
            <a:r>
              <a:rPr lang="en-US" altLang="ko-KR" dirty="0"/>
              <a:t>.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C33BB62-C7AA-5FEE-0FFE-C9775FF2CEAC}"/>
              </a:ext>
            </a:extLst>
          </p:cNvPr>
          <p:cNvSpPr txBox="1"/>
          <p:nvPr/>
        </p:nvSpPr>
        <p:spPr>
          <a:xfrm>
            <a:off x="1190171" y="2403398"/>
            <a:ext cx="118146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소규모 </a:t>
            </a:r>
            <a:r>
              <a:rPr lang="en-US" altLang="ko-KR" dirty="0"/>
              <a:t>(5</a:t>
            </a:r>
            <a:r>
              <a:rPr lang="ko-KR" altLang="en-US" dirty="0" err="1"/>
              <a:t>인이하</a:t>
            </a:r>
            <a:r>
              <a:rPr lang="en-US" altLang="ko-KR" dirty="0"/>
              <a:t>)</a:t>
            </a:r>
            <a:r>
              <a:rPr lang="ko-KR" altLang="en-US" dirty="0"/>
              <a:t> 암환자 제품 및 서비스 제공 기업은 현 마케팅 채널에 수</a:t>
            </a:r>
            <a:r>
              <a:rPr lang="en-US" altLang="ko-KR" dirty="0"/>
              <a:t>(Quantity)</a:t>
            </a:r>
            <a:r>
              <a:rPr lang="ko-KR" altLang="en-US" dirty="0"/>
              <a:t>적으로 부족하다고 느껴 새로운 마케팅 채널을 </a:t>
            </a:r>
            <a:r>
              <a:rPr lang="ko-KR" altLang="en-US" dirty="0" err="1"/>
              <a:t>원할것이다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FD31A8F-A277-0775-8A26-5EDC2B3E20DA}"/>
              </a:ext>
            </a:extLst>
          </p:cNvPr>
          <p:cNvSpPr txBox="1"/>
          <p:nvPr/>
        </p:nvSpPr>
        <p:spPr>
          <a:xfrm>
            <a:off x="1190170" y="3365965"/>
            <a:ext cx="1153260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소규모 암환자 제품</a:t>
            </a:r>
            <a:r>
              <a:rPr lang="en-US" altLang="ko-KR" dirty="0"/>
              <a:t>/</a:t>
            </a:r>
            <a:r>
              <a:rPr lang="ko-KR" altLang="en-US" dirty="0"/>
              <a:t>서비스 기업의 </a:t>
            </a:r>
            <a:r>
              <a:rPr lang="en-US" altLang="ko-KR" dirty="0"/>
              <a:t>65% </a:t>
            </a:r>
            <a:r>
              <a:rPr lang="ko-KR" altLang="en-US" dirty="0"/>
              <a:t>이상이 기존 채널의 질에 불만족을 느끼며</a:t>
            </a:r>
            <a:r>
              <a:rPr lang="en-US" altLang="ko-KR" dirty="0"/>
              <a:t>, </a:t>
            </a:r>
            <a:r>
              <a:rPr lang="ko-KR" altLang="en-US" dirty="0"/>
              <a:t>높은 </a:t>
            </a:r>
            <a:r>
              <a:rPr lang="en-GB" dirty="0"/>
              <a:t>ROI(</a:t>
            </a:r>
            <a:r>
              <a:rPr lang="ko-KR" altLang="en-US" dirty="0"/>
              <a:t>투자 대비 수익</a:t>
            </a:r>
            <a:r>
              <a:rPr lang="en-US" altLang="ko-KR" dirty="0"/>
              <a:t>)</a:t>
            </a:r>
            <a:r>
              <a:rPr lang="ko-KR" altLang="en-US" dirty="0" err="1"/>
              <a:t>를</a:t>
            </a:r>
            <a:r>
              <a:rPr lang="ko-KR" altLang="en-US" dirty="0"/>
              <a:t> 제공하는 채널을 새롭게 선택할 것이다</a:t>
            </a:r>
            <a:r>
              <a:rPr lang="en-US" altLang="ko-KR" dirty="0"/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628648F-8CA3-C9C0-47C1-456414DFC45C}"/>
              </a:ext>
            </a:extLst>
          </p:cNvPr>
          <p:cNvSpPr txBox="1"/>
          <p:nvPr/>
        </p:nvSpPr>
        <p:spPr>
          <a:xfrm>
            <a:off x="1190170" y="4359193"/>
            <a:ext cx="1204498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소규모 암환자 제품</a:t>
            </a:r>
            <a:r>
              <a:rPr lang="en-US" altLang="ko-KR" dirty="0"/>
              <a:t>/</a:t>
            </a:r>
            <a:r>
              <a:rPr lang="ko-KR" altLang="en-US" dirty="0"/>
              <a:t>서비스 기업의 </a:t>
            </a:r>
            <a:r>
              <a:rPr lang="en-US" altLang="ko-KR" dirty="0"/>
              <a:t>60% </a:t>
            </a:r>
            <a:r>
              <a:rPr lang="ko-KR" altLang="en-US" dirty="0"/>
              <a:t>이상이 환자 경험 기반 채용을 통해 </a:t>
            </a:r>
            <a:r>
              <a:rPr lang="en-GB" dirty="0"/>
              <a:t>VOC(</a:t>
            </a:r>
            <a:r>
              <a:rPr lang="ko-KR" altLang="en-US" dirty="0"/>
              <a:t>고객의 소리</a:t>
            </a:r>
            <a:r>
              <a:rPr lang="en-US" altLang="ko-KR" dirty="0"/>
              <a:t>) </a:t>
            </a:r>
            <a:r>
              <a:rPr lang="ko-KR" altLang="en-US" dirty="0"/>
              <a:t>데이터 수집을 목적으로 암환자 채용을 고려할 것이다</a:t>
            </a:r>
            <a:r>
              <a:rPr lang="en-US" altLang="ko-KR" dirty="0"/>
              <a:t>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31657D-CD26-596F-24F1-2D1ADC26A02C}"/>
              </a:ext>
            </a:extLst>
          </p:cNvPr>
          <p:cNvSpPr txBox="1"/>
          <p:nvPr/>
        </p:nvSpPr>
        <p:spPr>
          <a:xfrm>
            <a:off x="1190170" y="5352421"/>
            <a:ext cx="1181463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소규모 암환자 제품</a:t>
            </a:r>
            <a:r>
              <a:rPr lang="en-US" altLang="ko-KR" dirty="0"/>
              <a:t>/</a:t>
            </a:r>
            <a:r>
              <a:rPr lang="ko-KR" altLang="en-US" dirty="0"/>
              <a:t>서비스 기업 중 </a:t>
            </a:r>
            <a:r>
              <a:rPr lang="en-US" altLang="ko-KR" dirty="0"/>
              <a:t>70% </a:t>
            </a:r>
            <a:r>
              <a:rPr lang="ko-KR" altLang="en-US" dirty="0"/>
              <a:t>이상이 인건비 절감을 이유로 </a:t>
            </a:r>
            <a:r>
              <a:rPr lang="ko-KR" altLang="en-US" dirty="0" err="1"/>
              <a:t>긱워크와</a:t>
            </a:r>
            <a:r>
              <a:rPr lang="ko-KR" altLang="en-US" dirty="0"/>
              <a:t> 같은 단기 프로젝트 기반 채용 플랫폼을 사용할 것이다</a:t>
            </a:r>
            <a:r>
              <a:rPr lang="en-US" altLang="ko-KR" dirty="0"/>
              <a:t>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1E6B102-D64B-98C4-FFB4-9B1B8FACE856}"/>
              </a:ext>
            </a:extLst>
          </p:cNvPr>
          <p:cNvSpPr txBox="1"/>
          <p:nvPr/>
        </p:nvSpPr>
        <p:spPr>
          <a:xfrm>
            <a:off x="1190170" y="6345649"/>
            <a:ext cx="1181463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소규모 암환자 제품</a:t>
            </a:r>
            <a:r>
              <a:rPr lang="en-US" altLang="ko-KR" dirty="0"/>
              <a:t>/</a:t>
            </a:r>
            <a:r>
              <a:rPr lang="ko-KR" altLang="en-US" dirty="0"/>
              <a:t>서비스 기업의 </a:t>
            </a:r>
            <a:r>
              <a:rPr lang="en-US" altLang="ko-KR" dirty="0"/>
              <a:t>65% </a:t>
            </a:r>
            <a:r>
              <a:rPr lang="ko-KR" altLang="en-US" dirty="0"/>
              <a:t>이상이 암환자 채용 공고를 마케팅 수단으로 활용해 브랜드 인지도를 높이고자 할 것이다</a:t>
            </a:r>
            <a:r>
              <a:rPr lang="en-US" altLang="ko-KR" dirty="0"/>
              <a:t>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FBC6B91-1F67-C8F7-23EC-5C5CA176BFA7}"/>
              </a:ext>
            </a:extLst>
          </p:cNvPr>
          <p:cNvSpPr txBox="1"/>
          <p:nvPr/>
        </p:nvSpPr>
        <p:spPr>
          <a:xfrm>
            <a:off x="1190170" y="7338877"/>
            <a:ext cx="1181463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소규모 암환자 제품</a:t>
            </a:r>
            <a:r>
              <a:rPr lang="en-US" altLang="ko-KR" dirty="0"/>
              <a:t>/</a:t>
            </a:r>
            <a:r>
              <a:rPr lang="ko-KR" altLang="en-US" dirty="0"/>
              <a:t>서비스 기업의 </a:t>
            </a:r>
            <a:r>
              <a:rPr lang="en-US" altLang="ko-KR" dirty="0"/>
              <a:t>75% </a:t>
            </a:r>
            <a:r>
              <a:rPr lang="ko-KR" altLang="en-US" dirty="0"/>
              <a:t>이상이 인터뷰</a:t>
            </a:r>
            <a:r>
              <a:rPr lang="en-US" altLang="ko-KR" dirty="0"/>
              <a:t>/</a:t>
            </a:r>
            <a:r>
              <a:rPr lang="ko-KR" altLang="en-US" dirty="0"/>
              <a:t>설문조사 대상을 확보하기 위해 유료 커뮤니티 서비스를 이용할 의향이 있을 것이다</a:t>
            </a:r>
            <a:r>
              <a:rPr lang="en-US" altLang="ko-KR" dirty="0"/>
              <a:t>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9F97053-BFE2-4BB4-5307-E0DB6F427C27}"/>
              </a:ext>
            </a:extLst>
          </p:cNvPr>
          <p:cNvSpPr txBox="1"/>
          <p:nvPr/>
        </p:nvSpPr>
        <p:spPr>
          <a:xfrm>
            <a:off x="13658200" y="3303709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u="sng" dirty="0"/>
              <a:t>X</a:t>
            </a:r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DA24620-7BB1-B4C5-8901-232B71A6F440}"/>
              </a:ext>
            </a:extLst>
          </p:cNvPr>
          <p:cNvSpPr txBox="1"/>
          <p:nvPr/>
        </p:nvSpPr>
        <p:spPr>
          <a:xfrm>
            <a:off x="13658200" y="2371380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u="sng" dirty="0"/>
              <a:t>X</a:t>
            </a:r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AC37B60-C545-237E-C370-B45E789035B8}"/>
              </a:ext>
            </a:extLst>
          </p:cNvPr>
          <p:cNvSpPr txBox="1"/>
          <p:nvPr/>
        </p:nvSpPr>
        <p:spPr>
          <a:xfrm>
            <a:off x="13658200" y="5329733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u="sng" dirty="0"/>
              <a:t>X</a:t>
            </a:r>
            <a:endParaRPr lang="en-US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4B36765-E385-1CAB-CA35-F462169314FF}"/>
              </a:ext>
            </a:extLst>
          </p:cNvPr>
          <p:cNvSpPr txBox="1"/>
          <p:nvPr/>
        </p:nvSpPr>
        <p:spPr>
          <a:xfrm>
            <a:off x="13658200" y="4313026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u="sng" dirty="0"/>
              <a:t>X</a:t>
            </a:r>
            <a:endParaRPr 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1B0AC52-A124-D21E-636A-FCB5798CCD18}"/>
              </a:ext>
            </a:extLst>
          </p:cNvPr>
          <p:cNvSpPr txBox="1"/>
          <p:nvPr/>
        </p:nvSpPr>
        <p:spPr>
          <a:xfrm>
            <a:off x="13659456" y="6319443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u="sng" dirty="0"/>
              <a:t>X</a:t>
            </a:r>
            <a:endParaRPr lang="en-US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C0F4CD9-163F-4237-686C-9367836DA509}"/>
              </a:ext>
            </a:extLst>
          </p:cNvPr>
          <p:cNvSpPr txBox="1"/>
          <p:nvPr/>
        </p:nvSpPr>
        <p:spPr>
          <a:xfrm>
            <a:off x="13659456" y="7233294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u="sng" dirty="0"/>
              <a:t>X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8AC402-29B8-F2D5-6FA1-4287A92BBF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36AF1701-9D2D-9473-6066-687E037480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1100DF2-4066-AD2C-A697-E6C874D686B7}"/>
              </a:ext>
            </a:extLst>
          </p:cNvPr>
          <p:cNvSpPr txBox="1"/>
          <p:nvPr/>
        </p:nvSpPr>
        <p:spPr>
          <a:xfrm>
            <a:off x="2522483" y="211257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16B4847-69D7-DAD6-3BC5-A74C499FD995}"/>
              </a:ext>
            </a:extLst>
          </p:cNvPr>
          <p:cNvSpPr/>
          <p:nvPr/>
        </p:nvSpPr>
        <p:spPr>
          <a:xfrm>
            <a:off x="2033751" y="1919940"/>
            <a:ext cx="3752193" cy="3172322"/>
          </a:xfrm>
          <a:prstGeom prst="rect">
            <a:avLst/>
          </a:prstGeom>
          <a:solidFill>
            <a:srgbClr val="FFF3C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Tx/>
              <a:buChar char="-"/>
            </a:pPr>
            <a:r>
              <a:rPr lang="ko-KR" altLang="en-US" sz="1800" b="1" dirty="0">
                <a:solidFill>
                  <a:srgbClr val="292A2E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신규 고객 암환자 </a:t>
            </a:r>
            <a:r>
              <a:rPr lang="en-US" altLang="ko-KR" sz="1800" b="1" dirty="0">
                <a:solidFill>
                  <a:srgbClr val="292A2E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VOC </a:t>
            </a:r>
            <a:r>
              <a:rPr lang="ko-KR" altLang="en-US" sz="1800" b="1" dirty="0">
                <a:solidFill>
                  <a:srgbClr val="292A2E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파악의 어려움</a:t>
            </a:r>
            <a:endParaRPr lang="en-GB" altLang="ko-KR" sz="1800" dirty="0">
              <a:solidFill>
                <a:srgbClr val="292A2E"/>
              </a:solidFill>
              <a:latin typeface="NanumBarunGothic" panose="020B0603020101020101" pitchFamily="34" charset="-127"/>
              <a:ea typeface="NanumBarunGothic" panose="020B0603020101020101" pitchFamily="34" charset="-127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4BC5450-956A-2EEE-CE15-54CC6A332FE8}"/>
              </a:ext>
            </a:extLst>
          </p:cNvPr>
          <p:cNvSpPr/>
          <p:nvPr/>
        </p:nvSpPr>
        <p:spPr>
          <a:xfrm>
            <a:off x="2033751" y="5320800"/>
            <a:ext cx="3752193" cy="3172322"/>
          </a:xfrm>
          <a:prstGeom prst="rect">
            <a:avLst/>
          </a:prstGeom>
          <a:solidFill>
            <a:srgbClr val="FFF3C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Tx/>
              <a:buChar char="-"/>
            </a:pPr>
            <a:r>
              <a:rPr lang="ko-KR" altLang="en-US" sz="1800" b="1" i="0" dirty="0">
                <a:solidFill>
                  <a:srgbClr val="292A2E"/>
                </a:solidFill>
                <a:effectLst/>
                <a:latin typeface="NanumBarunGothic" panose="020B0603020101020101" pitchFamily="34" charset="-127"/>
                <a:ea typeface="NanumBarunGothic" panose="020B0603020101020101" pitchFamily="34" charset="-127"/>
              </a:rPr>
              <a:t>제품 홍보</a:t>
            </a:r>
            <a:r>
              <a:rPr lang="ko-KR" altLang="en-US" sz="1800" b="1" dirty="0">
                <a:solidFill>
                  <a:srgbClr val="292A2E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에 어려움</a:t>
            </a:r>
            <a:r>
              <a:rPr lang="en-US" altLang="ko-KR" sz="1800" b="1" dirty="0">
                <a:solidFill>
                  <a:srgbClr val="292A2E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:</a:t>
            </a:r>
            <a:r>
              <a:rPr lang="ko-KR" altLang="en-US" sz="1800" b="1" dirty="0">
                <a:solidFill>
                  <a:srgbClr val="292A2E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 </a:t>
            </a:r>
            <a:br>
              <a:rPr lang="en-GB" altLang="ko-KR" sz="1800" b="1" dirty="0">
                <a:solidFill>
                  <a:srgbClr val="292A2E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</a:br>
            <a:r>
              <a:rPr lang="ko-KR" altLang="en-US" sz="1800" dirty="0">
                <a:solidFill>
                  <a:srgbClr val="292A2E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환자와 접점포인트가 적고 효과적인</a:t>
            </a:r>
            <a:r>
              <a:rPr lang="ko-KR" altLang="en-US" dirty="0">
                <a:solidFill>
                  <a:srgbClr val="292A2E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 </a:t>
            </a:r>
            <a:r>
              <a:rPr lang="ko-KR" altLang="en-US" sz="1800" dirty="0">
                <a:solidFill>
                  <a:srgbClr val="292A2E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광고를 하기가 </a:t>
            </a:r>
            <a:r>
              <a:rPr lang="ko-KR" altLang="en-US" sz="1800" dirty="0" err="1">
                <a:solidFill>
                  <a:srgbClr val="292A2E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힘듬</a:t>
            </a:r>
            <a:r>
              <a:rPr lang="en-US" altLang="ko-KR" sz="1800" dirty="0">
                <a:solidFill>
                  <a:srgbClr val="292A2E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.</a:t>
            </a:r>
            <a:endParaRPr lang="en-US" altLang="ko-KR" sz="1800" b="1" i="0" dirty="0">
              <a:solidFill>
                <a:srgbClr val="292A2E"/>
              </a:solidFill>
              <a:effectLst/>
              <a:latin typeface="NanumBarunGothic" panose="020B0603020101020101" pitchFamily="34" charset="-127"/>
              <a:ea typeface="NanumBarunGothic" panose="020B0603020101020101" pitchFamily="34" charset="-127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659E0B0-0087-AC6D-3DB2-4776167953E4}"/>
              </a:ext>
            </a:extLst>
          </p:cNvPr>
          <p:cNvSpPr/>
          <p:nvPr/>
        </p:nvSpPr>
        <p:spPr>
          <a:xfrm>
            <a:off x="199698" y="1919940"/>
            <a:ext cx="1723696" cy="6573182"/>
          </a:xfrm>
          <a:prstGeom prst="rect">
            <a:avLst/>
          </a:prstGeom>
          <a:solidFill>
            <a:srgbClr val="FFF3C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b="1" dirty="0">
                <a:solidFill>
                  <a:sysClr val="windowText" lastClr="000000"/>
                </a:solidFill>
              </a:rPr>
              <a:t>케이스</a:t>
            </a:r>
            <a:r>
              <a:rPr lang="en-US" altLang="ko-KR" b="1" dirty="0">
                <a:solidFill>
                  <a:sysClr val="windowText" lastClr="000000"/>
                </a:solidFill>
              </a:rPr>
              <a:t>1</a:t>
            </a:r>
          </a:p>
          <a:p>
            <a:r>
              <a:rPr lang="ko-KR" altLang="en-US" dirty="0">
                <a:solidFill>
                  <a:sysClr val="windowText" lastClr="000000"/>
                </a:solidFill>
              </a:rPr>
              <a:t>고객</a:t>
            </a:r>
            <a:endParaRPr lang="en-GB" altLang="ko-KR" dirty="0">
              <a:solidFill>
                <a:sysClr val="windowText" lastClr="000000"/>
              </a:solidFill>
            </a:endParaRPr>
          </a:p>
          <a:p>
            <a:r>
              <a:rPr lang="en-US" altLang="ko-KR" dirty="0">
                <a:solidFill>
                  <a:sysClr val="windowText" lastClr="000000"/>
                </a:solidFill>
              </a:rPr>
              <a:t>=</a:t>
            </a:r>
            <a:endParaRPr lang="en-GB" altLang="ko-KR" dirty="0">
              <a:solidFill>
                <a:sysClr val="windowText" lastClr="000000"/>
              </a:solidFill>
            </a:endParaRPr>
          </a:p>
          <a:p>
            <a:r>
              <a:rPr lang="ko-KR" altLang="en-US" dirty="0">
                <a:solidFill>
                  <a:sysClr val="windowText" lastClr="000000"/>
                </a:solidFill>
              </a:rPr>
              <a:t>문제 당사자</a:t>
            </a:r>
            <a:endParaRPr lang="en-GB" altLang="ko-KR" dirty="0">
              <a:solidFill>
                <a:sysClr val="windowText" lastClr="000000"/>
              </a:solidFill>
            </a:endParaRPr>
          </a:p>
          <a:p>
            <a:r>
              <a:rPr lang="en-US" altLang="ko-KR" dirty="0">
                <a:solidFill>
                  <a:sysClr val="windowText" lastClr="000000"/>
                </a:solidFill>
              </a:rPr>
              <a:t>=</a:t>
            </a:r>
            <a:endParaRPr lang="en-GB" altLang="ko-KR" dirty="0">
              <a:solidFill>
                <a:sysClr val="windowText" lastClr="000000"/>
              </a:solidFill>
            </a:endParaRPr>
          </a:p>
          <a:p>
            <a:r>
              <a:rPr lang="ko-KR" altLang="en-US" dirty="0">
                <a:solidFill>
                  <a:sysClr val="windowText" lastClr="000000"/>
                </a:solidFill>
              </a:rPr>
              <a:t>사용자</a:t>
            </a:r>
            <a:endParaRPr lang="en-US" dirty="0">
              <a:solidFill>
                <a:sysClr val="windowText" lastClr="00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A687465-726A-7A7F-59D8-3840C2F5F0F1}"/>
              </a:ext>
            </a:extLst>
          </p:cNvPr>
          <p:cNvSpPr txBox="1"/>
          <p:nvPr/>
        </p:nvSpPr>
        <p:spPr>
          <a:xfrm>
            <a:off x="6148552" y="2297245"/>
            <a:ext cx="444587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u="sng" dirty="0"/>
              <a:t>환자 </a:t>
            </a:r>
            <a:r>
              <a:rPr lang="en-US" altLang="ko-KR" b="1" u="sng" dirty="0"/>
              <a:t>VOC</a:t>
            </a:r>
            <a:r>
              <a:rPr lang="ko-KR" altLang="en-US" b="1" u="sng" dirty="0"/>
              <a:t> 수집</a:t>
            </a:r>
            <a:r>
              <a:rPr lang="en-US" altLang="ko-KR" b="1" u="sng" dirty="0"/>
              <a:t>:</a:t>
            </a:r>
          </a:p>
          <a:p>
            <a:r>
              <a:rPr lang="ko-KR" altLang="en-US" sz="1800" dirty="0">
                <a:solidFill>
                  <a:srgbClr val="292A2E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각종 환우 커뮤니티</a:t>
            </a:r>
            <a:r>
              <a:rPr lang="en-US" altLang="ko-KR" sz="1800" dirty="0">
                <a:solidFill>
                  <a:srgbClr val="292A2E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,</a:t>
            </a:r>
            <a:r>
              <a:rPr lang="ko-KR" altLang="en-US" sz="1800" dirty="0">
                <a:solidFill>
                  <a:srgbClr val="292A2E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 이벤트 등 </a:t>
            </a:r>
            <a:br>
              <a:rPr lang="en-GB" altLang="ko-KR" sz="1800" dirty="0">
                <a:solidFill>
                  <a:srgbClr val="292A2E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</a:br>
            <a:r>
              <a:rPr lang="ko-KR" altLang="en-US" sz="1800" dirty="0">
                <a:solidFill>
                  <a:srgbClr val="292A2E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환자의 의견 및 생각을 듣기 위해 활동</a:t>
            </a:r>
            <a:r>
              <a:rPr lang="en-US" altLang="ko-KR" sz="1800" dirty="0">
                <a:solidFill>
                  <a:srgbClr val="292A2E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.</a:t>
            </a:r>
            <a:r>
              <a:rPr lang="ko-KR" altLang="en-US" sz="1800" dirty="0">
                <a:solidFill>
                  <a:srgbClr val="292A2E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 </a:t>
            </a:r>
            <a:br>
              <a:rPr lang="en-GB" altLang="ko-KR" sz="1800" dirty="0">
                <a:solidFill>
                  <a:srgbClr val="292A2E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</a:br>
            <a:r>
              <a:rPr lang="ko-KR" altLang="en-US" sz="1800" dirty="0">
                <a:solidFill>
                  <a:srgbClr val="292A2E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환자인척 활동을 </a:t>
            </a:r>
            <a:r>
              <a:rPr lang="ko-KR" altLang="en-US" sz="1800" dirty="0" err="1">
                <a:solidFill>
                  <a:srgbClr val="292A2E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하는것에</a:t>
            </a:r>
            <a:r>
              <a:rPr lang="ko-KR" altLang="en-US" sz="1800" dirty="0">
                <a:solidFill>
                  <a:srgbClr val="292A2E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 불편함</a:t>
            </a:r>
            <a:r>
              <a:rPr lang="en-US" altLang="ko-KR" sz="1800" dirty="0">
                <a:solidFill>
                  <a:srgbClr val="292A2E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.</a:t>
            </a:r>
            <a:endParaRPr lang="en-US" altLang="ko-KR" b="1" dirty="0"/>
          </a:p>
          <a:p>
            <a:endParaRPr lang="en-US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32F70DA-D4BC-E1EC-B0B5-4B6A1FC1613D}"/>
              </a:ext>
            </a:extLst>
          </p:cNvPr>
          <p:cNvSpPr txBox="1"/>
          <p:nvPr/>
        </p:nvSpPr>
        <p:spPr>
          <a:xfrm>
            <a:off x="6148552" y="5440051"/>
            <a:ext cx="4761186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u="sng" dirty="0"/>
              <a:t>제품 홍보</a:t>
            </a:r>
            <a:r>
              <a:rPr lang="en-US" altLang="ko-KR" b="1" u="sng" dirty="0"/>
              <a:t>:</a:t>
            </a:r>
          </a:p>
          <a:p>
            <a:r>
              <a:rPr lang="en-US" altLang="ko-KR" sz="1800" b="1" dirty="0">
                <a:solidFill>
                  <a:srgbClr val="292A2E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-</a:t>
            </a:r>
            <a:r>
              <a:rPr lang="ko-KR" altLang="en-US" sz="1800" b="1" dirty="0">
                <a:solidFill>
                  <a:srgbClr val="292A2E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 병원 </a:t>
            </a:r>
            <a:r>
              <a:rPr lang="en-US" altLang="ko-KR" sz="1800" b="1" dirty="0">
                <a:solidFill>
                  <a:srgbClr val="292A2E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/</a:t>
            </a:r>
            <a:r>
              <a:rPr lang="ko-KR" altLang="en-US" sz="1800" b="1" dirty="0">
                <a:solidFill>
                  <a:srgbClr val="292A2E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 환자 커뮤니티</a:t>
            </a:r>
            <a:r>
              <a:rPr lang="en-US" altLang="ko-KR" sz="1800" b="1" dirty="0">
                <a:solidFill>
                  <a:srgbClr val="292A2E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:</a:t>
            </a:r>
            <a:r>
              <a:rPr lang="ko-KR" altLang="en-US" b="1" dirty="0">
                <a:solidFill>
                  <a:srgbClr val="292A2E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 </a:t>
            </a:r>
            <a:r>
              <a:rPr lang="ko-KR" altLang="en-US" sz="1800" dirty="0">
                <a:solidFill>
                  <a:srgbClr val="292A2E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대다수 홍보 불허</a:t>
            </a:r>
            <a:endParaRPr lang="en-GB" altLang="ko-KR" sz="1800" dirty="0">
              <a:solidFill>
                <a:srgbClr val="292A2E"/>
              </a:solidFill>
              <a:latin typeface="NanumBarunGothic" panose="020B0603020101020101" pitchFamily="34" charset="-127"/>
              <a:ea typeface="NanumBarunGothic" panose="020B0603020101020101" pitchFamily="34" charset="-127"/>
            </a:endParaRPr>
          </a:p>
          <a:p>
            <a:br>
              <a:rPr lang="en-GB" altLang="ko-KR" sz="1800" dirty="0">
                <a:solidFill>
                  <a:srgbClr val="292A2E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</a:br>
            <a:r>
              <a:rPr lang="en-US" altLang="ko-KR" sz="1800" b="1" dirty="0">
                <a:solidFill>
                  <a:srgbClr val="292A2E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-</a:t>
            </a:r>
            <a:r>
              <a:rPr lang="ko-KR" altLang="en-US" sz="1800" b="1" dirty="0">
                <a:solidFill>
                  <a:srgbClr val="292A2E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 </a:t>
            </a:r>
            <a:r>
              <a:rPr lang="ko-KR" altLang="en-US" sz="1800" b="1" dirty="0" err="1">
                <a:solidFill>
                  <a:srgbClr val="292A2E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환우회</a:t>
            </a:r>
            <a:r>
              <a:rPr lang="en-US" altLang="ko-KR" sz="1800" b="1" dirty="0">
                <a:solidFill>
                  <a:srgbClr val="292A2E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:</a:t>
            </a:r>
            <a:r>
              <a:rPr lang="ko-KR" altLang="en-US" dirty="0">
                <a:solidFill>
                  <a:srgbClr val="292A2E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 다수의</a:t>
            </a:r>
            <a:r>
              <a:rPr lang="ko-KR" altLang="en-US" sz="1800" b="1" dirty="0">
                <a:solidFill>
                  <a:srgbClr val="292A2E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 </a:t>
            </a:r>
            <a:r>
              <a:rPr lang="ko-KR" altLang="en-US" sz="1800" dirty="0">
                <a:solidFill>
                  <a:srgbClr val="292A2E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환자와 직접적인 접점포인트가 많지 않음</a:t>
            </a:r>
            <a:r>
              <a:rPr lang="en-US" altLang="ko-KR" sz="1800" dirty="0">
                <a:solidFill>
                  <a:srgbClr val="292A2E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.</a:t>
            </a:r>
            <a:r>
              <a:rPr lang="ko-KR" altLang="en-US" sz="1800" dirty="0">
                <a:solidFill>
                  <a:srgbClr val="292A2E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 몇가지 환자 접점포인트 이벤트를 진행하나 마케팅 비용이 비쌈</a:t>
            </a:r>
            <a:endParaRPr lang="en-GB" altLang="ko-KR" sz="1800" dirty="0">
              <a:solidFill>
                <a:srgbClr val="292A2E"/>
              </a:solidFill>
              <a:latin typeface="NanumBarunGothic" panose="020B0603020101020101" pitchFamily="34" charset="-127"/>
              <a:ea typeface="NanumBarunGothic" panose="020B0603020101020101" pitchFamily="34" charset="-127"/>
            </a:endParaRPr>
          </a:p>
          <a:p>
            <a:br>
              <a:rPr lang="en-GB" altLang="ko-KR" sz="1800" dirty="0">
                <a:solidFill>
                  <a:srgbClr val="292A2E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</a:br>
            <a:r>
              <a:rPr lang="en-US" altLang="ko-KR" sz="1800" b="1" dirty="0">
                <a:solidFill>
                  <a:srgbClr val="292A2E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-</a:t>
            </a:r>
            <a:r>
              <a:rPr lang="ko-KR" altLang="en-US" sz="1800" b="1" dirty="0">
                <a:solidFill>
                  <a:srgbClr val="292A2E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 </a:t>
            </a:r>
            <a:r>
              <a:rPr lang="ko-KR" altLang="en-US" sz="1800" b="1" dirty="0" err="1">
                <a:solidFill>
                  <a:srgbClr val="292A2E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인플루언서</a:t>
            </a:r>
            <a:r>
              <a:rPr lang="ko-KR" altLang="en-US" sz="1800" b="1" dirty="0">
                <a:solidFill>
                  <a:srgbClr val="292A2E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 마케팅</a:t>
            </a:r>
            <a:r>
              <a:rPr lang="en-US" altLang="ko-KR" sz="1800" b="1" dirty="0">
                <a:solidFill>
                  <a:srgbClr val="292A2E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:</a:t>
            </a:r>
            <a:r>
              <a:rPr lang="ko-KR" altLang="en-US" sz="1800" b="1" dirty="0">
                <a:solidFill>
                  <a:srgbClr val="292A2E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 </a:t>
            </a:r>
            <a:r>
              <a:rPr lang="ko-KR" altLang="en-US" sz="1800" dirty="0">
                <a:solidFill>
                  <a:srgbClr val="292A2E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환자들이 보는 메이저 </a:t>
            </a:r>
            <a:r>
              <a:rPr lang="ko-KR" altLang="en-US" sz="1800" dirty="0" err="1">
                <a:solidFill>
                  <a:srgbClr val="292A2E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인플루언서</a:t>
            </a:r>
            <a:r>
              <a:rPr lang="ko-KR" altLang="en-US" sz="1800" dirty="0">
                <a:solidFill>
                  <a:srgbClr val="292A2E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 등 부재</a:t>
            </a:r>
            <a:endParaRPr lang="en-US" altLang="ko-KR" b="1" dirty="0"/>
          </a:p>
          <a:p>
            <a:endParaRPr lang="en-US" b="1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EAE03D-65F1-9CE5-2543-495DF05D82AA}"/>
              </a:ext>
            </a:extLst>
          </p:cNvPr>
          <p:cNvSpPr/>
          <p:nvPr/>
        </p:nvSpPr>
        <p:spPr>
          <a:xfrm>
            <a:off x="11281487" y="1919940"/>
            <a:ext cx="5209244" cy="3172322"/>
          </a:xfrm>
          <a:prstGeom prst="rect">
            <a:avLst/>
          </a:prstGeom>
          <a:solidFill>
            <a:srgbClr val="FFF3C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Tx/>
              <a:buChar char="-"/>
            </a:pPr>
            <a:r>
              <a:rPr lang="ko-KR" altLang="en-US" sz="1800" dirty="0">
                <a:solidFill>
                  <a:srgbClr val="292A2E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직접 타겟 고객 환자를 채용하여 환자의 깊은 </a:t>
            </a:r>
            <a:r>
              <a:rPr lang="en-US" altLang="ko-KR" sz="1800" dirty="0">
                <a:solidFill>
                  <a:srgbClr val="292A2E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VOC</a:t>
            </a:r>
            <a:r>
              <a:rPr lang="ko-KR" altLang="en-US" sz="1800" dirty="0">
                <a:solidFill>
                  <a:srgbClr val="292A2E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뿐 아니라 경험 및 인사이트를 제품개발</a:t>
            </a:r>
            <a:r>
              <a:rPr lang="en-US" altLang="ko-KR" sz="1800" dirty="0">
                <a:solidFill>
                  <a:srgbClr val="292A2E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,</a:t>
            </a:r>
            <a:r>
              <a:rPr lang="ko-KR" altLang="en-US" sz="1800" dirty="0">
                <a:solidFill>
                  <a:srgbClr val="292A2E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 마케팅</a:t>
            </a:r>
            <a:r>
              <a:rPr lang="en-US" altLang="ko-KR" sz="1800" dirty="0">
                <a:solidFill>
                  <a:srgbClr val="292A2E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,</a:t>
            </a:r>
            <a:r>
              <a:rPr lang="ko-KR" altLang="en-US" sz="1800" dirty="0">
                <a:solidFill>
                  <a:srgbClr val="292A2E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 </a:t>
            </a:r>
            <a:r>
              <a:rPr lang="ko-KR" altLang="en-US" sz="1800" dirty="0" err="1">
                <a:solidFill>
                  <a:srgbClr val="292A2E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전략등에</a:t>
            </a:r>
            <a:r>
              <a:rPr lang="ko-KR" altLang="en-US" sz="1800" dirty="0">
                <a:solidFill>
                  <a:srgbClr val="292A2E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 활용</a:t>
            </a:r>
            <a:r>
              <a:rPr lang="en-US" altLang="ko-KR" sz="1800" dirty="0">
                <a:solidFill>
                  <a:srgbClr val="292A2E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.</a:t>
            </a:r>
          </a:p>
          <a:p>
            <a:pPr marL="285750" indent="-285750">
              <a:buFontTx/>
              <a:buChar char="-"/>
            </a:pPr>
            <a:endParaRPr lang="en-US" altLang="ko-KR" dirty="0">
              <a:solidFill>
                <a:srgbClr val="292A2E"/>
              </a:solidFill>
              <a:latin typeface="NanumBarunGothic" panose="020B0603020101020101" pitchFamily="34" charset="-127"/>
              <a:ea typeface="NanumBarunGothic" panose="020B0603020101020101" pitchFamily="34" charset="-127"/>
            </a:endParaRPr>
          </a:p>
          <a:p>
            <a:pPr marL="285750" indent="-285750">
              <a:buFontTx/>
              <a:buChar char="-"/>
            </a:pPr>
            <a:r>
              <a:rPr lang="ko-KR" altLang="en-US" dirty="0">
                <a:solidFill>
                  <a:srgbClr val="292A2E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타겟 환자군을 대상으로 설문조사</a:t>
            </a:r>
            <a:r>
              <a:rPr lang="en-US" altLang="ko-KR" dirty="0">
                <a:solidFill>
                  <a:srgbClr val="292A2E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,</a:t>
            </a:r>
            <a:r>
              <a:rPr lang="ko-KR" altLang="en-US" dirty="0">
                <a:solidFill>
                  <a:srgbClr val="292A2E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 인터뷰</a:t>
            </a:r>
            <a:r>
              <a:rPr lang="en-US" altLang="ko-KR" dirty="0">
                <a:solidFill>
                  <a:srgbClr val="292A2E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,</a:t>
            </a:r>
            <a:r>
              <a:rPr lang="ko-KR" altLang="en-US" dirty="0">
                <a:solidFill>
                  <a:srgbClr val="292A2E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 체험단 등 모집 가능</a:t>
            </a:r>
            <a:endParaRPr lang="en-GB" altLang="ko-KR" dirty="0">
              <a:solidFill>
                <a:srgbClr val="292A2E"/>
              </a:solidFill>
              <a:latin typeface="NanumBarunGothic" panose="020B0603020101020101" pitchFamily="34" charset="-127"/>
              <a:ea typeface="NanumBarunGothic" panose="020B0603020101020101" pitchFamily="34" charset="-127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1C0D45C-B073-5397-871D-906515D200B2}"/>
              </a:ext>
            </a:extLst>
          </p:cNvPr>
          <p:cNvSpPr/>
          <p:nvPr/>
        </p:nvSpPr>
        <p:spPr>
          <a:xfrm>
            <a:off x="11281487" y="5320800"/>
            <a:ext cx="5209244" cy="3139321"/>
          </a:xfrm>
          <a:prstGeom prst="rect">
            <a:avLst/>
          </a:prstGeom>
          <a:solidFill>
            <a:srgbClr val="FFF3C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Tx/>
              <a:buChar char="-"/>
            </a:pPr>
            <a:r>
              <a:rPr lang="ko-KR" altLang="en-US" sz="1800" dirty="0">
                <a:solidFill>
                  <a:srgbClr val="292A2E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채용공고를 통한 제품 및 자사 홍보 가능</a:t>
            </a:r>
            <a:r>
              <a:rPr lang="en-US" altLang="ko-KR" sz="1800" dirty="0">
                <a:solidFill>
                  <a:srgbClr val="292A2E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.</a:t>
            </a:r>
            <a:r>
              <a:rPr lang="ko-KR" altLang="en-US" sz="1800" dirty="0">
                <a:solidFill>
                  <a:srgbClr val="292A2E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 </a:t>
            </a:r>
            <a:r>
              <a:rPr lang="ko-KR" altLang="en-US" dirty="0">
                <a:solidFill>
                  <a:srgbClr val="292A2E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환자는 채용되기 위하여 자발적으로 기업 및 제품을 학습하여 효율적 마케팅 제공</a:t>
            </a:r>
            <a:endParaRPr lang="en-GB" altLang="ko-KR" dirty="0">
              <a:solidFill>
                <a:srgbClr val="292A2E"/>
              </a:solidFill>
              <a:latin typeface="NanumBarunGothic" panose="020B0603020101020101" pitchFamily="34" charset="-127"/>
              <a:ea typeface="NanumBarunGothic" panose="020B0603020101020101" pitchFamily="34" charset="-127"/>
            </a:endParaRPr>
          </a:p>
          <a:p>
            <a:pPr marL="342900" indent="-342900">
              <a:buFontTx/>
              <a:buChar char="-"/>
            </a:pPr>
            <a:endParaRPr lang="en-GB" altLang="ko-KR" dirty="0">
              <a:solidFill>
                <a:srgbClr val="292A2E"/>
              </a:solidFill>
              <a:latin typeface="NanumBarunGothic" panose="020B0603020101020101" pitchFamily="34" charset="-127"/>
              <a:ea typeface="NanumBarunGothic" panose="020B060302010102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47187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29D6C58-E5BB-DAD3-DA3D-AF2BC5E1F2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6656" y="930166"/>
            <a:ext cx="4761348" cy="793558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8AB23479-1FC9-4C70-EDD7-892F201B13DA}"/>
              </a:ext>
            </a:extLst>
          </p:cNvPr>
          <p:cNvSpPr/>
          <p:nvPr/>
        </p:nvSpPr>
        <p:spPr>
          <a:xfrm>
            <a:off x="740979" y="1939159"/>
            <a:ext cx="15812814" cy="6337738"/>
          </a:xfrm>
          <a:prstGeom prst="rect">
            <a:avLst/>
          </a:prstGeom>
          <a:solidFill>
            <a:srgbClr val="FFF3C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2800" dirty="0">
                <a:solidFill>
                  <a:schemeClr val="tx1"/>
                </a:solidFill>
              </a:rPr>
              <a:t>암환자 채용으로 인사이트와 타겟 광고 니즈를 해결하는 서비스</a:t>
            </a:r>
            <a:r>
              <a:rPr lang="en-US" altLang="ko-KR" sz="2800" dirty="0">
                <a:solidFill>
                  <a:schemeClr val="tx1"/>
                </a:solidFill>
              </a:rPr>
              <a:t>.</a:t>
            </a:r>
            <a:endParaRPr lang="ko-KR" altLang="en-US" sz="2800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CFA26BB-176A-7698-AE03-ED3375B5CBD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34660" y="1243272"/>
            <a:ext cx="10499278" cy="48045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242</TotalTime>
  <Words>509</Words>
  <Application>Microsoft Macintosh PowerPoint</Application>
  <PresentationFormat>Custom</PresentationFormat>
  <Paragraphs>53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NanumBarunGothic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mangoboard.net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러닝메이트 워크북v2</dc:title>
  <dc:subject>Presentation</dc:subject>
  <dc:creator>mangoboard.net_48059005</dc:creator>
  <cp:lastModifiedBy>교육센터 암</cp:lastModifiedBy>
  <cp:revision>5</cp:revision>
  <dcterms:created xsi:type="dcterms:W3CDTF">2025-04-26T00:56:45Z</dcterms:created>
  <dcterms:modified xsi:type="dcterms:W3CDTF">2025-04-26T14:26:09Z</dcterms:modified>
</cp:coreProperties>
</file>