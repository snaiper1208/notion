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2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96" y="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102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A7FD89-6D81-7F23-1DE9-EE160A36B538}"/>
              </a:ext>
            </a:extLst>
          </p:cNvPr>
          <p:cNvSpPr txBox="1"/>
          <p:nvPr/>
        </p:nvSpPr>
        <p:spPr>
          <a:xfrm>
            <a:off x="1023457" y="2719152"/>
            <a:ext cx="29529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해외 안경점이 고품질의</a:t>
            </a:r>
            <a:r>
              <a:rPr lang="en-US" altLang="ko-KR" sz="2000" dirty="0"/>
              <a:t> </a:t>
            </a:r>
            <a:r>
              <a:rPr lang="ko-KR" altLang="en-US" sz="2000" dirty="0"/>
              <a:t>안경을</a:t>
            </a:r>
            <a:r>
              <a:rPr lang="en-US" altLang="ko-KR" sz="2000" dirty="0"/>
              <a:t> </a:t>
            </a:r>
            <a:r>
              <a:rPr lang="ko-KR" altLang="en-US" sz="2000" dirty="0"/>
              <a:t>신속하고</a:t>
            </a:r>
            <a:r>
              <a:rPr lang="en-US" altLang="ko-KR" sz="2000" dirty="0"/>
              <a:t> </a:t>
            </a:r>
            <a:r>
              <a:rPr lang="ko-KR" altLang="en-US" sz="2000" dirty="0"/>
              <a:t>저렴하게</a:t>
            </a:r>
            <a:r>
              <a:rPr lang="en-US" altLang="ko-KR" sz="2000" dirty="0"/>
              <a:t> </a:t>
            </a:r>
            <a:r>
              <a:rPr lang="ko-KR" altLang="en-US" sz="2000" dirty="0"/>
              <a:t>고객에게 판매하는 것이 어렵다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0836B-3C82-EAB1-285E-0CF3A5B16F42}"/>
              </a:ext>
            </a:extLst>
          </p:cNvPr>
          <p:cNvSpPr txBox="1"/>
          <p:nvPr/>
        </p:nvSpPr>
        <p:spPr>
          <a:xfrm>
            <a:off x="4496499" y="2223083"/>
            <a:ext cx="742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미국 안경 구매비가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500~1,000</a:t>
            </a:r>
            <a:r>
              <a:rPr lang="ko-KR" altLang="en-US" dirty="0"/>
              <a:t>달러로 과도하게 비쌈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D4678-4E15-953C-0C2B-7366C4B14FD0}"/>
              </a:ext>
            </a:extLst>
          </p:cNvPr>
          <p:cNvSpPr txBox="1"/>
          <p:nvPr/>
        </p:nvSpPr>
        <p:spPr>
          <a:xfrm>
            <a:off x="4496499" y="3196206"/>
            <a:ext cx="742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미국 현지 안경점은 비전문적 가공으로 품질 편차 및 고객 불만족 빈번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84420-C833-EDEB-06EE-EB638A39D21D}"/>
              </a:ext>
            </a:extLst>
          </p:cNvPr>
          <p:cNvSpPr txBox="1"/>
          <p:nvPr/>
        </p:nvSpPr>
        <p:spPr>
          <a:xfrm>
            <a:off x="4496498" y="4211274"/>
            <a:ext cx="7508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렌즈 가공 외주로 인한 유통비와</a:t>
            </a:r>
            <a:r>
              <a:rPr lang="en-US" altLang="ko-KR" dirty="0"/>
              <a:t> </a:t>
            </a:r>
            <a:r>
              <a:rPr lang="ko-KR" altLang="en-US" dirty="0"/>
              <a:t>제작기간 증가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C024B-EB8E-C702-7440-8E5351403BF5}"/>
              </a:ext>
            </a:extLst>
          </p:cNvPr>
          <p:cNvSpPr txBox="1"/>
          <p:nvPr/>
        </p:nvSpPr>
        <p:spPr>
          <a:xfrm>
            <a:off x="1023456" y="6030550"/>
            <a:ext cx="29529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국내 안경렌즈 공급업체가 해외 안경점과 가공업체에 안경렌즈를 효율적으로 조달하기 어렵다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3DB10-F134-8E56-D7B8-5B03789FF036}"/>
              </a:ext>
            </a:extLst>
          </p:cNvPr>
          <p:cNvSpPr txBox="1"/>
          <p:nvPr/>
        </p:nvSpPr>
        <p:spPr>
          <a:xfrm>
            <a:off x="4648899" y="5823955"/>
            <a:ext cx="742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주문</a:t>
            </a:r>
            <a:r>
              <a:rPr lang="en-US" altLang="ko-KR" dirty="0"/>
              <a:t>·</a:t>
            </a:r>
            <a:r>
              <a:rPr lang="ko-KR" altLang="en-US" dirty="0"/>
              <a:t>결제</a:t>
            </a:r>
            <a:r>
              <a:rPr lang="en-US" altLang="ko-KR" dirty="0"/>
              <a:t>·</a:t>
            </a:r>
            <a:r>
              <a:rPr lang="ko-KR" altLang="en-US" dirty="0"/>
              <a:t>배송</a:t>
            </a:r>
            <a:r>
              <a:rPr lang="en-US" altLang="ko-KR" dirty="0"/>
              <a:t> </a:t>
            </a:r>
            <a:r>
              <a:rPr lang="ko-KR" altLang="en-US" dirty="0"/>
              <a:t>전 과정이 수기 및 아날로그 방식에 의존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B53ED-1F91-681B-91E2-AEBFB494F102}"/>
              </a:ext>
            </a:extLst>
          </p:cNvPr>
          <p:cNvSpPr txBox="1"/>
          <p:nvPr/>
        </p:nvSpPr>
        <p:spPr>
          <a:xfrm>
            <a:off x="4648899" y="6797078"/>
            <a:ext cx="742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한국 공급자가 </a:t>
            </a:r>
            <a:r>
              <a:rPr lang="en-US" altLang="ko-KR" dirty="0"/>
              <a:t>FDA </a:t>
            </a:r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/>
              <a:t>통관의</a:t>
            </a:r>
            <a:r>
              <a:rPr lang="en-US" altLang="ko-KR" dirty="0"/>
              <a:t> </a:t>
            </a:r>
            <a:r>
              <a:rPr lang="ko-KR" altLang="en-US" dirty="0"/>
              <a:t>역량과 경험이 없음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34B5D-1F11-C5C0-C329-A65FC6106A07}"/>
              </a:ext>
            </a:extLst>
          </p:cNvPr>
          <p:cNvSpPr txBox="1"/>
          <p:nvPr/>
        </p:nvSpPr>
        <p:spPr>
          <a:xfrm>
            <a:off x="4565009" y="7661766"/>
            <a:ext cx="7508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전문용어 기반 상담 및 주문 소통 역량 부족으로 영업</a:t>
            </a:r>
            <a:r>
              <a:rPr lang="en-US" altLang="ko-KR" dirty="0"/>
              <a:t>/</a:t>
            </a:r>
            <a:r>
              <a:rPr lang="ko-KR" altLang="en-US" dirty="0"/>
              <a:t>마케팅 인프라 부재로 거래처 확대에 어려움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EE7C32A-F512-41D5-D6CC-EB00805C1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958" y="1959756"/>
            <a:ext cx="826048" cy="3056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EBE5369-316C-255A-008C-D5ACC9466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958" y="2254930"/>
            <a:ext cx="826048" cy="30563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69B2D27-0AF2-0E52-1E6B-EF4601124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958" y="2550104"/>
            <a:ext cx="826048" cy="30563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FAA69D5-F5FE-B1D5-EA0E-CB8B05308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958" y="2987633"/>
            <a:ext cx="826048" cy="3056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62F1A17-0EC8-EACA-DF2F-F70901931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958" y="3292851"/>
            <a:ext cx="826048" cy="30563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DB584C4-52D8-D2F8-1193-DA8B2A536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958" y="3590922"/>
            <a:ext cx="826048" cy="30563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10AC631-BD96-0189-AA87-A45C981016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09091" y="3984622"/>
            <a:ext cx="550842" cy="30563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B1D76CE-706A-C925-520F-4421ED57A0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25770" y="4564506"/>
            <a:ext cx="550842" cy="30563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83937BE-7852-4590-A73F-292EE891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5770" y="4269332"/>
            <a:ext cx="826048" cy="30563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AFADAA8-5986-DEC6-AC51-88A3A6D272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25770" y="5518318"/>
            <a:ext cx="550842" cy="30563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C0E737C-8E23-3D39-7ADC-C179C80308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31885" y="6085640"/>
            <a:ext cx="550842" cy="30563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BA4B9FC-A60F-27EA-D5DC-1CA25BE7C2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09091" y="6534408"/>
            <a:ext cx="550842" cy="30563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408859F-2D4C-5A75-5359-7A6621ABC3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09091" y="7055837"/>
            <a:ext cx="550842" cy="30563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BAD0ADD-B18B-9A83-F1F5-552CB8A19C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21302" y="7545972"/>
            <a:ext cx="550842" cy="30563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3F91888-17F7-32F4-9601-36D8AB34C8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21302" y="7827920"/>
            <a:ext cx="550842" cy="30563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A97ABDD-82F1-29AE-641E-5AFE38DFF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316"/>
          <a:stretch/>
        </p:blipFill>
        <p:spPr>
          <a:xfrm>
            <a:off x="13331885" y="8133138"/>
            <a:ext cx="550842" cy="30563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83581B1-0835-7A8B-CBE6-10C853B8C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885" y="5803186"/>
            <a:ext cx="826048" cy="30563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721B0C6-474A-9D50-049E-F232B02C9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091" y="6806806"/>
            <a:ext cx="826048" cy="30563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40F67E5-C398-784F-C219-EA34BD78D2B3}"/>
              </a:ext>
            </a:extLst>
          </p:cNvPr>
          <p:cNvSpPr txBox="1"/>
          <p:nvPr/>
        </p:nvSpPr>
        <p:spPr>
          <a:xfrm>
            <a:off x="14799733" y="2855741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r>
              <a:rPr lang="ko-KR" altLang="en-US" dirty="0"/>
              <a:t>순위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99F440-8274-0476-10BA-CE0113A4F7B4}"/>
              </a:ext>
            </a:extLst>
          </p:cNvPr>
          <p:cNvSpPr txBox="1"/>
          <p:nvPr/>
        </p:nvSpPr>
        <p:spPr>
          <a:xfrm>
            <a:off x="14855170" y="6743111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순위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E8363-F750-40F8-91A2-9952A67DFA5B}"/>
              </a:ext>
            </a:extLst>
          </p:cNvPr>
          <p:cNvSpPr txBox="1"/>
          <p:nvPr/>
        </p:nvSpPr>
        <p:spPr>
          <a:xfrm>
            <a:off x="1143000" y="2167467"/>
            <a:ext cx="7120467" cy="1659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C49F95-4DC4-218A-3B75-13BEB8865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88848"/>
            <a:ext cx="75146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AI 기반 자동 </a:t>
            </a:r>
            <a:r>
              <a:rPr lang="ko-KR" altLang="ko-KR" dirty="0" err="1">
                <a:latin typeface="Arial" panose="020B0604020202020204" pitchFamily="34" charset="0"/>
              </a:rPr>
              <a:t>번역·주문</a:t>
            </a:r>
            <a:r>
              <a:rPr lang="ko-KR" altLang="ko-KR" dirty="0">
                <a:latin typeface="Arial" panose="020B0604020202020204" pitchFamily="34" charset="0"/>
              </a:rPr>
              <a:t> 시스템 개발 가능 (MVP </a:t>
            </a:r>
            <a:r>
              <a:rPr lang="ko-KR" altLang="en-US" dirty="0">
                <a:latin typeface="Arial" panose="020B0604020202020204" pitchFamily="34" charset="0"/>
              </a:rPr>
              <a:t>기획</a:t>
            </a:r>
            <a:r>
              <a:rPr lang="ko-KR" altLang="ko-KR" dirty="0">
                <a:latin typeface="Arial" panose="020B0604020202020204" pitchFamily="34" charset="0"/>
              </a:rPr>
              <a:t> 완료)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글로벌 물류 API(FedEx, DHL 등) 연동 및 배송 </a:t>
            </a:r>
            <a:r>
              <a:rPr lang="ko-KR" altLang="ko-KR" dirty="0" err="1">
                <a:latin typeface="Arial" panose="020B0604020202020204" pitchFamily="34" charset="0"/>
              </a:rPr>
              <a:t>트래킹</a:t>
            </a:r>
            <a:r>
              <a:rPr lang="ko-KR" altLang="ko-KR" dirty="0">
                <a:latin typeface="Arial" panose="020B0604020202020204" pitchFamily="34" charset="0"/>
              </a:rPr>
              <a:t> 시스템 개발 가능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FDA Class-1 수출입 통관 프로세스 설계 및 대응 경험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디지털 헬스케어 플랫폼 구축 경험 보유 (웹/앱 개발 가능)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03D7C8D-724A-055D-7582-53F5C701F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5716" y="2400645"/>
            <a:ext cx="75146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해외영업·플랫폼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비즈니스·B2B 세일즈 실무 경험 보유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맞춤형 헬스케어 디바이스 시장에 대한 도메인 전문성 보유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창업 및 투자유치 경험을 바탕으로 실행력과 네트워크 확보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359E24C-41E8-0C19-1B40-362BDE961A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03301" y="4977537"/>
            <a:ext cx="75146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고품질 맞춤형 안경렌즈를 합리적인 가격과 빠른 납기로 해외 안경점에 공급 가능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한국 안경광학 기반 렌즈 가공 인프라를 활용하여 글로벌 시장 품질 편차 문제 해결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기반 자동 번역·주문 프로세스를 통해 언어 장벽 및 주문 오류 최소화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FDA 인증, 해외 결제·통관 관리 등 글로벌 진입 장벽 해소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5F80CB7-CD5F-9D8D-D237-C1F5064AFEF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95717" y="5060637"/>
            <a:ext cx="73253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현지 소비자의 취향 변화, 브랜드 선호 등 시장 내 감성적 요인 즉각 대응의 어려움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 국가의 의료기기 규제 강화 또는 정책 변화에 대한 실시간 대응 한계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글로벌 통관 및 특송사의 일시적 지연·리스크 발생 시 플랫폼 통제 한계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1CB30-2A53-7878-DC6A-362B95AC333D}"/>
              </a:ext>
            </a:extLst>
          </p:cNvPr>
          <p:cNvSpPr txBox="1"/>
          <p:nvPr/>
        </p:nvSpPr>
        <p:spPr>
          <a:xfrm>
            <a:off x="1003301" y="7991298"/>
            <a:ext cx="15976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OPT CONNECT</a:t>
            </a:r>
            <a:r>
              <a:rPr lang="ko-KR" altLang="en-US" sz="2000" b="1" dirty="0"/>
              <a:t>는 글로벌 안경렌즈 수출 시장의 비효율성과 언어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통관 장벽을 제거하여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한국의 우수한 렌즈 가공 품질을 세계로 연결하는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기반 맞춤형 의료기기 중개  서비스를 구현합니다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288</Words>
  <Application>Microsoft Office PowerPoint</Application>
  <PresentationFormat>사용자 지정</PresentationFormat>
  <Paragraphs>28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CHANGIL KO</cp:lastModifiedBy>
  <cp:revision>3</cp:revision>
  <dcterms:created xsi:type="dcterms:W3CDTF">2025-04-21T00:55:53Z</dcterms:created>
  <dcterms:modified xsi:type="dcterms:W3CDTF">2025-04-26T14:54:21Z</dcterms:modified>
</cp:coreProperties>
</file>