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9" r:id="rId4"/>
    <p:sldId id="260" r:id="rId5"/>
    <p:sldId id="261" r:id="rId6"/>
    <p:sldId id="263" r:id="rId7"/>
    <p:sldId id="264" r:id="rId8"/>
    <p:sldId id="267" r:id="rId9"/>
    <p:sldId id="272" r:id="rId10"/>
  </p:sldIdLst>
  <p:sldSz cx="17556163" cy="9875838"/>
  <p:notesSz cx="9875838" cy="17556163"/>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송해성 송해성" initials="송송" lastIdx="1" clrIdx="0">
    <p:extLst>
      <p:ext uri="{19B8F6BF-5375-455C-9EA6-DF929625EA0E}">
        <p15:presenceInfo xmlns:p15="http://schemas.microsoft.com/office/powerpoint/2012/main" userId="b7b789259c90aae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19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1630238"/>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7556480" cy="98755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7556480" cy="98755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7556480" cy="9875520"/>
          </a:xfrm>
          <a:prstGeom prst="rect">
            <a:avLst/>
          </a:prstGeom>
        </p:spPr>
      </p:pic>
      <p:sp>
        <p:nvSpPr>
          <p:cNvPr id="3" name="TextBox 2">
            <a:extLst>
              <a:ext uri="{FF2B5EF4-FFF2-40B4-BE49-F238E27FC236}">
                <a16:creationId xmlns:a16="http://schemas.microsoft.com/office/drawing/2014/main" id="{4E1612AB-72D9-4C5F-96FA-F8D3E6E3682C}"/>
              </a:ext>
            </a:extLst>
          </p:cNvPr>
          <p:cNvSpPr txBox="1"/>
          <p:nvPr/>
        </p:nvSpPr>
        <p:spPr>
          <a:xfrm>
            <a:off x="1219200" y="2523744"/>
            <a:ext cx="11667744" cy="369332"/>
          </a:xfrm>
          <a:prstGeom prst="rect">
            <a:avLst/>
          </a:prstGeom>
          <a:noFill/>
        </p:spPr>
        <p:txBody>
          <a:bodyPr wrap="square" rtlCol="0">
            <a:spAutoFit/>
          </a:bodyPr>
          <a:lstStyle/>
          <a:p>
            <a:r>
              <a:rPr lang="ko-KR" altLang="en-US" dirty="0"/>
              <a:t>주니어 디자이너와 디자인 전공 학생들은 디자인 역량이 높지 않아 디자인 의사 결정에 어려움과 불확신을 갖는다</a:t>
            </a:r>
            <a:r>
              <a:rPr lang="en-US" altLang="ko-KR" dirty="0"/>
              <a:t>.</a:t>
            </a:r>
            <a:endParaRPr lang="ko-KR" altLang="en-US" dirty="0"/>
          </a:p>
        </p:txBody>
      </p:sp>
      <p:sp>
        <p:nvSpPr>
          <p:cNvPr id="4" name="TextBox 3">
            <a:extLst>
              <a:ext uri="{FF2B5EF4-FFF2-40B4-BE49-F238E27FC236}">
                <a16:creationId xmlns:a16="http://schemas.microsoft.com/office/drawing/2014/main" id="{56CE8288-FCC7-4FB1-8560-5AE2719A9C93}"/>
              </a:ext>
            </a:extLst>
          </p:cNvPr>
          <p:cNvSpPr txBox="1"/>
          <p:nvPr/>
        </p:nvSpPr>
        <p:spPr>
          <a:xfrm>
            <a:off x="1219200" y="4429928"/>
            <a:ext cx="11667744" cy="646331"/>
          </a:xfrm>
          <a:prstGeom prst="rect">
            <a:avLst/>
          </a:prstGeom>
          <a:noFill/>
        </p:spPr>
        <p:txBody>
          <a:bodyPr wrap="square" rtlCol="0">
            <a:spAutoFit/>
          </a:bodyPr>
          <a:lstStyle/>
          <a:p>
            <a:r>
              <a:rPr lang="ko-KR" altLang="en-US" dirty="0"/>
              <a:t>현재 사용 가능한 디자인 피드백 도구는 속도나 비용 면에서 효과적이지만</a:t>
            </a:r>
            <a:r>
              <a:rPr lang="en-US" altLang="ko-KR" dirty="0"/>
              <a:t>, </a:t>
            </a:r>
          </a:p>
          <a:p>
            <a:r>
              <a:rPr lang="ko-KR" altLang="en-US" dirty="0"/>
              <a:t>맥락에 맞는 피드백을 제공하지 못해 신뢰도가 떨어진다</a:t>
            </a:r>
            <a:r>
              <a:rPr lang="en-US" altLang="ko-KR" dirty="0"/>
              <a:t>.</a:t>
            </a:r>
            <a:endParaRPr lang="ko-KR" altLang="en-US" dirty="0"/>
          </a:p>
        </p:txBody>
      </p:sp>
      <p:sp>
        <p:nvSpPr>
          <p:cNvPr id="5" name="TextBox 4">
            <a:extLst>
              <a:ext uri="{FF2B5EF4-FFF2-40B4-BE49-F238E27FC236}">
                <a16:creationId xmlns:a16="http://schemas.microsoft.com/office/drawing/2014/main" id="{35693CB4-87E5-4657-A512-EFB37902DE6D}"/>
              </a:ext>
            </a:extLst>
          </p:cNvPr>
          <p:cNvSpPr txBox="1"/>
          <p:nvPr/>
        </p:nvSpPr>
        <p:spPr>
          <a:xfrm>
            <a:off x="1219200" y="3438144"/>
            <a:ext cx="11667744" cy="646331"/>
          </a:xfrm>
          <a:prstGeom prst="rect">
            <a:avLst/>
          </a:prstGeom>
          <a:noFill/>
        </p:spPr>
        <p:txBody>
          <a:bodyPr wrap="square" rtlCol="0">
            <a:spAutoFit/>
          </a:bodyPr>
          <a:lstStyle/>
          <a:p>
            <a:r>
              <a:rPr lang="ko-KR" altLang="en-US" dirty="0"/>
              <a:t>소규모 </a:t>
            </a:r>
            <a:r>
              <a:rPr lang="ko-KR" altLang="en-US" dirty="0" err="1"/>
              <a:t>스타트업의</a:t>
            </a:r>
            <a:r>
              <a:rPr lang="ko-KR" altLang="en-US" dirty="0"/>
              <a:t> 디자인팀은 자체 디자인 원칙이나 시스템이 없어서</a:t>
            </a:r>
            <a:r>
              <a:rPr lang="en-US" altLang="ko-KR" dirty="0"/>
              <a:t>, </a:t>
            </a:r>
          </a:p>
          <a:p>
            <a:r>
              <a:rPr lang="ko-KR" altLang="en-US" dirty="0"/>
              <a:t>일관되지 않은 </a:t>
            </a:r>
            <a:r>
              <a:rPr lang="en-US" altLang="ko-KR" dirty="0"/>
              <a:t>UI </a:t>
            </a:r>
            <a:r>
              <a:rPr lang="ko-KR" altLang="en-US" dirty="0"/>
              <a:t>디자인과 비효율적 업무 프로세스 문제를 겪는다</a:t>
            </a:r>
            <a:r>
              <a:rPr lang="en-US" altLang="ko-KR" dirty="0"/>
              <a:t>.</a:t>
            </a:r>
            <a:endParaRPr lang="ko-KR" altLang="en-US" dirty="0"/>
          </a:p>
        </p:txBody>
      </p:sp>
      <p:sp>
        <p:nvSpPr>
          <p:cNvPr id="8" name="TextBox 7">
            <a:extLst>
              <a:ext uri="{FF2B5EF4-FFF2-40B4-BE49-F238E27FC236}">
                <a16:creationId xmlns:a16="http://schemas.microsoft.com/office/drawing/2014/main" id="{088FA390-10B3-4015-BC08-EE3271A2A439}"/>
              </a:ext>
            </a:extLst>
          </p:cNvPr>
          <p:cNvSpPr txBox="1"/>
          <p:nvPr/>
        </p:nvSpPr>
        <p:spPr>
          <a:xfrm>
            <a:off x="14398752" y="4383762"/>
            <a:ext cx="512064" cy="369332"/>
          </a:xfrm>
          <a:prstGeom prst="rect">
            <a:avLst/>
          </a:prstGeom>
          <a:noFill/>
        </p:spPr>
        <p:txBody>
          <a:bodyPr wrap="square" rtlCol="0">
            <a:spAutoFit/>
          </a:bodyPr>
          <a:lstStyle/>
          <a:p>
            <a:r>
              <a:rPr lang="en-US" altLang="ko-KR" dirty="0"/>
              <a:t>O</a:t>
            </a:r>
            <a:endParaRPr lang="ko-KR" altLang="en-US" dirty="0"/>
          </a:p>
        </p:txBody>
      </p:sp>
      <p:sp>
        <p:nvSpPr>
          <p:cNvPr id="9" name="TextBox 8">
            <a:extLst>
              <a:ext uri="{FF2B5EF4-FFF2-40B4-BE49-F238E27FC236}">
                <a16:creationId xmlns:a16="http://schemas.microsoft.com/office/drawing/2014/main" id="{FA74E11A-B400-439F-ACC6-E4069A338418}"/>
              </a:ext>
            </a:extLst>
          </p:cNvPr>
          <p:cNvSpPr txBox="1"/>
          <p:nvPr/>
        </p:nvSpPr>
        <p:spPr>
          <a:xfrm>
            <a:off x="14398752" y="3453753"/>
            <a:ext cx="512064" cy="369332"/>
          </a:xfrm>
          <a:prstGeom prst="rect">
            <a:avLst/>
          </a:prstGeom>
          <a:noFill/>
        </p:spPr>
        <p:txBody>
          <a:bodyPr wrap="square" rtlCol="0">
            <a:spAutoFit/>
          </a:bodyPr>
          <a:lstStyle/>
          <a:p>
            <a:r>
              <a:rPr lang="en-US" altLang="ko-KR" dirty="0"/>
              <a:t>X</a:t>
            </a:r>
            <a:endParaRPr lang="ko-KR" altLang="en-US" dirty="0"/>
          </a:p>
        </p:txBody>
      </p:sp>
      <p:sp>
        <p:nvSpPr>
          <p:cNvPr id="10" name="TextBox 9">
            <a:extLst>
              <a:ext uri="{FF2B5EF4-FFF2-40B4-BE49-F238E27FC236}">
                <a16:creationId xmlns:a16="http://schemas.microsoft.com/office/drawing/2014/main" id="{6805FA5B-35D8-4AA5-AACA-C11DC136DC85}"/>
              </a:ext>
            </a:extLst>
          </p:cNvPr>
          <p:cNvSpPr txBox="1"/>
          <p:nvPr/>
        </p:nvSpPr>
        <p:spPr>
          <a:xfrm>
            <a:off x="14398752" y="2491478"/>
            <a:ext cx="512064" cy="369332"/>
          </a:xfrm>
          <a:prstGeom prst="rect">
            <a:avLst/>
          </a:prstGeom>
          <a:noFill/>
        </p:spPr>
        <p:txBody>
          <a:bodyPr wrap="square" rtlCol="0">
            <a:spAutoFit/>
          </a:bodyPr>
          <a:lstStyle/>
          <a:p>
            <a:r>
              <a:rPr lang="en-US" altLang="ko-KR" dirty="0"/>
              <a:t>O</a:t>
            </a:r>
            <a:endParaRPr lang="ko-KR"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7556480" cy="9875520"/>
          </a:xfrm>
          <a:prstGeom prst="rect">
            <a:avLst/>
          </a:prstGeom>
        </p:spPr>
      </p:pic>
      <p:sp>
        <p:nvSpPr>
          <p:cNvPr id="3" name="TextBox 2">
            <a:extLst>
              <a:ext uri="{FF2B5EF4-FFF2-40B4-BE49-F238E27FC236}">
                <a16:creationId xmlns:a16="http://schemas.microsoft.com/office/drawing/2014/main" id="{D81A8F15-1879-4509-AA28-6C76D2A08273}"/>
              </a:ext>
            </a:extLst>
          </p:cNvPr>
          <p:cNvSpPr txBox="1"/>
          <p:nvPr/>
        </p:nvSpPr>
        <p:spPr>
          <a:xfrm>
            <a:off x="1219200" y="2523744"/>
            <a:ext cx="11667744" cy="646331"/>
          </a:xfrm>
          <a:prstGeom prst="rect">
            <a:avLst/>
          </a:prstGeom>
          <a:noFill/>
        </p:spPr>
        <p:txBody>
          <a:bodyPr wrap="square" rtlCol="0">
            <a:spAutoFit/>
          </a:bodyPr>
          <a:lstStyle/>
          <a:p>
            <a:r>
              <a:rPr lang="ko-KR" altLang="en-US" dirty="0"/>
              <a:t>주니어 디자이너와 디자인 학생들은 </a:t>
            </a:r>
            <a:r>
              <a:rPr lang="ko-KR" altLang="en-US" b="1" dirty="0"/>
              <a:t>디자인 시스템 기반의 즉각적인 </a:t>
            </a:r>
            <a:r>
              <a:rPr lang="en-US" altLang="ko-KR" b="1" dirty="0"/>
              <a:t>AI </a:t>
            </a:r>
            <a:r>
              <a:rPr lang="ko-KR" altLang="en-US" b="1" dirty="0"/>
              <a:t>피드백을 받으면</a:t>
            </a:r>
            <a:r>
              <a:rPr lang="ko-KR" altLang="en-US" dirty="0"/>
              <a:t> 디자인 생산성이 크게 향상될 것이다</a:t>
            </a:r>
            <a:r>
              <a:rPr lang="en-US" altLang="ko-KR" dirty="0"/>
              <a:t>.</a:t>
            </a:r>
            <a:endParaRPr lang="ko-KR" altLang="en-US" dirty="0"/>
          </a:p>
        </p:txBody>
      </p:sp>
      <p:sp>
        <p:nvSpPr>
          <p:cNvPr id="4" name="TextBox 3">
            <a:extLst>
              <a:ext uri="{FF2B5EF4-FFF2-40B4-BE49-F238E27FC236}">
                <a16:creationId xmlns:a16="http://schemas.microsoft.com/office/drawing/2014/main" id="{A077C003-DFEA-4861-ADC2-3DB978047B7B}"/>
              </a:ext>
            </a:extLst>
          </p:cNvPr>
          <p:cNvSpPr txBox="1"/>
          <p:nvPr/>
        </p:nvSpPr>
        <p:spPr>
          <a:xfrm>
            <a:off x="1219200" y="4429928"/>
            <a:ext cx="11667744" cy="369332"/>
          </a:xfrm>
          <a:prstGeom prst="rect">
            <a:avLst/>
          </a:prstGeom>
          <a:noFill/>
        </p:spPr>
        <p:txBody>
          <a:bodyPr wrap="square" rtlCol="0">
            <a:spAutoFit/>
          </a:bodyPr>
          <a:lstStyle/>
          <a:p>
            <a:r>
              <a:rPr lang="ko-KR" altLang="en-US" dirty="0"/>
              <a:t>개인 디자이너나 작은 팀은 월 구독료를 지불할 의향이 있으며</a:t>
            </a:r>
            <a:r>
              <a:rPr lang="en-US" altLang="ko-KR" dirty="0"/>
              <a:t>, </a:t>
            </a:r>
            <a:r>
              <a:rPr lang="ko-KR" altLang="en-US" dirty="0"/>
              <a:t>지속적인 사용 가능성이 높을 것이다</a:t>
            </a:r>
            <a:r>
              <a:rPr lang="en-US" altLang="ko-KR" dirty="0"/>
              <a:t>.</a:t>
            </a:r>
            <a:endParaRPr lang="ko-KR" altLang="en-US" dirty="0"/>
          </a:p>
        </p:txBody>
      </p:sp>
      <p:sp>
        <p:nvSpPr>
          <p:cNvPr id="5" name="TextBox 4">
            <a:extLst>
              <a:ext uri="{FF2B5EF4-FFF2-40B4-BE49-F238E27FC236}">
                <a16:creationId xmlns:a16="http://schemas.microsoft.com/office/drawing/2014/main" id="{15F76FCE-16C4-477B-A1BA-4CA1C915EE20}"/>
              </a:ext>
            </a:extLst>
          </p:cNvPr>
          <p:cNvSpPr txBox="1"/>
          <p:nvPr/>
        </p:nvSpPr>
        <p:spPr>
          <a:xfrm>
            <a:off x="1219200" y="3438144"/>
            <a:ext cx="11667744" cy="646331"/>
          </a:xfrm>
          <a:prstGeom prst="rect">
            <a:avLst/>
          </a:prstGeom>
          <a:noFill/>
        </p:spPr>
        <p:txBody>
          <a:bodyPr wrap="square" rtlCol="0">
            <a:spAutoFit/>
          </a:bodyPr>
          <a:lstStyle/>
          <a:p>
            <a:r>
              <a:rPr lang="ko-KR" altLang="en-US" dirty="0"/>
              <a:t>소규모 스타트업 팀들은 </a:t>
            </a:r>
            <a:r>
              <a:rPr lang="en-US" altLang="ko-KR" b="1" dirty="0"/>
              <a:t>AI</a:t>
            </a:r>
            <a:r>
              <a:rPr lang="ko-KR" altLang="en-US" b="1" dirty="0"/>
              <a:t>가 제공하는 여러 디자인 시스템의 통합적 권장 사항을 기반으로</a:t>
            </a:r>
            <a:r>
              <a:rPr lang="ko-KR" altLang="en-US" dirty="0"/>
              <a:t> </a:t>
            </a:r>
            <a:endParaRPr lang="en-US" altLang="ko-KR" dirty="0"/>
          </a:p>
          <a:p>
            <a:r>
              <a:rPr lang="ko-KR" altLang="en-US" dirty="0"/>
              <a:t>자체적인 디자인 기준을 빠르게 구축할 수 있을 것이다</a:t>
            </a:r>
            <a:r>
              <a:rPr lang="en-US" altLang="ko-KR" dirty="0"/>
              <a:t>.</a:t>
            </a:r>
            <a:endParaRPr lang="ko-KR" altLang="en-US" dirty="0"/>
          </a:p>
        </p:txBody>
      </p:sp>
      <p:sp>
        <p:nvSpPr>
          <p:cNvPr id="6" name="TextBox 5">
            <a:extLst>
              <a:ext uri="{FF2B5EF4-FFF2-40B4-BE49-F238E27FC236}">
                <a16:creationId xmlns:a16="http://schemas.microsoft.com/office/drawing/2014/main" id="{A4E32B8D-41F6-409F-AC2B-FFE3804DAE6B}"/>
              </a:ext>
            </a:extLst>
          </p:cNvPr>
          <p:cNvSpPr txBox="1"/>
          <p:nvPr/>
        </p:nvSpPr>
        <p:spPr>
          <a:xfrm>
            <a:off x="14398752" y="4383762"/>
            <a:ext cx="512064" cy="369332"/>
          </a:xfrm>
          <a:prstGeom prst="rect">
            <a:avLst/>
          </a:prstGeom>
          <a:noFill/>
        </p:spPr>
        <p:txBody>
          <a:bodyPr wrap="square" rtlCol="0">
            <a:spAutoFit/>
          </a:bodyPr>
          <a:lstStyle/>
          <a:p>
            <a:r>
              <a:rPr lang="en-US" altLang="ko-KR" dirty="0"/>
              <a:t>X</a:t>
            </a:r>
            <a:endParaRPr lang="ko-KR" altLang="en-US" dirty="0"/>
          </a:p>
        </p:txBody>
      </p:sp>
      <p:sp>
        <p:nvSpPr>
          <p:cNvPr id="7" name="TextBox 6">
            <a:extLst>
              <a:ext uri="{FF2B5EF4-FFF2-40B4-BE49-F238E27FC236}">
                <a16:creationId xmlns:a16="http://schemas.microsoft.com/office/drawing/2014/main" id="{2E0459F9-8855-4347-97C3-2C94FACE938F}"/>
              </a:ext>
            </a:extLst>
          </p:cNvPr>
          <p:cNvSpPr txBox="1"/>
          <p:nvPr/>
        </p:nvSpPr>
        <p:spPr>
          <a:xfrm>
            <a:off x="14398752" y="3453753"/>
            <a:ext cx="512064" cy="369332"/>
          </a:xfrm>
          <a:prstGeom prst="rect">
            <a:avLst/>
          </a:prstGeom>
          <a:noFill/>
        </p:spPr>
        <p:txBody>
          <a:bodyPr wrap="square" rtlCol="0">
            <a:spAutoFit/>
          </a:bodyPr>
          <a:lstStyle/>
          <a:p>
            <a:r>
              <a:rPr lang="en-US" altLang="ko-KR" dirty="0"/>
              <a:t>X</a:t>
            </a:r>
            <a:endParaRPr lang="ko-KR" altLang="en-US" dirty="0"/>
          </a:p>
        </p:txBody>
      </p:sp>
      <p:sp>
        <p:nvSpPr>
          <p:cNvPr id="8" name="TextBox 7">
            <a:extLst>
              <a:ext uri="{FF2B5EF4-FFF2-40B4-BE49-F238E27FC236}">
                <a16:creationId xmlns:a16="http://schemas.microsoft.com/office/drawing/2014/main" id="{711DB82F-2BBF-4439-A751-801B09B4F9B2}"/>
              </a:ext>
            </a:extLst>
          </p:cNvPr>
          <p:cNvSpPr txBox="1"/>
          <p:nvPr/>
        </p:nvSpPr>
        <p:spPr>
          <a:xfrm>
            <a:off x="14398752" y="2491478"/>
            <a:ext cx="512064" cy="369332"/>
          </a:xfrm>
          <a:prstGeom prst="rect">
            <a:avLst/>
          </a:prstGeom>
          <a:noFill/>
        </p:spPr>
        <p:txBody>
          <a:bodyPr wrap="square" rtlCol="0">
            <a:spAutoFit/>
          </a:bodyPr>
          <a:lstStyle/>
          <a:p>
            <a:r>
              <a:rPr lang="en-US" altLang="ko-KR" dirty="0"/>
              <a:t>O</a:t>
            </a:r>
            <a:endParaRPr lang="ko-KR"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7556480" cy="98755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7556480" cy="9875520"/>
          </a:xfrm>
          <a:prstGeom prst="rect">
            <a:avLst/>
          </a:prstGeom>
        </p:spPr>
      </p:pic>
      <p:sp>
        <p:nvSpPr>
          <p:cNvPr id="4" name="TextBox 3">
            <a:extLst>
              <a:ext uri="{FF2B5EF4-FFF2-40B4-BE49-F238E27FC236}">
                <a16:creationId xmlns:a16="http://schemas.microsoft.com/office/drawing/2014/main" id="{037B04A3-8492-49D4-BFC0-C446F6EF068E}"/>
              </a:ext>
            </a:extLst>
          </p:cNvPr>
          <p:cNvSpPr txBox="1"/>
          <p:nvPr/>
        </p:nvSpPr>
        <p:spPr>
          <a:xfrm>
            <a:off x="1146048" y="2065496"/>
            <a:ext cx="8778240" cy="830997"/>
          </a:xfrm>
          <a:prstGeom prst="rect">
            <a:avLst/>
          </a:prstGeom>
          <a:noFill/>
        </p:spPr>
        <p:txBody>
          <a:bodyPr wrap="square">
            <a:spAutoFit/>
          </a:bodyPr>
          <a:lstStyle/>
          <a:p>
            <a:r>
              <a:rPr lang="ko-KR" altLang="en-US" sz="1200" dirty="0"/>
              <a:t>주니어 디자이너</a:t>
            </a:r>
            <a:r>
              <a:rPr lang="en-US" altLang="ko-KR" sz="1200" dirty="0"/>
              <a:t>, </a:t>
            </a:r>
            <a:r>
              <a:rPr lang="ko-KR" altLang="en-US" sz="1200" dirty="0"/>
              <a:t>디자인 전공 학생</a:t>
            </a:r>
            <a:r>
              <a:rPr lang="en-US" altLang="ko-KR" sz="1200" dirty="0"/>
              <a:t>, </a:t>
            </a:r>
            <a:r>
              <a:rPr lang="ko-KR" altLang="en-US" sz="1200" dirty="0"/>
              <a:t>소규모 </a:t>
            </a:r>
            <a:r>
              <a:rPr lang="ko-KR" altLang="en-US" sz="1200" dirty="0" err="1"/>
              <a:t>스타트업의</a:t>
            </a:r>
            <a:r>
              <a:rPr lang="ko-KR" altLang="en-US" sz="1200" dirty="0"/>
              <a:t> 디자이너들은</a:t>
            </a:r>
            <a:br>
              <a:rPr lang="ko-KR" altLang="en-US" sz="1200" dirty="0"/>
            </a:br>
            <a:r>
              <a:rPr lang="ko-KR" altLang="en-US" sz="1200" dirty="0"/>
              <a:t>디자인 시스템에 대한 충분한 이해가 부족하고</a:t>
            </a:r>
            <a:r>
              <a:rPr lang="en-US" altLang="ko-KR" sz="1200" dirty="0"/>
              <a:t>, </a:t>
            </a:r>
          </a:p>
          <a:p>
            <a:r>
              <a:rPr lang="ko-KR" altLang="en-US" sz="1200" dirty="0"/>
              <a:t>디자인 결정에 대한 명확한 기준이 없기 때문에</a:t>
            </a:r>
            <a:r>
              <a:rPr lang="en-US" altLang="ko-KR" sz="1200" dirty="0"/>
              <a:t> </a:t>
            </a:r>
            <a:r>
              <a:rPr lang="ko-KR" altLang="en-US" sz="1200" dirty="0"/>
              <a:t>불확실하고 일관성 없는 </a:t>
            </a:r>
            <a:r>
              <a:rPr lang="en-US" altLang="ko-KR" sz="1200" dirty="0"/>
              <a:t>UI </a:t>
            </a:r>
            <a:r>
              <a:rPr lang="ko-KR" altLang="en-US" sz="1200" dirty="0"/>
              <a:t>디자인을 자주 경험하며</a:t>
            </a:r>
            <a:r>
              <a:rPr lang="en-US" altLang="ko-KR" sz="1200" dirty="0"/>
              <a:t>, </a:t>
            </a:r>
          </a:p>
          <a:p>
            <a:r>
              <a:rPr lang="ko-KR" altLang="en-US" sz="1200" dirty="0"/>
              <a:t>반복적이고 비효율적인 디자인 피드백 과정으로 시간과 에너지를 소모한다</a:t>
            </a:r>
            <a:r>
              <a:rPr lang="en-US" altLang="ko-KR" sz="1200" dirty="0"/>
              <a:t>.</a:t>
            </a:r>
            <a:endParaRPr lang="ko-KR" altLang="en-US" sz="1200" dirty="0"/>
          </a:p>
        </p:txBody>
      </p:sp>
      <p:sp>
        <p:nvSpPr>
          <p:cNvPr id="5" name="Rectangle 1">
            <a:extLst>
              <a:ext uri="{FF2B5EF4-FFF2-40B4-BE49-F238E27FC236}">
                <a16:creationId xmlns:a16="http://schemas.microsoft.com/office/drawing/2014/main" id="{F435F1CB-0359-44F8-9F6C-AF0B200D159E}"/>
              </a:ext>
            </a:extLst>
          </p:cNvPr>
          <p:cNvSpPr>
            <a:spLocks noChangeArrowheads="1"/>
          </p:cNvSpPr>
          <p:nvPr/>
        </p:nvSpPr>
        <p:spPr bwMode="auto">
          <a:xfrm>
            <a:off x="9314688" y="2090851"/>
            <a:ext cx="785663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200" b="1" i="0" u="none" strike="noStrike" cap="none" normalizeH="0" baseline="0" dirty="0">
                <a:ln>
                  <a:noFill/>
                </a:ln>
                <a:solidFill>
                  <a:schemeClr val="tx1"/>
                </a:solidFill>
                <a:effectLst/>
                <a:latin typeface="Arial" panose="020B0604020202020204" pitchFamily="34" charset="0"/>
              </a:rPr>
              <a:t>디자인 시스템이 너무 방대하고 복잡</a:t>
            </a:r>
            <a:r>
              <a:rPr kumimoji="0" lang="ko-KR" altLang="ko-KR" sz="1200" b="0" i="0" u="none" strike="noStrike" cap="none" normalizeH="0" baseline="0" dirty="0">
                <a:ln>
                  <a:noFill/>
                </a:ln>
                <a:solidFill>
                  <a:schemeClr val="tx1"/>
                </a:solidFill>
                <a:effectLst/>
                <a:latin typeface="Arial" panose="020B0604020202020204" pitchFamily="34" charset="0"/>
              </a:rPr>
              <a:t>해서 빠르게 찾아보거나 즉시 적용하기 어렵다.</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200" b="1" i="0" u="none" strike="noStrike" cap="none" normalizeH="0" baseline="0" dirty="0">
                <a:ln>
                  <a:noFill/>
                </a:ln>
                <a:solidFill>
                  <a:schemeClr val="tx1"/>
                </a:solidFill>
                <a:effectLst/>
                <a:latin typeface="Arial" panose="020B0604020202020204" pitchFamily="34" charset="0"/>
              </a:rPr>
              <a:t>자체 디자인 시스템이나 원칙을 가진 팀이 적어</a:t>
            </a:r>
            <a:r>
              <a:rPr kumimoji="0" lang="ko-KR" altLang="ko-KR" sz="1200" b="0" i="0" u="none" strike="noStrike" cap="none" normalizeH="0" baseline="0" dirty="0">
                <a:ln>
                  <a:noFill/>
                </a:ln>
                <a:solidFill>
                  <a:schemeClr val="tx1"/>
                </a:solidFill>
                <a:effectLst/>
                <a:latin typeface="Arial" panose="020B0604020202020204" pitchFamily="34" charset="0"/>
              </a:rPr>
              <a:t>, 매번 UI 결정 때마다 임시방편적이고 주관적인 방식에 의존한다.</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200" b="1" i="0" u="none" strike="noStrike" cap="none" normalizeH="0" baseline="0" dirty="0">
                <a:ln>
                  <a:noFill/>
                </a:ln>
                <a:solidFill>
                  <a:schemeClr val="tx1"/>
                </a:solidFill>
                <a:effectLst/>
                <a:latin typeface="Arial" panose="020B0604020202020204" pitchFamily="34" charset="0"/>
              </a:rPr>
              <a:t>주변 선배나 동료로부터 얻는 피드백은 비체계적이고 일관성이 부족하며</a:t>
            </a:r>
            <a:r>
              <a:rPr kumimoji="0" lang="ko-KR" altLang="ko-KR" sz="1200" b="0" i="0" u="none" strike="noStrike" cap="none" normalizeH="0" baseline="0" dirty="0">
                <a:ln>
                  <a:noFill/>
                </a:ln>
                <a:solidFill>
                  <a:schemeClr val="tx1"/>
                </a:solidFill>
                <a:effectLst/>
                <a:latin typeface="Arial" panose="020B0604020202020204" pitchFamily="34" charset="0"/>
              </a:rPr>
              <a:t>, 작업 지연과 심리적 부담을 준다.</a:t>
            </a:r>
          </a:p>
        </p:txBody>
      </p:sp>
      <p:sp>
        <p:nvSpPr>
          <p:cNvPr id="9" name="TextBox 8">
            <a:extLst>
              <a:ext uri="{FF2B5EF4-FFF2-40B4-BE49-F238E27FC236}">
                <a16:creationId xmlns:a16="http://schemas.microsoft.com/office/drawing/2014/main" id="{DAC48316-E79A-4150-8829-422046FAB9C4}"/>
              </a:ext>
            </a:extLst>
          </p:cNvPr>
          <p:cNvSpPr txBox="1"/>
          <p:nvPr/>
        </p:nvSpPr>
        <p:spPr>
          <a:xfrm>
            <a:off x="1402080" y="4596384"/>
            <a:ext cx="1731264" cy="369332"/>
          </a:xfrm>
          <a:prstGeom prst="rect">
            <a:avLst/>
          </a:prstGeom>
          <a:noFill/>
        </p:spPr>
        <p:txBody>
          <a:bodyPr wrap="square" rtlCol="0">
            <a:spAutoFit/>
          </a:bodyPr>
          <a:lstStyle/>
          <a:p>
            <a:r>
              <a:rPr lang="en-US" altLang="ko-KR" dirty="0" err="1"/>
              <a:t>Ux</a:t>
            </a:r>
            <a:r>
              <a:rPr lang="en-US" altLang="ko-KR" dirty="0"/>
              <a:t> pilot</a:t>
            </a:r>
            <a:endParaRPr lang="ko-KR" altLang="en-US" dirty="0"/>
          </a:p>
        </p:txBody>
      </p:sp>
      <p:sp>
        <p:nvSpPr>
          <p:cNvPr id="10" name="TextBox 9">
            <a:extLst>
              <a:ext uri="{FF2B5EF4-FFF2-40B4-BE49-F238E27FC236}">
                <a16:creationId xmlns:a16="http://schemas.microsoft.com/office/drawing/2014/main" id="{4CE29CB0-3BC6-45CC-863F-ED9565D89967}"/>
              </a:ext>
            </a:extLst>
          </p:cNvPr>
          <p:cNvSpPr txBox="1"/>
          <p:nvPr/>
        </p:nvSpPr>
        <p:spPr>
          <a:xfrm>
            <a:off x="3706368" y="4596384"/>
            <a:ext cx="3755136" cy="646331"/>
          </a:xfrm>
          <a:prstGeom prst="rect">
            <a:avLst/>
          </a:prstGeom>
          <a:noFill/>
        </p:spPr>
        <p:txBody>
          <a:bodyPr wrap="square" rtlCol="0">
            <a:spAutoFit/>
          </a:bodyPr>
          <a:lstStyle/>
          <a:p>
            <a:r>
              <a:rPr lang="ko-KR" altLang="en-US" dirty="0"/>
              <a:t>디자인 업로드 후 즉시 </a:t>
            </a:r>
            <a:r>
              <a:rPr lang="en-US" altLang="ko-KR" dirty="0"/>
              <a:t>AI </a:t>
            </a:r>
            <a:r>
              <a:rPr lang="ko-KR" altLang="en-US" dirty="0"/>
              <a:t>기반 자동 리뷰 제공</a:t>
            </a:r>
          </a:p>
        </p:txBody>
      </p:sp>
      <p:sp>
        <p:nvSpPr>
          <p:cNvPr id="17" name="TextBox 16">
            <a:extLst>
              <a:ext uri="{FF2B5EF4-FFF2-40B4-BE49-F238E27FC236}">
                <a16:creationId xmlns:a16="http://schemas.microsoft.com/office/drawing/2014/main" id="{AFC1AC8C-8FD5-4259-B06F-F7047ACBC052}"/>
              </a:ext>
            </a:extLst>
          </p:cNvPr>
          <p:cNvSpPr txBox="1"/>
          <p:nvPr/>
        </p:nvSpPr>
        <p:spPr>
          <a:xfrm>
            <a:off x="8083296" y="4596384"/>
            <a:ext cx="3486912" cy="646331"/>
          </a:xfrm>
          <a:prstGeom prst="rect">
            <a:avLst/>
          </a:prstGeom>
          <a:noFill/>
        </p:spPr>
        <p:txBody>
          <a:bodyPr wrap="square" rtlCol="0">
            <a:spAutoFit/>
          </a:bodyPr>
          <a:lstStyle/>
          <a:p>
            <a:r>
              <a:rPr lang="ko-KR" altLang="en-US" dirty="0"/>
              <a:t>신속한 피드백</a:t>
            </a:r>
            <a:r>
              <a:rPr lang="en-US" altLang="ko-KR" dirty="0"/>
              <a:t>, </a:t>
            </a:r>
            <a:r>
              <a:rPr lang="ko-KR" altLang="en-US" dirty="0"/>
              <a:t>전문가 대비</a:t>
            </a:r>
            <a:endParaRPr lang="en-US" altLang="ko-KR" dirty="0"/>
          </a:p>
          <a:p>
            <a:r>
              <a:rPr lang="ko-KR" altLang="en-US" dirty="0"/>
              <a:t>낮은 비용과 높은 효율성</a:t>
            </a:r>
          </a:p>
        </p:txBody>
      </p:sp>
      <p:sp>
        <p:nvSpPr>
          <p:cNvPr id="18" name="TextBox 17">
            <a:extLst>
              <a:ext uri="{FF2B5EF4-FFF2-40B4-BE49-F238E27FC236}">
                <a16:creationId xmlns:a16="http://schemas.microsoft.com/office/drawing/2014/main" id="{02A084AB-1324-4B64-A058-6507AA39C953}"/>
              </a:ext>
            </a:extLst>
          </p:cNvPr>
          <p:cNvSpPr txBox="1"/>
          <p:nvPr/>
        </p:nvSpPr>
        <p:spPr>
          <a:xfrm>
            <a:off x="12374880" y="4596384"/>
            <a:ext cx="3486912" cy="923330"/>
          </a:xfrm>
          <a:prstGeom prst="rect">
            <a:avLst/>
          </a:prstGeom>
          <a:noFill/>
        </p:spPr>
        <p:txBody>
          <a:bodyPr wrap="square" rtlCol="0">
            <a:spAutoFit/>
          </a:bodyPr>
          <a:lstStyle/>
          <a:p>
            <a:r>
              <a:rPr lang="ko-KR" altLang="en-US" dirty="0"/>
              <a:t>주로 일반적 원칙 중심의 피드백으로 구체적 맥락 이해와</a:t>
            </a:r>
            <a:endParaRPr lang="en-US" altLang="ko-KR" dirty="0"/>
          </a:p>
          <a:p>
            <a:r>
              <a:rPr lang="ko-KR" altLang="en-US" dirty="0"/>
              <a:t>디자인 시스템의 활용 부족</a:t>
            </a:r>
          </a:p>
        </p:txBody>
      </p:sp>
      <p:sp>
        <p:nvSpPr>
          <p:cNvPr id="19" name="TextBox 18">
            <a:extLst>
              <a:ext uri="{FF2B5EF4-FFF2-40B4-BE49-F238E27FC236}">
                <a16:creationId xmlns:a16="http://schemas.microsoft.com/office/drawing/2014/main" id="{2F49FE68-3157-479F-B2A2-27AC304AAA62}"/>
              </a:ext>
            </a:extLst>
          </p:cNvPr>
          <p:cNvSpPr txBox="1"/>
          <p:nvPr/>
        </p:nvSpPr>
        <p:spPr>
          <a:xfrm>
            <a:off x="1402080" y="6019276"/>
            <a:ext cx="1731264" cy="646331"/>
          </a:xfrm>
          <a:prstGeom prst="rect">
            <a:avLst/>
          </a:prstGeom>
          <a:noFill/>
        </p:spPr>
        <p:txBody>
          <a:bodyPr wrap="square" rtlCol="0">
            <a:spAutoFit/>
          </a:bodyPr>
          <a:lstStyle/>
          <a:p>
            <a:r>
              <a:rPr lang="en-US" altLang="ko-KR" dirty="0"/>
              <a:t>Figma </a:t>
            </a:r>
            <a:r>
              <a:rPr lang="ko-KR" altLang="en-US" dirty="0"/>
              <a:t>플러그인</a:t>
            </a:r>
            <a:br>
              <a:rPr lang="en-US" altLang="ko-KR" dirty="0"/>
            </a:br>
            <a:r>
              <a:rPr lang="en-US" altLang="ko-KR" dirty="0"/>
              <a:t>(Design Lint </a:t>
            </a:r>
            <a:r>
              <a:rPr lang="ko-KR" altLang="en-US" dirty="0"/>
              <a:t>등</a:t>
            </a:r>
            <a:r>
              <a:rPr lang="en-US" altLang="ko-KR" dirty="0"/>
              <a:t>)</a:t>
            </a:r>
            <a:endParaRPr lang="ko-KR" altLang="en-US" dirty="0"/>
          </a:p>
        </p:txBody>
      </p:sp>
      <p:sp>
        <p:nvSpPr>
          <p:cNvPr id="20" name="TextBox 19">
            <a:extLst>
              <a:ext uri="{FF2B5EF4-FFF2-40B4-BE49-F238E27FC236}">
                <a16:creationId xmlns:a16="http://schemas.microsoft.com/office/drawing/2014/main" id="{F5A8BA6C-3282-490F-ABED-383935D34744}"/>
              </a:ext>
            </a:extLst>
          </p:cNvPr>
          <p:cNvSpPr txBox="1"/>
          <p:nvPr/>
        </p:nvSpPr>
        <p:spPr>
          <a:xfrm>
            <a:off x="3706368" y="6019276"/>
            <a:ext cx="3755136" cy="646331"/>
          </a:xfrm>
          <a:prstGeom prst="rect">
            <a:avLst/>
          </a:prstGeom>
          <a:noFill/>
        </p:spPr>
        <p:txBody>
          <a:bodyPr wrap="square" rtlCol="0">
            <a:spAutoFit/>
          </a:bodyPr>
          <a:lstStyle/>
          <a:p>
            <a:r>
              <a:rPr lang="en-US" altLang="ko-KR" dirty="0"/>
              <a:t>Figma </a:t>
            </a:r>
            <a:r>
              <a:rPr lang="ko-KR" altLang="en-US" dirty="0"/>
              <a:t>내부에서 색상</a:t>
            </a:r>
            <a:r>
              <a:rPr lang="en-US" altLang="ko-KR" dirty="0"/>
              <a:t>, </a:t>
            </a:r>
            <a:r>
              <a:rPr lang="ko-KR" altLang="en-US" dirty="0"/>
              <a:t>폰트</a:t>
            </a:r>
            <a:r>
              <a:rPr lang="en-US" altLang="ko-KR" dirty="0"/>
              <a:t>, </a:t>
            </a:r>
            <a:r>
              <a:rPr lang="ko-KR" altLang="en-US" dirty="0"/>
              <a:t>간격</a:t>
            </a:r>
            <a:endParaRPr lang="en-US" altLang="ko-KR" dirty="0"/>
          </a:p>
          <a:p>
            <a:r>
              <a:rPr lang="ko-KR" altLang="en-US" dirty="0"/>
              <a:t>자동 점검</a:t>
            </a:r>
            <a:r>
              <a:rPr lang="en-US" altLang="ko-KR" dirty="0"/>
              <a:t>	</a:t>
            </a:r>
            <a:endParaRPr lang="ko-KR" altLang="en-US" dirty="0"/>
          </a:p>
        </p:txBody>
      </p:sp>
      <p:sp>
        <p:nvSpPr>
          <p:cNvPr id="21" name="TextBox 20">
            <a:extLst>
              <a:ext uri="{FF2B5EF4-FFF2-40B4-BE49-F238E27FC236}">
                <a16:creationId xmlns:a16="http://schemas.microsoft.com/office/drawing/2014/main" id="{301D139F-0FC8-4B11-AACE-8E18028720CB}"/>
              </a:ext>
            </a:extLst>
          </p:cNvPr>
          <p:cNvSpPr txBox="1"/>
          <p:nvPr/>
        </p:nvSpPr>
        <p:spPr>
          <a:xfrm>
            <a:off x="8083296" y="6019276"/>
            <a:ext cx="3486912" cy="646331"/>
          </a:xfrm>
          <a:prstGeom prst="rect">
            <a:avLst/>
          </a:prstGeom>
          <a:noFill/>
        </p:spPr>
        <p:txBody>
          <a:bodyPr wrap="square" rtlCol="0">
            <a:spAutoFit/>
          </a:bodyPr>
          <a:lstStyle/>
          <a:p>
            <a:r>
              <a:rPr lang="ko-KR" altLang="en-US" dirty="0"/>
              <a:t>디자인 작업 도중 즉각적 사용 가능</a:t>
            </a:r>
            <a:r>
              <a:rPr lang="en-US" altLang="ko-KR" dirty="0"/>
              <a:t>	</a:t>
            </a:r>
            <a:endParaRPr lang="ko-KR" altLang="en-US" dirty="0"/>
          </a:p>
        </p:txBody>
      </p:sp>
      <p:sp>
        <p:nvSpPr>
          <p:cNvPr id="22" name="TextBox 21">
            <a:extLst>
              <a:ext uri="{FF2B5EF4-FFF2-40B4-BE49-F238E27FC236}">
                <a16:creationId xmlns:a16="http://schemas.microsoft.com/office/drawing/2014/main" id="{DFBC6765-54ED-4315-A827-DCB136094640}"/>
              </a:ext>
            </a:extLst>
          </p:cNvPr>
          <p:cNvSpPr txBox="1"/>
          <p:nvPr/>
        </p:nvSpPr>
        <p:spPr>
          <a:xfrm>
            <a:off x="12374880" y="6019276"/>
            <a:ext cx="3486912" cy="923330"/>
          </a:xfrm>
          <a:prstGeom prst="rect">
            <a:avLst/>
          </a:prstGeom>
          <a:noFill/>
        </p:spPr>
        <p:txBody>
          <a:bodyPr wrap="square" rtlCol="0">
            <a:spAutoFit/>
          </a:bodyPr>
          <a:lstStyle/>
          <a:p>
            <a:r>
              <a:rPr lang="ko-KR" altLang="en-US" dirty="0"/>
              <a:t>팀이 미리 설정한 기준 없이는</a:t>
            </a:r>
            <a:endParaRPr lang="en-US" altLang="ko-KR" dirty="0"/>
          </a:p>
          <a:p>
            <a:r>
              <a:rPr lang="ko-KR" altLang="en-US" dirty="0"/>
              <a:t>디자인 시스템 모범 사례를 제공받지 못함</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7556480" cy="98755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7556480" cy="9875520"/>
          </a:xfrm>
          <a:prstGeom prst="rect">
            <a:avLst/>
          </a:prstGeom>
        </p:spPr>
      </p:pic>
      <p:sp>
        <p:nvSpPr>
          <p:cNvPr id="3" name="TextBox 2">
            <a:extLst>
              <a:ext uri="{FF2B5EF4-FFF2-40B4-BE49-F238E27FC236}">
                <a16:creationId xmlns:a16="http://schemas.microsoft.com/office/drawing/2014/main" id="{FBFCBA9C-2701-43ED-A394-B8B71CCD9612}"/>
              </a:ext>
            </a:extLst>
          </p:cNvPr>
          <p:cNvSpPr txBox="1"/>
          <p:nvPr/>
        </p:nvSpPr>
        <p:spPr>
          <a:xfrm>
            <a:off x="780288" y="2560320"/>
            <a:ext cx="999744" cy="1477328"/>
          </a:xfrm>
          <a:prstGeom prst="rect">
            <a:avLst/>
          </a:prstGeom>
          <a:noFill/>
        </p:spPr>
        <p:txBody>
          <a:bodyPr wrap="square" rtlCol="0">
            <a:spAutoFit/>
          </a:bodyPr>
          <a:lstStyle/>
          <a:p>
            <a:r>
              <a:rPr lang="ko-KR" altLang="en-US" dirty="0"/>
              <a:t>케이스</a:t>
            </a:r>
            <a:r>
              <a:rPr lang="en-US" altLang="ko-KR" dirty="0"/>
              <a:t>1</a:t>
            </a:r>
          </a:p>
          <a:p>
            <a:r>
              <a:rPr lang="ko-KR" altLang="en-US" dirty="0"/>
              <a:t>고객 </a:t>
            </a:r>
            <a:r>
              <a:rPr lang="en-US" altLang="ko-KR" dirty="0"/>
              <a:t>=</a:t>
            </a:r>
          </a:p>
          <a:p>
            <a:r>
              <a:rPr lang="ko-KR" altLang="en-US" dirty="0"/>
              <a:t>문제당사자 </a:t>
            </a:r>
            <a:r>
              <a:rPr lang="en-US" altLang="ko-KR" dirty="0"/>
              <a:t>=</a:t>
            </a:r>
          </a:p>
          <a:p>
            <a:r>
              <a:rPr lang="ko-KR" altLang="en-US" dirty="0"/>
              <a:t>사용자</a:t>
            </a:r>
            <a:endParaRPr lang="en-US" altLang="ko-KR" dirty="0"/>
          </a:p>
        </p:txBody>
      </p:sp>
      <p:sp>
        <p:nvSpPr>
          <p:cNvPr id="4" name="TextBox 3">
            <a:extLst>
              <a:ext uri="{FF2B5EF4-FFF2-40B4-BE49-F238E27FC236}">
                <a16:creationId xmlns:a16="http://schemas.microsoft.com/office/drawing/2014/main" id="{92373C0F-3CD5-4DA2-AC6D-54B97D37E953}"/>
              </a:ext>
            </a:extLst>
          </p:cNvPr>
          <p:cNvSpPr txBox="1"/>
          <p:nvPr/>
        </p:nvSpPr>
        <p:spPr>
          <a:xfrm>
            <a:off x="2121408" y="2065496"/>
            <a:ext cx="3499104" cy="646331"/>
          </a:xfrm>
          <a:prstGeom prst="rect">
            <a:avLst/>
          </a:prstGeom>
          <a:noFill/>
        </p:spPr>
        <p:txBody>
          <a:bodyPr wrap="square">
            <a:spAutoFit/>
          </a:bodyPr>
          <a:lstStyle/>
          <a:p>
            <a:r>
              <a:rPr lang="ko-KR" altLang="en-US" sz="1200" dirty="0"/>
              <a:t>주니어 디자이너</a:t>
            </a:r>
            <a:r>
              <a:rPr lang="en-US" altLang="ko-KR" sz="1200" dirty="0"/>
              <a:t>, </a:t>
            </a:r>
            <a:r>
              <a:rPr lang="ko-KR" altLang="en-US" sz="1200" dirty="0"/>
              <a:t>디자인 전공 학생</a:t>
            </a:r>
            <a:r>
              <a:rPr lang="en-US" altLang="ko-KR" sz="1200" dirty="0"/>
              <a:t>, </a:t>
            </a:r>
            <a:r>
              <a:rPr lang="ko-KR" altLang="en-US" sz="1200" dirty="0"/>
              <a:t>소규모 </a:t>
            </a:r>
            <a:r>
              <a:rPr lang="ko-KR" altLang="en-US" sz="1200" dirty="0" err="1"/>
              <a:t>스타트업의</a:t>
            </a:r>
            <a:r>
              <a:rPr lang="ko-KR" altLang="en-US" sz="1200" dirty="0"/>
              <a:t> 주니어 디자이너들은</a:t>
            </a:r>
            <a:br>
              <a:rPr lang="ko-KR" altLang="en-US" sz="1200" dirty="0"/>
            </a:br>
            <a:r>
              <a:rPr lang="ko-KR" altLang="en-US" sz="1200" dirty="0"/>
              <a:t>디자인 시스템에 대한 충분한 이해가 부족하다</a:t>
            </a:r>
          </a:p>
        </p:txBody>
      </p:sp>
      <p:sp>
        <p:nvSpPr>
          <p:cNvPr id="5" name="TextBox 4">
            <a:extLst>
              <a:ext uri="{FF2B5EF4-FFF2-40B4-BE49-F238E27FC236}">
                <a16:creationId xmlns:a16="http://schemas.microsoft.com/office/drawing/2014/main" id="{E9BE5BE3-7987-4EA4-903E-F031905611ED}"/>
              </a:ext>
            </a:extLst>
          </p:cNvPr>
          <p:cNvSpPr txBox="1"/>
          <p:nvPr/>
        </p:nvSpPr>
        <p:spPr>
          <a:xfrm>
            <a:off x="2121408" y="3263205"/>
            <a:ext cx="3389376" cy="646331"/>
          </a:xfrm>
          <a:prstGeom prst="rect">
            <a:avLst/>
          </a:prstGeom>
          <a:noFill/>
        </p:spPr>
        <p:txBody>
          <a:bodyPr wrap="square">
            <a:spAutoFit/>
          </a:bodyPr>
          <a:lstStyle/>
          <a:p>
            <a:r>
              <a:rPr lang="ko-KR" altLang="en-US" sz="1200" dirty="0"/>
              <a:t>디자인 결정에 대한 명확한 기준이 없기 때문에</a:t>
            </a:r>
            <a:r>
              <a:rPr lang="en-US" altLang="ko-KR" sz="1200" dirty="0"/>
              <a:t> </a:t>
            </a:r>
            <a:r>
              <a:rPr lang="ko-KR" altLang="en-US" sz="1200" dirty="0"/>
              <a:t>불확실하고 일관성 없는 </a:t>
            </a:r>
            <a:r>
              <a:rPr lang="en-US" altLang="ko-KR" sz="1200" dirty="0"/>
              <a:t>UI </a:t>
            </a:r>
            <a:r>
              <a:rPr lang="ko-KR" altLang="en-US" sz="1200" dirty="0"/>
              <a:t>디자인을 자주 경험한다</a:t>
            </a:r>
            <a:r>
              <a:rPr lang="en-US" altLang="ko-KR" sz="1200" dirty="0"/>
              <a:t>.</a:t>
            </a:r>
            <a:endParaRPr lang="ko-KR" altLang="en-US" sz="1200" dirty="0"/>
          </a:p>
        </p:txBody>
      </p:sp>
      <p:sp>
        <p:nvSpPr>
          <p:cNvPr id="6" name="TextBox 5">
            <a:extLst>
              <a:ext uri="{FF2B5EF4-FFF2-40B4-BE49-F238E27FC236}">
                <a16:creationId xmlns:a16="http://schemas.microsoft.com/office/drawing/2014/main" id="{C10168EE-92FF-48D6-80A1-681AA784CCF2}"/>
              </a:ext>
            </a:extLst>
          </p:cNvPr>
          <p:cNvSpPr txBox="1"/>
          <p:nvPr/>
        </p:nvSpPr>
        <p:spPr>
          <a:xfrm>
            <a:off x="2121408" y="4276248"/>
            <a:ext cx="3389376" cy="461665"/>
          </a:xfrm>
          <a:prstGeom prst="rect">
            <a:avLst/>
          </a:prstGeom>
          <a:noFill/>
        </p:spPr>
        <p:txBody>
          <a:bodyPr wrap="square">
            <a:spAutoFit/>
          </a:bodyPr>
          <a:lstStyle/>
          <a:p>
            <a:r>
              <a:rPr lang="ko-KR" altLang="en-US" sz="1200" dirty="0"/>
              <a:t>반복적이고 비효율적인 디자인 피드백 과정으로 </a:t>
            </a:r>
            <a:endParaRPr lang="en-US" altLang="ko-KR" sz="1200" dirty="0"/>
          </a:p>
          <a:p>
            <a:r>
              <a:rPr lang="ko-KR" altLang="en-US" sz="1200" dirty="0"/>
              <a:t>시간과 에너지를 소모한다</a:t>
            </a:r>
            <a:r>
              <a:rPr lang="en-US" altLang="ko-KR" sz="1200" dirty="0"/>
              <a:t>.</a:t>
            </a:r>
            <a:endParaRPr lang="ko-KR" altLang="en-US" sz="1200" dirty="0"/>
          </a:p>
        </p:txBody>
      </p:sp>
      <p:sp>
        <p:nvSpPr>
          <p:cNvPr id="7" name="TextBox 6">
            <a:extLst>
              <a:ext uri="{FF2B5EF4-FFF2-40B4-BE49-F238E27FC236}">
                <a16:creationId xmlns:a16="http://schemas.microsoft.com/office/drawing/2014/main" id="{59FD8BA2-D24A-4CCA-A46E-B736E765B070}"/>
              </a:ext>
            </a:extLst>
          </p:cNvPr>
          <p:cNvSpPr txBox="1"/>
          <p:nvPr/>
        </p:nvSpPr>
        <p:spPr>
          <a:xfrm>
            <a:off x="780288" y="6517681"/>
            <a:ext cx="15118080" cy="646331"/>
          </a:xfrm>
          <a:prstGeom prst="rect">
            <a:avLst/>
          </a:prstGeom>
          <a:noFill/>
        </p:spPr>
        <p:txBody>
          <a:bodyPr wrap="square">
            <a:spAutoFit/>
          </a:bodyPr>
          <a:lstStyle/>
          <a:p>
            <a:r>
              <a:rPr lang="ko-KR" altLang="en-US" dirty="0"/>
              <a:t>디자인 시스템에 대한 충분한 이해가 부족한 디자이너들의 디자인 시안을 여러 디자인 시스템을 기준으로 종합 분석하여 정확하고 신뢰성 높은 맥락 기반의 권장 사항을 제공하여 반복적이고 비효율적인 디자인 피드백 과정으로 시간과 에너지 소모를 줄일 수 있도록 돕겠습니다</a:t>
            </a:r>
            <a:r>
              <a:rPr lang="en-US" altLang="ko-KR" dirty="0"/>
              <a:t>.</a:t>
            </a:r>
            <a:endParaRPr lang="ko-KR" altLang="en-US" dirty="0"/>
          </a:p>
        </p:txBody>
      </p:sp>
      <p:sp>
        <p:nvSpPr>
          <p:cNvPr id="8" name="TextBox 7">
            <a:extLst>
              <a:ext uri="{FF2B5EF4-FFF2-40B4-BE49-F238E27FC236}">
                <a16:creationId xmlns:a16="http://schemas.microsoft.com/office/drawing/2014/main" id="{B9D89103-DEFE-49F2-AC09-9C0BE905E392}"/>
              </a:ext>
            </a:extLst>
          </p:cNvPr>
          <p:cNvSpPr txBox="1"/>
          <p:nvPr/>
        </p:nvSpPr>
        <p:spPr>
          <a:xfrm>
            <a:off x="5998464" y="2064448"/>
            <a:ext cx="3499104" cy="2677656"/>
          </a:xfrm>
          <a:prstGeom prst="rect">
            <a:avLst/>
          </a:prstGeom>
          <a:noFill/>
        </p:spPr>
        <p:txBody>
          <a:bodyPr wrap="square">
            <a:spAutoFit/>
          </a:bodyPr>
          <a:lstStyle/>
          <a:p>
            <a:r>
              <a:rPr lang="ko-KR" altLang="en-US" sz="1400" dirty="0"/>
              <a:t>강점</a:t>
            </a:r>
            <a:r>
              <a:rPr lang="en-US" altLang="ko-KR" sz="1400" dirty="0"/>
              <a:t>) </a:t>
            </a:r>
            <a:br>
              <a:rPr lang="en-US" altLang="ko-KR" sz="1400" dirty="0"/>
            </a:br>
            <a:r>
              <a:rPr lang="ko-KR" altLang="en-US" sz="1400" dirty="0"/>
              <a:t>빠른 속도</a:t>
            </a:r>
            <a:r>
              <a:rPr lang="en-US" altLang="ko-KR" sz="1400" dirty="0"/>
              <a:t>, </a:t>
            </a:r>
            <a:r>
              <a:rPr lang="en-US" altLang="ko-KR" sz="1400" dirty="0" err="1"/>
              <a:t>figma</a:t>
            </a:r>
            <a:r>
              <a:rPr lang="en-US" altLang="ko-KR" sz="1400" dirty="0"/>
              <a:t> </a:t>
            </a:r>
            <a:r>
              <a:rPr lang="ko-KR" altLang="en-US" sz="1400" dirty="0"/>
              <a:t>내 통합성 높은 서비스이고 간편하게 오류를 검출할 수 있다</a:t>
            </a:r>
            <a:r>
              <a:rPr lang="en-US" altLang="ko-KR" sz="1400" dirty="0"/>
              <a:t>. </a:t>
            </a:r>
            <a:r>
              <a:rPr lang="ko-KR" altLang="en-US" sz="1400" dirty="0"/>
              <a:t>빠른 접근성과 간편성을 강점으로 가지고 있음</a:t>
            </a:r>
            <a:endParaRPr lang="en-US" altLang="ko-KR" sz="1400" dirty="0"/>
          </a:p>
          <a:p>
            <a:endParaRPr lang="en-US" altLang="ko-KR" sz="1400" dirty="0"/>
          </a:p>
          <a:p>
            <a:r>
              <a:rPr lang="ko-KR" altLang="en-US" sz="1400" dirty="0"/>
              <a:t>한계</a:t>
            </a:r>
            <a:r>
              <a:rPr lang="en-US" altLang="ko-KR" sz="1400" dirty="0"/>
              <a:t>)</a:t>
            </a:r>
          </a:p>
          <a:p>
            <a:r>
              <a:rPr lang="ko-KR" altLang="en-US" sz="1400" dirty="0"/>
              <a:t>일반적인 피드백 중심으로 구체적인 디자인 시스템은 적용되지 않음</a:t>
            </a:r>
            <a:r>
              <a:rPr lang="en-US" altLang="ko-KR" sz="1400" dirty="0"/>
              <a:t>, </a:t>
            </a:r>
            <a:r>
              <a:rPr lang="ko-KR" altLang="en-US" sz="1400" dirty="0"/>
              <a:t>미리 정해진 팀 기준이 없다면 활용하기 어렵고 맥락 이해를 통한 세부적인 제안이 </a:t>
            </a:r>
            <a:r>
              <a:rPr lang="ko-KR" altLang="en-US" sz="1400" dirty="0" err="1"/>
              <a:t>제한되어있음</a:t>
            </a:r>
            <a:endParaRPr lang="ko-KR" altLang="en-US" sz="1400" dirty="0"/>
          </a:p>
        </p:txBody>
      </p:sp>
      <p:sp>
        <p:nvSpPr>
          <p:cNvPr id="9" name="TextBox 8">
            <a:extLst>
              <a:ext uri="{FF2B5EF4-FFF2-40B4-BE49-F238E27FC236}">
                <a16:creationId xmlns:a16="http://schemas.microsoft.com/office/drawing/2014/main" id="{2398B146-E0C2-48A5-BB50-C9638E40B0A8}"/>
              </a:ext>
            </a:extLst>
          </p:cNvPr>
          <p:cNvSpPr txBox="1"/>
          <p:nvPr/>
        </p:nvSpPr>
        <p:spPr>
          <a:xfrm>
            <a:off x="11503152" y="2237154"/>
            <a:ext cx="4395216" cy="646331"/>
          </a:xfrm>
          <a:prstGeom prst="rect">
            <a:avLst/>
          </a:prstGeom>
          <a:noFill/>
        </p:spPr>
        <p:txBody>
          <a:bodyPr wrap="square">
            <a:spAutoFit/>
          </a:bodyPr>
          <a:lstStyle/>
          <a:p>
            <a:r>
              <a:rPr lang="ko-KR" altLang="en-US" sz="1200" dirty="0"/>
              <a:t>사용자의 시안과 유사한 도메인의 여러 유명 디자인 시스템</a:t>
            </a:r>
            <a:r>
              <a:rPr lang="en-US" altLang="ko-KR" sz="1200" dirty="0"/>
              <a:t>(</a:t>
            </a:r>
            <a:r>
              <a:rPr lang="ko-KR" altLang="en-US" sz="1200" dirty="0"/>
              <a:t>구글 </a:t>
            </a:r>
            <a:r>
              <a:rPr lang="en-US" altLang="ko-KR" sz="1200" dirty="0"/>
              <a:t>Material Design, Apple HIG </a:t>
            </a:r>
            <a:r>
              <a:rPr lang="ko-KR" altLang="en-US" sz="1200" dirty="0"/>
              <a:t>등</a:t>
            </a:r>
            <a:r>
              <a:rPr lang="en-US" altLang="ko-KR" sz="1200" dirty="0"/>
              <a:t>)</a:t>
            </a:r>
            <a:r>
              <a:rPr lang="ko-KR" altLang="en-US" sz="1200" dirty="0"/>
              <a:t>을 동시에 비교</a:t>
            </a:r>
            <a:r>
              <a:rPr lang="en-US" altLang="ko-KR" sz="1200" dirty="0"/>
              <a:t>·</a:t>
            </a:r>
            <a:r>
              <a:rPr lang="ko-KR" altLang="en-US" sz="1200" dirty="0"/>
              <a:t>분석해 제공하는 </a:t>
            </a:r>
            <a:r>
              <a:rPr lang="ko-KR" altLang="en-US" sz="1200" b="1" dirty="0"/>
              <a:t>통합형 맞춤 피드백</a:t>
            </a:r>
            <a:r>
              <a:rPr lang="en-US" altLang="ko-KR" sz="1200" dirty="0"/>
              <a:t>.</a:t>
            </a:r>
            <a:endParaRPr lang="ko-KR" altLang="en-US" sz="1200" dirty="0"/>
          </a:p>
        </p:txBody>
      </p:sp>
      <p:sp>
        <p:nvSpPr>
          <p:cNvPr id="11" name="TextBox 10">
            <a:extLst>
              <a:ext uri="{FF2B5EF4-FFF2-40B4-BE49-F238E27FC236}">
                <a16:creationId xmlns:a16="http://schemas.microsoft.com/office/drawing/2014/main" id="{6B740AF8-C9F8-4CFC-9EEA-4ADA1D361BAC}"/>
              </a:ext>
            </a:extLst>
          </p:cNvPr>
          <p:cNvSpPr txBox="1"/>
          <p:nvPr/>
        </p:nvSpPr>
        <p:spPr>
          <a:xfrm>
            <a:off x="11503152" y="3968423"/>
            <a:ext cx="4675632" cy="646331"/>
          </a:xfrm>
          <a:prstGeom prst="rect">
            <a:avLst/>
          </a:prstGeom>
          <a:noFill/>
        </p:spPr>
        <p:txBody>
          <a:bodyPr wrap="square">
            <a:spAutoFit/>
          </a:bodyPr>
          <a:lstStyle/>
          <a:p>
            <a:r>
              <a:rPr lang="ko-KR" altLang="en-US" sz="1200" dirty="0"/>
              <a:t>피드백의 </a:t>
            </a:r>
            <a:r>
              <a:rPr lang="ko-KR" altLang="en-US" sz="1200" b="1" dirty="0"/>
              <a:t>이유와 근거</a:t>
            </a:r>
            <a:r>
              <a:rPr lang="en-US" altLang="ko-KR" sz="1200" b="1" dirty="0"/>
              <a:t>, </a:t>
            </a:r>
            <a:r>
              <a:rPr lang="ko-KR" altLang="en-US" sz="1200" b="1" dirty="0"/>
              <a:t>구체적인 해결책을 함께 제공</a:t>
            </a:r>
            <a:r>
              <a:rPr lang="en-US" altLang="ko-KR" sz="1200" b="1" dirty="0"/>
              <a:t>,</a:t>
            </a:r>
          </a:p>
          <a:p>
            <a:r>
              <a:rPr lang="ko-KR" altLang="en-US" sz="1200" b="1" dirty="0"/>
              <a:t>사용자가 제공받은 </a:t>
            </a:r>
            <a:r>
              <a:rPr lang="en-US" altLang="ko-KR" sz="1200" b="1" dirty="0"/>
              <a:t>AI </a:t>
            </a:r>
            <a:r>
              <a:rPr lang="ko-KR" altLang="en-US" sz="1200" b="1" dirty="0"/>
              <a:t>권장 사항을 자유롭게 선택</a:t>
            </a:r>
            <a:r>
              <a:rPr lang="en-US" altLang="ko-KR" sz="1200" b="1" dirty="0"/>
              <a:t>, </a:t>
            </a:r>
            <a:r>
              <a:rPr lang="ko-KR" altLang="en-US" sz="1200" b="1" dirty="0"/>
              <a:t>적용 가능</a:t>
            </a:r>
            <a:r>
              <a:rPr lang="en-US" altLang="ko-KR" sz="1200" b="1" dirty="0"/>
              <a:t>,</a:t>
            </a:r>
          </a:p>
          <a:p>
            <a:r>
              <a:rPr lang="ko-KR" altLang="en-US" sz="1200" b="1" dirty="0"/>
              <a:t>모든 피드백에 디자인 시스템의 공식 출처와 근거를 명확히 제공</a:t>
            </a:r>
            <a:endParaRPr lang="ko-KR" alt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7556480" cy="98755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465</Words>
  <Application>Microsoft Office PowerPoint</Application>
  <PresentationFormat>사용자 지정</PresentationFormat>
  <Paragraphs>59</Paragraphs>
  <Slides>9</Slides>
  <Notes>9</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9</vt:i4>
      </vt:variant>
    </vt:vector>
  </HeadingPairs>
  <TitlesOfParts>
    <vt:vector size="13" baseType="lpstr">
      <vt:lpstr>맑은 고딕</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mangoboard.net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러닝메이트 워크북v2</dc:title>
  <dc:subject>Presentation</dc:subject>
  <dc:creator>mangoboard.net_48059005</dc:creator>
  <cp:lastModifiedBy>송해성 송해성</cp:lastModifiedBy>
  <cp:revision>4</cp:revision>
  <dcterms:created xsi:type="dcterms:W3CDTF">2025-04-26T00:56:45Z</dcterms:created>
  <dcterms:modified xsi:type="dcterms:W3CDTF">2025-04-26T09:35:08Z</dcterms:modified>
</cp:coreProperties>
</file>