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7551400" cy="9880600"/>
  <p:notesSz cx="17551400" cy="9880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038" autoAdjust="0"/>
    <p:restoredTop sz="94660"/>
  </p:normalViewPr>
  <p:slideViewPr>
    <p:cSldViewPr>
      <p:cViewPr>
        <p:scale>
          <a:sx n="75" d="100"/>
          <a:sy n="75" d="100"/>
        </p:scale>
        <p:origin x="450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철 최" userId="2a8a583e4027ffe0" providerId="LiveId" clId="{FA51645E-DC0C-445E-A33E-B16844231797}"/>
    <pc:docChg chg="custSel modSld">
      <pc:chgData name="현철 최" userId="2a8a583e4027ffe0" providerId="LiveId" clId="{FA51645E-DC0C-445E-A33E-B16844231797}" dt="2025-04-26T13:24:43.014" v="3832" actId="20577"/>
      <pc:docMkLst>
        <pc:docMk/>
      </pc:docMkLst>
      <pc:sldChg chg="modSp mod">
        <pc:chgData name="현철 최" userId="2a8a583e4027ffe0" providerId="LiveId" clId="{FA51645E-DC0C-445E-A33E-B16844231797}" dt="2025-04-26T13:04:47.270" v="11" actId="20577"/>
        <pc:sldMkLst>
          <pc:docMk/>
          <pc:sldMk cId="0" sldId="258"/>
        </pc:sldMkLst>
        <pc:spChg chg="mod">
          <ac:chgData name="현철 최" userId="2a8a583e4027ffe0" providerId="LiveId" clId="{FA51645E-DC0C-445E-A33E-B16844231797}" dt="2025-04-26T13:04:35.824" v="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현철 최" userId="2a8a583e4027ffe0" providerId="LiveId" clId="{FA51645E-DC0C-445E-A33E-B16844231797}" dt="2025-04-26T13:04:47.270" v="11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현철 최" userId="2a8a583e4027ffe0" providerId="LiveId" clId="{FA51645E-DC0C-445E-A33E-B16844231797}" dt="2025-04-26T13:04:44.255" v="10" actId="20577"/>
          <ac:spMkLst>
            <pc:docMk/>
            <pc:sldMk cId="0" sldId="258"/>
            <ac:spMk id="14" creationId="{00000000-0000-0000-0000-000000000000}"/>
          </ac:spMkLst>
        </pc:spChg>
      </pc:sldChg>
      <pc:sldChg chg="delSp modSp mod">
        <pc:chgData name="현철 최" userId="2a8a583e4027ffe0" providerId="LiveId" clId="{FA51645E-DC0C-445E-A33E-B16844231797}" dt="2025-04-26T13:12:09.282" v="1100" actId="478"/>
        <pc:sldMkLst>
          <pc:docMk/>
          <pc:sldMk cId="0" sldId="259"/>
        </pc:sldMkLst>
        <pc:spChg chg="mod">
          <ac:chgData name="현철 최" userId="2a8a583e4027ffe0" providerId="LiveId" clId="{FA51645E-DC0C-445E-A33E-B16844231797}" dt="2025-04-26T13:06:29.407" v="341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현철 최" userId="2a8a583e4027ffe0" providerId="LiveId" clId="{FA51645E-DC0C-445E-A33E-B16844231797}" dt="2025-04-26T13:09:27.553" v="785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현철 최" userId="2a8a583e4027ffe0" providerId="LiveId" clId="{FA51645E-DC0C-445E-A33E-B16844231797}" dt="2025-04-26T13:09:45.035" v="847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현철 최" userId="2a8a583e4027ffe0" providerId="LiveId" clId="{FA51645E-DC0C-445E-A33E-B16844231797}" dt="2025-04-26T13:11:26.484" v="1092" actId="20577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현철 최" userId="2a8a583e4027ffe0" providerId="LiveId" clId="{FA51645E-DC0C-445E-A33E-B16844231797}" dt="2025-04-26T13:12:02.806" v="1096"/>
          <ac:spMkLst>
            <pc:docMk/>
            <pc:sldMk cId="0" sldId="259"/>
            <ac:spMk id="7" creationId="{00000000-0000-0000-0000-000000000000}"/>
          </ac:spMkLst>
        </pc:spChg>
        <pc:spChg chg="mod">
          <ac:chgData name="현철 최" userId="2a8a583e4027ffe0" providerId="LiveId" clId="{FA51645E-DC0C-445E-A33E-B16844231797}" dt="2025-04-26T13:06:53.093" v="355" actId="6549"/>
          <ac:spMkLst>
            <pc:docMk/>
            <pc:sldMk cId="0" sldId="259"/>
            <ac:spMk id="8" creationId="{00000000-0000-0000-0000-000000000000}"/>
          </ac:spMkLst>
        </pc:spChg>
        <pc:spChg chg="mod">
          <ac:chgData name="현철 최" userId="2a8a583e4027ffe0" providerId="LiveId" clId="{FA51645E-DC0C-445E-A33E-B16844231797}" dt="2025-04-26T13:08:32.188" v="625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현철 최" userId="2a8a583e4027ffe0" providerId="LiveId" clId="{FA51645E-DC0C-445E-A33E-B16844231797}" dt="2025-04-26T13:10:21.239" v="896" actId="20577"/>
          <ac:spMkLst>
            <pc:docMk/>
            <pc:sldMk cId="0" sldId="259"/>
            <ac:spMk id="10" creationId="{00000000-0000-0000-0000-000000000000}"/>
          </ac:spMkLst>
        </pc:spChg>
        <pc:spChg chg="del">
          <ac:chgData name="현철 최" userId="2a8a583e4027ffe0" providerId="LiveId" clId="{FA51645E-DC0C-445E-A33E-B16844231797}" dt="2025-04-26T13:12:02.803" v="1094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현철 최" userId="2a8a583e4027ffe0" providerId="LiveId" clId="{FA51645E-DC0C-445E-A33E-B16844231797}" dt="2025-04-26T13:12:09.282" v="1100" actId="478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현철 최" userId="2a8a583e4027ffe0" providerId="LiveId" clId="{FA51645E-DC0C-445E-A33E-B16844231797}" dt="2025-04-26T13:12:06.755" v="1099" actId="478"/>
          <ac:spMkLst>
            <pc:docMk/>
            <pc:sldMk cId="0" sldId="259"/>
            <ac:spMk id="14" creationId="{00000000-0000-0000-0000-000000000000}"/>
          </ac:spMkLst>
        </pc:spChg>
        <pc:picChg chg="mod">
          <ac:chgData name="현철 최" userId="2a8a583e4027ffe0" providerId="LiveId" clId="{FA51645E-DC0C-445E-A33E-B16844231797}" dt="2025-04-26T13:12:03.755" v="1097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 mod">
        <pc:chgData name="현철 최" userId="2a8a583e4027ffe0" providerId="LiveId" clId="{FA51645E-DC0C-445E-A33E-B16844231797}" dt="2025-04-26T13:24:43.014" v="3832" actId="20577"/>
        <pc:sldMkLst>
          <pc:docMk/>
          <pc:sldMk cId="0" sldId="261"/>
        </pc:sldMkLst>
        <pc:spChg chg="mod">
          <ac:chgData name="현철 최" userId="2a8a583e4027ffe0" providerId="LiveId" clId="{FA51645E-DC0C-445E-A33E-B16844231797}" dt="2025-04-26T13:12:46.864" v="1105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현철 최" userId="2a8a583e4027ffe0" providerId="LiveId" clId="{FA51645E-DC0C-445E-A33E-B16844231797}" dt="2025-04-26T13:14:24.880" v="1477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현철 최" userId="2a8a583e4027ffe0" providerId="LiveId" clId="{FA51645E-DC0C-445E-A33E-B16844231797}" dt="2025-04-26T13:15:28.620" v="1760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현철 최" userId="2a8a583e4027ffe0" providerId="LiveId" clId="{FA51645E-DC0C-445E-A33E-B16844231797}" dt="2025-04-26T13:16:00.927" v="1934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현철 최" userId="2a8a583e4027ffe0" providerId="LiveId" clId="{FA51645E-DC0C-445E-A33E-B16844231797}" dt="2025-04-26T13:17:32.525" v="2307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현철 최" userId="2a8a583e4027ffe0" providerId="LiveId" clId="{FA51645E-DC0C-445E-A33E-B16844231797}" dt="2025-04-26T13:19:54.053" v="2950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현철 최" userId="2a8a583e4027ffe0" providerId="LiveId" clId="{FA51645E-DC0C-445E-A33E-B16844231797}" dt="2025-04-26T13:21:34.036" v="3310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현철 최" userId="2a8a583e4027ffe0" providerId="LiveId" clId="{FA51645E-DC0C-445E-A33E-B16844231797}" dt="2025-04-26T13:24:43.014" v="3832" actId="20577"/>
          <ac:spMkLst>
            <pc:docMk/>
            <pc:sldMk cId="0" sldId="261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6831" y="3062986"/>
            <a:ext cx="14924088" cy="20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33662" y="5533136"/>
            <a:ext cx="12290425" cy="2470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" y="8887966"/>
            <a:ext cx="17547336" cy="65836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" y="7013446"/>
            <a:ext cx="17547336" cy="58521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" y="6144766"/>
            <a:ext cx="17547336" cy="60350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" y="5276086"/>
            <a:ext cx="17547336" cy="58521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1560" y="4398262"/>
            <a:ext cx="14072616" cy="10972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8991" y="3428998"/>
            <a:ext cx="1572768" cy="886967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98648" y="3511294"/>
            <a:ext cx="484631" cy="64008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65576" y="3428998"/>
            <a:ext cx="3182112" cy="88696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57416" y="3428998"/>
            <a:ext cx="128016" cy="886967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05471" y="3428998"/>
            <a:ext cx="740664" cy="87782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174735" y="3428998"/>
            <a:ext cx="2624328" cy="92354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872216" y="3428998"/>
            <a:ext cx="832103" cy="87782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923776" y="3428998"/>
            <a:ext cx="2898647" cy="886967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932152" y="3428998"/>
            <a:ext cx="128015" cy="886967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144" y="978406"/>
            <a:ext cx="17547336" cy="603503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06424" y="630934"/>
            <a:ext cx="3383279" cy="19202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144" y="621790"/>
            <a:ext cx="17547336" cy="210311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78991" y="987550"/>
            <a:ext cx="3182112" cy="585216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69847" y="978406"/>
            <a:ext cx="3200400" cy="603503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1069847" y="7882126"/>
            <a:ext cx="11219815" cy="594360"/>
          </a:xfrm>
          <a:custGeom>
            <a:avLst/>
            <a:gdLst/>
            <a:ahLst/>
            <a:cxnLst/>
            <a:rect l="l" t="t" r="r" b="b"/>
            <a:pathLst>
              <a:path w="11219815" h="594359">
                <a:moveTo>
                  <a:pt x="11219688" y="594360"/>
                </a:moveTo>
                <a:lnTo>
                  <a:pt x="0" y="594360"/>
                </a:lnTo>
                <a:lnTo>
                  <a:pt x="0" y="0"/>
                </a:lnTo>
                <a:lnTo>
                  <a:pt x="11219688" y="0"/>
                </a:lnTo>
                <a:lnTo>
                  <a:pt x="11219688" y="594360"/>
                </a:lnTo>
                <a:close/>
              </a:path>
            </a:pathLst>
          </a:custGeom>
          <a:solidFill>
            <a:srgbClr val="F95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7887" y="2272538"/>
            <a:ext cx="7637621" cy="65211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42241" y="2272538"/>
            <a:ext cx="7637621" cy="65211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26758" y="714246"/>
            <a:ext cx="3401059" cy="985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7887" y="2272538"/>
            <a:ext cx="15801975" cy="65211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69635" y="9188958"/>
            <a:ext cx="5618480" cy="494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7887" y="9188958"/>
            <a:ext cx="4038282" cy="494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41581" y="9188958"/>
            <a:ext cx="4038282" cy="494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7766" y="7746490"/>
            <a:ext cx="112776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25535" algn="l"/>
                <a:tab pos="10372090" algn="l"/>
                <a:tab pos="11075670" algn="l"/>
              </a:tabLst>
            </a:pPr>
            <a:r>
              <a:rPr sz="5000" spc="-60" dirty="0">
                <a:solidFill>
                  <a:srgbClr val="FFFFFF"/>
                </a:solidFill>
                <a:latin typeface="Arial MT"/>
                <a:cs typeface="Arial MT"/>
              </a:rPr>
              <a:t>Sheet</a:t>
            </a:r>
            <a:r>
              <a:rPr sz="50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0" i="1" spc="-95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5000" i="1" spc="-7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395" dirty="0">
                <a:solidFill>
                  <a:srgbClr val="FFFFFF"/>
                </a:solidFill>
                <a:latin typeface="Arial MT"/>
                <a:cs typeface="Arial MT"/>
              </a:rPr>
              <a:t>SWOT/PESTEL</a:t>
            </a:r>
            <a:r>
              <a:rPr sz="5000" spc="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0" spc="-390" dirty="0">
                <a:solidFill>
                  <a:srgbClr val="FFFFFF"/>
                </a:solidFill>
                <a:latin typeface="Arial MT"/>
                <a:cs typeface="Arial MT"/>
              </a:rPr>
              <a:t>^ÚÒóf</a:t>
            </a:r>
            <a:r>
              <a:rPr sz="50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5000" spc="-50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50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5000" spc="-370" dirty="0">
                <a:solidFill>
                  <a:srgbClr val="FFFFFF"/>
                </a:solidFill>
                <a:latin typeface="Arial MT"/>
                <a:cs typeface="Arial MT"/>
              </a:rPr>
              <a:t>Ï</a:t>
            </a:r>
            <a:r>
              <a:rPr sz="50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5000" spc="-13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695944" y="8979407"/>
            <a:ext cx="887094" cy="466725"/>
          </a:xfrm>
          <a:custGeom>
            <a:avLst/>
            <a:gdLst/>
            <a:ahLst/>
            <a:cxnLst/>
            <a:rect l="l" t="t" r="r" b="b"/>
            <a:pathLst>
              <a:path w="887095" h="466725">
                <a:moveTo>
                  <a:pt x="758952" y="265176"/>
                </a:moveTo>
                <a:lnTo>
                  <a:pt x="27432" y="265176"/>
                </a:lnTo>
                <a:lnTo>
                  <a:pt x="27432" y="466344"/>
                </a:lnTo>
                <a:lnTo>
                  <a:pt x="758952" y="466344"/>
                </a:lnTo>
                <a:lnTo>
                  <a:pt x="758952" y="265176"/>
                </a:lnTo>
                <a:close/>
              </a:path>
              <a:path w="887095" h="466725">
                <a:moveTo>
                  <a:pt x="886968" y="0"/>
                </a:moveTo>
                <a:lnTo>
                  <a:pt x="0" y="0"/>
                </a:lnTo>
                <a:lnTo>
                  <a:pt x="0" y="256032"/>
                </a:lnTo>
                <a:lnTo>
                  <a:pt x="886968" y="256032"/>
                </a:lnTo>
                <a:lnTo>
                  <a:pt x="886968" y="0"/>
                </a:lnTo>
                <a:close/>
              </a:path>
            </a:pathLst>
          </a:custGeom>
          <a:solidFill>
            <a:srgbClr val="F95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80415" y="8901936"/>
            <a:ext cx="909319" cy="593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15"/>
              </a:lnSpc>
              <a:spcBef>
                <a:spcPts val="100"/>
              </a:spcBef>
            </a:pP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Orange</a:t>
            </a:r>
            <a:endParaRPr sz="1950">
              <a:latin typeface="Arial MT"/>
              <a:cs typeface="Arial MT"/>
            </a:endParaRPr>
          </a:p>
          <a:p>
            <a:pPr marL="30480">
              <a:lnSpc>
                <a:spcPts val="2355"/>
              </a:lnSpc>
            </a:pPr>
            <a:r>
              <a:rPr sz="2150" spc="-10" dirty="0">
                <a:solidFill>
                  <a:srgbClr val="FFFFFF"/>
                </a:solidFill>
                <a:latin typeface="Arial MT"/>
                <a:cs typeface="Arial MT"/>
              </a:rPr>
              <a:t>Planet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139928" y="1005838"/>
            <a:ext cx="1362710" cy="539750"/>
          </a:xfrm>
          <a:custGeom>
            <a:avLst/>
            <a:gdLst/>
            <a:ahLst/>
            <a:cxnLst/>
            <a:rect l="l" t="t" r="r" b="b"/>
            <a:pathLst>
              <a:path w="1362709" h="539750">
                <a:moveTo>
                  <a:pt x="1362456" y="539496"/>
                </a:moveTo>
                <a:lnTo>
                  <a:pt x="0" y="539496"/>
                </a:lnTo>
                <a:lnTo>
                  <a:pt x="0" y="0"/>
                </a:lnTo>
                <a:lnTo>
                  <a:pt x="1362456" y="0"/>
                </a:lnTo>
                <a:lnTo>
                  <a:pt x="1362456" y="539496"/>
                </a:lnTo>
                <a:close/>
              </a:path>
            </a:pathLst>
          </a:custGeom>
          <a:solidFill>
            <a:srgbClr val="F95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709391" y="987550"/>
            <a:ext cx="814069" cy="558165"/>
          </a:xfrm>
          <a:custGeom>
            <a:avLst/>
            <a:gdLst/>
            <a:ahLst/>
            <a:cxnLst/>
            <a:rect l="l" t="t" r="r" b="b"/>
            <a:pathLst>
              <a:path w="814069" h="558165">
                <a:moveTo>
                  <a:pt x="813816" y="557784"/>
                </a:moveTo>
                <a:lnTo>
                  <a:pt x="0" y="557784"/>
                </a:lnTo>
                <a:lnTo>
                  <a:pt x="0" y="0"/>
                </a:lnTo>
                <a:lnTo>
                  <a:pt x="813816" y="0"/>
                </a:lnTo>
                <a:lnTo>
                  <a:pt x="813816" y="557784"/>
                </a:lnTo>
                <a:close/>
              </a:path>
            </a:pathLst>
          </a:custGeom>
          <a:solidFill>
            <a:srgbClr val="6B13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60320" algn="l"/>
              </a:tabLst>
            </a:pPr>
            <a:r>
              <a:rPr spc="-370" dirty="0"/>
              <a:t>Wor</a:t>
            </a:r>
            <a:r>
              <a:rPr dirty="0"/>
              <a:t>	</a:t>
            </a:r>
            <a:r>
              <a:rPr sz="6300" spc="-80" dirty="0">
                <a:latin typeface="Comic Sans MS"/>
                <a:cs typeface="Comic Sans MS"/>
              </a:rPr>
              <a:t>ok</a:t>
            </a:r>
            <a:endParaRPr sz="6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556480" cy="98755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556480" cy="98755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06449" y="2564129"/>
            <a:ext cx="10849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5" dirty="0">
                <a:latin typeface="Malgun Gothic"/>
                <a:cs typeface="Malgun Gothic"/>
              </a:rPr>
              <a:t>반려견보호자가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사용하는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자동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급식기는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사료만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제공할뿐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영양제나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처방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받은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처방약을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함께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제공하지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못해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60" dirty="0">
                <a:latin typeface="Malgun Gothic"/>
                <a:cs typeface="Malgun Gothic"/>
              </a:rPr>
              <a:t>불편하다.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3762" y="8330808"/>
            <a:ext cx="9213215" cy="33147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80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인터뷰</a:t>
            </a:r>
            <a:r>
              <a:rPr sz="1800" spc="-10" dirty="0">
                <a:latin typeface="Calibri"/>
                <a:cs typeface="Calibri"/>
              </a:rPr>
              <a:t>&amp;</a:t>
            </a:r>
            <a:r>
              <a:rPr sz="1800" spc="-10" dirty="0">
                <a:latin typeface="Malgun Gothic"/>
                <a:cs typeface="Malgun Gothic"/>
              </a:rPr>
              <a:t>설문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검증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완료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Malgun Gothic"/>
                <a:cs typeface="Malgun Gothic"/>
              </a:rPr>
              <a:t>△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dirty="0">
                <a:latin typeface="Malgun Gothic"/>
                <a:cs typeface="Malgun Gothic"/>
              </a:rPr>
              <a:t>고객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의견으로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있었으나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검증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데이터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부족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 – </a:t>
            </a:r>
            <a:r>
              <a:rPr sz="1800" dirty="0">
                <a:latin typeface="Malgun Gothic"/>
                <a:cs typeface="Malgun Gothic"/>
              </a:rPr>
              <a:t>검증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되지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않음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6039" y="3206114"/>
            <a:ext cx="11315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algun Gothic"/>
                <a:cs typeface="Malgun Gothic"/>
              </a:rPr>
              <a:t>만성질환으로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시간에</a:t>
            </a:r>
            <a:r>
              <a:rPr sz="1800" spc="-114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맞춰</a:t>
            </a:r>
            <a:r>
              <a:rPr sz="1800" spc="-114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약을</a:t>
            </a:r>
            <a:r>
              <a:rPr sz="1800" spc="-120" dirty="0">
                <a:latin typeface="Malgun Gothic"/>
                <a:cs typeface="Malgun Gothic"/>
              </a:rPr>
              <a:t> </a:t>
            </a:r>
            <a:r>
              <a:rPr sz="1800" spc="-55" dirty="0">
                <a:latin typeface="Malgun Gothic"/>
                <a:cs typeface="Malgun Gothic"/>
              </a:rPr>
              <a:t>사료와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함께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먹여야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하는데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자동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급식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이후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별도의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간식과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함께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따로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제공해서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75" dirty="0">
                <a:latin typeface="Malgun Gothic"/>
                <a:cs typeface="Malgun Gothic"/>
              </a:rPr>
              <a:t>불편하다.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6039" y="4318634"/>
            <a:ext cx="11141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algun Gothic"/>
                <a:cs typeface="Malgun Gothic"/>
              </a:rPr>
              <a:t>개인</a:t>
            </a:r>
            <a:r>
              <a:rPr sz="1800" spc="-13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사정이나</a:t>
            </a:r>
            <a:r>
              <a:rPr sz="1800" spc="-1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휴가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위탁</a:t>
            </a:r>
            <a:r>
              <a:rPr sz="1800" spc="-229" dirty="0">
                <a:latin typeface="Malgun Gothic"/>
                <a:cs typeface="Malgun Gothic"/>
              </a:rPr>
              <a:t> </a:t>
            </a:r>
            <a:r>
              <a:rPr sz="1800" spc="-150" dirty="0">
                <a:latin typeface="Malgun Gothic"/>
                <a:cs typeface="Malgun Gothic"/>
              </a:rPr>
              <a:t>등</a:t>
            </a:r>
            <a:r>
              <a:rPr sz="1800" spc="-229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직접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챙겨</a:t>
            </a:r>
            <a:r>
              <a:rPr sz="1800" spc="-229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주지</a:t>
            </a:r>
            <a:r>
              <a:rPr sz="1800" spc="-229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못하는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상황에서는</a:t>
            </a:r>
            <a:r>
              <a:rPr sz="1800" spc="-229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투약의</a:t>
            </a:r>
            <a:r>
              <a:rPr sz="1800" spc="-229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여부를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확인할</a:t>
            </a:r>
            <a:r>
              <a:rPr sz="1800" spc="-229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수</a:t>
            </a:r>
            <a:r>
              <a:rPr sz="1800" spc="18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없어</a:t>
            </a:r>
            <a:r>
              <a:rPr sz="1800" spc="-229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마음에</a:t>
            </a:r>
            <a:r>
              <a:rPr sz="1800" spc="-229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부담감을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느낀다.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6039" y="5431154"/>
            <a:ext cx="11377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algun Gothic"/>
                <a:cs typeface="Malgun Gothic"/>
              </a:rPr>
              <a:t>처방</a:t>
            </a:r>
            <a:r>
              <a:rPr sz="1800" spc="-114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받은</a:t>
            </a:r>
            <a:r>
              <a:rPr sz="1800" spc="-114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처방약</a:t>
            </a:r>
            <a:r>
              <a:rPr sz="1800" spc="-1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봉투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그대로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사용할수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있는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급식기는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없어서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수작업으로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사료와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섞는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작업을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따로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해줘야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해서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spc="-70" dirty="0">
                <a:latin typeface="Malgun Gothic"/>
                <a:cs typeface="Malgun Gothic"/>
              </a:rPr>
              <a:t>불편하다.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6039" y="6543675"/>
            <a:ext cx="10054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5" dirty="0">
                <a:latin typeface="Malgun Gothic"/>
                <a:cs typeface="Malgun Gothic"/>
              </a:rPr>
              <a:t>투약</a:t>
            </a:r>
            <a:r>
              <a:rPr sz="1800" spc="-229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후에도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반려견의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이상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상태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및</a:t>
            </a:r>
            <a:r>
              <a:rPr sz="1800" spc="19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약을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안먹은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경우도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계속</a:t>
            </a:r>
            <a:r>
              <a:rPr sz="1800" spc="-229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모니터링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해야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하는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0" dirty="0">
                <a:latin typeface="Malgun Gothic"/>
                <a:cs typeface="Malgun Gothic"/>
              </a:rPr>
              <a:t>데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놓치는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경우가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종종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있다.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6039" y="7656194"/>
            <a:ext cx="8452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5" dirty="0">
                <a:latin typeface="Malgun Gothic"/>
                <a:cs typeface="Malgun Gothic"/>
              </a:rPr>
              <a:t>영양제도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매번</a:t>
            </a:r>
            <a:r>
              <a:rPr sz="1800" spc="-204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달라지면</a:t>
            </a:r>
            <a:r>
              <a:rPr sz="1800" spc="-204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투여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하는</a:t>
            </a:r>
            <a:r>
              <a:rPr sz="1800" spc="-204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시간과</a:t>
            </a:r>
            <a:r>
              <a:rPr sz="1800" spc="-204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사료와의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배합</a:t>
            </a:r>
            <a:r>
              <a:rPr sz="1800" spc="-204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비율이</a:t>
            </a:r>
            <a:r>
              <a:rPr sz="1800" spc="-204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달라서</a:t>
            </a:r>
            <a:r>
              <a:rPr sz="1800" spc="-204" dirty="0">
                <a:latin typeface="Malgun Gothic"/>
                <a:cs typeface="Malgun Gothic"/>
              </a:rPr>
              <a:t> </a:t>
            </a:r>
            <a:r>
              <a:rPr sz="1800" spc="-155" dirty="0">
                <a:latin typeface="Malgun Gothic"/>
                <a:cs typeface="Malgun Gothic"/>
              </a:rPr>
              <a:t>관리하기가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어렵다.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85923" y="2561081"/>
            <a:ext cx="17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O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85923" y="3477513"/>
            <a:ext cx="17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85923" y="4475733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1800" spc="-50" dirty="0">
                <a:latin typeface="Calibri"/>
                <a:cs typeface="Calibri"/>
              </a:rPr>
              <a:t>O</a:t>
            </a:r>
            <a:endParaRPr sz="1800" dirty="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85923" y="5480380"/>
            <a:ext cx="177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885923" y="6491985"/>
            <a:ext cx="254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1800" spc="-50" dirty="0">
                <a:latin typeface="Calibri"/>
                <a:cs typeface="Calibri"/>
              </a:rPr>
              <a:t>O </a:t>
            </a:r>
            <a:endParaRPr sz="180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85923" y="7480807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Malgun Gothic"/>
                <a:cs typeface="Malgun Gothic"/>
              </a:rPr>
              <a:t>X</a:t>
            </a:r>
            <a:endParaRPr sz="18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5080" y="-126406"/>
            <a:ext cx="17556480" cy="98755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06449" y="2564129"/>
            <a:ext cx="11057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800" dirty="0">
                <a:latin typeface="Malgun Gothic"/>
                <a:cs typeface="Calibri"/>
              </a:rPr>
              <a:t>기존 급식기</a:t>
            </a:r>
            <a:r>
              <a:rPr lang="ko-KR" altLang="en-US" dirty="0">
                <a:latin typeface="Malgun Gothic"/>
                <a:cs typeface="Calibri"/>
              </a:rPr>
              <a:t>의 기능에 추가로 영양제와 처방약을 자동으로 배합해준다면 우리 제품을 </a:t>
            </a:r>
            <a:r>
              <a:rPr lang="ko-KR" altLang="en-US" dirty="0" err="1">
                <a:latin typeface="Malgun Gothic"/>
                <a:cs typeface="Calibri"/>
              </a:rPr>
              <a:t>구매할것이다</a:t>
            </a:r>
            <a:r>
              <a:rPr lang="en-US" altLang="ko-KR" dirty="0">
                <a:latin typeface="Malgun Gothic"/>
                <a:cs typeface="Calibri"/>
              </a:rPr>
              <a:t>.</a:t>
            </a:r>
            <a:r>
              <a:rPr lang="ko-KR" altLang="en-US" dirty="0">
                <a:latin typeface="Malgun Gothic"/>
                <a:cs typeface="Calibri"/>
              </a:rPr>
              <a:t>  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3762" y="8330808"/>
            <a:ext cx="9213215" cy="33147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80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인터뷰</a:t>
            </a:r>
            <a:r>
              <a:rPr sz="1800" spc="-10" dirty="0">
                <a:latin typeface="Calibri"/>
                <a:cs typeface="Calibri"/>
              </a:rPr>
              <a:t>&amp;</a:t>
            </a:r>
            <a:r>
              <a:rPr sz="1800" spc="-10" dirty="0">
                <a:latin typeface="Malgun Gothic"/>
                <a:cs typeface="Malgun Gothic"/>
              </a:rPr>
              <a:t>설문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검증</a:t>
            </a:r>
            <a:r>
              <a:rPr sz="1800" spc="-2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완료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Malgun Gothic"/>
                <a:cs typeface="Malgun Gothic"/>
              </a:rPr>
              <a:t>△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dirty="0">
                <a:latin typeface="Malgun Gothic"/>
                <a:cs typeface="Malgun Gothic"/>
              </a:rPr>
              <a:t>고객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의견으로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있었으나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검증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데이터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부족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 – </a:t>
            </a:r>
            <a:r>
              <a:rPr sz="1800" dirty="0">
                <a:latin typeface="Malgun Gothic"/>
                <a:cs typeface="Malgun Gothic"/>
              </a:rPr>
              <a:t>검증</a:t>
            </a:r>
            <a:r>
              <a:rPr sz="1800" spc="-2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되지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않음</a:t>
            </a:r>
            <a:endParaRPr sz="18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6448" y="3480561"/>
            <a:ext cx="1151635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800" dirty="0">
                <a:latin typeface="Malgun Gothic"/>
                <a:cs typeface="Malgun Gothic"/>
              </a:rPr>
              <a:t>동물병원 처방약 그대로를 넣어서 사용 가능하다면 별도 작업이 없으므로 고객 만족도가 </a:t>
            </a:r>
            <a:r>
              <a:rPr lang="ko-KR" altLang="en-US" sz="1800" dirty="0" err="1">
                <a:latin typeface="Malgun Gothic"/>
                <a:cs typeface="Malgun Gothic"/>
              </a:rPr>
              <a:t>올라갈것이다</a:t>
            </a:r>
            <a:r>
              <a:rPr lang="en-US" altLang="ko-KR" sz="1800" dirty="0">
                <a:latin typeface="Malgun Gothic"/>
                <a:cs typeface="Malgun Gothic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6449" y="4521530"/>
            <a:ext cx="1120305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800" spc="-10" dirty="0">
                <a:latin typeface="Malgun Gothic"/>
                <a:cs typeface="Malgun Gothic"/>
              </a:rPr>
              <a:t>반려견의 상태도 함께 모니터링 하고 급식</a:t>
            </a:r>
            <a:r>
              <a:rPr lang="en-US" altLang="ko-KR" sz="1800" spc="-10" dirty="0">
                <a:latin typeface="Malgun Gothic"/>
                <a:cs typeface="Malgun Gothic"/>
              </a:rPr>
              <a:t>,</a:t>
            </a:r>
            <a:r>
              <a:rPr lang="ko-KR" altLang="en-US" spc="-10" dirty="0" err="1">
                <a:latin typeface="Malgun Gothic"/>
                <a:cs typeface="Malgun Gothic"/>
              </a:rPr>
              <a:t>급약</a:t>
            </a:r>
            <a:r>
              <a:rPr lang="ko-KR" altLang="en-US" spc="-10" dirty="0">
                <a:latin typeface="Malgun Gothic"/>
                <a:cs typeface="Malgun Gothic"/>
              </a:rPr>
              <a:t> 유무도 함께 알려준다면 고객의 제품 구매도가 </a:t>
            </a:r>
            <a:r>
              <a:rPr lang="ko-KR" altLang="en-US" spc="-10" dirty="0" err="1">
                <a:latin typeface="Malgun Gothic"/>
                <a:cs typeface="Malgun Gothic"/>
              </a:rPr>
              <a:t>오를것이다</a:t>
            </a:r>
            <a:r>
              <a:rPr lang="en-US" altLang="ko-KR" spc="-10" dirty="0">
                <a:latin typeface="Malgun Gothic"/>
                <a:cs typeface="Malgun Gothic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6449" y="5430392"/>
            <a:ext cx="1173226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ko-KR" altLang="en-US" sz="1800" dirty="0">
                <a:latin typeface="Malgun Gothic"/>
                <a:cs typeface="Malgun Gothic"/>
              </a:rPr>
              <a:t>다양한 영양제도 함께 배합해서 제공할 수 있다면 투약 하는 기능보다 활용도가 높아져 구매도가 </a:t>
            </a:r>
            <a:r>
              <a:rPr lang="ko-KR" altLang="en-US" sz="1800" dirty="0" err="1">
                <a:latin typeface="Malgun Gothic"/>
                <a:cs typeface="Malgun Gothic"/>
              </a:rPr>
              <a:t>오를것이다</a:t>
            </a:r>
            <a:r>
              <a:rPr lang="en-US" altLang="ko-KR" dirty="0">
                <a:latin typeface="Malgun Gothic"/>
                <a:cs typeface="Malgun Gothic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97864" y="2425140"/>
            <a:ext cx="36385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800" dirty="0">
                <a:latin typeface="Malgun Gothic"/>
                <a:cs typeface="Malgun Gothic"/>
              </a:rPr>
              <a:t>△</a:t>
            </a:r>
            <a:endParaRPr sz="1800" dirty="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spc="-10" dirty="0">
                <a:latin typeface="Malgun Gothic"/>
                <a:cs typeface="Malgun Gothic"/>
              </a:rPr>
              <a:t>사전예약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dirty="0" err="1">
                <a:latin typeface="Malgun Gothic"/>
                <a:cs typeface="Malgun Gothic"/>
              </a:rPr>
              <a:t>수요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dirty="0" err="1">
                <a:latin typeface="Malgun Gothic"/>
                <a:cs typeface="Malgun Gothic"/>
              </a:rPr>
              <a:t>확인</a:t>
            </a:r>
            <a:r>
              <a:rPr sz="1800" spc="-25" dirty="0"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41630" y="3426967"/>
            <a:ext cx="414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Malgun Gothic"/>
                <a:cs typeface="Malgun Gothic"/>
              </a:rPr>
              <a:t>X</a:t>
            </a:r>
            <a:endParaRPr sz="1800" dirty="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(</a:t>
            </a:r>
            <a:r>
              <a:rPr lang="ko-KR" altLang="en-US" spc="-10" dirty="0">
                <a:latin typeface="Calibri"/>
                <a:cs typeface="Calibri"/>
              </a:rPr>
              <a:t>기술적 구현 가능 확인 중</a:t>
            </a:r>
            <a:r>
              <a:rPr lang="en-US" sz="1800" dirty="0">
                <a:latin typeface="Malgun Gothic"/>
                <a:cs typeface="Malgun Gothic"/>
              </a:rPr>
              <a:t>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00099" y="4395977"/>
            <a:ext cx="2971801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800" spc="670" dirty="0">
                <a:latin typeface="Malgun Gothic"/>
                <a:cs typeface="Malgun Gothic"/>
              </a:rPr>
              <a:t>X</a:t>
            </a:r>
            <a:endParaRPr sz="1800" dirty="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(</a:t>
            </a:r>
            <a:r>
              <a:rPr lang="ko-KR" altLang="en-US" spc="-10" dirty="0">
                <a:latin typeface="Calibri"/>
                <a:cs typeface="Calibri"/>
              </a:rPr>
              <a:t>고객 설문 진행 예정</a:t>
            </a:r>
            <a:r>
              <a:rPr sz="1800" spc="-25" dirty="0"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85923" y="5480380"/>
            <a:ext cx="144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556480" cy="98755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556480" cy="98755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0376" y="2452877"/>
            <a:ext cx="100584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941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Malgun Gothic"/>
                <a:cs typeface="Malgun Gothic"/>
              </a:rPr>
              <a:t>케이스</a:t>
            </a:r>
            <a:r>
              <a:rPr lang="en-US" sz="1400" b="1" spc="-20" dirty="0">
                <a:latin typeface="Calibri"/>
                <a:cs typeface="Calibri"/>
              </a:rPr>
              <a:t>4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고객</a:t>
            </a:r>
            <a:endParaRPr sz="14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=</a:t>
            </a:r>
            <a:r>
              <a:rPr sz="1400" b="1" spc="-10" dirty="0">
                <a:latin typeface="Malgun Gothic"/>
                <a:cs typeface="Malgun Gothic"/>
              </a:rPr>
              <a:t>문제당사자</a:t>
            </a:r>
            <a:endParaRPr sz="14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lang="en-US" sz="1400" b="1" spc="-20" dirty="0" err="1">
                <a:latin typeface="Malgun Gothic"/>
                <a:cs typeface="Malgun Gothic"/>
              </a:rPr>
              <a:t>X</a:t>
            </a:r>
            <a:r>
              <a:rPr sz="1400" b="1" spc="-20" dirty="0" err="1">
                <a:latin typeface="Malgun Gothic"/>
                <a:cs typeface="Malgun Gothic"/>
              </a:rPr>
              <a:t>사용자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45538" y="2009013"/>
            <a:ext cx="32842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dirty="0">
                <a:latin typeface="Malgun Gothic"/>
                <a:cs typeface="Calibri"/>
              </a:rPr>
              <a:t>고객은 자동 급식기를 대부분 </a:t>
            </a:r>
            <a:r>
              <a:rPr lang="ko-KR" altLang="en-US" sz="1200" dirty="0" err="1">
                <a:latin typeface="Malgun Gothic"/>
                <a:cs typeface="Calibri"/>
              </a:rPr>
              <a:t>사용중에</a:t>
            </a:r>
            <a:r>
              <a:rPr lang="ko-KR" altLang="en-US" sz="1200" dirty="0">
                <a:latin typeface="Malgun Gothic"/>
                <a:cs typeface="Calibri"/>
              </a:rPr>
              <a:t> 있으나 투약이나 영양제를 추가로 먹여야 하는 경우 수작업으로 진행함에 불편함이 발생한다</a:t>
            </a:r>
            <a:r>
              <a:rPr lang="en-US" altLang="ko-KR" sz="1200" dirty="0">
                <a:latin typeface="Malgun Gothic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5538" y="3126104"/>
            <a:ext cx="34366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 err="1">
                <a:latin typeface="Malgun Gothic"/>
                <a:cs typeface="Malgun Gothic"/>
              </a:rPr>
              <a:t>반려동물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만성질환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관리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25" dirty="0" err="1">
                <a:latin typeface="Malgun Gothic"/>
                <a:cs typeface="Malgun Gothic"/>
              </a:rPr>
              <a:t>시에</a:t>
            </a:r>
            <a:r>
              <a:rPr sz="1200" spc="-25" dirty="0">
                <a:latin typeface="Malgun Gothic"/>
                <a:cs typeface="Malgun Gothic"/>
              </a:rPr>
              <a:t> </a:t>
            </a:r>
            <a:r>
              <a:rPr lang="ko-KR" altLang="en-US" sz="1200" dirty="0">
                <a:latin typeface="Malgun Gothic"/>
                <a:cs typeface="Malgun Gothic"/>
              </a:rPr>
              <a:t>투약 시간을 맞춰야 하지만 개인 사정 등으로 정확한 시간을 </a:t>
            </a:r>
            <a:r>
              <a:rPr lang="ko-KR" altLang="en-US" sz="1200" dirty="0" err="1">
                <a:latin typeface="Malgun Gothic"/>
                <a:cs typeface="Malgun Gothic"/>
              </a:rPr>
              <a:t>맞추는것에</a:t>
            </a:r>
            <a:r>
              <a:rPr lang="ko-KR" altLang="en-US" sz="1200" dirty="0">
                <a:latin typeface="Malgun Gothic"/>
                <a:cs typeface="Malgun Gothic"/>
              </a:rPr>
              <a:t> 어려움이 많다</a:t>
            </a:r>
            <a:r>
              <a:rPr lang="en-US" altLang="ko-KR" sz="1200" dirty="0">
                <a:latin typeface="Malgun Gothic"/>
                <a:cs typeface="Malgun Gothic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5538" y="4219193"/>
            <a:ext cx="34702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dirty="0">
                <a:latin typeface="Malgun Gothic"/>
                <a:cs typeface="Malgun Gothic"/>
              </a:rPr>
              <a:t>투약 이외에도 영양제 등 사료와 함께 제공해야 하는 데 기존 급식기에는 해당 기능이 없다</a:t>
            </a:r>
            <a:r>
              <a:rPr lang="en-US" altLang="ko-KR" sz="1200" dirty="0">
                <a:latin typeface="Malgun Gothic"/>
                <a:cs typeface="Malgun Gothic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39992" y="2159634"/>
            <a:ext cx="4691380" cy="111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latin typeface="Calibri"/>
                <a:cs typeface="Calibri"/>
              </a:rPr>
              <a:t>IOT </a:t>
            </a:r>
            <a:r>
              <a:rPr lang="ko-KR" altLang="en-US" sz="1200" b="1" dirty="0">
                <a:latin typeface="Calibri"/>
                <a:cs typeface="Calibri"/>
              </a:rPr>
              <a:t>자동 </a:t>
            </a:r>
            <a:r>
              <a:rPr lang="ko-KR" altLang="en-US" sz="1200" b="1" dirty="0" err="1">
                <a:latin typeface="Calibri"/>
                <a:cs typeface="Calibri"/>
              </a:rPr>
              <a:t>급식기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Malgun Gothic"/>
                <a:cs typeface="Malgun Gothic"/>
              </a:rPr>
              <a:t>강점</a:t>
            </a:r>
            <a:r>
              <a:rPr sz="1200" dirty="0">
                <a:latin typeface="Calibri"/>
                <a:cs typeface="Calibri"/>
              </a:rPr>
              <a:t>) </a:t>
            </a:r>
            <a:r>
              <a:rPr lang="ko-KR" altLang="en-US" sz="1200" dirty="0">
                <a:latin typeface="Malgun Gothic"/>
                <a:cs typeface="Malgun Gothic"/>
              </a:rPr>
              <a:t>카메라</a:t>
            </a:r>
            <a:r>
              <a:rPr lang="en-US" altLang="ko-KR" sz="1200" dirty="0">
                <a:latin typeface="Malgun Gothic"/>
                <a:cs typeface="Malgun Gothic"/>
              </a:rPr>
              <a:t>, WIFI </a:t>
            </a:r>
            <a:r>
              <a:rPr lang="ko-KR" altLang="en-US" sz="1200" dirty="0">
                <a:latin typeface="Malgun Gothic"/>
                <a:cs typeface="Malgun Gothic"/>
              </a:rPr>
              <a:t>등 다양한 </a:t>
            </a:r>
            <a:r>
              <a:rPr lang="en-US" altLang="ko-KR" sz="1200" dirty="0">
                <a:latin typeface="Malgun Gothic"/>
                <a:cs typeface="Malgun Gothic"/>
              </a:rPr>
              <a:t>IOT </a:t>
            </a:r>
            <a:r>
              <a:rPr lang="ko-KR" altLang="en-US" sz="1200" dirty="0">
                <a:latin typeface="Malgun Gothic"/>
                <a:cs typeface="Malgun Gothic"/>
              </a:rPr>
              <a:t>기능 장착으로 기능 확장이 되고 있다</a:t>
            </a:r>
            <a:r>
              <a:rPr lang="en-US" altLang="ko-KR" sz="1200" dirty="0">
                <a:latin typeface="Malgun Gothic"/>
                <a:cs typeface="Malgun Gothic"/>
              </a:rPr>
              <a:t>.</a:t>
            </a:r>
            <a:endParaRPr sz="1200" dirty="0">
              <a:latin typeface="Calibri"/>
              <a:cs typeface="Calibri"/>
            </a:endParaRPr>
          </a:p>
          <a:p>
            <a:pPr marL="12700" marR="95250">
              <a:lnSpc>
                <a:spcPct val="100000"/>
              </a:lnSpc>
              <a:spcBef>
                <a:spcPts val="1440"/>
              </a:spcBef>
            </a:pPr>
            <a:r>
              <a:rPr sz="1200" dirty="0">
                <a:latin typeface="Malgun Gothic"/>
                <a:cs typeface="Malgun Gothic"/>
              </a:rPr>
              <a:t>한계점</a:t>
            </a:r>
            <a:r>
              <a:rPr sz="1200" dirty="0">
                <a:latin typeface="Calibri"/>
                <a:cs typeface="Calibri"/>
              </a:rPr>
              <a:t>) </a:t>
            </a:r>
            <a:r>
              <a:rPr lang="ko-KR" altLang="en-US" sz="1200" dirty="0">
                <a:latin typeface="Malgun Gothic"/>
                <a:cs typeface="Calibri"/>
              </a:rPr>
              <a:t>관련 서비스는 다양해지고 있으나 사료 </a:t>
            </a:r>
            <a:r>
              <a:rPr lang="ko-KR" altLang="en-US" sz="1200" dirty="0" err="1">
                <a:latin typeface="Malgun Gothic"/>
                <a:cs typeface="Calibri"/>
              </a:rPr>
              <a:t>제공외에</a:t>
            </a:r>
            <a:r>
              <a:rPr lang="ko-KR" altLang="en-US" sz="1200" dirty="0">
                <a:latin typeface="Malgun Gothic"/>
                <a:cs typeface="Calibri"/>
              </a:rPr>
              <a:t> 영양제</a:t>
            </a:r>
            <a:r>
              <a:rPr lang="en-US" altLang="ko-KR" sz="1200" dirty="0">
                <a:latin typeface="Malgun Gothic"/>
                <a:cs typeface="Calibri"/>
              </a:rPr>
              <a:t>, </a:t>
            </a:r>
            <a:r>
              <a:rPr lang="ko-KR" altLang="en-US" sz="1200" dirty="0">
                <a:latin typeface="Malgun Gothic"/>
                <a:cs typeface="Calibri"/>
              </a:rPr>
              <a:t>투약에 대한 해결책은 제공해주지 못한다</a:t>
            </a:r>
            <a:r>
              <a:rPr lang="en-US" altLang="ko-KR" sz="1200" dirty="0">
                <a:latin typeface="Malgun Gothic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30710" y="2074925"/>
            <a:ext cx="475615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ko-KR" altLang="en-US" sz="1400" dirty="0" err="1">
                <a:latin typeface="Calibri"/>
                <a:cs typeface="Calibri"/>
              </a:rPr>
              <a:t>반려견</a:t>
            </a:r>
            <a:r>
              <a:rPr lang="ko-KR" altLang="en-US" sz="1400" dirty="0">
                <a:latin typeface="Calibri"/>
                <a:cs typeface="Calibri"/>
              </a:rPr>
              <a:t> 보호자는 자동 급식기를 필수도 구매하는 시대가 되었다</a:t>
            </a:r>
            <a:r>
              <a:rPr lang="en-US" altLang="ko-KR" sz="1400" dirty="0">
                <a:latin typeface="Calibri"/>
                <a:cs typeface="Calibri"/>
              </a:rPr>
              <a:t>. </a:t>
            </a:r>
            <a:r>
              <a:rPr lang="ko-KR" altLang="en-US" sz="1400" dirty="0">
                <a:latin typeface="Calibri"/>
                <a:cs typeface="Calibri"/>
              </a:rPr>
              <a:t>그러나 만성질환 및 다양한 영양제 제공도 함께 해줘야 하는 등 반려견의 건강 관리가 더 중요해지는 시대로 전환되고 있다</a:t>
            </a:r>
            <a:r>
              <a:rPr lang="en-US" altLang="ko-KR" sz="1400" dirty="0">
                <a:latin typeface="Calibri"/>
                <a:cs typeface="Calibri"/>
              </a:rPr>
              <a:t>. </a:t>
            </a:r>
            <a:r>
              <a:rPr lang="ko-KR" altLang="en-US" sz="1400" dirty="0">
                <a:latin typeface="Calibri"/>
                <a:cs typeface="Calibri"/>
              </a:rPr>
              <a:t>이를 위해 기존 급식기에 영양제와 처방약까지 배합해서 사료와 함께 자동 관리하는 급식기를 제공하고자 한다</a:t>
            </a:r>
            <a:r>
              <a:rPr lang="en-US" altLang="ko-KR" sz="1400" dirty="0">
                <a:latin typeface="Calibri"/>
                <a:cs typeface="Calibri"/>
              </a:rPr>
              <a:t>.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30710" y="3800601"/>
            <a:ext cx="4759325" cy="672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marR="5080" indent="-226695">
              <a:lnSpc>
                <a:spcPct val="100000"/>
              </a:lnSpc>
              <a:spcBef>
                <a:spcPts val="105"/>
              </a:spcBef>
              <a:buFont typeface="Calibri"/>
              <a:buAutoNum type="arabicParenR"/>
              <a:tabLst>
                <a:tab pos="2413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영양제</a:t>
            </a:r>
            <a:r>
              <a:rPr lang="en-US" altLang="ko-KR" sz="1400" dirty="0">
                <a:latin typeface="Malgun Gothic"/>
                <a:cs typeface="Malgun Gothic"/>
              </a:rPr>
              <a:t>, </a:t>
            </a:r>
            <a:r>
              <a:rPr lang="ko-KR" altLang="en-US" sz="1400" dirty="0">
                <a:latin typeface="Malgun Gothic"/>
                <a:cs typeface="Malgun Gothic"/>
              </a:rPr>
              <a:t>처방약 그대로 급식기에 장착</a:t>
            </a:r>
            <a:r>
              <a:rPr lang="en-US" altLang="ko-KR" sz="1400" dirty="0">
                <a:latin typeface="Malgun Gothic"/>
                <a:cs typeface="Malgun Gothic"/>
              </a:rPr>
              <a:t>, </a:t>
            </a:r>
            <a:r>
              <a:rPr lang="ko-KR" altLang="en-US" sz="1400" dirty="0">
                <a:latin typeface="Malgun Gothic"/>
                <a:cs typeface="Malgun Gothic"/>
              </a:rPr>
              <a:t>사료와 자동 배합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239395" marR="5080" indent="-226695">
              <a:lnSpc>
                <a:spcPct val="100000"/>
              </a:lnSpc>
              <a:spcBef>
                <a:spcPts val="105"/>
              </a:spcBef>
              <a:buFont typeface="Calibri"/>
              <a:buAutoNum type="arabicParenR"/>
              <a:tabLst>
                <a:tab pos="2413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투약 유무 확인 및 투약 후 상태 모니터링 가능</a:t>
            </a:r>
            <a:endParaRPr sz="1400" dirty="0">
              <a:latin typeface="Malgun Gothic"/>
              <a:cs typeface="Malgun Gothic"/>
            </a:endParaRPr>
          </a:p>
          <a:p>
            <a:pPr marL="239395" indent="-226695">
              <a:lnSpc>
                <a:spcPct val="100000"/>
              </a:lnSpc>
              <a:buFont typeface="Calibri"/>
              <a:buAutoNum type="arabicParenR"/>
              <a:tabLst>
                <a:tab pos="239395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다양한 반려견의 건강 관리와 연동 가능해 확장 쉬움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0286" y="6836155"/>
            <a:ext cx="14276069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[</a:t>
            </a:r>
            <a:r>
              <a:rPr lang="ko-KR" altLang="en-US" sz="1800" b="1" spc="-5" dirty="0">
                <a:latin typeface="Calibri"/>
                <a:cs typeface="Calibri"/>
              </a:rPr>
              <a:t>건강 및 </a:t>
            </a:r>
            <a:r>
              <a:rPr sz="1800" b="1" spc="-5" dirty="0" err="1">
                <a:latin typeface="Malgun Gothic"/>
                <a:cs typeface="Malgun Gothic"/>
              </a:rPr>
              <a:t>만성질환</a:t>
            </a:r>
            <a:r>
              <a:rPr sz="1800" b="1" spc="-225" dirty="0">
                <a:latin typeface="Malgun Gothic"/>
                <a:cs typeface="Malgun Gothic"/>
              </a:rPr>
              <a:t> </a:t>
            </a:r>
            <a:r>
              <a:rPr lang="ko-KR" altLang="en-US" sz="1800" b="1" spc="-225" dirty="0">
                <a:latin typeface="Malgun Gothic"/>
                <a:cs typeface="Malgun Gothic"/>
              </a:rPr>
              <a:t>관리가 필요한 </a:t>
            </a:r>
            <a:r>
              <a:rPr sz="1800" b="1" dirty="0" err="1">
                <a:latin typeface="Malgun Gothic"/>
                <a:cs typeface="Malgun Gothic"/>
              </a:rPr>
              <a:t>반려</a:t>
            </a:r>
            <a:r>
              <a:rPr lang="ko-KR" altLang="en-US" sz="1800" b="1" dirty="0">
                <a:latin typeface="Malgun Gothic"/>
                <a:cs typeface="Malgun Gothic"/>
              </a:rPr>
              <a:t>견</a:t>
            </a:r>
            <a:r>
              <a:rPr sz="1800" b="1" spc="-215" dirty="0">
                <a:latin typeface="Malgun Gothic"/>
                <a:cs typeface="Malgun Gothic"/>
              </a:rPr>
              <a:t> </a:t>
            </a:r>
            <a:r>
              <a:rPr sz="1800" b="1" spc="-5" dirty="0">
                <a:latin typeface="Malgun Gothic"/>
                <a:cs typeface="Malgun Gothic"/>
              </a:rPr>
              <a:t>주보호자</a:t>
            </a:r>
            <a:r>
              <a:rPr sz="1800" b="1" spc="-5" dirty="0">
                <a:latin typeface="Calibri"/>
                <a:cs typeface="Calibri"/>
              </a:rPr>
              <a:t>]</a:t>
            </a:r>
            <a:r>
              <a:rPr sz="1800" spc="-5" dirty="0">
                <a:latin typeface="Malgun Gothic"/>
                <a:cs typeface="Malgun Gothic"/>
              </a:rPr>
              <a:t>가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b="1" spc="-5" dirty="0">
                <a:latin typeface="Calibri"/>
                <a:cs typeface="Calibri"/>
              </a:rPr>
              <a:t>[</a:t>
            </a:r>
            <a:r>
              <a:rPr lang="ko-KR" altLang="en-US" sz="1800" b="1" spc="-5" dirty="0">
                <a:latin typeface="Malgun Gothic"/>
                <a:cs typeface="Malgun Gothic"/>
              </a:rPr>
              <a:t>영양제 및 처방약 투약의 어려움</a:t>
            </a:r>
            <a:r>
              <a:rPr sz="1800" b="1" spc="-5" dirty="0">
                <a:latin typeface="Calibri"/>
                <a:cs typeface="Calibri"/>
              </a:rPr>
              <a:t>]</a:t>
            </a:r>
            <a:r>
              <a:rPr sz="1800" spc="-5" dirty="0">
                <a:latin typeface="Malgun Gothic"/>
                <a:cs typeface="Malgun Gothic"/>
              </a:rPr>
              <a:t>를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해결하기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 err="1">
                <a:latin typeface="Malgun Gothic"/>
                <a:cs typeface="Malgun Gothic"/>
              </a:rPr>
              <a:t>위해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b="1" spc="-5" dirty="0">
                <a:latin typeface="Calibri"/>
                <a:cs typeface="Calibri"/>
              </a:rPr>
              <a:t>[</a:t>
            </a:r>
            <a:r>
              <a:rPr lang="ko-KR" altLang="en-US" b="1" spc="-5" dirty="0">
                <a:latin typeface="Malgun Gothic"/>
                <a:cs typeface="Calibri"/>
              </a:rPr>
              <a:t>급식기에 사료 뿐만 아니라 영양제</a:t>
            </a:r>
            <a:r>
              <a:rPr lang="en-US" altLang="ko-KR" b="1" spc="-5" dirty="0">
                <a:latin typeface="Malgun Gothic"/>
                <a:cs typeface="Calibri"/>
              </a:rPr>
              <a:t>,</a:t>
            </a:r>
            <a:r>
              <a:rPr lang="ko-KR" altLang="en-US" b="1" spc="-5" dirty="0">
                <a:latin typeface="Malgun Gothic"/>
                <a:cs typeface="Calibri"/>
              </a:rPr>
              <a:t>처방약 장착</a:t>
            </a:r>
            <a:r>
              <a:rPr sz="1800" b="1" spc="-5" dirty="0">
                <a:latin typeface="Calibri"/>
                <a:cs typeface="Calibri"/>
              </a:rPr>
              <a:t>]</a:t>
            </a:r>
            <a:r>
              <a:rPr sz="1800" spc="-5" dirty="0">
                <a:latin typeface="Malgun Gothic"/>
                <a:cs typeface="Malgun Gothic"/>
              </a:rPr>
              <a:t>을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lang="ko-KR" altLang="en-US" sz="1800" spc="-225" dirty="0">
                <a:latin typeface="Malgun Gothic"/>
                <a:cs typeface="Malgun Gothic"/>
              </a:rPr>
              <a:t>하고  </a:t>
            </a:r>
            <a:r>
              <a:rPr sz="1800" b="1" spc="-5" dirty="0">
                <a:latin typeface="Calibri"/>
                <a:cs typeface="Calibri"/>
              </a:rPr>
              <a:t>[</a:t>
            </a:r>
            <a:r>
              <a:rPr lang="ko-KR" altLang="en-US" sz="1800" b="1" spc="-5" dirty="0">
                <a:latin typeface="Malgun Gothic"/>
                <a:cs typeface="Malgun Gothic"/>
              </a:rPr>
              <a:t>투약 </a:t>
            </a:r>
            <a:r>
              <a:rPr lang="ko-KR" altLang="en-US" b="1" spc="-5" dirty="0">
                <a:latin typeface="Malgun Gothic"/>
                <a:cs typeface="Malgun Gothic"/>
              </a:rPr>
              <a:t>유무와 이후 상태 모니터링</a:t>
            </a:r>
            <a:r>
              <a:rPr sz="1800" b="1" spc="-5" dirty="0">
                <a:latin typeface="Calibri"/>
                <a:cs typeface="Calibri"/>
              </a:rPr>
              <a:t>]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제공을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통해</a:t>
            </a:r>
            <a:r>
              <a:rPr sz="1800" dirty="0">
                <a:latin typeface="Malgun Gothic"/>
                <a:cs typeface="Malgun Gothic"/>
              </a:rPr>
              <a:t> </a:t>
            </a:r>
            <a:r>
              <a:rPr sz="1800" spc="-5" dirty="0">
                <a:latin typeface="Malgun Gothic"/>
                <a:cs typeface="Malgun Gothic"/>
              </a:rPr>
              <a:t>해결하며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[</a:t>
            </a:r>
            <a:r>
              <a:rPr lang="ko-KR" altLang="en-US" sz="1800" b="1" spc="-5">
                <a:latin typeface="Malgun Gothic"/>
                <a:cs typeface="Malgun Gothic"/>
              </a:rPr>
              <a:t>꾸준한 건강 관리 효과와 만성 질환의 증상 호전됨</a:t>
            </a:r>
            <a:r>
              <a:rPr sz="1800" b="1" spc="-5">
                <a:latin typeface="Calibri"/>
                <a:cs typeface="Calibri"/>
              </a:rPr>
              <a:t>]</a:t>
            </a:r>
            <a:r>
              <a:rPr sz="1800" spc="-5" dirty="0">
                <a:latin typeface="Malgun Gothic"/>
                <a:cs typeface="Malgun Gothic"/>
              </a:rPr>
              <a:t>을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얻을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수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있도록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하겠습니</a:t>
            </a:r>
            <a:r>
              <a:rPr sz="1800" spc="-10" dirty="0">
                <a:latin typeface="Malgun Gothic"/>
                <a:cs typeface="Malgun Gothic"/>
              </a:rPr>
              <a:t>다</a:t>
            </a:r>
            <a:r>
              <a:rPr sz="1800" dirty="0"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556480" cy="98755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470</Words>
  <Application>Microsoft Office PowerPoint</Application>
  <PresentationFormat>사용자 지정</PresentationFormat>
  <Paragraphs>43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Arial MT</vt:lpstr>
      <vt:lpstr>Malgun Gothic</vt:lpstr>
      <vt:lpstr>Arial</vt:lpstr>
      <vt:lpstr>Calibri</vt:lpstr>
      <vt:lpstr>Comic Sans MS</vt:lpstr>
      <vt:lpstr>Office Theme</vt:lpstr>
      <vt:lpstr>Wor ok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현철 최</cp:lastModifiedBy>
  <cp:revision>1</cp:revision>
  <dcterms:created xsi:type="dcterms:W3CDTF">2025-04-26T13:02:50Z</dcterms:created>
  <dcterms:modified xsi:type="dcterms:W3CDTF">2025-04-26T13:24:59Z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2025-04-26T00:00:00Z</vt:filetime>
  </property>
  <property fmtid="{D5CDD505-2E9C-101B-9397-08002B2CF9AE}" pid="3" name="LastSaved">
    <vt:filetime>2025-04-26T00:00:00Z</vt:filetime>
  </property>
  <property fmtid="{D5CDD505-2E9C-101B-9397-08002B2CF9AE}" pid="4" name="Producer">
    <vt:lpwstr>iLovePDF</vt:lpwstr>
  </property>
</Properties>
</file>