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9" r:id="rId2"/>
    <p:sldId id="282" r:id="rId3"/>
    <p:sldId id="283" r:id="rId4"/>
    <p:sldId id="286" r:id="rId5"/>
    <p:sldId id="290" r:id="rId6"/>
    <p:sldId id="292" r:id="rId7"/>
    <p:sldId id="294" r:id="rId8"/>
    <p:sldId id="295" r:id="rId9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7"/>
    <p:restoredTop sz="90055"/>
  </p:normalViewPr>
  <p:slideViewPr>
    <p:cSldViewPr snapToGrid="0" snapToObjects="1">
      <p:cViewPr varScale="1">
        <p:scale>
          <a:sx n="69" d="100"/>
          <a:sy n="69" d="100"/>
        </p:scale>
        <p:origin x="130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7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ko-KR" dirty="0"/>
              <a:t>’</a:t>
            </a:r>
            <a:r>
              <a:rPr lang="ko-KR" altLang="en-US" dirty="0"/>
              <a:t>꿈이 없는 청년들</a:t>
            </a:r>
            <a:r>
              <a:rPr lang="en-US" altLang="ko-KR" dirty="0"/>
              <a:t>’</a:t>
            </a:r>
            <a:r>
              <a:rPr lang="ko-KR" altLang="en-US" dirty="0"/>
              <a:t> </a:t>
            </a:r>
            <a:r>
              <a:rPr lang="en-GB" altLang="ko-KR" dirty="0"/>
              <a:t>https://</a:t>
            </a:r>
            <a:r>
              <a:rPr lang="en-GB" altLang="ko-KR" dirty="0" err="1"/>
              <a:t>swupress.swu.ac.kr</a:t>
            </a:r>
            <a:r>
              <a:rPr lang="en-GB" altLang="ko-KR" dirty="0"/>
              <a:t>/news/</a:t>
            </a:r>
            <a:r>
              <a:rPr lang="en-GB" altLang="ko-KR" dirty="0" err="1"/>
              <a:t>articleView.html?idxno</a:t>
            </a:r>
            <a:r>
              <a:rPr lang="en-GB" altLang="ko-KR" dirty="0"/>
              <a:t>=10907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[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고립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·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은둔청년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, 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닫힌 문을 열다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] 5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년 간의 방황 마침표</a:t>
            </a:r>
            <a:r>
              <a:rPr lang="en-US" altLang="ko-KR" b="0" i="0" dirty="0">
                <a:solidFill>
                  <a:srgbClr val="1E1E1E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…“</a:t>
            </a:r>
            <a:r>
              <a:rPr lang="ko-KR" altLang="en-US" b="0" i="0" dirty="0">
                <a:solidFill>
                  <a:srgbClr val="1E1E1E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작은 관심이 방을 나서게 해” </a:t>
            </a:r>
            <a:r>
              <a:rPr lang="en-US" b="0" dirty="0"/>
              <a:t>https://</a:t>
            </a:r>
            <a:r>
              <a:rPr lang="en-US" b="0" dirty="0" err="1"/>
              <a:t>www.ntoday.co.kr</a:t>
            </a:r>
            <a:r>
              <a:rPr lang="en-US" b="0" dirty="0"/>
              <a:t>/news/</a:t>
            </a:r>
            <a:r>
              <a:rPr lang="en-US" b="0" dirty="0" err="1"/>
              <a:t>articleView.html?idxno</a:t>
            </a:r>
            <a:r>
              <a:rPr lang="en-US" b="0" dirty="0"/>
              <a:t>=114695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altLang="ko-KR" dirty="0"/>
              <a:t>https://</a:t>
            </a:r>
            <a:r>
              <a:rPr lang="en-GB" altLang="ko-KR" dirty="0" err="1"/>
              <a:t>swupress.swu.ac.kr</a:t>
            </a:r>
            <a:r>
              <a:rPr lang="en-GB" altLang="ko-KR" dirty="0"/>
              <a:t>/news/</a:t>
            </a:r>
            <a:r>
              <a:rPr lang="en-GB" altLang="ko-KR" dirty="0" err="1"/>
              <a:t>articleView.html?idxno</a:t>
            </a:r>
            <a:r>
              <a:rPr lang="en-GB" altLang="ko-KR" dirty="0"/>
              <a:t>=10907</a:t>
            </a:r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www.ajou.ac.kr</a:t>
            </a:r>
            <a:r>
              <a:rPr lang="en-US" dirty="0"/>
              <a:t>/biz/career/</a:t>
            </a:r>
            <a:r>
              <a:rPr lang="en-US" dirty="0" err="1"/>
              <a:t>career-news.do?mode</a:t>
            </a:r>
            <a:r>
              <a:rPr lang="en-US" dirty="0"/>
              <a:t>=</a:t>
            </a:r>
            <a:r>
              <a:rPr lang="en-US" dirty="0" err="1"/>
              <a:t>view&amp;articleNo</a:t>
            </a:r>
            <a:r>
              <a:rPr lang="en-US" dirty="0"/>
              <a:t>=227263&amp;title=%5B%EA%B8%B0%EC%9E%90%EC%9D%98+%EB%88%88%5D+%EA%B3%A0%EC%B0%A9%ED%99%94%EB%90%98%EB%8A%94+20%EB%8C%80+%EC%9D%B4%ED%95%98+%EC%B2%AD%EB%85%84+%EC%B7%A8%EC%97%85%EB%A5%A0+%ED%95%98%EB%9D%BD%E2%80%A6%EC%9B%90%EC%9D%B8%EA%B3%BC+%ED%95%B4%EA%B2%B0+%EB%B0%A9%EC%95%88%EC%9D%80%3F</a:t>
            </a:r>
            <a:endParaRPr lang="en-GB" dirty="0"/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www.hankyung.com</a:t>
            </a:r>
            <a:r>
              <a:rPr lang="en-US" dirty="0"/>
              <a:t>/article/2022111482871</a:t>
            </a:r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welcome.beyond.edu.au</a:t>
            </a:r>
            <a:r>
              <a:rPr lang="en-US" dirty="0"/>
              <a:t>/</a:t>
            </a:r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www.oecd.org</a:t>
            </a:r>
            <a:r>
              <a:rPr lang="en-US" dirty="0"/>
              <a:t>/content/dam/</a:t>
            </a:r>
            <a:r>
              <a:rPr lang="en-US" dirty="0" err="1"/>
              <a:t>oecd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/publications/reports/2023/03/observatory-on-digital-technologies-in-career-guidance-for-youth-odicy_c4134773/beyond-online-careers-guidance-platform_566aaf24/8af47744-en.pdf</a:t>
            </a:r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www.thedreamteen.com</a:t>
            </a:r>
            <a:r>
              <a:rPr lang="en-US" dirty="0"/>
              <a:t>/how-youth-mentorship-programs-shape-tomorrows-leaders/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altLang="ko-KR" dirty="0"/>
              <a:t>https://</a:t>
            </a:r>
            <a:r>
              <a:rPr lang="en-GB" altLang="ko-KR" dirty="0" err="1"/>
              <a:t>www.kedi.re.kr</a:t>
            </a:r>
            <a:r>
              <a:rPr lang="en-GB" altLang="ko-KR" dirty="0"/>
              <a:t>/datafile/Www/KEDI2024.pdf</a:t>
            </a:r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blog.naver.com</a:t>
            </a:r>
            <a:r>
              <a:rPr lang="en-US" dirty="0"/>
              <a:t>/</a:t>
            </a:r>
            <a:r>
              <a:rPr lang="en-US" dirty="0" err="1"/>
              <a:t>PostView.naver?blogId</a:t>
            </a:r>
            <a:r>
              <a:rPr lang="en-US" dirty="0"/>
              <a:t>=</a:t>
            </a:r>
            <a:r>
              <a:rPr lang="en-US" dirty="0" err="1"/>
              <a:t>moeblog&amp;logNo</a:t>
            </a:r>
            <a:r>
              <a:rPr lang="en-US" dirty="0"/>
              <a:t>=223721615990</a:t>
            </a:r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blog.naver.com</a:t>
            </a:r>
            <a:r>
              <a:rPr lang="en-US" dirty="0"/>
              <a:t>/</a:t>
            </a:r>
            <a:r>
              <a:rPr lang="en-US" dirty="0" err="1"/>
              <a:t>moeblog</a:t>
            </a:r>
            <a:r>
              <a:rPr lang="en-US" dirty="0"/>
              <a:t>/223564984531</a:t>
            </a:r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repository.kisti.re.kr</a:t>
            </a:r>
            <a:r>
              <a:rPr lang="en-US" dirty="0"/>
              <a:t>/bitstream/10580/18021/1/ASTI%20MARKET%20INSIGHT%20087(0712).pdf</a:t>
            </a:r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www.korea.kr</a:t>
            </a:r>
            <a:r>
              <a:rPr lang="en-US" dirty="0"/>
              <a:t>/briefing/</a:t>
            </a:r>
            <a:r>
              <a:rPr lang="en-US" dirty="0" err="1"/>
              <a:t>policyBriefingView.do?newsId</a:t>
            </a:r>
            <a:r>
              <a:rPr lang="en-US" dirty="0"/>
              <a:t>=156669789</a:t>
            </a:r>
          </a:p>
          <a:p>
            <a:pPr marL="228600" indent="-228600">
              <a:buAutoNum type="arabicPeriod"/>
            </a:pPr>
            <a:r>
              <a:rPr lang="en-US" dirty="0"/>
              <a:t>https://</a:t>
            </a:r>
            <a:r>
              <a:rPr lang="en-US" dirty="0" err="1"/>
              <a:t>www.educationkorea.kr</a:t>
            </a:r>
            <a:r>
              <a:rPr lang="en-US" dirty="0"/>
              <a:t>/notice/?</a:t>
            </a:r>
            <a:r>
              <a:rPr lang="en-US" dirty="0" err="1"/>
              <a:t>bmode</a:t>
            </a:r>
            <a:r>
              <a:rPr lang="en-US" dirty="0"/>
              <a:t>=</a:t>
            </a:r>
            <a:r>
              <a:rPr lang="en-US" dirty="0" err="1"/>
              <a:t>view&amp;idx</a:t>
            </a:r>
            <a:r>
              <a:rPr lang="en-US" dirty="0"/>
              <a:t>=138334854</a:t>
            </a:r>
          </a:p>
          <a:p>
            <a:pPr marL="228600" indent="-228600">
              <a:buAutoNum type="arabicPeriod"/>
            </a:pPr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ko-KR" altLang="en-US" dirty="0" err="1"/>
              <a:t>에듀테크산업</a:t>
            </a:r>
            <a:r>
              <a:rPr lang="ko-KR" altLang="en-US" dirty="0"/>
              <a:t> 및 디지털 교육혁신 시장 종합 분석 보고서</a:t>
            </a:r>
            <a:r>
              <a:rPr lang="en-US" altLang="ko-KR" dirty="0"/>
              <a:t>(1</a:t>
            </a:r>
            <a:r>
              <a:rPr lang="ko-KR" altLang="en-US" dirty="0"/>
              <a:t>차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DE42CF-C71E-2F02-EFB6-F21CE0B49C08}"/>
              </a:ext>
            </a:extLst>
          </p:cNvPr>
          <p:cNvSpPr txBox="1"/>
          <p:nvPr/>
        </p:nvSpPr>
        <p:spPr>
          <a:xfrm>
            <a:off x="1151467" y="2556933"/>
            <a:ext cx="1210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고객에게 </a:t>
            </a:r>
            <a:r>
              <a:rPr lang="ko-KR" altLang="en-US" b="1" dirty="0"/>
              <a:t>자신에게 맞는 진로 방향과 삶의 방식을 결정하지 못하고 방황하는</a:t>
            </a:r>
            <a:r>
              <a:rPr lang="ko-KR" altLang="en-US" dirty="0"/>
              <a:t> 문제가 있다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5FDED-6273-4ADC-1B64-591E73217168}"/>
              </a:ext>
            </a:extLst>
          </p:cNvPr>
          <p:cNvSpPr txBox="1"/>
          <p:nvPr/>
        </p:nvSpPr>
        <p:spPr>
          <a:xfrm>
            <a:off x="1151467" y="4568428"/>
            <a:ext cx="1210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고객은 이 문제를 해결하기 위해 </a:t>
            </a:r>
            <a:r>
              <a:rPr lang="ko-KR" altLang="en-US" b="1" dirty="0"/>
              <a:t>자기이해</a:t>
            </a:r>
            <a:r>
              <a:rPr lang="en-US" altLang="ko-KR" b="1" dirty="0"/>
              <a:t>/</a:t>
            </a:r>
            <a:r>
              <a:rPr lang="ko-KR" altLang="en-US" b="1" dirty="0"/>
              <a:t>자아실현 프로젝트나 클래스 등에 일정 금액과 시간을</a:t>
            </a:r>
            <a:r>
              <a:rPr lang="ko-KR" altLang="en-US" dirty="0"/>
              <a:t> 투자할 의향이 있다</a:t>
            </a:r>
            <a:r>
              <a:rPr lang="en-US" altLang="ko-KR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90DC0-6624-34B9-FD7B-A1C15A7207F4}"/>
              </a:ext>
            </a:extLst>
          </p:cNvPr>
          <p:cNvSpPr txBox="1"/>
          <p:nvPr/>
        </p:nvSpPr>
        <p:spPr>
          <a:xfrm>
            <a:off x="1151467" y="3521116"/>
            <a:ext cx="1210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 문제는 고객들에게 </a:t>
            </a:r>
            <a:r>
              <a:rPr lang="ko-KR" altLang="en-US" b="1" dirty="0"/>
              <a:t>심리적 무기력감</a:t>
            </a:r>
            <a:r>
              <a:rPr lang="en-US" altLang="ko-KR" b="1" dirty="0"/>
              <a:t>, </a:t>
            </a:r>
            <a:r>
              <a:rPr lang="ko-KR" altLang="en-US" b="1" dirty="0"/>
              <a:t>진로 지연</a:t>
            </a:r>
            <a:r>
              <a:rPr lang="en-US" altLang="ko-KR" b="1" dirty="0"/>
              <a:t>, </a:t>
            </a:r>
            <a:r>
              <a:rPr lang="ko-KR" altLang="en-US" b="1" dirty="0"/>
              <a:t>자존감 저하 등의 정체성 위기</a:t>
            </a:r>
            <a:r>
              <a:rPr lang="ko-KR" altLang="en-US" dirty="0"/>
              <a:t> 영향을 준다</a:t>
            </a:r>
            <a:r>
              <a:rPr lang="en-US" altLang="ko-KR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4912AE-59F6-8E45-9FA5-168DCF16638D}"/>
              </a:ext>
            </a:extLst>
          </p:cNvPr>
          <p:cNvSpPr txBox="1"/>
          <p:nvPr/>
        </p:nvSpPr>
        <p:spPr>
          <a:xfrm>
            <a:off x="1151467" y="5486252"/>
            <a:ext cx="1210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진로 탐색이 단발성으로 끝나면 효과가 적고</a:t>
            </a:r>
            <a:r>
              <a:rPr lang="en-US" altLang="ko-KR" dirty="0"/>
              <a:t>, </a:t>
            </a:r>
            <a:r>
              <a:rPr lang="ko-KR" altLang="en-US" b="1" dirty="0" err="1"/>
              <a:t>루틴화된</a:t>
            </a:r>
            <a:r>
              <a:rPr lang="ko-KR" altLang="en-US" b="1" dirty="0"/>
              <a:t> 실천과 피드백 구조가 있을 때 지속성이 </a:t>
            </a:r>
            <a:r>
              <a:rPr lang="ko-KR" altLang="en-US" dirty="0"/>
              <a:t>생긴다</a:t>
            </a:r>
            <a:r>
              <a:rPr lang="en-US" altLang="ko-KR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DBD24-B21C-602C-B0F7-FF958A0C4989}"/>
              </a:ext>
            </a:extLst>
          </p:cNvPr>
          <p:cNvSpPr txBox="1"/>
          <p:nvPr/>
        </p:nvSpPr>
        <p:spPr>
          <a:xfrm>
            <a:off x="1151467" y="6399782"/>
            <a:ext cx="12107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고객이 우리 제품을 한번 사용하게 되면 고객은 </a:t>
            </a:r>
            <a:r>
              <a:rPr lang="ko-KR" altLang="en-US" b="1" dirty="0"/>
              <a:t>자신의 정체성</a:t>
            </a:r>
            <a:r>
              <a:rPr lang="en-US" altLang="ko-KR" b="1" dirty="0"/>
              <a:t>, </a:t>
            </a:r>
            <a:r>
              <a:rPr lang="ko-KR" altLang="en-US" b="1" dirty="0"/>
              <a:t>진로 방향</a:t>
            </a:r>
            <a:r>
              <a:rPr lang="en-US" altLang="ko-KR" b="1" dirty="0"/>
              <a:t>, </a:t>
            </a:r>
            <a:r>
              <a:rPr lang="ko-KR" altLang="en-US" b="1" dirty="0"/>
              <a:t>실천 계획에 대한 명확성과 동기</a:t>
            </a:r>
            <a:r>
              <a:rPr lang="ko-KR" altLang="en-US" dirty="0"/>
              <a:t>를 얻을 것이다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C0E50-570A-701D-3AF9-57750CD2A7E0}"/>
              </a:ext>
            </a:extLst>
          </p:cNvPr>
          <p:cNvSpPr txBox="1"/>
          <p:nvPr/>
        </p:nvSpPr>
        <p:spPr>
          <a:xfrm>
            <a:off x="1151467" y="7397457"/>
            <a:ext cx="1210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청년들은 교육 콘텐츠의 정보보다 </a:t>
            </a:r>
            <a:r>
              <a:rPr lang="ko-KR" altLang="en-US" b="1" dirty="0"/>
              <a:t>타인의 경험과 공감되는 후기</a:t>
            </a:r>
            <a:r>
              <a:rPr lang="en-US" altLang="ko-KR" b="1" dirty="0"/>
              <a:t>, </a:t>
            </a:r>
            <a:r>
              <a:rPr lang="ko-KR" altLang="en-US" b="1" dirty="0"/>
              <a:t>영상 중심 콘텐츠</a:t>
            </a:r>
            <a:r>
              <a:rPr lang="ko-KR" altLang="en-US" dirty="0"/>
              <a:t>를 더 신뢰하고 구매 결정에 반영한다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8BFA31-EAC3-3621-AA7C-338C6F6BBF58}"/>
              </a:ext>
            </a:extLst>
          </p:cNvPr>
          <p:cNvSpPr txBox="1"/>
          <p:nvPr/>
        </p:nvSpPr>
        <p:spPr>
          <a:xfrm>
            <a:off x="14817437" y="2495357"/>
            <a:ext cx="41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</a:t>
            </a:r>
            <a:endParaRPr lang="en-GB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E8C259-E852-FBA1-51B3-3516B2086DB0}"/>
              </a:ext>
            </a:extLst>
          </p:cNvPr>
          <p:cNvSpPr txBox="1"/>
          <p:nvPr/>
        </p:nvSpPr>
        <p:spPr>
          <a:xfrm>
            <a:off x="14817437" y="4476095"/>
            <a:ext cx="41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GB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9DA21E-42B5-1BCD-DFD1-0656DAED97E1}"/>
              </a:ext>
            </a:extLst>
          </p:cNvPr>
          <p:cNvSpPr txBox="1"/>
          <p:nvPr/>
        </p:nvSpPr>
        <p:spPr>
          <a:xfrm>
            <a:off x="14817437" y="3488541"/>
            <a:ext cx="41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</a:t>
            </a:r>
            <a:endParaRPr lang="en-GB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9C92C0-AD3D-D272-D994-2ADB44647114}"/>
              </a:ext>
            </a:extLst>
          </p:cNvPr>
          <p:cNvSpPr txBox="1"/>
          <p:nvPr/>
        </p:nvSpPr>
        <p:spPr>
          <a:xfrm>
            <a:off x="14817437" y="5393919"/>
            <a:ext cx="41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GB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419FE3-FBEA-0517-65AD-DC686D0D9F56}"/>
              </a:ext>
            </a:extLst>
          </p:cNvPr>
          <p:cNvSpPr txBox="1"/>
          <p:nvPr/>
        </p:nvSpPr>
        <p:spPr>
          <a:xfrm>
            <a:off x="14817437" y="6423716"/>
            <a:ext cx="41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GB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6A6D5F-74A9-C85C-28D8-F2AC20197A82}"/>
              </a:ext>
            </a:extLst>
          </p:cNvPr>
          <p:cNvSpPr txBox="1"/>
          <p:nvPr/>
        </p:nvSpPr>
        <p:spPr>
          <a:xfrm>
            <a:off x="14817437" y="7397457"/>
            <a:ext cx="41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GB"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3358D4-2763-3FA5-C19D-FDDD741A35A0}"/>
              </a:ext>
            </a:extLst>
          </p:cNvPr>
          <p:cNvSpPr txBox="1"/>
          <p:nvPr/>
        </p:nvSpPr>
        <p:spPr>
          <a:xfrm>
            <a:off x="1109902" y="2568847"/>
            <a:ext cx="1210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자기 이해 기반 콘텐츠를 제공받은 청년 중 </a:t>
            </a:r>
            <a:r>
              <a:rPr lang="en-US" altLang="ko-KR" dirty="0"/>
              <a:t>70% </a:t>
            </a:r>
            <a:r>
              <a:rPr lang="ko-KR" altLang="en-US" dirty="0"/>
              <a:t>이상이 기존보다 </a:t>
            </a:r>
            <a:r>
              <a:rPr lang="ko-KR" altLang="en-US" b="1" dirty="0"/>
              <a:t>명확한 진로 방향성을 갖게 되었다</a:t>
            </a:r>
            <a:r>
              <a:rPr lang="ko-KR" altLang="en-US" dirty="0"/>
              <a:t>고 응답할 것이다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682D20-B0C3-14DA-F2EA-3F6537800879}"/>
              </a:ext>
            </a:extLst>
          </p:cNvPr>
          <p:cNvSpPr txBox="1"/>
          <p:nvPr/>
        </p:nvSpPr>
        <p:spPr>
          <a:xfrm>
            <a:off x="1109896" y="6354225"/>
            <a:ext cx="12107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정체성 혼란을 겪고 있는 고객은 자기이해</a:t>
            </a:r>
            <a:r>
              <a:rPr lang="en-US" altLang="ko-KR" dirty="0"/>
              <a:t>/</a:t>
            </a:r>
            <a:r>
              <a:rPr lang="ko-KR" altLang="en-US" dirty="0"/>
              <a:t>자아실현 프로젝트나 클래스를 직접 경험한 후</a:t>
            </a:r>
            <a:r>
              <a:rPr lang="en-US" altLang="ko-KR" dirty="0"/>
              <a:t>,</a:t>
            </a:r>
            <a:r>
              <a:rPr lang="ko-KR" altLang="en-US" dirty="0"/>
              <a:t> 청년 </a:t>
            </a:r>
            <a:r>
              <a:rPr lang="en-US" altLang="ko-KR" dirty="0"/>
              <a:t>60%</a:t>
            </a:r>
            <a:r>
              <a:rPr lang="ko-KR" altLang="en-US" dirty="0"/>
              <a:t> 이상이 자신의 </a:t>
            </a:r>
            <a:r>
              <a:rPr lang="ko-KR" altLang="en-US" b="1" dirty="0"/>
              <a:t>진로 방향과 실천 계획에 대한 명확성과 동기부여가 증가</a:t>
            </a:r>
            <a:r>
              <a:rPr lang="ko-KR" altLang="en-US" dirty="0"/>
              <a:t>했다고 답할 것이다</a:t>
            </a:r>
            <a:r>
              <a:rPr lang="en-US" altLang="ko-KR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8ACBC-5D14-43C2-3822-5D346A808A3E}"/>
              </a:ext>
            </a:extLst>
          </p:cNvPr>
          <p:cNvSpPr txBox="1"/>
          <p:nvPr/>
        </p:nvSpPr>
        <p:spPr>
          <a:xfrm>
            <a:off x="1109901" y="7348142"/>
            <a:ext cx="12107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SNS </a:t>
            </a:r>
            <a:r>
              <a:rPr lang="ko-KR" altLang="en-US" b="1" dirty="0"/>
              <a:t>후기</a:t>
            </a:r>
            <a:r>
              <a:rPr lang="en-US" altLang="ko-KR" b="1" dirty="0"/>
              <a:t>, </a:t>
            </a:r>
            <a:r>
              <a:rPr lang="ko-KR" altLang="en-US" b="1" dirty="0"/>
              <a:t>유튜브 리뷰 등 정서 기반 콘텐츠가 포함된 교육 소개</a:t>
            </a:r>
            <a:r>
              <a:rPr lang="ko-KR" altLang="en-US" dirty="0"/>
              <a:t>를 본 사람은</a:t>
            </a:r>
            <a:r>
              <a:rPr lang="en-US" altLang="ko-KR" dirty="0"/>
              <a:t>, </a:t>
            </a:r>
            <a:r>
              <a:rPr lang="ko-KR" altLang="en-US" dirty="0"/>
              <a:t>그렇지 않은 사람보다 </a:t>
            </a:r>
            <a:r>
              <a:rPr lang="en-US" altLang="ko-KR" dirty="0"/>
              <a:t>2</a:t>
            </a:r>
            <a:r>
              <a:rPr lang="ko-KR" altLang="en-US" dirty="0"/>
              <a:t>배 이상 결제 의향이 높을 것이다</a:t>
            </a:r>
            <a:r>
              <a:rPr lang="en-US" altLang="ko-KR" dirty="0"/>
              <a:t>.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6C0D0-8A84-0356-9814-4C735B727019}"/>
              </a:ext>
            </a:extLst>
          </p:cNvPr>
          <p:cNvSpPr txBox="1"/>
          <p:nvPr/>
        </p:nvSpPr>
        <p:spPr>
          <a:xfrm>
            <a:off x="1109901" y="3514817"/>
            <a:ext cx="12107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진로 방향 </a:t>
            </a:r>
            <a:r>
              <a:rPr lang="ko-KR" altLang="en-US" dirty="0" err="1"/>
              <a:t>미설정</a:t>
            </a:r>
            <a:r>
              <a:rPr lang="ko-KR" altLang="en-US" dirty="0"/>
              <a:t> 경험이 있는 청년 </a:t>
            </a:r>
            <a:r>
              <a:rPr lang="en-US" altLang="ko-KR" dirty="0"/>
              <a:t>80% </a:t>
            </a:r>
            <a:r>
              <a:rPr lang="ko-KR" altLang="en-US" dirty="0"/>
              <a:t>이상이 </a:t>
            </a:r>
            <a:r>
              <a:rPr lang="ko-KR" altLang="en-US" b="1" dirty="0"/>
              <a:t>자존감 저하 또는 심리적 스트레스</a:t>
            </a:r>
            <a:r>
              <a:rPr lang="ko-KR" altLang="en-US" dirty="0"/>
              <a:t>를 경험했다고 응답할 것이다</a:t>
            </a:r>
            <a:r>
              <a:rPr lang="en-US" altLang="ko-KR" dirty="0"/>
              <a:t>.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EA5A8-3E2B-6126-0204-C9C8B178196F}"/>
              </a:ext>
            </a:extLst>
          </p:cNvPr>
          <p:cNvSpPr txBox="1"/>
          <p:nvPr/>
        </p:nvSpPr>
        <p:spPr>
          <a:xfrm>
            <a:off x="1109899" y="4538391"/>
            <a:ext cx="121073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자기이해를 주제로 한 온라인 클래스 </a:t>
            </a:r>
            <a:r>
              <a:rPr lang="ko-KR" altLang="en-US" b="1" dirty="0"/>
              <a:t>소개 페이지를 본 사용자 중 </a:t>
            </a:r>
            <a:r>
              <a:rPr lang="en-US" altLang="ko-KR" b="1" dirty="0"/>
              <a:t>40% </a:t>
            </a:r>
            <a:r>
              <a:rPr lang="ko-KR" altLang="en-US" b="1" dirty="0"/>
              <a:t>이상</a:t>
            </a:r>
            <a:r>
              <a:rPr lang="ko-KR" altLang="en-US" dirty="0"/>
              <a:t>이 ‘신청 의사 있음’ 버튼을 클릭할 것이다</a:t>
            </a:r>
            <a:r>
              <a:rPr lang="en-US" altLang="ko-KR" dirty="0"/>
              <a:t>.</a:t>
            </a:r>
            <a:br>
              <a:rPr lang="ko-KR" altLang="en-US" dirty="0"/>
            </a:b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81DC12-AF1D-18B6-B8DF-73B5D2793461}"/>
              </a:ext>
            </a:extLst>
          </p:cNvPr>
          <p:cNvSpPr txBox="1"/>
          <p:nvPr/>
        </p:nvSpPr>
        <p:spPr>
          <a:xfrm>
            <a:off x="1109896" y="5345359"/>
            <a:ext cx="121073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정기적인 미션과 </a:t>
            </a:r>
            <a:r>
              <a:rPr lang="ko-KR" altLang="en-US" b="1" dirty="0" err="1"/>
              <a:t>리플렉션</a:t>
            </a:r>
            <a:r>
              <a:rPr lang="en-US" altLang="ko-KR" b="1" dirty="0"/>
              <a:t>(</a:t>
            </a:r>
            <a:r>
              <a:rPr lang="ko-KR" altLang="en-US" b="1" dirty="0"/>
              <a:t>주 </a:t>
            </a:r>
            <a:r>
              <a:rPr lang="en-US" altLang="ko-KR" b="1" dirty="0"/>
              <a:t>1</a:t>
            </a:r>
            <a:r>
              <a:rPr lang="ko-KR" altLang="en-US" b="1" dirty="0"/>
              <a:t>회 이상</a:t>
            </a:r>
            <a:r>
              <a:rPr lang="en-US" altLang="ko-KR" b="1" dirty="0"/>
              <a:t>)</a:t>
            </a:r>
            <a:r>
              <a:rPr lang="ko-KR" altLang="en-US" dirty="0"/>
              <a:t>을 제공받는 사용자는 그렇지 않은 사용자보다 학습 유지율이 </a:t>
            </a:r>
            <a:r>
              <a:rPr lang="en-US" altLang="ko-KR" dirty="0"/>
              <a:t>2</a:t>
            </a:r>
            <a:r>
              <a:rPr lang="ko-KR" altLang="en-US" dirty="0"/>
              <a:t>배 이상 높을 것이다</a:t>
            </a:r>
            <a:r>
              <a:rPr lang="en-US" altLang="ko-KR" dirty="0"/>
              <a:t>.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6F1DB1-7FFF-F06E-7C32-8BC64732320C}"/>
              </a:ext>
            </a:extLst>
          </p:cNvPr>
          <p:cNvSpPr txBox="1"/>
          <p:nvPr/>
        </p:nvSpPr>
        <p:spPr>
          <a:xfrm>
            <a:off x="14817437" y="4476095"/>
            <a:ext cx="41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GB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D767B3-50FE-1E10-9753-600292C887F6}"/>
              </a:ext>
            </a:extLst>
          </p:cNvPr>
          <p:cNvSpPr txBox="1"/>
          <p:nvPr/>
        </p:nvSpPr>
        <p:spPr>
          <a:xfrm>
            <a:off x="14817438" y="3402868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GB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A670AF-D7BE-7E92-EB85-B67AEA1E9AF0}"/>
              </a:ext>
            </a:extLst>
          </p:cNvPr>
          <p:cNvSpPr txBox="1"/>
          <p:nvPr/>
        </p:nvSpPr>
        <p:spPr>
          <a:xfrm>
            <a:off x="14817437" y="5393919"/>
            <a:ext cx="41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GB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21A32E-60D7-21E6-35D8-3ABEB7BDAA3D}"/>
              </a:ext>
            </a:extLst>
          </p:cNvPr>
          <p:cNvSpPr txBox="1"/>
          <p:nvPr/>
        </p:nvSpPr>
        <p:spPr>
          <a:xfrm>
            <a:off x="14817437" y="6423716"/>
            <a:ext cx="41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GB" sz="24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DF0F27-8F01-2BE8-808D-CA13E44D7C89}"/>
              </a:ext>
            </a:extLst>
          </p:cNvPr>
          <p:cNvSpPr txBox="1"/>
          <p:nvPr/>
        </p:nvSpPr>
        <p:spPr>
          <a:xfrm>
            <a:off x="14817437" y="7397457"/>
            <a:ext cx="415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GB" sz="24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D4B248-AE70-8E46-0907-249179A39A31}"/>
              </a:ext>
            </a:extLst>
          </p:cNvPr>
          <p:cNvSpPr txBox="1"/>
          <p:nvPr/>
        </p:nvSpPr>
        <p:spPr>
          <a:xfrm>
            <a:off x="14817437" y="2506501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endParaRPr lang="en-GB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4A2E66-F8FA-7DD5-7A2E-9686B9BF6249}"/>
              </a:ext>
            </a:extLst>
          </p:cNvPr>
          <p:cNvSpPr txBox="1"/>
          <p:nvPr/>
        </p:nvSpPr>
        <p:spPr>
          <a:xfrm>
            <a:off x="1119674" y="1954964"/>
            <a:ext cx="68859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0" i="0" dirty="0">
                <a:effectLst/>
                <a:latin typeface="fkGroteskNeue"/>
              </a:rPr>
              <a:t>청년들은 자신의 </a:t>
            </a:r>
            <a:r>
              <a:rPr lang="ko-KR" altLang="en-US" sz="1800" b="1" i="0" dirty="0">
                <a:effectLst/>
                <a:latin typeface="fkGroteskNeue"/>
              </a:rPr>
              <a:t>정체성과 진로를 탐색할 때</a:t>
            </a:r>
            <a:r>
              <a:rPr lang="en-US" altLang="ko-KR" sz="1800" b="0" i="0" dirty="0">
                <a:effectLst/>
                <a:latin typeface="fkGroteskNeue"/>
              </a:rPr>
              <a:t>, </a:t>
            </a:r>
            <a:r>
              <a:rPr lang="ko-KR" altLang="en-US" sz="1800" b="1" i="0" dirty="0">
                <a:effectLst/>
                <a:latin typeface="fkGroteskNeue"/>
              </a:rPr>
              <a:t>명확하지 않고 단편적인 정보</a:t>
            </a:r>
            <a:r>
              <a:rPr lang="ko-KR" altLang="en-US" sz="1800" b="0" i="0" dirty="0">
                <a:effectLst/>
                <a:latin typeface="fkGroteskNeue"/>
              </a:rPr>
              <a:t>만이 넘쳐나 실제로 무엇을 선택하고 어떻게 실행해야 할지 </a:t>
            </a:r>
            <a:r>
              <a:rPr lang="ko-KR" altLang="en-US" sz="1800" b="1" i="0" dirty="0">
                <a:effectLst/>
                <a:latin typeface="fkGroteskNeue"/>
              </a:rPr>
              <a:t>혼란</a:t>
            </a:r>
            <a:r>
              <a:rPr lang="ko-KR" altLang="en-US" sz="1800" b="0" i="0" dirty="0">
                <a:effectLst/>
                <a:latin typeface="fkGroteskNeue"/>
              </a:rPr>
              <a:t>을 겪으며</a:t>
            </a:r>
            <a:r>
              <a:rPr lang="en-US" altLang="ko-KR" sz="1800" b="0" i="0" dirty="0">
                <a:effectLst/>
                <a:latin typeface="fkGroteskNeue"/>
              </a:rPr>
              <a:t>, </a:t>
            </a:r>
            <a:r>
              <a:rPr lang="ko-KR" altLang="en-US" sz="1800" b="0" i="0" dirty="0">
                <a:effectLst/>
                <a:latin typeface="fkGroteskNeue"/>
              </a:rPr>
              <a:t>이로 인해 문제의 크기에 비해 </a:t>
            </a:r>
            <a:r>
              <a:rPr lang="ko-KR" altLang="en-US" sz="1800" b="1" i="0" dirty="0">
                <a:effectLst/>
                <a:latin typeface="fkGroteskNeue"/>
              </a:rPr>
              <a:t>많은 시간과 에너지를 소모</a:t>
            </a:r>
            <a:r>
              <a:rPr lang="ko-KR" altLang="en-US" sz="1800" b="0" i="0" dirty="0">
                <a:effectLst/>
                <a:latin typeface="fkGroteskNeue"/>
              </a:rPr>
              <a:t>하고 있다</a:t>
            </a:r>
            <a:r>
              <a:rPr lang="en-US" altLang="ko-KR" sz="1800" b="0" i="0" dirty="0">
                <a:effectLst/>
                <a:latin typeface="fkGroteskNeue"/>
              </a:rPr>
              <a:t>.</a:t>
            </a:r>
            <a:endParaRPr lang="ko-KR" altLang="en-US" sz="1800" b="1" i="0" dirty="0">
              <a:effectLst/>
              <a:latin typeface="var(--font-fk-grotesk)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A9D85-38C8-7E75-84FA-C94F7A2568CA}"/>
              </a:ext>
            </a:extLst>
          </p:cNvPr>
          <p:cNvSpPr txBox="1"/>
          <p:nvPr/>
        </p:nvSpPr>
        <p:spPr>
          <a:xfrm>
            <a:off x="9380941" y="2016519"/>
            <a:ext cx="68859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0" i="0" dirty="0">
                <a:effectLst/>
                <a:latin typeface="fkGroteskNeue"/>
              </a:rPr>
              <a:t>진로와 관련된 </a:t>
            </a:r>
            <a:r>
              <a:rPr lang="ko-KR" altLang="en-US" sz="1600" b="1" i="0" dirty="0">
                <a:effectLst/>
                <a:latin typeface="fkGroteskNeue"/>
              </a:rPr>
              <a:t>정보는 넘쳐나</a:t>
            </a:r>
            <a:r>
              <a:rPr lang="ko-KR" altLang="en-US" sz="1600" b="0" i="0" dirty="0">
                <a:effectLst/>
                <a:latin typeface="fkGroteskNeue"/>
              </a:rPr>
              <a:t>지만 </a:t>
            </a:r>
            <a:r>
              <a:rPr lang="ko-KR" altLang="en-US" sz="1600" b="1" i="0" dirty="0">
                <a:effectLst/>
                <a:latin typeface="fkGroteskNeue"/>
              </a:rPr>
              <a:t>실제 실행 경험과 체계적 지원</a:t>
            </a:r>
            <a:r>
              <a:rPr lang="ko-KR" altLang="en-US" sz="1600" b="0" i="0" dirty="0">
                <a:effectLst/>
                <a:latin typeface="fkGroteskNeue"/>
              </a:rPr>
              <a:t>이 부족하고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0" i="0" dirty="0">
                <a:effectLst/>
                <a:latin typeface="fkGroteskNeue"/>
              </a:rPr>
              <a:t>경제적 압박으로 인해 </a:t>
            </a:r>
            <a:r>
              <a:rPr lang="ko-KR" altLang="en-US" sz="1600" b="1" i="0" dirty="0">
                <a:effectLst/>
                <a:latin typeface="fkGroteskNeue"/>
              </a:rPr>
              <a:t>원치 않는 직장에 조기 진입</a:t>
            </a:r>
            <a:r>
              <a:rPr lang="ko-KR" altLang="en-US" sz="1600" b="0" i="0" dirty="0">
                <a:effectLst/>
                <a:latin typeface="fkGroteskNeue"/>
              </a:rPr>
              <a:t>했다가 </a:t>
            </a:r>
            <a:r>
              <a:rPr lang="ko-KR" altLang="en-US" sz="1600" b="1" i="0" dirty="0">
                <a:effectLst/>
                <a:latin typeface="fkGroteskNeue"/>
              </a:rPr>
              <a:t>반복적으로 이탈</a:t>
            </a:r>
            <a:r>
              <a:rPr lang="ko-KR" altLang="en-US" sz="1600" b="0" i="0" dirty="0">
                <a:effectLst/>
                <a:latin typeface="fkGroteskNeue"/>
              </a:rPr>
              <a:t>하며</a:t>
            </a:r>
            <a:r>
              <a:rPr lang="en-US" altLang="ko-KR" sz="1600" b="0" i="0" dirty="0">
                <a:effectLst/>
                <a:latin typeface="fkGroteskNeue"/>
              </a:rPr>
              <a:t>, </a:t>
            </a:r>
            <a:r>
              <a:rPr lang="ko-KR" altLang="en-US" sz="1600" b="1" i="0" dirty="0">
                <a:effectLst/>
                <a:latin typeface="fkGroteskNeue"/>
              </a:rPr>
              <a:t>타인의 성공과 비교하는 심리적 요인</a:t>
            </a:r>
            <a:r>
              <a:rPr lang="ko-KR" altLang="en-US" sz="1600" b="0" i="0" dirty="0">
                <a:effectLst/>
                <a:latin typeface="fkGroteskNeue"/>
              </a:rPr>
              <a:t>까지 더해져 청년들은 진로 결정과 실행 과정에서 큰 혼란과 부담을 겪고 있다</a:t>
            </a:r>
            <a:r>
              <a:rPr lang="en-US" altLang="ko-KR" sz="1600" b="0" i="0" dirty="0">
                <a:effectLst/>
                <a:latin typeface="fkGroteskNeue"/>
              </a:rPr>
              <a:t>.</a:t>
            </a:r>
            <a:r>
              <a:rPr lang="en-US" altLang="ko-KR" sz="1600" b="0" i="0" baseline="30000" dirty="0">
                <a:effectLst/>
                <a:latin typeface="fkGroteskNeue"/>
              </a:rPr>
              <a:t>1,2,3</a:t>
            </a: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D4BA8-2AD4-8738-D999-2CBC2304E9D2}"/>
              </a:ext>
            </a:extLst>
          </p:cNvPr>
          <p:cNvSpPr txBox="1"/>
          <p:nvPr/>
        </p:nvSpPr>
        <p:spPr>
          <a:xfrm>
            <a:off x="1119674" y="4706926"/>
            <a:ext cx="2266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i="0" dirty="0">
                <a:effectLst/>
                <a:latin typeface="var(--font-fk-grotesk)"/>
              </a:rPr>
              <a:t>BEYOND</a:t>
            </a:r>
            <a:r>
              <a:rPr lang="en-US" altLang="ko-KR" sz="1800" b="1" i="0" baseline="30000" dirty="0">
                <a:effectLst/>
                <a:latin typeface="var(--font-fk-grotesk)"/>
              </a:rPr>
              <a:t>4,5</a:t>
            </a:r>
            <a:endParaRPr lang="en-US" altLang="ko-KR" sz="1800" b="1" i="0" dirty="0">
              <a:effectLst/>
              <a:latin typeface="var(--font-fk-grotesk)"/>
            </a:endParaRPr>
          </a:p>
          <a:p>
            <a:pPr algn="ctr"/>
            <a:r>
              <a:rPr lang="en-US" altLang="ko-KR" b="1" dirty="0">
                <a:latin typeface="var(--font-fk-grotesk)"/>
              </a:rPr>
              <a:t>(</a:t>
            </a:r>
            <a:r>
              <a:rPr lang="ko-KR" altLang="en-US" b="1" dirty="0">
                <a:latin typeface="var(--font-fk-grotesk)"/>
              </a:rPr>
              <a:t>호주 기업</a:t>
            </a:r>
            <a:r>
              <a:rPr lang="en-US" altLang="ko-KR" b="1" dirty="0">
                <a:latin typeface="var(--font-fk-grotesk)"/>
              </a:rPr>
              <a:t>)</a:t>
            </a:r>
            <a:endParaRPr lang="ko-KR" altLang="en-US" sz="1800" b="1" i="0" dirty="0">
              <a:effectLst/>
              <a:latin typeface="var(--font-fk-grotesk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583209-1F0B-DF0E-6FC3-7483B99B53FF}"/>
              </a:ext>
            </a:extLst>
          </p:cNvPr>
          <p:cNvSpPr txBox="1"/>
          <p:nvPr/>
        </p:nvSpPr>
        <p:spPr>
          <a:xfrm>
            <a:off x="3615832" y="4614594"/>
            <a:ext cx="41279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디지털 커리어 가이드 플랫폼 → 자기탐색부터 정보 탐색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전략 수립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실행까지 진로 설계 전 과정 맞춤 지원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55820F-FDD6-6B3F-4E32-CBCC9D9F9757}"/>
              </a:ext>
            </a:extLst>
          </p:cNvPr>
          <p:cNvSpPr txBox="1"/>
          <p:nvPr/>
        </p:nvSpPr>
        <p:spPr>
          <a:xfrm>
            <a:off x="7962164" y="4537650"/>
            <a:ext cx="41279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자기탐색부터 실행까지 단계별로 지원</a:t>
            </a:r>
            <a:r>
              <a:rPr lang="en-US" altLang="ko-KR" sz="1600" dirty="0"/>
              <a:t>.</a:t>
            </a:r>
            <a:endParaRPr lang="en-GB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최신 노동시장 정보와 연계</a:t>
            </a:r>
            <a:r>
              <a:rPr lang="en-US" altLang="ko-KR" sz="1600" dirty="0"/>
              <a:t>.</a:t>
            </a:r>
            <a:endParaRPr lang="en-GB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온라인 기반</a:t>
            </a:r>
            <a:r>
              <a:rPr lang="en-US" altLang="ko-KR" sz="1600" dirty="0"/>
              <a:t>.</a:t>
            </a:r>
            <a:r>
              <a:rPr lang="ko-KR" altLang="en-US" sz="1600" dirty="0"/>
              <a:t> 접근성 높음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학부모와 학교 참여 가능</a:t>
            </a:r>
            <a:r>
              <a:rPr lang="en-US" altLang="ko-KR" sz="1600" dirty="0"/>
              <a:t>.</a:t>
            </a:r>
            <a:r>
              <a:rPr lang="ko-KR" altLang="en-US" sz="1600" dirty="0"/>
              <a:t> 생태계적 지원</a:t>
            </a:r>
            <a:r>
              <a:rPr lang="en-US" altLang="ko-KR" sz="1600" dirty="0"/>
              <a:t>.</a:t>
            </a:r>
            <a:endParaRPr lang="en-GB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A40FC-01FD-284D-37DC-46390B44C745}"/>
              </a:ext>
            </a:extLst>
          </p:cNvPr>
          <p:cNvSpPr txBox="1"/>
          <p:nvPr/>
        </p:nvSpPr>
        <p:spPr>
          <a:xfrm>
            <a:off x="12308496" y="4614594"/>
            <a:ext cx="41279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온라인 중심</a:t>
            </a:r>
            <a:r>
              <a:rPr lang="en-US" altLang="ko-KR" sz="1600" dirty="0"/>
              <a:t>.</a:t>
            </a:r>
            <a:r>
              <a:rPr lang="ko-KR" altLang="en-US" sz="1600" dirty="0"/>
              <a:t> 실제 현장 경험 연결 제한적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자기주도성이 약한 청년에게는 활용도 낮을 수 있음</a:t>
            </a:r>
            <a:r>
              <a:rPr lang="en-US" altLang="ko-KR" sz="1600" dirty="0"/>
              <a:t>.</a:t>
            </a:r>
            <a:endParaRPr lang="en-GB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31429A-F30A-C012-788E-DFA557A12C70}"/>
              </a:ext>
            </a:extLst>
          </p:cNvPr>
          <p:cNvSpPr txBox="1"/>
          <p:nvPr/>
        </p:nvSpPr>
        <p:spPr>
          <a:xfrm>
            <a:off x="1119674" y="6074215"/>
            <a:ext cx="2266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b="1" i="0" dirty="0">
                <a:effectLst/>
                <a:latin typeface="var(--font-fk-grotesk)"/>
              </a:rPr>
              <a:t>The Dream Teen</a:t>
            </a:r>
            <a:r>
              <a:rPr lang="en-GB" b="1" i="0" baseline="30000" dirty="0">
                <a:effectLst/>
                <a:latin typeface="var(--font-fk-grotesk)"/>
              </a:rPr>
              <a:t>6</a:t>
            </a:r>
            <a:r>
              <a:rPr lang="en-GB" b="1" i="0" dirty="0">
                <a:effectLst/>
                <a:latin typeface="var(--font-fk-grotesk)"/>
              </a:rPr>
              <a:t> (</a:t>
            </a:r>
            <a:r>
              <a:rPr lang="ko-KR" altLang="en-US" b="1" i="0" dirty="0">
                <a:effectLst/>
                <a:latin typeface="var(--font-fk-grotesk)"/>
              </a:rPr>
              <a:t>미국 기업</a:t>
            </a:r>
            <a:r>
              <a:rPr lang="en-US" altLang="ko-KR" b="1" i="0" dirty="0">
                <a:effectLst/>
                <a:latin typeface="var(--font-fk-grotesk)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8DF447-E1D5-DD52-FDD0-E2C7CAAAF484}"/>
              </a:ext>
            </a:extLst>
          </p:cNvPr>
          <p:cNvSpPr txBox="1"/>
          <p:nvPr/>
        </p:nvSpPr>
        <p:spPr>
          <a:xfrm>
            <a:off x="3615832" y="5899853"/>
            <a:ext cx="40136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청소년을 위한 멘토</a:t>
            </a:r>
            <a:r>
              <a:rPr lang="en-US" altLang="ko-KR" b="0" i="0" dirty="0">
                <a:effectLst/>
                <a:latin typeface="fkGroteskNeue"/>
              </a:rPr>
              <a:t>-</a:t>
            </a:r>
            <a:r>
              <a:rPr lang="ko-KR" altLang="en-US" b="0" i="0" dirty="0">
                <a:effectLst/>
                <a:latin typeface="fkGroteskNeue"/>
              </a:rPr>
              <a:t>멘티 매칭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진로 탐색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자기계발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커뮤니티 활동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리더십 및 소프트 스킬 개발 프로그램 운영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32785A-7969-280D-B536-A389A24122E2}"/>
              </a:ext>
            </a:extLst>
          </p:cNvPr>
          <p:cNvSpPr txBox="1"/>
          <p:nvPr/>
        </p:nvSpPr>
        <p:spPr>
          <a:xfrm>
            <a:off x="7962163" y="5981881"/>
            <a:ext cx="41279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실질적 멘토링과 네트워킹 기회 제공</a:t>
            </a:r>
            <a:endParaRPr lang="en-GB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커뮤니티 기반으로 정서적</a:t>
            </a:r>
            <a:r>
              <a:rPr lang="en-US" altLang="ko-KR" sz="1600" dirty="0"/>
              <a:t>/</a:t>
            </a:r>
            <a:r>
              <a:rPr lang="ko-KR" altLang="en-US" sz="1600" dirty="0"/>
              <a:t>사회적 지원</a:t>
            </a:r>
            <a:endParaRPr lang="en-GB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장기적 성장과 리더십 역량 강화</a:t>
            </a:r>
            <a:endParaRPr lang="en-GB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AD41A0-E6FB-9300-8DA9-C16B7E1C75A5}"/>
              </a:ext>
            </a:extLst>
          </p:cNvPr>
          <p:cNvSpPr txBox="1"/>
          <p:nvPr/>
        </p:nvSpPr>
        <p:spPr>
          <a:xfrm>
            <a:off x="12302258" y="5858770"/>
            <a:ext cx="41279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멘토</a:t>
            </a:r>
            <a:r>
              <a:rPr lang="en-US" altLang="ko-KR" sz="1600" dirty="0"/>
              <a:t>-</a:t>
            </a:r>
            <a:r>
              <a:rPr lang="ko-KR" altLang="en-US" sz="1600" dirty="0"/>
              <a:t>멘티 매칭의 질과 지속성에 따라 효과 차이 남</a:t>
            </a:r>
            <a:r>
              <a:rPr lang="en-US" altLang="ko-KR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대규모 </a:t>
            </a:r>
            <a:r>
              <a:rPr lang="ko-KR" altLang="en-US" sz="1600" dirty="0" err="1"/>
              <a:t>확장시</a:t>
            </a:r>
            <a:r>
              <a:rPr lang="ko-KR" altLang="en-US" sz="1600" dirty="0"/>
              <a:t> 개별화 한계</a:t>
            </a:r>
            <a:endParaRPr lang="en-GB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특정 지역 중심으로 한정될 가능성 있음</a:t>
            </a:r>
            <a:r>
              <a:rPr lang="en-US" altLang="ko-KR" sz="1600" dirty="0"/>
              <a:t>.</a:t>
            </a:r>
            <a:endParaRPr lang="en-GB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4BBB32-1AE4-20CC-44F0-FBF0FE577FAC}"/>
              </a:ext>
            </a:extLst>
          </p:cNvPr>
          <p:cNvSpPr txBox="1"/>
          <p:nvPr/>
        </p:nvSpPr>
        <p:spPr>
          <a:xfrm>
            <a:off x="1119674" y="7374703"/>
            <a:ext cx="2266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i="0" dirty="0">
                <a:effectLst/>
                <a:latin typeface="var(--font-fk-grotesk)"/>
              </a:rPr>
              <a:t>청년센터</a:t>
            </a:r>
            <a:endParaRPr lang="en-GB" altLang="ko-KR" b="1" i="0" dirty="0">
              <a:effectLst/>
              <a:latin typeface="var(--font-fk-grotesk)"/>
            </a:endParaRPr>
          </a:p>
          <a:p>
            <a:pPr algn="ctr"/>
            <a:r>
              <a:rPr lang="en-US" altLang="ko-KR" b="1" i="0" dirty="0">
                <a:effectLst/>
                <a:latin typeface="var(--font-fk-grotesk)"/>
              </a:rPr>
              <a:t>(</a:t>
            </a:r>
            <a:r>
              <a:rPr lang="ko-KR" altLang="en-US" b="1" i="0" dirty="0">
                <a:effectLst/>
                <a:latin typeface="var(--font-fk-grotesk)"/>
              </a:rPr>
              <a:t>중앙청년지원센터</a:t>
            </a:r>
            <a:r>
              <a:rPr lang="en-US" altLang="ko-KR" b="1" i="0" dirty="0">
                <a:effectLst/>
                <a:latin typeface="var(--font-fk-grotesk)"/>
              </a:rPr>
              <a:t>, </a:t>
            </a:r>
            <a:r>
              <a:rPr lang="ko-KR" altLang="en-US" b="1" i="0" dirty="0">
                <a:effectLst/>
                <a:latin typeface="var(--font-fk-grotesk)"/>
              </a:rPr>
              <a:t>지역 청년센터</a:t>
            </a:r>
            <a:r>
              <a:rPr lang="en-US" altLang="ko-KR" b="1" i="0" dirty="0">
                <a:effectLst/>
                <a:latin typeface="var(--font-fk-grotesk)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33C1D5-72BA-AC43-21D3-43CF5C4A9F33}"/>
              </a:ext>
            </a:extLst>
          </p:cNvPr>
          <p:cNvSpPr txBox="1"/>
          <p:nvPr/>
        </p:nvSpPr>
        <p:spPr>
          <a:xfrm>
            <a:off x="3615832" y="7273190"/>
            <a:ext cx="41279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effectLst/>
                <a:latin typeface="fkGroteskNeue"/>
              </a:rPr>
              <a:t>청년 교류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진로탐색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직업체험 프로그램 → 진로탐색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직업실습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네트워킹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정책 제안 등 다양한 오프라인</a:t>
            </a:r>
            <a:r>
              <a:rPr lang="en-US" altLang="ko-KR" b="0" i="0" dirty="0">
                <a:effectLst/>
                <a:latin typeface="fkGroteskNeue"/>
              </a:rPr>
              <a:t>/</a:t>
            </a:r>
            <a:r>
              <a:rPr lang="ko-KR" altLang="en-US" b="0" i="0" dirty="0">
                <a:effectLst/>
                <a:latin typeface="fkGroteskNeue"/>
              </a:rPr>
              <a:t>온라인 프로그램 운영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04A71E-0C8C-7D6B-DDA3-04B0A77EAA57}"/>
              </a:ext>
            </a:extLst>
          </p:cNvPr>
          <p:cNvSpPr txBox="1"/>
          <p:nvPr/>
        </p:nvSpPr>
        <p:spPr>
          <a:xfrm>
            <a:off x="7973519" y="7374703"/>
            <a:ext cx="41279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effectLst/>
                <a:latin typeface="fkGroteskNeue"/>
              </a:rPr>
              <a:t>지역 기반 커뮤니티와 실질적 체험 제공</a:t>
            </a:r>
            <a:endParaRPr lang="en-GB" altLang="ko-KR" sz="1600" b="0" i="0" dirty="0">
              <a:effectLst/>
              <a:latin typeface="fkGrotesk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effectLst/>
                <a:latin typeface="fkGroteskNeue"/>
              </a:rPr>
              <a:t>다양한 진로</a:t>
            </a:r>
            <a:r>
              <a:rPr lang="en-US" altLang="ko-KR" sz="1600" b="0" i="0" dirty="0">
                <a:effectLst/>
                <a:latin typeface="fkGroteskNeue"/>
              </a:rPr>
              <a:t>·</a:t>
            </a:r>
            <a:r>
              <a:rPr lang="ko-KR" altLang="en-US" sz="1600" b="0" i="0" dirty="0">
                <a:effectLst/>
                <a:latin typeface="fkGroteskNeue"/>
              </a:rPr>
              <a:t>취업 지원 사업</a:t>
            </a:r>
            <a:endParaRPr lang="en-GB" altLang="ko-KR" sz="1600" b="0" i="0" dirty="0">
              <a:effectLst/>
              <a:latin typeface="fkGrotesk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effectLst/>
                <a:latin typeface="fkGroteskNeue"/>
              </a:rPr>
              <a:t>청년 주도 정책 제안 기회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2E8DD1-1448-80AD-8D84-48E1417FABB6}"/>
              </a:ext>
            </a:extLst>
          </p:cNvPr>
          <p:cNvSpPr txBox="1"/>
          <p:nvPr/>
        </p:nvSpPr>
        <p:spPr>
          <a:xfrm>
            <a:off x="12331206" y="7373751"/>
            <a:ext cx="37389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effectLst/>
                <a:latin typeface="fkGroteskNeue"/>
              </a:rPr>
              <a:t>지역별 편차</a:t>
            </a:r>
            <a:r>
              <a:rPr lang="en-US" altLang="ko-KR" sz="1600" b="0" i="0" dirty="0">
                <a:effectLst/>
                <a:latin typeface="fkGroteskNeue"/>
              </a:rPr>
              <a:t>(</a:t>
            </a:r>
            <a:r>
              <a:rPr lang="ko-KR" altLang="en-US" sz="1600" b="0" i="0" dirty="0">
                <a:effectLst/>
                <a:latin typeface="fkGroteskNeue"/>
              </a:rPr>
              <a:t>정보</a:t>
            </a:r>
            <a:r>
              <a:rPr lang="en-US" altLang="ko-KR" sz="1600" b="0" i="0" dirty="0">
                <a:effectLst/>
                <a:latin typeface="fkGroteskNeue"/>
              </a:rPr>
              <a:t>·</a:t>
            </a:r>
            <a:r>
              <a:rPr lang="ko-KR" altLang="en-US" sz="1600" b="0" i="0" dirty="0">
                <a:effectLst/>
                <a:latin typeface="fkGroteskNeue"/>
              </a:rPr>
              <a:t>자원 집중</a:t>
            </a:r>
            <a:r>
              <a:rPr lang="en-US" altLang="ko-KR" sz="1600" b="0" i="0" dirty="0">
                <a:effectLst/>
                <a:latin typeface="fkGroteskNeue"/>
              </a:rPr>
              <a:t>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effectLst/>
                <a:latin typeface="fkGroteskNeue"/>
              </a:rPr>
              <a:t>체계적 실행 프레임워크는 미흡</a:t>
            </a:r>
            <a:endParaRPr lang="en-GB" altLang="ko-KR" sz="1600" b="0" i="0" dirty="0">
              <a:effectLst/>
              <a:latin typeface="fkGrotesk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effectLst/>
                <a:latin typeface="fkGroteskNeue"/>
              </a:rPr>
              <a:t>일회성 프로그램이 많아 지속성 약함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40AC72-0785-24B8-34EF-1E8DCDFF3D2E}"/>
              </a:ext>
            </a:extLst>
          </p:cNvPr>
          <p:cNvSpPr txBox="1"/>
          <p:nvPr/>
        </p:nvSpPr>
        <p:spPr>
          <a:xfrm>
            <a:off x="775552" y="2124257"/>
            <a:ext cx="11532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케이스 </a:t>
            </a:r>
            <a:r>
              <a:rPr lang="en-US" altLang="ko-KR" sz="1600" b="1" dirty="0"/>
              <a:t>1</a:t>
            </a:r>
          </a:p>
          <a:p>
            <a:r>
              <a:rPr lang="ko-KR" altLang="en-US" sz="1600" dirty="0"/>
              <a:t>고객 </a:t>
            </a:r>
            <a:r>
              <a:rPr lang="en-US" altLang="ko-KR" sz="1600" dirty="0"/>
              <a:t>=</a:t>
            </a:r>
            <a:r>
              <a:rPr lang="ko-KR" altLang="en-US" sz="1600" dirty="0"/>
              <a:t> 문제 당사자 </a:t>
            </a:r>
            <a:r>
              <a:rPr lang="en-US" altLang="ko-KR" sz="1600" dirty="0"/>
              <a:t>=</a:t>
            </a:r>
            <a:r>
              <a:rPr lang="ko-KR" altLang="en-US" sz="1600" dirty="0"/>
              <a:t> 사용자 </a:t>
            </a:r>
            <a:endParaRPr lang="en-GB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AF5932-CECD-9E46-DA47-E269F62D53D1}"/>
              </a:ext>
            </a:extLst>
          </p:cNvPr>
          <p:cNvSpPr txBox="1"/>
          <p:nvPr/>
        </p:nvSpPr>
        <p:spPr>
          <a:xfrm>
            <a:off x="2028827" y="1997843"/>
            <a:ext cx="37433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정보 과잉 속 실행 경험 부재</a:t>
            </a:r>
            <a:endParaRPr lang="en-GB" altLang="ko-KR" sz="1600" b="1" dirty="0"/>
          </a:p>
          <a:p>
            <a:pPr algn="ctr"/>
            <a:r>
              <a:rPr lang="ko-KR" altLang="en-US" sz="16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kGroteskNeue"/>
              </a:rPr>
              <a:t>진로 콘텐츠는 넘치지만 체계적 실행 프레임워크 미비</a:t>
            </a:r>
            <a:r>
              <a:rPr lang="en-US" altLang="ko-KR" sz="16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1,2</a:t>
            </a:r>
            <a:r>
              <a:rPr lang="ko-KR" altLang="en-US" sz="1600" b="1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sz="1600" b="1" baseline="30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0F675D-F589-D8DA-9CE1-17F20A477CDE}"/>
              </a:ext>
            </a:extLst>
          </p:cNvPr>
          <p:cNvSpPr txBox="1"/>
          <p:nvPr/>
        </p:nvSpPr>
        <p:spPr>
          <a:xfrm>
            <a:off x="2028827" y="3126732"/>
            <a:ext cx="37433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주거</a:t>
            </a:r>
            <a:r>
              <a:rPr lang="en-US" altLang="ko-KR" sz="1600" b="1" dirty="0"/>
              <a:t>/</a:t>
            </a:r>
            <a:r>
              <a:rPr lang="ko-KR" altLang="en-US" sz="1600" b="1" dirty="0"/>
              <a:t>취업 불안정으로 인한 관계 단절</a:t>
            </a:r>
            <a:endParaRPr lang="en-GB" altLang="ko-KR" sz="1600" b="1" dirty="0"/>
          </a:p>
          <a:p>
            <a:pPr algn="ctr"/>
            <a:r>
              <a:rPr lang="ko-KR" altLang="en-US" sz="16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kGroteskNeue"/>
              </a:rPr>
              <a:t>경제적 요인이 사회적 자본 약화로 직결</a:t>
            </a:r>
            <a:r>
              <a:rPr lang="en-US" altLang="ko-KR" sz="1600" b="0" i="0" baseline="300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kGroteskNeue"/>
              </a:rPr>
              <a:t>2,8</a:t>
            </a:r>
            <a:endParaRPr lang="en-GB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CB8F7-FC91-B804-BCA5-3B4CFB7B4903}"/>
              </a:ext>
            </a:extLst>
          </p:cNvPr>
          <p:cNvSpPr txBox="1"/>
          <p:nvPr/>
        </p:nvSpPr>
        <p:spPr>
          <a:xfrm>
            <a:off x="2028827" y="4255621"/>
            <a:ext cx="37433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디지털 커뮤니티의 피상적 관계 한계</a:t>
            </a:r>
            <a:endParaRPr lang="en-GB" altLang="ko-KR" sz="1600" b="1" dirty="0"/>
          </a:p>
          <a:p>
            <a:pPr algn="ctr"/>
            <a:r>
              <a:rPr lang="ko-KR" altLang="en-US" sz="1600" b="0" i="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kGroteskNeue"/>
              </a:rPr>
              <a:t>익명 기반 플랫폼에서의 신뢰 형성 실패</a:t>
            </a:r>
            <a:r>
              <a:rPr lang="en-US" altLang="ko-KR" sz="1600" b="0" i="0" baseline="300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kGroteskNeue"/>
              </a:rPr>
              <a:t>6,7</a:t>
            </a:r>
            <a:endParaRPr lang="en-GB" sz="1600" baseline="30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257DB4-7FEF-B87B-B751-2850E12CBF53}"/>
              </a:ext>
            </a:extLst>
          </p:cNvPr>
          <p:cNvSpPr txBox="1"/>
          <p:nvPr/>
        </p:nvSpPr>
        <p:spPr>
          <a:xfrm>
            <a:off x="5872164" y="1997843"/>
            <a:ext cx="51863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ko-KR" altLang="en-US" b="1" i="0" dirty="0">
                <a:effectLst/>
                <a:latin typeface="fkGroteskNeue"/>
              </a:rPr>
              <a:t>강점</a:t>
            </a:r>
            <a:r>
              <a:rPr lang="en-US" altLang="ko-KR" b="1" i="0" dirty="0">
                <a:effectLst/>
                <a:latin typeface="fkGroteskNeue"/>
              </a:rPr>
              <a:t>)</a:t>
            </a:r>
            <a:br>
              <a:rPr lang="en-US" altLang="ko-KR" b="0" i="0" dirty="0">
                <a:effectLst/>
                <a:latin typeface="fkGroteskNeue"/>
              </a:rPr>
            </a:br>
            <a:r>
              <a:rPr lang="ko-KR" altLang="en-US" b="0" i="0" dirty="0">
                <a:effectLst/>
                <a:latin typeface="fkGroteskNeue"/>
              </a:rPr>
              <a:t>자기탐색부터 실행까지 단계별 맞춤 지원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실질적 멘토링과 네트워킹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다양한 진로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직업 체험 및 커뮤니티 제공 등으로 청년의 진로 설계와 성장에 실질적으로 기여함</a:t>
            </a:r>
            <a:endParaRPr lang="en-GB" altLang="ko-KR" b="0" i="0" dirty="0">
              <a:effectLst/>
              <a:latin typeface="fkGroteskNeue"/>
            </a:endParaRPr>
          </a:p>
          <a:p>
            <a:pPr algn="l">
              <a:buNone/>
            </a:pPr>
            <a:endParaRPr lang="en-US" altLang="ko-KR" b="0" i="0" dirty="0">
              <a:effectLst/>
              <a:latin typeface="fkGroteskNeue"/>
            </a:endParaRPr>
          </a:p>
          <a:p>
            <a:pPr algn="l"/>
            <a:r>
              <a:rPr lang="ko-KR" altLang="en-US" b="1" i="0" dirty="0">
                <a:effectLst/>
                <a:latin typeface="fkGroteskNeue"/>
              </a:rPr>
              <a:t>한계</a:t>
            </a:r>
            <a:r>
              <a:rPr lang="en-US" altLang="ko-KR" b="1" i="0" dirty="0">
                <a:effectLst/>
                <a:latin typeface="fkGroteskNeue"/>
              </a:rPr>
              <a:t>)</a:t>
            </a:r>
            <a:br>
              <a:rPr lang="en-US" altLang="ko-KR" b="0" i="0" dirty="0">
                <a:effectLst/>
                <a:latin typeface="fkGroteskNeue"/>
              </a:rPr>
            </a:br>
            <a:r>
              <a:rPr lang="ko-KR" altLang="en-US" b="0" i="0" dirty="0">
                <a:effectLst/>
                <a:latin typeface="fkGroteskNeue"/>
              </a:rPr>
              <a:t>온라인 중심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일회성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단기성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지역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대상 편차 등으로 실행 경험의 지속성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자기주도적 성장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접근성 측면에서 한계가 있음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060061-9987-46E9-E839-9D90CB9B122F}"/>
              </a:ext>
            </a:extLst>
          </p:cNvPr>
          <p:cNvSpPr txBox="1"/>
          <p:nvPr/>
        </p:nvSpPr>
        <p:spPr>
          <a:xfrm>
            <a:off x="11382376" y="2016535"/>
            <a:ext cx="518636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AutoNum type="arabicParenR"/>
            </a:pPr>
            <a:r>
              <a:rPr lang="ko-KR" altLang="en-US" b="1" i="0" dirty="0">
                <a:effectLst/>
                <a:latin typeface="fkGroteskNeue"/>
              </a:rPr>
              <a:t>루틴 기반 실행형 진로 설계 프로그램</a:t>
            </a:r>
            <a:endParaRPr lang="en-GB" altLang="ko-KR" b="1" i="0" dirty="0">
              <a:effectLst/>
              <a:latin typeface="fkGrotesk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dirty="0">
                <a:latin typeface="fkGroteskNeue"/>
              </a:rPr>
              <a:t>루틴</a:t>
            </a:r>
            <a:r>
              <a:rPr lang="en-US" altLang="ko-KR" dirty="0">
                <a:latin typeface="fkGroteskNeue"/>
              </a:rPr>
              <a:t>:</a:t>
            </a:r>
            <a:r>
              <a:rPr lang="ko-KR" altLang="en-US" dirty="0">
                <a:latin typeface="fkGroteskNeue"/>
              </a:rPr>
              <a:t> 주간미션 </a:t>
            </a:r>
            <a:r>
              <a:rPr lang="en-US" altLang="ko-KR" dirty="0">
                <a:latin typeface="fkGroteskNeue"/>
                <a:sym typeface="Wingdings" pitchFamily="2" charset="2"/>
              </a:rPr>
              <a:t></a:t>
            </a:r>
            <a:r>
              <a:rPr lang="ko-KR" altLang="en-US" dirty="0">
                <a:latin typeface="fkGroteskNeue"/>
              </a:rPr>
              <a:t>  실행 </a:t>
            </a:r>
            <a:r>
              <a:rPr lang="en-US" altLang="ko-KR" dirty="0">
                <a:latin typeface="fkGroteskNeue"/>
                <a:sym typeface="Wingdings" pitchFamily="2" charset="2"/>
              </a:rPr>
              <a:t></a:t>
            </a:r>
            <a:r>
              <a:rPr lang="ko-KR" altLang="en-US" dirty="0">
                <a:latin typeface="fkGroteskNeue"/>
                <a:sym typeface="Wingdings" pitchFamily="2" charset="2"/>
              </a:rPr>
              <a:t> 피드백 </a:t>
            </a:r>
            <a:r>
              <a:rPr lang="en-US" altLang="ko-KR" dirty="0">
                <a:latin typeface="fkGroteskNeue"/>
                <a:sym typeface="Wingdings" pitchFamily="2" charset="2"/>
              </a:rPr>
              <a:t></a:t>
            </a:r>
            <a:r>
              <a:rPr lang="ko-KR" altLang="en-US" dirty="0">
                <a:latin typeface="fkGroteskNeue"/>
                <a:sym typeface="Wingdings" pitchFamily="2" charset="2"/>
              </a:rPr>
              <a:t> 리포트</a:t>
            </a:r>
            <a:endParaRPr lang="en-GB" altLang="ko-KR" dirty="0">
              <a:latin typeface="fkGroteskNeue"/>
              <a:sym typeface="Wingdings" pitchFamily="2" charset="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  <a:sym typeface="Wingdings" pitchFamily="2" charset="2"/>
              </a:rPr>
              <a:t>진로 설계</a:t>
            </a:r>
            <a:r>
              <a:rPr lang="en-US" altLang="ko-KR" b="0" i="0" dirty="0">
                <a:effectLst/>
                <a:latin typeface="fkGroteskNeue"/>
                <a:sym typeface="Wingdings" pitchFamily="2" charset="2"/>
              </a:rPr>
              <a:t>,</a:t>
            </a:r>
            <a:r>
              <a:rPr lang="ko-KR" altLang="en-US" b="0" i="0" dirty="0">
                <a:effectLst/>
                <a:latin typeface="fkGroteskNeue"/>
                <a:sym typeface="Wingdings" pitchFamily="2" charset="2"/>
              </a:rPr>
              <a:t> 자아 탐색</a:t>
            </a:r>
            <a:r>
              <a:rPr lang="en-US" altLang="ko-KR" b="0" i="0" dirty="0">
                <a:effectLst/>
                <a:latin typeface="fkGroteskNeue"/>
                <a:sym typeface="Wingdings" pitchFamily="2" charset="2"/>
              </a:rPr>
              <a:t>,</a:t>
            </a:r>
            <a:r>
              <a:rPr lang="ko-KR" altLang="en-US" b="0" i="0" dirty="0">
                <a:effectLst/>
                <a:latin typeface="fkGroteskNeue"/>
                <a:sym typeface="Wingdings" pitchFamily="2" charset="2"/>
              </a:rPr>
              <a:t> 직무 체험 등 루틴화</a:t>
            </a:r>
            <a:endParaRPr lang="en-GB" altLang="ko-KR" dirty="0">
              <a:latin typeface="fkGroteskNeue"/>
              <a:sym typeface="Wingdings" pitchFamily="2" charset="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dirty="0">
                <a:latin typeface="fkGroteskNeue"/>
                <a:sym typeface="Wingdings" pitchFamily="2" charset="2"/>
              </a:rPr>
              <a:t>소규모 피드백 커뮤니티 </a:t>
            </a:r>
            <a:r>
              <a:rPr lang="en-US" altLang="ko-KR" dirty="0">
                <a:latin typeface="fkGroteskNeue"/>
                <a:sym typeface="Wingdings" pitchFamily="2" charset="2"/>
              </a:rPr>
              <a:t>-&gt;</a:t>
            </a:r>
            <a:r>
              <a:rPr lang="ko-KR" altLang="en-US" dirty="0">
                <a:latin typeface="fkGroteskNeue"/>
                <a:sym typeface="Wingdings" pitchFamily="2" charset="2"/>
              </a:rPr>
              <a:t> 실행 지속성 강화</a:t>
            </a:r>
            <a:endParaRPr lang="en-GB" altLang="ko-KR" dirty="0">
              <a:latin typeface="fkGroteskNeue"/>
              <a:sym typeface="Wingdings" pitchFamily="2" charset="2"/>
            </a:endParaRPr>
          </a:p>
          <a:p>
            <a:pPr algn="l"/>
            <a:endParaRPr lang="en-GB" altLang="ko-KR" b="0" i="0" dirty="0">
              <a:effectLst/>
              <a:latin typeface="fkGroteskNeue"/>
              <a:sym typeface="Wingdings" pitchFamily="2" charset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ED36D2-20AC-FD1B-5319-64ED98DE099A}"/>
              </a:ext>
            </a:extLst>
          </p:cNvPr>
          <p:cNvSpPr txBox="1"/>
          <p:nvPr/>
        </p:nvSpPr>
        <p:spPr>
          <a:xfrm>
            <a:off x="11382376" y="3737431"/>
            <a:ext cx="49482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i="0" dirty="0">
                <a:effectLst/>
                <a:latin typeface="fkGroteskNeue"/>
              </a:rPr>
              <a:t>2)</a:t>
            </a:r>
            <a:r>
              <a:rPr lang="ko-KR" altLang="en-US" b="1" i="0" dirty="0">
                <a:effectLst/>
                <a:latin typeface="fkGroteskNeue"/>
              </a:rPr>
              <a:t> 실재적 </a:t>
            </a:r>
            <a:r>
              <a:rPr lang="ko-KR" altLang="en-US" b="1" i="0" dirty="0" err="1">
                <a:effectLst/>
                <a:latin typeface="fkGroteskNeue"/>
              </a:rPr>
              <a:t>연결감</a:t>
            </a:r>
            <a:r>
              <a:rPr lang="ko-KR" altLang="en-US" b="1" i="0" dirty="0">
                <a:effectLst/>
                <a:latin typeface="fkGroteskNeue"/>
              </a:rPr>
              <a:t> 기반 온</a:t>
            </a:r>
            <a:r>
              <a:rPr lang="en-US" altLang="ko-KR" b="1" i="0" dirty="0">
                <a:effectLst/>
                <a:latin typeface="fkGroteskNeue"/>
              </a:rPr>
              <a:t>/</a:t>
            </a:r>
            <a:r>
              <a:rPr lang="ko-KR" altLang="en-US" b="1" i="0" dirty="0">
                <a:effectLst/>
                <a:latin typeface="fkGroteskNeue"/>
              </a:rPr>
              <a:t>오프라인 커뮤니티 구축</a:t>
            </a:r>
            <a:endParaRPr lang="en-GB" altLang="ko-KR" b="1" i="0" dirty="0">
              <a:effectLst/>
              <a:latin typeface="fkGroteskNeue"/>
            </a:endParaRPr>
          </a:p>
          <a:p>
            <a:pPr algn="l"/>
            <a:r>
              <a:rPr lang="ko-KR" altLang="en-US" dirty="0">
                <a:latin typeface="fkGroteskNeue"/>
              </a:rPr>
              <a:t>하이브리드 커뮤니티 생성</a:t>
            </a:r>
            <a:r>
              <a:rPr lang="en-US" altLang="ko-KR" dirty="0">
                <a:latin typeface="fkGroteskNeue"/>
              </a:rPr>
              <a:t>:</a:t>
            </a:r>
            <a:r>
              <a:rPr lang="ko-KR" altLang="en-US" dirty="0">
                <a:latin typeface="fkGroteskNeue"/>
              </a:rPr>
              <a:t> 오프라인 정기 모임 </a:t>
            </a:r>
            <a:r>
              <a:rPr lang="en-US" altLang="ko-KR" dirty="0">
                <a:latin typeface="fkGroteskNeue"/>
              </a:rPr>
              <a:t>+</a:t>
            </a:r>
            <a:r>
              <a:rPr lang="ko-KR" altLang="en-US" dirty="0">
                <a:latin typeface="fkGroteskNeue"/>
              </a:rPr>
              <a:t> 테마형 프로젝트 그룹 </a:t>
            </a:r>
            <a:r>
              <a:rPr lang="en-US" altLang="ko-KR" dirty="0">
                <a:latin typeface="fkGroteskNeue"/>
              </a:rPr>
              <a:t>(</a:t>
            </a:r>
            <a:r>
              <a:rPr lang="ko-KR" altLang="en-US" dirty="0">
                <a:latin typeface="fkGroteskNeue"/>
              </a:rPr>
              <a:t>주제</a:t>
            </a:r>
            <a:r>
              <a:rPr lang="en-US" altLang="ko-KR" dirty="0">
                <a:latin typeface="fkGroteskNeue"/>
              </a:rPr>
              <a:t>/</a:t>
            </a:r>
            <a:r>
              <a:rPr lang="ko-KR" altLang="en-US" dirty="0">
                <a:latin typeface="fkGroteskNeue"/>
              </a:rPr>
              <a:t>관심사 기반</a:t>
            </a:r>
            <a:r>
              <a:rPr lang="en-US" altLang="ko-KR" dirty="0">
                <a:latin typeface="fkGroteskNeue"/>
              </a:rPr>
              <a:t>)</a:t>
            </a:r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E1D771-578E-26C6-EF06-067F8D91EFED}"/>
              </a:ext>
            </a:extLst>
          </p:cNvPr>
          <p:cNvSpPr/>
          <p:nvPr/>
        </p:nvSpPr>
        <p:spPr>
          <a:xfrm>
            <a:off x="894983" y="6442510"/>
            <a:ext cx="14773273" cy="830996"/>
          </a:xfrm>
          <a:prstGeom prst="rect">
            <a:avLst/>
          </a:prstGeom>
          <a:solidFill>
            <a:srgbClr val="FFF3C8"/>
          </a:solidFill>
          <a:ln>
            <a:solidFill>
              <a:srgbClr val="FFF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526E6C-F235-F31A-0C63-4B57DA3447EE}"/>
              </a:ext>
            </a:extLst>
          </p:cNvPr>
          <p:cNvSpPr txBox="1"/>
          <p:nvPr/>
        </p:nvSpPr>
        <p:spPr>
          <a:xfrm>
            <a:off x="780682" y="6520105"/>
            <a:ext cx="15678518" cy="129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[</a:t>
            </a:r>
            <a:r>
              <a:rPr lang="ko-KR" altLang="en-US" b="1" dirty="0"/>
              <a:t>진로 탐색과 자기 성장을 고민하는 </a:t>
            </a:r>
            <a:r>
              <a:rPr lang="en-US" altLang="ko-KR" b="1" dirty="0"/>
              <a:t>19</a:t>
            </a:r>
            <a:r>
              <a:rPr lang="ko-KR" altLang="en-US" b="1" dirty="0"/>
              <a:t>세</a:t>
            </a:r>
            <a:r>
              <a:rPr lang="en-US" altLang="ko-KR" b="1" dirty="0"/>
              <a:t>~39</a:t>
            </a:r>
            <a:r>
              <a:rPr lang="ko-KR" altLang="en-US" b="1" dirty="0"/>
              <a:t>세의 청년들</a:t>
            </a:r>
            <a:r>
              <a:rPr lang="en-US" altLang="ko-KR" dirty="0"/>
              <a:t>]</a:t>
            </a:r>
            <a:r>
              <a:rPr lang="ko-KR" altLang="en-US" dirty="0"/>
              <a:t>이</a:t>
            </a:r>
            <a:r>
              <a:rPr lang="en-US" altLang="ko-KR" dirty="0"/>
              <a:t>,[ </a:t>
            </a:r>
            <a:r>
              <a:rPr lang="ko-KR" altLang="en-US" b="1" dirty="0"/>
              <a:t>단발성 정보 제공이나 실천 구조 부재로 인해 실행과 지속이 어려운 문제</a:t>
            </a:r>
            <a:r>
              <a:rPr lang="en-US" altLang="ko-KR" dirty="0"/>
              <a:t>]</a:t>
            </a:r>
            <a:r>
              <a:rPr lang="ko-KR" altLang="en-US" dirty="0" err="1"/>
              <a:t>를</a:t>
            </a:r>
            <a:r>
              <a:rPr lang="ko-KR" altLang="en-US" dirty="0"/>
              <a:t> 해결하기 위해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b="1" dirty="0"/>
              <a:t>일회성 진로 콘텐츠 중심 구조와 피드백 없는 체험 환경</a:t>
            </a:r>
            <a:r>
              <a:rPr lang="en-US" altLang="ko-KR" dirty="0"/>
              <a:t>]</a:t>
            </a:r>
            <a:r>
              <a:rPr lang="ko-KR" altLang="en-US" dirty="0"/>
              <a:t>을 </a:t>
            </a:r>
            <a:r>
              <a:rPr lang="en-US" altLang="ko-KR" dirty="0"/>
              <a:t>[</a:t>
            </a:r>
            <a:r>
              <a:rPr lang="ko-KR" altLang="en-US" b="1" dirty="0"/>
              <a:t>루틴 기반 실행형 프로그램과 실재적 커뮤니티를 제공하는 </a:t>
            </a:r>
            <a:r>
              <a:rPr lang="en-US" altLang="ko-KR" b="1" dirty="0"/>
              <a:t>SaaS </a:t>
            </a:r>
            <a:r>
              <a:rPr lang="ko-KR" altLang="en-US" b="1" dirty="0"/>
              <a:t>기반 교육 플랫폼</a:t>
            </a:r>
            <a:r>
              <a:rPr lang="en-US" altLang="ko-KR" dirty="0"/>
              <a:t>]</a:t>
            </a:r>
            <a:r>
              <a:rPr lang="ko-KR" altLang="en-US" dirty="0"/>
              <a:t> 제공을 통해 해결하며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[</a:t>
            </a:r>
            <a:r>
              <a:rPr lang="ko-KR" altLang="en-US" b="1" dirty="0"/>
              <a:t>지속적 실천과 자기 이해에 기반한 삶과 진로의 방향 정립</a:t>
            </a:r>
            <a:r>
              <a:rPr lang="en-US" altLang="ko-KR" dirty="0"/>
              <a:t>]</a:t>
            </a:r>
            <a:r>
              <a:rPr lang="ko-KR" altLang="en-US" dirty="0"/>
              <a:t>이라는 결과를 얻을 수 있도록 하겠습니다</a:t>
            </a:r>
            <a:r>
              <a:rPr lang="en-US" altLang="ko-KR" dirty="0"/>
              <a:t>.</a:t>
            </a:r>
            <a:endParaRPr lang="en-GB" altLang="ko-K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8A583F-C71E-A333-9B09-97BD16459EF9}"/>
              </a:ext>
            </a:extLst>
          </p:cNvPr>
          <p:cNvSpPr txBox="1"/>
          <p:nvPr/>
        </p:nvSpPr>
        <p:spPr>
          <a:xfrm>
            <a:off x="2038739" y="2194640"/>
            <a:ext cx="145884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교육부는 디지털 기반 교육혁신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 err="1">
                <a:effectLst/>
                <a:latin typeface="fkGroteskNeue"/>
              </a:rPr>
              <a:t>학교교육력</a:t>
            </a:r>
            <a:r>
              <a:rPr lang="ko-KR" altLang="en-US" b="0" i="0" dirty="0">
                <a:effectLst/>
                <a:latin typeface="fkGroteskNeue"/>
              </a:rPr>
              <a:t> 제고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교사혁신 지원체제 마련 등을 통해 </a:t>
            </a:r>
            <a:r>
              <a:rPr lang="en-US" altLang="ko-KR" b="0" i="0" dirty="0">
                <a:effectLst/>
                <a:latin typeface="fkGroteskNeue"/>
              </a:rPr>
              <a:t>'</a:t>
            </a:r>
            <a:r>
              <a:rPr lang="ko-KR" altLang="en-US" b="0" i="0" dirty="0">
                <a:effectLst/>
                <a:latin typeface="fkGroteskNeue"/>
              </a:rPr>
              <a:t>모두를 인재로 양성하는 학습혁명</a:t>
            </a:r>
            <a:r>
              <a:rPr lang="en-US" altLang="ko-KR" b="0" i="0" dirty="0">
                <a:effectLst/>
                <a:latin typeface="fkGroteskNeue"/>
              </a:rPr>
              <a:t>'</a:t>
            </a:r>
            <a:r>
              <a:rPr lang="ko-KR" altLang="en-US" b="0" i="0" dirty="0">
                <a:effectLst/>
                <a:latin typeface="fkGroteskNeue"/>
              </a:rPr>
              <a:t>을 실행 중</a:t>
            </a:r>
            <a:r>
              <a:rPr lang="en-US" altLang="ko-KR" b="0" i="0" baseline="30000" dirty="0">
                <a:effectLst/>
                <a:latin typeface="fkGroteskNeue"/>
              </a:rPr>
              <a:t>1</a:t>
            </a:r>
            <a:endParaRPr lang="en-GB" altLang="ko-KR" dirty="0">
              <a:latin typeface="fkGrotesk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fkGroteskNeue"/>
              </a:rPr>
              <a:t>학습자 중심 정책</a:t>
            </a:r>
            <a:r>
              <a:rPr lang="en-US" altLang="ko-KR" dirty="0">
                <a:latin typeface="fkGroteskNeue"/>
              </a:rPr>
              <a:t>:</a:t>
            </a:r>
            <a:r>
              <a:rPr lang="ko-KR" altLang="en-US" dirty="0">
                <a:latin typeface="fkGroteskNeue"/>
              </a:rPr>
              <a:t> </a:t>
            </a:r>
            <a:r>
              <a:rPr lang="ko-KR" altLang="en-US" b="0" i="0" dirty="0" err="1">
                <a:effectLst/>
                <a:latin typeface="fkGroteskNeue"/>
              </a:rPr>
              <a:t>학생맞춤통합지원법</a:t>
            </a:r>
            <a:r>
              <a:rPr lang="en-US" altLang="ko-KR" b="0" i="0" dirty="0">
                <a:effectLst/>
                <a:latin typeface="fkGroteskNeue"/>
              </a:rPr>
              <a:t>(</a:t>
            </a:r>
            <a:r>
              <a:rPr lang="ko-KR" altLang="en-US" b="0" i="0" dirty="0" err="1">
                <a:effectLst/>
                <a:latin typeface="fkGroteskNeue"/>
              </a:rPr>
              <a:t>학마통</a:t>
            </a:r>
            <a:r>
              <a:rPr lang="en-US" altLang="ko-KR" b="0" i="0" dirty="0">
                <a:effectLst/>
                <a:latin typeface="fkGroteskNeue"/>
              </a:rPr>
              <a:t>)</a:t>
            </a:r>
            <a:r>
              <a:rPr lang="ko-KR" altLang="en-US" b="0" i="0" dirty="0">
                <a:effectLst/>
                <a:latin typeface="fkGroteskNeue"/>
              </a:rPr>
              <a:t>이 </a:t>
            </a:r>
            <a:r>
              <a:rPr lang="en-US" altLang="ko-KR" b="0" i="0" dirty="0">
                <a:effectLst/>
                <a:latin typeface="fkGroteskNeue"/>
              </a:rPr>
              <a:t>2025</a:t>
            </a:r>
            <a:r>
              <a:rPr lang="ko-KR" altLang="en-US" b="0" i="0" dirty="0">
                <a:effectLst/>
                <a:latin typeface="fkGroteskNeue"/>
              </a:rPr>
              <a:t>년 </a:t>
            </a:r>
            <a:r>
              <a:rPr lang="en-US" altLang="ko-KR" b="0" i="0" dirty="0">
                <a:effectLst/>
                <a:latin typeface="fkGroteskNeue"/>
              </a:rPr>
              <a:t>1</a:t>
            </a:r>
            <a:r>
              <a:rPr lang="ko-KR" altLang="en-US" b="0" i="0" dirty="0">
                <a:effectLst/>
                <a:latin typeface="fkGroteskNeue"/>
              </a:rPr>
              <a:t>월에 공포됨</a:t>
            </a:r>
            <a:r>
              <a:rPr lang="en-US" altLang="ko-KR" b="0" i="0" baseline="30000" dirty="0">
                <a:effectLst/>
                <a:latin typeface="fkGroteskNeue"/>
              </a:rPr>
              <a:t>2</a:t>
            </a:r>
            <a:r>
              <a:rPr lang="ko-KR" altLang="en-US" b="0" i="0" baseline="30000" dirty="0">
                <a:effectLst/>
                <a:latin typeface="fkGroteskNeue"/>
              </a:rPr>
              <a:t> </a:t>
            </a:r>
            <a:r>
              <a:rPr lang="en-US" altLang="ko-KR" dirty="0">
                <a:latin typeface="fkGroteskNeue"/>
                <a:sym typeface="Wingdings" pitchFamily="2" charset="2"/>
              </a:rPr>
              <a:t></a:t>
            </a:r>
            <a:r>
              <a:rPr lang="ko-KR" altLang="en-US" dirty="0">
                <a:latin typeface="fkGroteskNeue"/>
                <a:sym typeface="Wingdings" pitchFamily="2" charset="2"/>
              </a:rPr>
              <a:t> </a:t>
            </a:r>
            <a:r>
              <a:rPr lang="ko-KR" altLang="en-US" b="0" i="0" dirty="0">
                <a:effectLst/>
                <a:latin typeface="fkGroteskNeue"/>
              </a:rPr>
              <a:t>교육 콘텐츠 및 플랫폼 개발 방향에 영향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73EE47-FE6A-668C-5ECF-EDB11AB40CC8}"/>
              </a:ext>
            </a:extLst>
          </p:cNvPr>
          <p:cNvSpPr txBox="1"/>
          <p:nvPr/>
        </p:nvSpPr>
        <p:spPr>
          <a:xfrm>
            <a:off x="2038739" y="3186795"/>
            <a:ext cx="145884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교육 수요 계층 변화</a:t>
            </a:r>
            <a:r>
              <a:rPr lang="en-US" altLang="ko-KR" b="0" i="0" dirty="0">
                <a:effectLst/>
                <a:latin typeface="fkGroteskNeue"/>
              </a:rPr>
              <a:t>:</a:t>
            </a:r>
            <a:r>
              <a:rPr lang="ko-KR" altLang="en-US" b="0" i="0" dirty="0">
                <a:effectLst/>
                <a:latin typeface="fkGroteskNeue"/>
              </a:rPr>
              <a:t> 초등학생은 </a:t>
            </a:r>
            <a:r>
              <a:rPr lang="en-US" altLang="ko-KR" b="0" i="0" dirty="0">
                <a:effectLst/>
                <a:latin typeface="fkGroteskNeue"/>
              </a:rPr>
              <a:t>4.2% </a:t>
            </a:r>
            <a:r>
              <a:rPr lang="ko-KR" altLang="en-US" b="0" i="0" dirty="0">
                <a:effectLst/>
                <a:latin typeface="fkGroteskNeue"/>
              </a:rPr>
              <a:t>감소</a:t>
            </a:r>
            <a:r>
              <a:rPr lang="en-US" altLang="ko-KR" b="0" i="0" dirty="0">
                <a:effectLst/>
                <a:latin typeface="fkGroteskNeue"/>
              </a:rPr>
              <a:t>(2,495,005</a:t>
            </a:r>
            <a:r>
              <a:rPr lang="ko-KR" altLang="en-US" b="0" i="0" dirty="0">
                <a:effectLst/>
                <a:latin typeface="fkGroteskNeue"/>
              </a:rPr>
              <a:t>명</a:t>
            </a:r>
            <a:r>
              <a:rPr lang="en-US" altLang="ko-KR" b="0" i="0" dirty="0">
                <a:effectLst/>
                <a:latin typeface="fkGroteskNeue"/>
              </a:rPr>
              <a:t>)</a:t>
            </a:r>
            <a:r>
              <a:rPr lang="ko-KR" altLang="en-US" b="0" i="0" dirty="0">
                <a:effectLst/>
                <a:latin typeface="fkGroteskNeue"/>
              </a:rPr>
              <a:t>한 반면 중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고등학생은 각각 </a:t>
            </a:r>
            <a:r>
              <a:rPr lang="en-US" altLang="ko-KR" b="0" i="0" dirty="0">
                <a:effectLst/>
                <a:latin typeface="fkGroteskNeue"/>
              </a:rPr>
              <a:t>0.5%, 2.0% </a:t>
            </a:r>
            <a:r>
              <a:rPr lang="ko-KR" altLang="en-US" b="0" i="0" dirty="0">
                <a:effectLst/>
                <a:latin typeface="fkGroteskNeue"/>
              </a:rPr>
              <a:t>증가</a:t>
            </a:r>
            <a:r>
              <a:rPr lang="en-US" altLang="ko-KR" b="0" i="0" baseline="30000" dirty="0">
                <a:effectLst/>
                <a:latin typeface="fkGroteskNeue"/>
              </a:rPr>
              <a:t>3</a:t>
            </a:r>
            <a:r>
              <a:rPr lang="ko-KR" altLang="en-US" b="0" i="0" baseline="30000" dirty="0">
                <a:effectLst/>
                <a:latin typeface="fkGroteskNeue"/>
              </a:rPr>
              <a:t> </a:t>
            </a:r>
            <a:r>
              <a:rPr lang="en-US" altLang="ko-KR" b="0" i="0" dirty="0">
                <a:effectLst/>
                <a:latin typeface="fkGroteskNeue"/>
                <a:sym typeface="Wingdings" pitchFamily="2" charset="2"/>
              </a:rPr>
              <a:t></a:t>
            </a:r>
            <a:r>
              <a:rPr lang="ko-KR" altLang="en-US" b="0" i="0" dirty="0">
                <a:effectLst/>
                <a:latin typeface="fkGroteskNeue"/>
                <a:sym typeface="Wingdings" pitchFamily="2" charset="2"/>
              </a:rPr>
              <a:t>성인 맞춤 콘텐츠의 수요 증가 예상</a:t>
            </a:r>
            <a:endParaRPr lang="en-US" altLang="ko-KR" b="0" i="0" baseline="30000" dirty="0">
              <a:effectLst/>
              <a:latin typeface="fkGrotesk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국내 에듀테크 시장은 </a:t>
            </a:r>
            <a:r>
              <a:rPr lang="en-US" altLang="ko-KR" b="0" i="0" dirty="0">
                <a:effectLst/>
                <a:latin typeface="fkGroteskNeue"/>
              </a:rPr>
              <a:t>2025</a:t>
            </a:r>
            <a:r>
              <a:rPr lang="ko-KR" altLang="en-US" b="0" i="0" dirty="0">
                <a:effectLst/>
                <a:latin typeface="fkGroteskNeue"/>
              </a:rPr>
              <a:t>년에 약 </a:t>
            </a:r>
            <a:r>
              <a:rPr lang="en-US" altLang="ko-KR" b="0" i="0" dirty="0">
                <a:effectLst/>
                <a:latin typeface="fkGroteskNeue"/>
              </a:rPr>
              <a:t>8</a:t>
            </a:r>
            <a:r>
              <a:rPr lang="ko-KR" altLang="en-US" b="0" i="0" dirty="0">
                <a:effectLst/>
                <a:latin typeface="fkGroteskNeue"/>
              </a:rPr>
              <a:t>조 </a:t>
            </a:r>
            <a:r>
              <a:rPr lang="en-US" altLang="ko-KR" b="0" i="0" dirty="0">
                <a:effectLst/>
                <a:latin typeface="fkGroteskNeue"/>
              </a:rPr>
              <a:t>6</a:t>
            </a:r>
            <a:r>
              <a:rPr lang="ko-KR" altLang="en-US" b="0" i="0" dirty="0">
                <a:effectLst/>
                <a:latin typeface="fkGroteskNeue"/>
              </a:rPr>
              <a:t>천억 원 규모로 성장할 것으로 예상</a:t>
            </a:r>
            <a:r>
              <a:rPr lang="en-US" altLang="ko-KR" b="0" i="0" baseline="30000" dirty="0">
                <a:effectLst/>
                <a:latin typeface="fkGroteskNeue"/>
              </a:rPr>
              <a:t>4</a:t>
            </a:r>
            <a:r>
              <a:rPr lang="ko-KR" altLang="en-US" b="0" i="0" baseline="30000" dirty="0">
                <a:effectLst/>
                <a:latin typeface="fkGroteskNeue"/>
              </a:rPr>
              <a:t> </a:t>
            </a:r>
            <a:r>
              <a:rPr lang="en-US" altLang="ko-KR" b="0" i="0" dirty="0">
                <a:effectLst/>
                <a:latin typeface="fkGroteskNeue"/>
                <a:sym typeface="Wingdings" pitchFamily="2" charset="2"/>
              </a:rPr>
              <a:t></a:t>
            </a:r>
            <a:r>
              <a:rPr lang="ko-KR" altLang="en-US" b="0" i="0" dirty="0">
                <a:effectLst/>
                <a:latin typeface="fkGroteskNeue"/>
                <a:sym typeface="Wingdings" pitchFamily="2" charset="2"/>
              </a:rPr>
              <a:t> </a:t>
            </a:r>
            <a:r>
              <a:rPr lang="ko-KR" altLang="en-US" b="0" i="0" dirty="0">
                <a:effectLst/>
                <a:latin typeface="fkGroteskNeue"/>
              </a:rPr>
              <a:t>온라인 교육 플랫폼 투자 및 개발을 고려할 만한 가치가 있음</a:t>
            </a:r>
            <a:endParaRPr lang="en-GB" altLang="ko-KR" b="0" i="0" dirty="0">
              <a:effectLst/>
              <a:latin typeface="fkGrotesk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청년의 역량 발휘와 사회 진출 지원을 위해 교육 기회 보장 및 부담 완화 정책 추진</a:t>
            </a:r>
            <a:r>
              <a:rPr lang="en-US" altLang="ko-KR" baseline="30000" dirty="0"/>
              <a:t>5</a:t>
            </a:r>
            <a:r>
              <a:rPr lang="ko-KR" altLang="en-US" baseline="30000" dirty="0"/>
              <a:t> </a:t>
            </a:r>
            <a:r>
              <a:rPr lang="en-US" altLang="ko-KR" dirty="0">
                <a:sym typeface="Wingdings" pitchFamily="2" charset="2"/>
              </a:rPr>
              <a:t></a:t>
            </a:r>
            <a:r>
              <a:rPr lang="ko-KR" altLang="en-US" b="0" i="0" dirty="0">
                <a:effectLst/>
                <a:latin typeface="fkGroteskNeue"/>
              </a:rPr>
              <a:t>청년층을 대상으로 하는 교육 프로그램 개발에 긍정적</a:t>
            </a:r>
            <a:endParaRPr lang="en-GB" altLang="ko-KR" b="0" i="0" dirty="0">
              <a:effectLst/>
              <a:latin typeface="fkGrotesk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26A985-9F3F-9F8B-9C1F-70F1A69119F3}"/>
              </a:ext>
            </a:extLst>
          </p:cNvPr>
          <p:cNvSpPr txBox="1"/>
          <p:nvPr/>
        </p:nvSpPr>
        <p:spPr>
          <a:xfrm>
            <a:off x="2038737" y="4272626"/>
            <a:ext cx="145884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저출산</a:t>
            </a:r>
            <a:r>
              <a:rPr lang="en-US" altLang="ko-KR" b="0" i="0" dirty="0">
                <a:effectLst/>
                <a:latin typeface="fkGroteskNeue"/>
              </a:rPr>
              <a:t>: </a:t>
            </a:r>
            <a:r>
              <a:rPr lang="ko-KR" altLang="en-US" b="0" i="0" dirty="0">
                <a:effectLst/>
                <a:latin typeface="fkGroteskNeue"/>
              </a:rPr>
              <a:t>학령인구 감소로 인한 교육 시장의 축소</a:t>
            </a:r>
            <a:r>
              <a:rPr lang="ko-KR" altLang="en-US" b="0" i="0" dirty="0">
                <a:effectLst/>
                <a:latin typeface="fkGroteskNeue"/>
                <a:sym typeface="Wingdings" pitchFamily="2" charset="2"/>
              </a:rPr>
              <a:t> </a:t>
            </a:r>
            <a:r>
              <a:rPr lang="en-US" altLang="ko-KR" dirty="0">
                <a:latin typeface="fkGroteskNeue"/>
                <a:sym typeface="Wingdings" pitchFamily="2" charset="2"/>
              </a:rPr>
              <a:t></a:t>
            </a:r>
            <a:r>
              <a:rPr lang="ko-KR" altLang="en-US" dirty="0">
                <a:latin typeface="fkGroteskNeue"/>
                <a:sym typeface="Wingdings" pitchFamily="2" charset="2"/>
              </a:rPr>
              <a:t> </a:t>
            </a:r>
            <a:r>
              <a:rPr lang="ko-KR" altLang="en-US" b="0" i="0" dirty="0">
                <a:effectLst/>
                <a:latin typeface="fkGroteskNeue"/>
                <a:sym typeface="Wingdings" pitchFamily="2" charset="2"/>
              </a:rPr>
              <a:t>성인 대상 교육 프로그램 개발 또는 해외 진출 고려</a:t>
            </a:r>
            <a:endParaRPr lang="en-US" altLang="ko-KR" b="0" i="0" dirty="0">
              <a:effectLst/>
              <a:latin typeface="fkGroteskNeue"/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0" i="0" dirty="0">
                <a:effectLst/>
                <a:latin typeface="fkGroteskNeue"/>
              </a:rPr>
              <a:t>2025</a:t>
            </a:r>
            <a:r>
              <a:rPr lang="ko-KR" altLang="en-US" b="0" i="0" dirty="0">
                <a:effectLst/>
                <a:latin typeface="fkGroteskNeue"/>
              </a:rPr>
              <a:t>년 교육계 키워드는 </a:t>
            </a:r>
            <a:r>
              <a:rPr lang="en-US" altLang="ko-KR" b="0" i="0" dirty="0">
                <a:effectLst/>
                <a:latin typeface="fkGroteskNeue"/>
              </a:rPr>
              <a:t>'</a:t>
            </a:r>
            <a:r>
              <a:rPr lang="en-GB" b="0" i="0" dirty="0">
                <a:effectLst/>
                <a:latin typeface="fkGroteskNeue"/>
              </a:rPr>
              <a:t>E.D.U.C.A.T.I.O.N'</a:t>
            </a:r>
            <a:r>
              <a:rPr lang="ko-KR" altLang="en-US" b="0" i="0" dirty="0" err="1">
                <a:effectLst/>
                <a:latin typeface="fkGroteskNeue"/>
              </a:rPr>
              <a:t>으로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en-GB" b="0" i="0" dirty="0">
                <a:effectLst/>
                <a:latin typeface="fkGroteskNeue"/>
              </a:rPr>
              <a:t>AI, </a:t>
            </a:r>
            <a:r>
              <a:rPr lang="ko-KR" altLang="en-US" b="0" i="0" dirty="0">
                <a:effectLst/>
                <a:latin typeface="fkGroteskNeue"/>
              </a:rPr>
              <a:t>메타버스 등 첨단 기술을 활용한 개인별 맞춤형 학습이 강조</a:t>
            </a:r>
            <a:r>
              <a:rPr lang="en-US" altLang="ko-KR" b="0" i="0" baseline="30000" dirty="0">
                <a:effectLst/>
                <a:latin typeface="fkGroteskNeue"/>
              </a:rPr>
              <a:t>6</a:t>
            </a:r>
            <a:r>
              <a:rPr lang="en-US" altLang="ko-KR" dirty="0">
                <a:latin typeface="fkGroteskNeue"/>
                <a:sym typeface="Wingdings" pitchFamily="2" charset="2"/>
              </a:rPr>
              <a:t></a:t>
            </a:r>
            <a:r>
              <a:rPr lang="ko-KR" altLang="en-US" b="0" i="0" dirty="0">
                <a:effectLst/>
                <a:latin typeface="fkGroteskNeue"/>
              </a:rPr>
              <a:t>트렌드를 반영한 교육 콘텐츠 개발이 필요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DE166-29C6-60ED-15B4-8140A61D439C}"/>
              </a:ext>
            </a:extLst>
          </p:cNvPr>
          <p:cNvSpPr txBox="1"/>
          <p:nvPr/>
        </p:nvSpPr>
        <p:spPr>
          <a:xfrm>
            <a:off x="2038737" y="5442548"/>
            <a:ext cx="145884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디지털 교육 전환</a:t>
            </a:r>
            <a:r>
              <a:rPr lang="en-US" altLang="ko-KR" b="0" i="0" dirty="0">
                <a:effectLst/>
                <a:latin typeface="fkGroteskNeue"/>
              </a:rPr>
              <a:t>: </a:t>
            </a:r>
            <a:r>
              <a:rPr lang="ko-KR" altLang="en-US" b="0" i="0" dirty="0">
                <a:effectLst/>
                <a:latin typeface="fkGroteskNeue"/>
              </a:rPr>
              <a:t>교육부는 디지털 교육 전환을 적극적으로 추진</a:t>
            </a:r>
            <a:r>
              <a:rPr lang="en-US" altLang="ko-KR" b="0" i="0" baseline="30000" dirty="0">
                <a:effectLst/>
                <a:latin typeface="fkGroteskNeue"/>
              </a:rPr>
              <a:t>7</a:t>
            </a:r>
            <a:r>
              <a:rPr lang="ko-KR" altLang="en-US" b="0" i="0" baseline="30000" dirty="0">
                <a:effectLst/>
                <a:latin typeface="fkGroteskNeue"/>
              </a:rPr>
              <a:t> </a:t>
            </a:r>
            <a:r>
              <a:rPr lang="en-US" altLang="ko-KR" b="0" i="0" dirty="0">
                <a:effectLst/>
                <a:latin typeface="fkGroteskNeue"/>
                <a:sym typeface="Wingdings" pitchFamily="2" charset="2"/>
              </a:rPr>
              <a:t></a:t>
            </a:r>
            <a:r>
              <a:rPr lang="ko-KR" altLang="en-US" b="0" i="0" dirty="0">
                <a:effectLst/>
                <a:latin typeface="fkGroteskNeue"/>
                <a:sym typeface="Wingdings" pitchFamily="2" charset="2"/>
              </a:rPr>
              <a:t> </a:t>
            </a:r>
            <a:r>
              <a:rPr lang="ko-KR" altLang="en-US" b="0" i="0" dirty="0">
                <a:effectLst/>
                <a:latin typeface="fkGroteskNeue"/>
              </a:rPr>
              <a:t>온라인 학습 플랫폼 개발 및 디지털 교육 콘텐츠 제작에 대한 투자를 확대</a:t>
            </a:r>
            <a:endParaRPr lang="en-GB" altLang="ko-KR" b="0" i="0" dirty="0">
              <a:effectLst/>
              <a:latin typeface="fkGrotesk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에듀테크 기술 발전</a:t>
            </a:r>
            <a:r>
              <a:rPr lang="en-US" altLang="ko-KR" b="0" i="0" dirty="0">
                <a:effectLst/>
                <a:latin typeface="fkGroteskNeue"/>
              </a:rPr>
              <a:t>: </a:t>
            </a:r>
            <a:r>
              <a:rPr lang="en-GB" b="0" i="0" dirty="0">
                <a:effectLst/>
                <a:latin typeface="fkGroteskNeue"/>
              </a:rPr>
              <a:t>AR/VR, AI, </a:t>
            </a:r>
            <a:r>
              <a:rPr lang="ko-KR" altLang="en-US" b="0" i="0" dirty="0" err="1">
                <a:effectLst/>
                <a:latin typeface="fkGroteskNeue"/>
              </a:rPr>
              <a:t>로보틱스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블록체인 등 에듀테크에 적용되는 기술이 빠르게 발전</a:t>
            </a:r>
            <a:r>
              <a:rPr lang="en-US" altLang="ko-KR" b="0" i="0" baseline="30000" dirty="0">
                <a:effectLst/>
                <a:latin typeface="fkGroteskNeue"/>
              </a:rPr>
              <a:t>4</a:t>
            </a:r>
            <a:r>
              <a:rPr lang="ko-KR" altLang="en-US" b="0" i="0" baseline="30000" dirty="0">
                <a:effectLst/>
                <a:latin typeface="fkGroteskNeue"/>
              </a:rPr>
              <a:t> </a:t>
            </a:r>
            <a:r>
              <a:rPr lang="en-US" altLang="ko-KR" b="0" i="0" dirty="0">
                <a:effectLst/>
                <a:latin typeface="fkGroteskNeue"/>
                <a:sym typeface="Wingdings" pitchFamily="2" charset="2"/>
              </a:rPr>
              <a:t></a:t>
            </a:r>
            <a:r>
              <a:rPr lang="ko-KR" altLang="en-US" b="0" i="0" dirty="0">
                <a:effectLst/>
                <a:latin typeface="fkGroteskNeue"/>
              </a:rPr>
              <a:t>교육 콘텐츠에 접목하여 학습 효과</a:t>
            </a:r>
            <a:r>
              <a:rPr lang="ko-KR" altLang="en-US" dirty="0">
                <a:latin typeface="fkGroteskNeue"/>
                <a:sym typeface="Wingdings" pitchFamily="2" charset="2"/>
              </a:rPr>
              <a:t> </a:t>
            </a:r>
            <a:r>
              <a:rPr lang="en-US" altLang="ko-KR" dirty="0">
                <a:latin typeface="fkGroteskNeue"/>
                <a:sym typeface="Wingdings" pitchFamily="2" charset="2"/>
              </a:rPr>
              <a:t>UP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C463B5-CF26-5793-8F23-71AB287AA8B6}"/>
              </a:ext>
            </a:extLst>
          </p:cNvPr>
          <p:cNvSpPr txBox="1"/>
          <p:nvPr/>
        </p:nvSpPr>
        <p:spPr>
          <a:xfrm>
            <a:off x="2038736" y="6535278"/>
            <a:ext cx="145884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자연 중심 학습</a:t>
            </a:r>
            <a:r>
              <a:rPr lang="en-US" altLang="ko-KR" b="0" i="0" dirty="0">
                <a:effectLst/>
                <a:latin typeface="fkGroteskNeue"/>
              </a:rPr>
              <a:t>: </a:t>
            </a:r>
            <a:r>
              <a:rPr lang="ko-KR" altLang="en-US" b="0" i="0" dirty="0">
                <a:effectLst/>
                <a:latin typeface="fkGroteskNeue"/>
              </a:rPr>
              <a:t>자연과의 교감을 통해 창의성과 인성을 함양</a:t>
            </a:r>
            <a:r>
              <a:rPr lang="en-US" altLang="ko-KR" b="0" i="0" baseline="30000" dirty="0">
                <a:effectLst/>
                <a:latin typeface="fkGroteskNeue"/>
              </a:rPr>
              <a:t>6</a:t>
            </a:r>
            <a:r>
              <a:rPr lang="en-US" altLang="ko-KR" b="0" i="0" dirty="0">
                <a:effectLst/>
                <a:latin typeface="fkGroteskNeue"/>
              </a:rPr>
              <a:t> </a:t>
            </a:r>
            <a:r>
              <a:rPr lang="en-US" altLang="ko-KR" b="0" i="0" dirty="0">
                <a:effectLst/>
                <a:latin typeface="fkGroteskNeue"/>
                <a:sym typeface="Wingdings" pitchFamily="2" charset="2"/>
              </a:rPr>
              <a:t> </a:t>
            </a:r>
            <a:r>
              <a:rPr lang="ko-KR" altLang="en-US" b="0" i="0" dirty="0">
                <a:effectLst/>
                <a:latin typeface="fkGroteskNeue"/>
              </a:rPr>
              <a:t>자연 체험 학습 프로그램 개발을 통해 학생들의 전인적 성장</a:t>
            </a:r>
            <a:r>
              <a:rPr lang="en-US" altLang="ko-KR" b="0" i="0" dirty="0">
                <a:effectLst/>
                <a:latin typeface="fkGroteskNeue"/>
              </a:rPr>
              <a:t> </a:t>
            </a:r>
            <a:r>
              <a:rPr lang="ko-KR" altLang="en-US" b="0" i="0" dirty="0">
                <a:effectLst/>
                <a:latin typeface="fkGroteskNeue"/>
              </a:rPr>
              <a:t>도움</a:t>
            </a:r>
            <a:endParaRPr lang="en-GB" altLang="ko-KR" b="0" i="0" dirty="0">
              <a:effectLst/>
              <a:latin typeface="fkGrotesk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친환경 교육 환경 조성</a:t>
            </a:r>
            <a:r>
              <a:rPr lang="en-US" altLang="ko-KR" b="0" i="0" dirty="0">
                <a:effectLst/>
                <a:latin typeface="fkGroteskNeue"/>
              </a:rPr>
              <a:t>: </a:t>
            </a:r>
            <a:r>
              <a:rPr lang="ko-KR" altLang="en-US" b="0" i="0" dirty="0">
                <a:effectLst/>
                <a:latin typeface="fkGroteskNeue"/>
              </a:rPr>
              <a:t>학교 시설의 친환경화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에너지 절약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자원 재활용</a:t>
            </a:r>
            <a:r>
              <a:rPr lang="ko-KR" altLang="en-US" dirty="0">
                <a:latin typeface="fkGroteskNeue"/>
              </a:rPr>
              <a:t> </a:t>
            </a:r>
            <a:r>
              <a:rPr lang="en-US" altLang="ko-KR" dirty="0">
                <a:latin typeface="fkGroteskNeue"/>
                <a:sym typeface="Wingdings" pitchFamily="2" charset="2"/>
              </a:rPr>
              <a:t></a:t>
            </a:r>
            <a:r>
              <a:rPr lang="ko-KR" altLang="en-US" dirty="0">
                <a:latin typeface="fkGroteskNeue"/>
                <a:sym typeface="Wingdings" pitchFamily="2" charset="2"/>
              </a:rPr>
              <a:t> </a:t>
            </a:r>
            <a:r>
              <a:rPr lang="ko-KR" altLang="en-US" b="0" i="0" dirty="0">
                <a:effectLst/>
                <a:latin typeface="fkGroteskNeue"/>
              </a:rPr>
              <a:t>환경 보호의 중요성</a:t>
            </a:r>
            <a:r>
              <a:rPr lang="ko-KR" altLang="en-US" dirty="0">
                <a:latin typeface="fkGroteskNeue"/>
              </a:rPr>
              <a:t> 체험적 교육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B1C8C2-6B79-D5CE-906F-96B3FD10EEB1}"/>
              </a:ext>
            </a:extLst>
          </p:cNvPr>
          <p:cNvSpPr txBox="1"/>
          <p:nvPr/>
        </p:nvSpPr>
        <p:spPr>
          <a:xfrm>
            <a:off x="2038736" y="7502906"/>
            <a:ext cx="145884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교육 관련 법규</a:t>
            </a:r>
            <a:r>
              <a:rPr lang="en-US" altLang="ko-KR" b="0" i="0" dirty="0">
                <a:effectLst/>
                <a:latin typeface="fkGroteskNeue"/>
              </a:rPr>
              <a:t>: </a:t>
            </a:r>
            <a:r>
              <a:rPr lang="ko-KR" altLang="en-US" b="0" i="0" dirty="0">
                <a:effectLst/>
                <a:latin typeface="fkGroteskNeue"/>
              </a:rPr>
              <a:t>교육기본법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초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중등교육법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고등교육법</a:t>
            </a:r>
            <a:r>
              <a:rPr lang="ko-KR" altLang="en-US" dirty="0">
                <a:latin typeface="fkGroteskNeue"/>
              </a:rPr>
              <a:t> </a:t>
            </a:r>
            <a:r>
              <a:rPr lang="en-US" altLang="ko-KR" dirty="0">
                <a:latin typeface="fkGroteskNeue"/>
              </a:rPr>
              <a:t>/</a:t>
            </a:r>
            <a:r>
              <a:rPr lang="ko-KR" altLang="en-US" dirty="0">
                <a:latin typeface="fkGroteskNeue"/>
              </a:rPr>
              <a:t> </a:t>
            </a:r>
            <a:r>
              <a:rPr lang="ko-KR" altLang="en-US" b="0" i="0" dirty="0">
                <a:effectLst/>
                <a:latin typeface="fkGroteskNeue"/>
              </a:rPr>
              <a:t>개인 정보 보호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저작권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소비자 보호 </a:t>
            </a:r>
            <a:endParaRPr lang="en-GB" altLang="ko-KR" dirty="0">
              <a:latin typeface="fkGrotesk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교육 과정 편성</a:t>
            </a:r>
            <a:r>
              <a:rPr lang="en-US" altLang="ko-KR" b="0" i="0" dirty="0">
                <a:effectLst/>
                <a:latin typeface="fkGroteskNeue"/>
              </a:rPr>
              <a:t>·</a:t>
            </a:r>
            <a:r>
              <a:rPr lang="ko-KR" altLang="en-US" b="0" i="0" dirty="0">
                <a:effectLst/>
                <a:latin typeface="fkGroteskNeue"/>
              </a:rPr>
              <a:t>운영</a:t>
            </a:r>
            <a:r>
              <a:rPr lang="en-US" altLang="ko-KR" b="0" i="0" dirty="0">
                <a:effectLst/>
                <a:latin typeface="fkGroteskNeue"/>
              </a:rPr>
              <a:t>, </a:t>
            </a:r>
            <a:r>
              <a:rPr lang="ko-KR" altLang="en-US" b="0" i="0" dirty="0">
                <a:effectLst/>
                <a:latin typeface="fkGroteskNeue"/>
              </a:rPr>
              <a:t>학력 평가 등에 관한 법규를 숙지</a:t>
            </a:r>
            <a:r>
              <a:rPr lang="en-US" altLang="ko-KR" b="0" i="0" dirty="0">
                <a:effectLst/>
                <a:latin typeface="fkGroteskNeue"/>
              </a:rPr>
              <a:t>.</a:t>
            </a:r>
            <a:r>
              <a:rPr lang="ko-KR" altLang="en-US" b="0" i="0" dirty="0">
                <a:effectLst/>
                <a:latin typeface="fkGroteskNeue"/>
              </a:rPr>
              <a:t> </a:t>
            </a:r>
            <a:endParaRPr lang="en-GB" altLang="ko-KR" dirty="0">
              <a:latin typeface="fkGrotesk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effectLst/>
                <a:latin typeface="fkGroteskNeue"/>
              </a:rPr>
              <a:t>사이버 교육 관련 법규</a:t>
            </a:r>
            <a:r>
              <a:rPr lang="ko-KR" altLang="en-US" dirty="0">
                <a:latin typeface="fkGroteskNeue"/>
              </a:rPr>
              <a:t>준수</a:t>
            </a:r>
            <a:endParaRPr lang="en-US" altLang="ko-KR" b="0" i="0" dirty="0">
              <a:effectLst/>
              <a:latin typeface="fkGrotesk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1533</Words>
  <Application>Microsoft Macintosh PowerPoint</Application>
  <PresentationFormat>Custom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Apple SD Gothic Neo</vt:lpstr>
      <vt:lpstr>fkGroteskNeue</vt:lpstr>
      <vt:lpstr>var(--font-fk-grotesk)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Christina Kim</cp:lastModifiedBy>
  <cp:revision>5</cp:revision>
  <dcterms:created xsi:type="dcterms:W3CDTF">2025-04-21T00:55:53Z</dcterms:created>
  <dcterms:modified xsi:type="dcterms:W3CDTF">2025-04-24T14:14:15Z</dcterms:modified>
</cp:coreProperties>
</file>