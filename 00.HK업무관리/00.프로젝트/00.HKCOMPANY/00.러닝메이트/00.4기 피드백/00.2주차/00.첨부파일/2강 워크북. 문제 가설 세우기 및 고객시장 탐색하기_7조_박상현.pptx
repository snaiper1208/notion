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3" r:id="rId4"/>
    <p:sldId id="265" r:id="rId5"/>
    <p:sldId id="266" r:id="rId6"/>
    <p:sldId id="267" r:id="rId7"/>
    <p:sldId id="269" r:id="rId8"/>
    <p:sldId id="272" r:id="rId9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0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891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F59D88-7F20-CC79-48FE-D79C427779E1}"/>
              </a:ext>
            </a:extLst>
          </p:cNvPr>
          <p:cNvSpPr txBox="1"/>
          <p:nvPr/>
        </p:nvSpPr>
        <p:spPr>
          <a:xfrm>
            <a:off x="1110344" y="2549043"/>
            <a:ext cx="1152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무인점포</a:t>
            </a:r>
            <a:r>
              <a:rPr lang="ko-KR" altLang="en-US" dirty="0"/>
              <a:t> 사장들은 사람을 구하는데 어려움이 있을 것이다</a:t>
            </a:r>
            <a:r>
              <a:rPr lang="en-US" altLang="ko-KR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3BD608-E092-9652-33D6-1A20F77B292F}"/>
              </a:ext>
            </a:extLst>
          </p:cNvPr>
          <p:cNvSpPr txBox="1"/>
          <p:nvPr/>
        </p:nvSpPr>
        <p:spPr>
          <a:xfrm>
            <a:off x="1110344" y="3541820"/>
            <a:ext cx="1152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무인점포</a:t>
            </a:r>
            <a:r>
              <a:rPr lang="ko-KR" altLang="en-US" dirty="0"/>
              <a:t> 사장들은 완전한 자동화를 원할 것이다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A7753-C0AF-029A-BB95-394EF785BCB9}"/>
              </a:ext>
            </a:extLst>
          </p:cNvPr>
          <p:cNvSpPr txBox="1"/>
          <p:nvPr/>
        </p:nvSpPr>
        <p:spPr>
          <a:xfrm>
            <a:off x="1110344" y="4513829"/>
            <a:ext cx="1152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중장년</a:t>
            </a:r>
            <a:r>
              <a:rPr lang="ko-KR" altLang="en-US" dirty="0"/>
              <a:t> 층은 일자리가 필요하다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94E767-8466-FE8D-5499-C802386AE379}"/>
              </a:ext>
            </a:extLst>
          </p:cNvPr>
          <p:cNvSpPr txBox="1"/>
          <p:nvPr/>
        </p:nvSpPr>
        <p:spPr>
          <a:xfrm>
            <a:off x="1110344" y="5517322"/>
            <a:ext cx="1152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중장년</a:t>
            </a:r>
            <a:r>
              <a:rPr lang="ko-KR" altLang="en-US" dirty="0"/>
              <a:t> 층은 </a:t>
            </a:r>
            <a:r>
              <a:rPr lang="ko-KR" altLang="en-US" dirty="0" err="1"/>
              <a:t>도급직</a:t>
            </a:r>
            <a:r>
              <a:rPr lang="en-US" altLang="ko-KR" dirty="0"/>
              <a:t>(</a:t>
            </a:r>
            <a:r>
              <a:rPr lang="ko-KR" altLang="en-US" dirty="0"/>
              <a:t>기본급 없는 일자리</a:t>
            </a:r>
            <a:r>
              <a:rPr lang="en-US" altLang="ko-KR" dirty="0"/>
              <a:t>)</a:t>
            </a:r>
            <a:r>
              <a:rPr lang="ko-KR" altLang="en-US" dirty="0"/>
              <a:t>도 참여할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9856F6-EE33-26A5-D2A7-288BA5585B6D}"/>
              </a:ext>
            </a:extLst>
          </p:cNvPr>
          <p:cNvSpPr txBox="1"/>
          <p:nvPr/>
        </p:nvSpPr>
        <p:spPr>
          <a:xfrm>
            <a:off x="1110344" y="6508262"/>
            <a:ext cx="1152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중장년층은 비 정기적은 일자리에도 참여할 것이다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6C166F-0828-4EE3-4242-DA14736A6FB4}"/>
              </a:ext>
            </a:extLst>
          </p:cNvPr>
          <p:cNvSpPr txBox="1"/>
          <p:nvPr/>
        </p:nvSpPr>
        <p:spPr>
          <a:xfrm>
            <a:off x="1110344" y="7499202"/>
            <a:ext cx="11521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무인점포</a:t>
            </a:r>
            <a:r>
              <a:rPr lang="ko-KR" altLang="en-US" dirty="0"/>
              <a:t> 관리는 중장년층도 가능하다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164D3F-6240-482F-A78C-AC316827593F}"/>
              </a:ext>
            </a:extLst>
          </p:cNvPr>
          <p:cNvSpPr txBox="1"/>
          <p:nvPr/>
        </p:nvSpPr>
        <p:spPr>
          <a:xfrm>
            <a:off x="12863648" y="2319269"/>
            <a:ext cx="4212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O</a:t>
            </a:r>
          </a:p>
          <a:p>
            <a:pPr algn="ctr"/>
            <a:r>
              <a:rPr lang="ko-KR" altLang="en-US" dirty="0"/>
              <a:t>뉴스와 개인적 인터뷰</a:t>
            </a:r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10E1AE-D269-2B37-5802-0730E4A5C356}"/>
              </a:ext>
            </a:extLst>
          </p:cNvPr>
          <p:cNvSpPr txBox="1"/>
          <p:nvPr/>
        </p:nvSpPr>
        <p:spPr>
          <a:xfrm>
            <a:off x="12863648" y="3253544"/>
            <a:ext cx="42122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△</a:t>
            </a:r>
            <a:endParaRPr lang="en-US" altLang="ko-KR" dirty="0"/>
          </a:p>
          <a:p>
            <a:pPr algn="ctr"/>
            <a:r>
              <a:rPr lang="ko-KR" altLang="en-US" dirty="0"/>
              <a:t>개인 인터뷰를 통해서 </a:t>
            </a:r>
            <a:r>
              <a:rPr lang="ko-KR" altLang="en-US" dirty="0" err="1"/>
              <a:t>두곳은</a:t>
            </a:r>
            <a:r>
              <a:rPr lang="ko-KR" altLang="en-US" dirty="0"/>
              <a:t> 원하지 않고 한 곳은 </a:t>
            </a:r>
            <a:r>
              <a:rPr lang="ko-KR" altLang="en-US" dirty="0" err="1"/>
              <a:t>원했디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CF0088-FF68-056F-16F5-A5258DCCA901}"/>
              </a:ext>
            </a:extLst>
          </p:cNvPr>
          <p:cNvSpPr txBox="1"/>
          <p:nvPr/>
        </p:nvSpPr>
        <p:spPr>
          <a:xfrm>
            <a:off x="12863648" y="4465468"/>
            <a:ext cx="4212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O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A3D997-5615-0208-3162-ACC8804B5565}"/>
              </a:ext>
            </a:extLst>
          </p:cNvPr>
          <p:cNvSpPr txBox="1"/>
          <p:nvPr/>
        </p:nvSpPr>
        <p:spPr>
          <a:xfrm>
            <a:off x="12863648" y="5315714"/>
            <a:ext cx="42122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O</a:t>
            </a:r>
          </a:p>
          <a:p>
            <a:pPr algn="ctr"/>
            <a:r>
              <a:rPr lang="ko-KR" altLang="en-US" dirty="0"/>
              <a:t>실제 지금 회사에 많은 도급직이 존재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3CF317-FE16-2D69-1ACC-EED5589BBC77}"/>
              </a:ext>
            </a:extLst>
          </p:cNvPr>
          <p:cNvSpPr txBox="1"/>
          <p:nvPr/>
        </p:nvSpPr>
        <p:spPr>
          <a:xfrm>
            <a:off x="12863648" y="6431671"/>
            <a:ext cx="4212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O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AB2EB6-0BD1-99D3-8DAC-DA393C1031FD}"/>
              </a:ext>
            </a:extLst>
          </p:cNvPr>
          <p:cNvSpPr txBox="1"/>
          <p:nvPr/>
        </p:nvSpPr>
        <p:spPr>
          <a:xfrm>
            <a:off x="12863648" y="7452972"/>
            <a:ext cx="4212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O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1A970F-03AF-E8FC-903A-9599BC878529}"/>
              </a:ext>
            </a:extLst>
          </p:cNvPr>
          <p:cNvSpPr txBox="1"/>
          <p:nvPr/>
        </p:nvSpPr>
        <p:spPr>
          <a:xfrm>
            <a:off x="1214846" y="1933303"/>
            <a:ext cx="679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무인점포</a:t>
            </a:r>
            <a:r>
              <a:rPr lang="ko-KR" altLang="en-US" dirty="0"/>
              <a:t> 주인은 직원 구직에 어려움이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51B70-8077-4C3E-E485-2B21B9E6D0CE}"/>
              </a:ext>
            </a:extLst>
          </p:cNvPr>
          <p:cNvSpPr txBox="1"/>
          <p:nvPr/>
        </p:nvSpPr>
        <p:spPr>
          <a:xfrm>
            <a:off x="9548633" y="1933303"/>
            <a:ext cx="6792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적은 시간만 일을 하여 급여가 적기 때문에</a:t>
            </a:r>
            <a:endParaRPr lang="en-US" altLang="ko-KR" dirty="0"/>
          </a:p>
          <a:p>
            <a:r>
              <a:rPr lang="ko-KR" altLang="en-US" dirty="0"/>
              <a:t>적은 시간만 사람이 필요하기 때문에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9CC73-DFF1-2856-D0DA-60B0F6040434}"/>
              </a:ext>
            </a:extLst>
          </p:cNvPr>
          <p:cNvSpPr txBox="1"/>
          <p:nvPr/>
        </p:nvSpPr>
        <p:spPr>
          <a:xfrm>
            <a:off x="1835332" y="4787537"/>
            <a:ext cx="2168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당근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091554-9B9F-FEF5-DD01-CFE4C59DF531}"/>
              </a:ext>
            </a:extLst>
          </p:cNvPr>
          <p:cNvSpPr txBox="1"/>
          <p:nvPr/>
        </p:nvSpPr>
        <p:spPr>
          <a:xfrm>
            <a:off x="1593670" y="6125027"/>
            <a:ext cx="2168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하이어엑스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 err="1"/>
              <a:t>브라우니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D95C1-BB9B-2138-D383-D1C8199A05F1}"/>
              </a:ext>
            </a:extLst>
          </p:cNvPr>
          <p:cNvSpPr txBox="1"/>
          <p:nvPr/>
        </p:nvSpPr>
        <p:spPr>
          <a:xfrm>
            <a:off x="1593670" y="7603795"/>
            <a:ext cx="2168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알바몬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BDF6C5-E6FC-1143-290D-54808EBFA770}"/>
              </a:ext>
            </a:extLst>
          </p:cNvPr>
          <p:cNvSpPr txBox="1"/>
          <p:nvPr/>
        </p:nvSpPr>
        <p:spPr>
          <a:xfrm>
            <a:off x="4284617" y="4771515"/>
            <a:ext cx="249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지역기반 </a:t>
            </a:r>
            <a:r>
              <a:rPr lang="ko-KR" altLang="en-US" dirty="0" err="1"/>
              <a:t>알바생모집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74459D-970B-ACDF-AD9C-96E662747EA1}"/>
              </a:ext>
            </a:extLst>
          </p:cNvPr>
          <p:cNvSpPr txBox="1"/>
          <p:nvPr/>
        </p:nvSpPr>
        <p:spPr>
          <a:xfrm>
            <a:off x="8007531" y="4679182"/>
            <a:ext cx="3892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우리나라 최대 </a:t>
            </a:r>
            <a:r>
              <a:rPr lang="ko-KR" altLang="en-US" dirty="0" err="1"/>
              <a:t>하이퍼로컬</a:t>
            </a:r>
            <a:r>
              <a:rPr lang="ko-KR" altLang="en-US" dirty="0"/>
              <a:t> 서비스로 동네에서 찾아주기 좋다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BF754A-B653-53A0-64DC-2113009C4EAE}"/>
              </a:ext>
            </a:extLst>
          </p:cNvPr>
          <p:cNvSpPr txBox="1"/>
          <p:nvPr/>
        </p:nvSpPr>
        <p:spPr>
          <a:xfrm>
            <a:off x="7889965" y="6107831"/>
            <a:ext cx="3892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무인매장을</a:t>
            </a:r>
            <a:r>
              <a:rPr lang="ko-KR" altLang="en-US" dirty="0"/>
              <a:t> 위한 원스톱 서비스를 제공한다</a:t>
            </a:r>
            <a:r>
              <a:rPr lang="en-US" altLang="ko-KR" dirty="0"/>
              <a:t>. (</a:t>
            </a:r>
            <a:r>
              <a:rPr lang="ko-KR" altLang="en-US" dirty="0"/>
              <a:t>전산</a:t>
            </a:r>
            <a:r>
              <a:rPr lang="en-US" altLang="ko-KR" dirty="0"/>
              <a:t>, </a:t>
            </a:r>
            <a:r>
              <a:rPr lang="ko-KR" altLang="en-US" dirty="0"/>
              <a:t>제품 등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35114B-8958-3A4B-7869-6779B9BD6397}"/>
              </a:ext>
            </a:extLst>
          </p:cNvPr>
          <p:cNvSpPr txBox="1"/>
          <p:nvPr/>
        </p:nvSpPr>
        <p:spPr>
          <a:xfrm>
            <a:off x="8046720" y="7489869"/>
            <a:ext cx="3984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최대 플랫폼으로 지원이 많다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88AAB0-4126-446A-DDF9-2A467195C3BD}"/>
              </a:ext>
            </a:extLst>
          </p:cNvPr>
          <p:cNvSpPr txBox="1"/>
          <p:nvPr/>
        </p:nvSpPr>
        <p:spPr>
          <a:xfrm>
            <a:off x="12200388" y="4402182"/>
            <a:ext cx="41931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무인점포</a:t>
            </a:r>
            <a:r>
              <a:rPr lang="ko-KR" altLang="en-US" dirty="0"/>
              <a:t> 만을 위한 플랫폼이 아니다 보니 알바생들이 다른 곳으로 이직한다</a:t>
            </a:r>
            <a:r>
              <a:rPr lang="en-US" altLang="ko-KR" dirty="0"/>
              <a:t>. </a:t>
            </a:r>
            <a:r>
              <a:rPr lang="ko-KR" altLang="en-US" dirty="0"/>
              <a:t>시급 중심의 알바로 초단시간이 어렵다</a:t>
            </a:r>
            <a:r>
              <a:rPr lang="en-US" altLang="ko-KR" dirty="0"/>
              <a:t>.(</a:t>
            </a:r>
            <a:r>
              <a:rPr lang="ko-KR" altLang="en-US" dirty="0"/>
              <a:t>일 </a:t>
            </a:r>
            <a:r>
              <a:rPr lang="en-US" altLang="ko-KR" dirty="0"/>
              <a:t>1</a:t>
            </a:r>
            <a:r>
              <a:rPr lang="ko-KR" altLang="en-US" dirty="0"/>
              <a:t>시간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82F551-6A0C-AE50-12DA-17989C5369E0}"/>
              </a:ext>
            </a:extLst>
          </p:cNvPr>
          <p:cNvSpPr txBox="1"/>
          <p:nvPr/>
        </p:nvSpPr>
        <p:spPr>
          <a:xfrm>
            <a:off x="12160882" y="5830833"/>
            <a:ext cx="40099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시급중심으로 초단시간 알바 구하기 어려움</a:t>
            </a:r>
            <a:r>
              <a:rPr lang="en-US" altLang="ko-KR" dirty="0"/>
              <a:t>, </a:t>
            </a:r>
            <a:r>
              <a:rPr lang="ko-KR" altLang="en-US" dirty="0"/>
              <a:t>지역기반의 효율적인  알바생이 아님</a:t>
            </a:r>
            <a:endParaRPr lang="en-US" altLang="ko-KR" dirty="0"/>
          </a:p>
          <a:p>
            <a:r>
              <a:rPr lang="ko-KR" altLang="en-US" dirty="0"/>
              <a:t>규정이 많아 제약이 많음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2DF46A-BF3D-AC76-B92B-0B640535041F}"/>
              </a:ext>
            </a:extLst>
          </p:cNvPr>
          <p:cNvSpPr txBox="1"/>
          <p:nvPr/>
        </p:nvSpPr>
        <p:spPr>
          <a:xfrm>
            <a:off x="12200388" y="7326796"/>
            <a:ext cx="39574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마구잡이로 지원이 많아 면접 참여부터 적고 비용대비 적합한 알바생을 구하기 어렵다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374674-3005-F7CE-798A-76FAED39152E}"/>
              </a:ext>
            </a:extLst>
          </p:cNvPr>
          <p:cNvSpPr txBox="1"/>
          <p:nvPr/>
        </p:nvSpPr>
        <p:spPr>
          <a:xfrm>
            <a:off x="4284617" y="6109005"/>
            <a:ext cx="2495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지역기반 </a:t>
            </a:r>
            <a:r>
              <a:rPr lang="ko-KR" altLang="en-US" dirty="0" err="1"/>
              <a:t>알바생모집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74DF91-E595-48B2-62C0-47815058E408}"/>
              </a:ext>
            </a:extLst>
          </p:cNvPr>
          <p:cNvSpPr txBox="1"/>
          <p:nvPr/>
        </p:nvSpPr>
        <p:spPr>
          <a:xfrm>
            <a:off x="4257697" y="7573203"/>
            <a:ext cx="2495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아르바이트생을 모집해주는 플랫폼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7740F1-E2E2-76D3-F912-69776DCAE623}"/>
              </a:ext>
            </a:extLst>
          </p:cNvPr>
          <p:cNvSpPr txBox="1"/>
          <p:nvPr/>
        </p:nvSpPr>
        <p:spPr>
          <a:xfrm>
            <a:off x="796834" y="5421086"/>
            <a:ext cx="1058092" cy="288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30BAE-639F-D01F-CF91-66A94DEC5D19}"/>
              </a:ext>
            </a:extLst>
          </p:cNvPr>
          <p:cNvSpPr txBox="1"/>
          <p:nvPr/>
        </p:nvSpPr>
        <p:spPr>
          <a:xfrm>
            <a:off x="574765" y="2090057"/>
            <a:ext cx="1423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중장년층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A5ABA4-76A0-E8F4-5382-81FBA61DC2B4}"/>
              </a:ext>
            </a:extLst>
          </p:cNvPr>
          <p:cNvSpPr txBox="1"/>
          <p:nvPr/>
        </p:nvSpPr>
        <p:spPr>
          <a:xfrm>
            <a:off x="1691636" y="2147327"/>
            <a:ext cx="3526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나이가 많아 써주지 않는다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E4EBE5-A3D2-3E8D-6CDA-CAA018E685C6}"/>
              </a:ext>
            </a:extLst>
          </p:cNvPr>
          <p:cNvSpPr txBox="1"/>
          <p:nvPr/>
        </p:nvSpPr>
        <p:spPr>
          <a:xfrm>
            <a:off x="1600198" y="3121649"/>
            <a:ext cx="4036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취업트렌드를</a:t>
            </a:r>
            <a:r>
              <a:rPr lang="ko-KR" altLang="en-US" dirty="0"/>
              <a:t> 따라가기 어렵다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CC3824-1121-78A7-927E-B79083B60239}"/>
              </a:ext>
            </a:extLst>
          </p:cNvPr>
          <p:cNvSpPr txBox="1"/>
          <p:nvPr/>
        </p:nvSpPr>
        <p:spPr>
          <a:xfrm>
            <a:off x="1998616" y="4307417"/>
            <a:ext cx="4611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힘든 일을 하기 싫고 </a:t>
            </a:r>
            <a:endParaRPr lang="en-US" altLang="ko-KR" dirty="0"/>
          </a:p>
          <a:p>
            <a:r>
              <a:rPr lang="ko-KR" altLang="en-US" dirty="0"/>
              <a:t>적당히 일하고 싶다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D232AA-E92E-4876-5DFF-A37E8D54CECC}"/>
              </a:ext>
            </a:extLst>
          </p:cNvPr>
          <p:cNvSpPr txBox="1"/>
          <p:nvPr/>
        </p:nvSpPr>
        <p:spPr>
          <a:xfrm>
            <a:off x="6035039" y="2090056"/>
            <a:ext cx="48332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강점</a:t>
            </a:r>
            <a:r>
              <a:rPr lang="en-US" altLang="ko-KR" dirty="0"/>
              <a:t>)</a:t>
            </a:r>
            <a:r>
              <a:rPr lang="ko-KR" altLang="en-US" dirty="0"/>
              <a:t>다양한 일자리를 볼 수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한계</a:t>
            </a:r>
            <a:r>
              <a:rPr lang="en-US" altLang="ko-KR" dirty="0"/>
              <a:t>)</a:t>
            </a:r>
            <a:r>
              <a:rPr lang="ko-KR" altLang="en-US" dirty="0"/>
              <a:t>젊은이들이 기피하는 일자리 외에는 들어가기 힘들고</a:t>
            </a:r>
            <a:r>
              <a:rPr lang="en-US" altLang="ko-KR" dirty="0"/>
              <a:t> </a:t>
            </a:r>
            <a:r>
              <a:rPr lang="ko-KR" altLang="en-US" dirty="0"/>
              <a:t>그곳도 경력이 없으면 들어가기 힘들다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71DC39-BD64-CB85-D963-28D00B5C25C9}"/>
              </a:ext>
            </a:extLst>
          </p:cNvPr>
          <p:cNvSpPr txBox="1"/>
          <p:nvPr/>
        </p:nvSpPr>
        <p:spPr>
          <a:xfrm>
            <a:off x="11377748" y="2090056"/>
            <a:ext cx="4833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수수료식으로 점포당 금액으로 본인의 근로 적정양을 일할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19854F-B30F-D7C0-1B1B-18351A554DB7}"/>
              </a:ext>
            </a:extLst>
          </p:cNvPr>
          <p:cNvSpPr txBox="1"/>
          <p:nvPr/>
        </p:nvSpPr>
        <p:spPr>
          <a:xfrm>
            <a:off x="11377748" y="3692298"/>
            <a:ext cx="4833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크게 기술 없이 교육을 통해서 주변 매장을 낮은 강도로 일할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ED5CEF-A210-616C-5617-38715F3DFFD6}"/>
              </a:ext>
            </a:extLst>
          </p:cNvPr>
          <p:cNvSpPr txBox="1"/>
          <p:nvPr/>
        </p:nvSpPr>
        <p:spPr>
          <a:xfrm>
            <a:off x="574765" y="5405529"/>
            <a:ext cx="1423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부업하는</a:t>
            </a:r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직장인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34E1DE-6F57-687C-0DB4-5B1AC04AABBD}"/>
              </a:ext>
            </a:extLst>
          </p:cNvPr>
          <p:cNvSpPr txBox="1"/>
          <p:nvPr/>
        </p:nvSpPr>
        <p:spPr>
          <a:xfrm>
            <a:off x="1998616" y="5405528"/>
            <a:ext cx="3638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적은 시간에 많은 돈을 </a:t>
            </a:r>
            <a:r>
              <a:rPr lang="en-US" altLang="ko-KR" dirty="0"/>
              <a:t> </a:t>
            </a:r>
            <a:r>
              <a:rPr lang="ko-KR" altLang="en-US" dirty="0"/>
              <a:t>벌고 싶으나 마땅한 곳을 </a:t>
            </a:r>
            <a:r>
              <a:rPr lang="ko-KR" altLang="en-US" dirty="0" err="1"/>
              <a:t>구히</a:t>
            </a:r>
            <a:r>
              <a:rPr lang="ko-KR" altLang="en-US" dirty="0"/>
              <a:t> 힘들다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D25BEC-C9A9-95B8-C7D8-951380B81F4E}"/>
              </a:ext>
            </a:extLst>
          </p:cNvPr>
          <p:cNvSpPr txBox="1"/>
          <p:nvPr/>
        </p:nvSpPr>
        <p:spPr>
          <a:xfrm>
            <a:off x="1998616" y="6535733"/>
            <a:ext cx="3638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정기적이더라도 원하는 때에 일하고 싶다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31E232-FD86-BCC3-A304-109C236B9382}"/>
              </a:ext>
            </a:extLst>
          </p:cNvPr>
          <p:cNvSpPr txBox="1"/>
          <p:nvPr/>
        </p:nvSpPr>
        <p:spPr>
          <a:xfrm>
            <a:off x="1998616" y="7768642"/>
            <a:ext cx="363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본업에 지장을 주고 싶지 않다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F63BF9-13D8-B1F5-A0E8-6B7A35517E67}"/>
              </a:ext>
            </a:extLst>
          </p:cNvPr>
          <p:cNvSpPr txBox="1"/>
          <p:nvPr/>
        </p:nvSpPr>
        <p:spPr>
          <a:xfrm>
            <a:off x="6035039" y="5405528"/>
            <a:ext cx="48332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강점</a:t>
            </a:r>
            <a:r>
              <a:rPr lang="en-US" altLang="ko-KR" dirty="0"/>
              <a:t>) </a:t>
            </a:r>
            <a:r>
              <a:rPr lang="ko-KR" altLang="en-US" dirty="0"/>
              <a:t>다양한 일자리를 찾을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한계</a:t>
            </a:r>
            <a:r>
              <a:rPr lang="en-US" altLang="ko-KR" dirty="0"/>
              <a:t>)</a:t>
            </a:r>
            <a:r>
              <a:rPr lang="ko-KR" altLang="en-US" dirty="0"/>
              <a:t>지속적으로 일하는 곳이 아니면 찾기 힘들고</a:t>
            </a:r>
            <a:endParaRPr lang="en-US" altLang="ko-KR" dirty="0"/>
          </a:p>
          <a:p>
            <a:r>
              <a:rPr lang="ko-KR" altLang="en-US" dirty="0"/>
              <a:t>단기 알바의 경우 계속 구해야 하는 아쉬움이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지역에 가까운 곳을 원하지만 찾기 힘들고 찾아도 막상 시간이 근무 시간일 때가 </a:t>
            </a:r>
            <a:r>
              <a:rPr lang="ko-KR" altLang="en-US" dirty="0" err="1"/>
              <a:t>많아하기</a:t>
            </a:r>
            <a:r>
              <a:rPr lang="ko-KR" altLang="en-US" dirty="0"/>
              <a:t> 어렵다</a:t>
            </a:r>
            <a:r>
              <a:rPr lang="en-US" altLang="ko-KR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D3A955-8236-0D39-1612-82652CA4C48B}"/>
              </a:ext>
            </a:extLst>
          </p:cNvPr>
          <p:cNvSpPr txBox="1"/>
          <p:nvPr/>
        </p:nvSpPr>
        <p:spPr>
          <a:xfrm>
            <a:off x="11377748" y="5405528"/>
            <a:ext cx="4833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지역기반으로 이동시간 최소화 하여 효율적으로 일할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75A6D8-FE65-7307-85BD-CF9528B0FFE7}"/>
              </a:ext>
            </a:extLst>
          </p:cNvPr>
          <p:cNvSpPr txBox="1"/>
          <p:nvPr/>
        </p:nvSpPr>
        <p:spPr>
          <a:xfrm>
            <a:off x="11377748" y="7007770"/>
            <a:ext cx="4833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수수료식 수당식이라서 원하는 만큼 일할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C945DB-B06B-C580-161D-223B2176370A}"/>
              </a:ext>
            </a:extLst>
          </p:cNvPr>
          <p:cNvSpPr txBox="1"/>
          <p:nvPr/>
        </p:nvSpPr>
        <p:spPr>
          <a:xfrm>
            <a:off x="822960" y="6332411"/>
            <a:ext cx="15544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/>
              <a:t>고객에게 적정한 노동력</a:t>
            </a:r>
            <a:r>
              <a:rPr lang="en-US" altLang="ko-KR" dirty="0"/>
              <a:t> </a:t>
            </a:r>
            <a:r>
              <a:rPr lang="ko-KR" altLang="en-US" dirty="0"/>
              <a:t>문제가 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고객은 이 문제를 해결하기 위해 적합한 사람을 적은 비용에 뽑을 의향이 있다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이 제품을 사용</a:t>
            </a:r>
            <a:r>
              <a:rPr lang="en-US" altLang="ko-KR" dirty="0"/>
              <a:t>/</a:t>
            </a:r>
            <a:r>
              <a:rPr lang="ko-KR" altLang="en-US" dirty="0"/>
              <a:t>구매하는데 관련이 있는 이해관계자는 </a:t>
            </a:r>
            <a:r>
              <a:rPr lang="ko-KR" altLang="en-US" dirty="0" err="1"/>
              <a:t>무인점포</a:t>
            </a:r>
            <a:r>
              <a:rPr lang="ko-KR" altLang="en-US" dirty="0"/>
              <a:t> 사장이다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이 제품을 제작</a:t>
            </a:r>
            <a:r>
              <a:rPr lang="en-US" altLang="ko-KR" dirty="0"/>
              <a:t>/</a:t>
            </a:r>
            <a:r>
              <a:rPr lang="ko-KR" altLang="en-US" dirty="0"/>
              <a:t>유통하는 데 관련이 있는 파트너는 구직자</a:t>
            </a:r>
            <a:r>
              <a:rPr lang="en-US" altLang="ko-KR" dirty="0"/>
              <a:t>(</a:t>
            </a:r>
            <a:r>
              <a:rPr lang="ko-KR" altLang="en-US" dirty="0"/>
              <a:t>부업</a:t>
            </a:r>
            <a:r>
              <a:rPr lang="en-US" altLang="ko-KR" dirty="0"/>
              <a:t>, </a:t>
            </a:r>
            <a:r>
              <a:rPr lang="ko-KR" altLang="en-US" dirty="0" err="1"/>
              <a:t>중장년</a:t>
            </a:r>
            <a:r>
              <a:rPr lang="ko-KR" altLang="en-US" dirty="0"/>
              <a:t> 층</a:t>
            </a:r>
            <a:r>
              <a:rPr lang="en-US" altLang="ko-KR" dirty="0"/>
              <a:t>) 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이 제품을 제작</a:t>
            </a:r>
            <a:r>
              <a:rPr lang="en-US" altLang="ko-KR" dirty="0"/>
              <a:t>/</a:t>
            </a:r>
            <a:r>
              <a:rPr lang="ko-KR" altLang="en-US" dirty="0"/>
              <a:t>서비스하는 데 필요한 자원은 수수료 체계와 네트워크 체제</a:t>
            </a:r>
            <a:r>
              <a:rPr lang="en-US" altLang="ko-KR" dirty="0"/>
              <a:t>(</a:t>
            </a:r>
            <a:r>
              <a:rPr lang="ko-KR" altLang="en-US" dirty="0"/>
              <a:t>지역기반</a:t>
            </a:r>
            <a:r>
              <a:rPr lang="en-US" altLang="ko-KR" dirty="0"/>
              <a:t>),</a:t>
            </a:r>
            <a:r>
              <a:rPr lang="ko-KR" altLang="en-US" dirty="0"/>
              <a:t>노동력</a:t>
            </a:r>
            <a:r>
              <a:rPr lang="en-US" altLang="ko-KR" dirty="0"/>
              <a:t> 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만약 고객이 우리 제품을 구매</a:t>
            </a:r>
            <a:r>
              <a:rPr lang="en-US" altLang="ko-KR" dirty="0"/>
              <a:t>/</a:t>
            </a:r>
            <a:r>
              <a:rPr lang="ko-KR" altLang="en-US" dirty="0"/>
              <a:t>사용하지 않는다면 고객은 어렵게 알바생을 돈을 들여 찾을 것이다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고객이 우리 제품을 한번 사용하게 되면 고객은 다시 알바생을 찾는데 품을 </a:t>
            </a:r>
            <a:r>
              <a:rPr lang="ko-KR" altLang="en-US" dirty="0" err="1"/>
              <a:t>들지이지</a:t>
            </a:r>
            <a:r>
              <a:rPr lang="ko-KR" altLang="en-US" dirty="0"/>
              <a:t> 않는 결과를 얻을 것이다</a:t>
            </a:r>
            <a:r>
              <a:rPr lang="en-US" altLang="ko-KR" dirty="0"/>
              <a:t>.</a:t>
            </a:r>
          </a:p>
          <a:p>
            <a:pPr>
              <a:buNone/>
            </a:pPr>
            <a:r>
              <a:rPr lang="ko-KR" altLang="en-US" dirty="0"/>
              <a:t>이 문제는 고객들에게 효율성과 비용에</a:t>
            </a:r>
            <a:r>
              <a:rPr lang="en-US" altLang="ko-KR" dirty="0"/>
              <a:t> </a:t>
            </a:r>
            <a:r>
              <a:rPr lang="ko-KR" altLang="en-US" dirty="0"/>
              <a:t>영향을 준다</a:t>
            </a:r>
            <a:r>
              <a:rPr lang="en-US" altLang="ko-KR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C2112D-6327-06E7-33A8-F5F71DB60E8C}"/>
              </a:ext>
            </a:extLst>
          </p:cNvPr>
          <p:cNvSpPr txBox="1"/>
          <p:nvPr/>
        </p:nvSpPr>
        <p:spPr>
          <a:xfrm>
            <a:off x="574765" y="2090057"/>
            <a:ext cx="1423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무인점포</a:t>
            </a:r>
            <a:r>
              <a:rPr lang="ko-KR" altLang="en-US" dirty="0"/>
              <a:t> 사장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6385BD-6A43-EA9A-01DF-D09C1AD22BE7}"/>
              </a:ext>
            </a:extLst>
          </p:cNvPr>
          <p:cNvSpPr txBox="1"/>
          <p:nvPr/>
        </p:nvSpPr>
        <p:spPr>
          <a:xfrm>
            <a:off x="1345157" y="2090056"/>
            <a:ext cx="2821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구인이 어렵다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E6B1F-4531-E52C-1D41-101E5D7AEFDF}"/>
              </a:ext>
            </a:extLst>
          </p:cNvPr>
          <p:cNvSpPr txBox="1"/>
          <p:nvPr/>
        </p:nvSpPr>
        <p:spPr>
          <a:xfrm>
            <a:off x="1763484" y="3133113"/>
            <a:ext cx="3853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</a:t>
            </a:r>
            <a:r>
              <a:rPr lang="ko-KR" altLang="en-US" dirty="0" err="1"/>
              <a:t>시간이하로</a:t>
            </a:r>
            <a:r>
              <a:rPr lang="ko-KR" altLang="en-US" dirty="0"/>
              <a:t> 노동력이 필요하나</a:t>
            </a:r>
            <a:endParaRPr lang="en-US" altLang="ko-KR" dirty="0"/>
          </a:p>
          <a:p>
            <a:pPr algn="ctr"/>
            <a:r>
              <a:rPr lang="ko-KR" altLang="en-US" dirty="0"/>
              <a:t>초단시간</a:t>
            </a:r>
            <a:r>
              <a:rPr lang="en-US" altLang="ko-KR" dirty="0"/>
              <a:t>(</a:t>
            </a:r>
            <a:r>
              <a:rPr lang="ko-KR" altLang="en-US" dirty="0"/>
              <a:t>일 </a:t>
            </a:r>
            <a:r>
              <a:rPr lang="en-US" altLang="ko-KR" dirty="0"/>
              <a:t>1</a:t>
            </a:r>
            <a:r>
              <a:rPr lang="ko-KR" altLang="en-US" dirty="0"/>
              <a:t>이하</a:t>
            </a:r>
            <a:r>
              <a:rPr lang="en-US" altLang="ko-KR" dirty="0"/>
              <a:t>)</a:t>
            </a:r>
            <a:r>
              <a:rPr lang="ko-KR" altLang="en-US" dirty="0"/>
              <a:t>를 쓸 수 없다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5C596C-2A35-76E1-9F42-B97B7309FC40}"/>
              </a:ext>
            </a:extLst>
          </p:cNvPr>
          <p:cNvSpPr txBox="1"/>
          <p:nvPr/>
        </p:nvSpPr>
        <p:spPr>
          <a:xfrm>
            <a:off x="1894113" y="4211234"/>
            <a:ext cx="3722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본인이 다른 일이 있어 </a:t>
            </a:r>
            <a:r>
              <a:rPr lang="ko-KR" altLang="en-US" dirty="0" err="1"/>
              <a:t>무인점포에</a:t>
            </a:r>
            <a:r>
              <a:rPr lang="ko-KR" altLang="en-US" dirty="0"/>
              <a:t> 많은 시간을 쓰고 싶지 않다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B60632-7E24-DABB-78B1-34A9AAEA10CE}"/>
              </a:ext>
            </a:extLst>
          </p:cNvPr>
          <p:cNvSpPr txBox="1"/>
          <p:nvPr/>
        </p:nvSpPr>
        <p:spPr>
          <a:xfrm>
            <a:off x="6035039" y="2090056"/>
            <a:ext cx="48332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강점</a:t>
            </a:r>
            <a:r>
              <a:rPr lang="en-US" altLang="ko-KR" dirty="0"/>
              <a:t>) </a:t>
            </a:r>
            <a:r>
              <a:rPr lang="ko-KR" altLang="en-US" dirty="0"/>
              <a:t>많은 수의 사람에게 광고할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한계</a:t>
            </a:r>
            <a:r>
              <a:rPr lang="en-US" altLang="ko-KR" dirty="0"/>
              <a:t>) </a:t>
            </a:r>
            <a:r>
              <a:rPr lang="ko-KR" altLang="en-US" dirty="0"/>
              <a:t>지원자는 받을 수 있으나 원스톱으로 일할 마땅한 사람을 찾을 수 는 없다</a:t>
            </a:r>
            <a:r>
              <a:rPr lang="en-US" altLang="ko-KR" dirty="0"/>
              <a:t>(</a:t>
            </a:r>
            <a:r>
              <a:rPr lang="ko-KR" altLang="en-US" dirty="0"/>
              <a:t>서류 전형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면접 등 필요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01BACB-A0A5-0C75-841A-B9B06414B046}"/>
              </a:ext>
            </a:extLst>
          </p:cNvPr>
          <p:cNvSpPr txBox="1"/>
          <p:nvPr/>
        </p:nvSpPr>
        <p:spPr>
          <a:xfrm>
            <a:off x="11377748" y="2090056"/>
            <a:ext cx="4833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수수료만 내면 </a:t>
            </a:r>
            <a:r>
              <a:rPr lang="ko-KR" altLang="en-US" dirty="0" err="1"/>
              <a:t>극초단기</a:t>
            </a:r>
            <a:r>
              <a:rPr lang="en-US" altLang="ko-KR" dirty="0"/>
              <a:t> (1</a:t>
            </a:r>
            <a:r>
              <a:rPr lang="ko-KR" altLang="en-US" dirty="0"/>
              <a:t>시간 이내</a:t>
            </a:r>
            <a:r>
              <a:rPr lang="en-US" altLang="ko-KR" dirty="0"/>
              <a:t>)</a:t>
            </a:r>
            <a:r>
              <a:rPr lang="ko-KR" altLang="en-US" dirty="0"/>
              <a:t>에도 수수료식으로 일할 사람을 구할 수 있게 해준다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C2F102-8F7F-E57A-689A-1F99E5424399}"/>
              </a:ext>
            </a:extLst>
          </p:cNvPr>
          <p:cNvSpPr txBox="1"/>
          <p:nvPr/>
        </p:nvSpPr>
        <p:spPr>
          <a:xfrm>
            <a:off x="11377748" y="3677950"/>
            <a:ext cx="4833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시간을 쓰지 않고 마땅한 사람을 찾아준다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0561E8-CD11-3E40-7F4E-84195B5D4142}"/>
              </a:ext>
            </a:extLst>
          </p:cNvPr>
          <p:cNvSpPr txBox="1"/>
          <p:nvPr/>
        </p:nvSpPr>
        <p:spPr>
          <a:xfrm>
            <a:off x="2455817" y="2322113"/>
            <a:ext cx="52904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도급직을 다루는 방법을 알고 있음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 err="1"/>
              <a:t>도급직</a:t>
            </a:r>
            <a:r>
              <a:rPr lang="ko-KR" altLang="en-US" dirty="0"/>
              <a:t> 고객센터 운영 경험 多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도급직에 유의점에 대해 알고 있음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지시</a:t>
            </a:r>
            <a:r>
              <a:rPr lang="en-US" altLang="ko-KR" dirty="0"/>
              <a:t>, </a:t>
            </a:r>
            <a:r>
              <a:rPr lang="ko-KR" altLang="en-US" dirty="0"/>
              <a:t>교육 등 불가 및 출퇴근 시간 규정 등의 문제점</a:t>
            </a:r>
            <a:r>
              <a:rPr lang="en-US" altLang="ko-KR" dirty="0"/>
              <a:t>,</a:t>
            </a:r>
            <a:r>
              <a:rPr lang="ko-KR" altLang="en-US" dirty="0"/>
              <a:t>퇴직금 문제점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중장년층을 활용한 인력 사업</a:t>
            </a:r>
            <a:r>
              <a:rPr lang="en-US" altLang="ko-KR" dirty="0"/>
              <a:t>(</a:t>
            </a:r>
            <a:r>
              <a:rPr lang="ko-KR" altLang="en-US" dirty="0"/>
              <a:t>고객센터</a:t>
            </a:r>
            <a:r>
              <a:rPr lang="en-US" altLang="ko-KR" dirty="0"/>
              <a:t>)</a:t>
            </a:r>
            <a:r>
              <a:rPr lang="ko-KR" altLang="en-US" dirty="0"/>
              <a:t>운영을 경험이 있음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 err="1"/>
              <a:t>도급직</a:t>
            </a:r>
            <a:r>
              <a:rPr lang="ko-KR" altLang="en-US" dirty="0"/>
              <a:t> 계약을 진행한 적이 많음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B3A73-C056-BB6F-B510-6A8C4348B639}"/>
              </a:ext>
            </a:extLst>
          </p:cNvPr>
          <p:cNvSpPr txBox="1"/>
          <p:nvPr/>
        </p:nvSpPr>
        <p:spPr>
          <a:xfrm>
            <a:off x="10607040" y="2322113"/>
            <a:ext cx="52904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플랫폼을 당장 운영할 수 없음</a:t>
            </a:r>
            <a:r>
              <a:rPr lang="en-US" altLang="ko-KR" dirty="0"/>
              <a:t>(IT</a:t>
            </a:r>
            <a:r>
              <a:rPr lang="ko-KR" altLang="en-US" dirty="0"/>
              <a:t>시스템 부족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사람을 </a:t>
            </a:r>
            <a:r>
              <a:rPr lang="ko-KR" altLang="en-US" dirty="0" err="1"/>
              <a:t>구한는데</a:t>
            </a:r>
            <a:r>
              <a:rPr lang="ko-KR" altLang="en-US" dirty="0"/>
              <a:t> 필요한 인프라가 없어 구인사이트를 활용해야 함</a:t>
            </a:r>
            <a:r>
              <a:rPr lang="en-US" altLang="ko-KR" dirty="0"/>
              <a:t>(</a:t>
            </a:r>
            <a:r>
              <a:rPr lang="ko-KR" altLang="en-US" dirty="0"/>
              <a:t>유료 사이트</a:t>
            </a:r>
            <a:r>
              <a:rPr lang="en-US" altLang="ko-KR" dirty="0"/>
              <a:t>, </a:t>
            </a:r>
            <a:r>
              <a:rPr lang="ko-KR" altLang="en-US" dirty="0" err="1"/>
              <a:t>알바몬</a:t>
            </a:r>
            <a:r>
              <a:rPr lang="en-US" altLang="ko-KR" dirty="0"/>
              <a:t>, </a:t>
            </a:r>
            <a:r>
              <a:rPr lang="ko-KR" altLang="en-US" dirty="0" err="1"/>
              <a:t>잡코리아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노무 이슈가 많을 수 있으나 노무에 대한 지식이 많지 않음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BA63EC-01ED-9ECA-21AB-45466592C75D}"/>
              </a:ext>
            </a:extLst>
          </p:cNvPr>
          <p:cNvSpPr txBox="1"/>
          <p:nvPr/>
        </p:nvSpPr>
        <p:spPr>
          <a:xfrm>
            <a:off x="2455816" y="6556265"/>
            <a:ext cx="52904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도급직을 </a:t>
            </a:r>
            <a:r>
              <a:rPr lang="ko-KR" altLang="en-US" dirty="0" err="1"/>
              <a:t>무인매장에</a:t>
            </a:r>
            <a:r>
              <a:rPr lang="ko-KR" altLang="en-US" dirty="0"/>
              <a:t> 적용한 사례가 없음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무인매장</a:t>
            </a:r>
            <a:r>
              <a:rPr lang="ko-KR" altLang="en-US" dirty="0"/>
              <a:t> 주인들은 극단시간만 근로할 사람을 원하나 구하기 힘든 상황</a:t>
            </a:r>
            <a:r>
              <a:rPr lang="en-US" altLang="ko-KR" dirty="0"/>
              <a:t>(</a:t>
            </a:r>
            <a:r>
              <a:rPr lang="ko-KR" altLang="en-US" dirty="0"/>
              <a:t>지원금과 최저임금의 상승으로 </a:t>
            </a:r>
            <a:r>
              <a:rPr lang="ko-KR" altLang="en-US" dirty="0" err="1"/>
              <a:t>알바생</a:t>
            </a:r>
            <a:r>
              <a:rPr lang="ko-KR" altLang="en-US" dirty="0"/>
              <a:t> 구하기 </a:t>
            </a:r>
            <a:r>
              <a:rPr lang="ko-KR" altLang="en-US" dirty="0" err="1"/>
              <a:t>힘듬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 err="1"/>
              <a:t>무인매장이</a:t>
            </a:r>
            <a:r>
              <a:rPr lang="ko-KR" altLang="en-US" dirty="0"/>
              <a:t> 급증하는 상황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en-US" altLang="ko-KR" b="0" i="0" dirty="0">
                <a:effectLst/>
                <a:latin typeface="fkGroteskNeue"/>
              </a:rPr>
              <a:t> 2023</a:t>
            </a:r>
            <a:r>
              <a:rPr lang="ko-KR" altLang="en-US" b="0" i="0" dirty="0">
                <a:effectLst/>
                <a:latin typeface="fkGroteskNeue"/>
              </a:rPr>
              <a:t>년 말 기준 </a:t>
            </a:r>
            <a:r>
              <a:rPr lang="ko-KR" altLang="en-US" b="0" i="0" dirty="0" err="1">
                <a:effectLst/>
                <a:latin typeface="fkGroteskNeue"/>
              </a:rPr>
              <a:t>무인점포</a:t>
            </a:r>
            <a:r>
              <a:rPr lang="ko-KR" altLang="en-US" b="0" i="0" dirty="0">
                <a:effectLst/>
                <a:latin typeface="fkGroteskNeue"/>
              </a:rPr>
              <a:t> 수는 </a:t>
            </a:r>
            <a:r>
              <a:rPr lang="en-US" altLang="ko-KR" b="0" i="0" dirty="0">
                <a:effectLst/>
                <a:latin typeface="fkGroteskNeue"/>
              </a:rPr>
              <a:t>5</a:t>
            </a:r>
            <a:r>
              <a:rPr lang="ko-KR" altLang="en-US" b="0" i="0" dirty="0">
                <a:effectLst/>
                <a:latin typeface="fkGroteskNeue"/>
              </a:rPr>
              <a:t>년 전과 비교해 약 </a:t>
            </a:r>
            <a:r>
              <a:rPr lang="en-US" altLang="ko-KR" b="0" i="0" dirty="0">
                <a:effectLst/>
                <a:latin typeface="fkGroteskNeue"/>
              </a:rPr>
              <a:t>5</a:t>
            </a:r>
            <a:r>
              <a:rPr lang="ko-KR" altLang="en-US" b="0" i="0" dirty="0">
                <a:effectLst/>
                <a:latin typeface="fkGroteskNeue"/>
              </a:rPr>
              <a:t>배 가까이 증가</a:t>
            </a:r>
            <a:r>
              <a:rPr lang="en-US" altLang="ko-KR" b="0" i="0" dirty="0">
                <a:effectLst/>
                <a:latin typeface="fkGroteskNeue"/>
              </a:rPr>
              <a:t>_</a:t>
            </a:r>
            <a:r>
              <a:rPr lang="ko-KR" altLang="en-US" b="0" i="0" dirty="0">
                <a:effectLst/>
                <a:latin typeface="fkGroteskNeue"/>
              </a:rPr>
              <a:t> 신한카드 </a:t>
            </a:r>
            <a:r>
              <a:rPr lang="ko-KR" altLang="en-US" b="0" i="0" dirty="0" err="1">
                <a:effectLst/>
                <a:latin typeface="fkGroteskNeue"/>
              </a:rPr>
              <a:t>빅데이터연구소</a:t>
            </a:r>
            <a:endParaRPr lang="en-US" altLang="ko-KR" b="0" i="0" dirty="0">
              <a:effectLst/>
              <a:latin typeface="fkGroteskNeue"/>
            </a:endParaRPr>
          </a:p>
          <a:p>
            <a:r>
              <a:rPr lang="en-US" altLang="ko-KR" b="0" i="0" dirty="0">
                <a:effectLst/>
                <a:latin typeface="fkGroteskNeue"/>
              </a:rPr>
              <a:t>23</a:t>
            </a:r>
            <a:r>
              <a:rPr lang="ko-KR" altLang="en-US" b="0" i="0" dirty="0">
                <a:effectLst/>
                <a:latin typeface="fkGroteskNeue"/>
              </a:rPr>
              <a:t>년 기준 </a:t>
            </a:r>
            <a:r>
              <a:rPr lang="en-US" altLang="ko-KR" b="0" i="0" dirty="0">
                <a:effectLst/>
                <a:latin typeface="fkGroteskNeue"/>
              </a:rPr>
              <a:t>6,300</a:t>
            </a:r>
            <a:r>
              <a:rPr lang="ko-KR" altLang="en-US" b="0" i="0" dirty="0">
                <a:effectLst/>
                <a:latin typeface="fkGroteskNeue"/>
              </a:rPr>
              <a:t>여개</a:t>
            </a:r>
            <a:r>
              <a:rPr lang="en-US" altLang="ko-KR" b="0" i="0" dirty="0">
                <a:effectLst/>
                <a:latin typeface="fkGroteskNeue"/>
              </a:rPr>
              <a:t>,</a:t>
            </a:r>
            <a:r>
              <a:rPr lang="en-US" altLang="ko-KR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083FA6-512C-D358-7084-70E8B63DA4D4}"/>
              </a:ext>
            </a:extLst>
          </p:cNvPr>
          <p:cNvSpPr txBox="1"/>
          <p:nvPr/>
        </p:nvSpPr>
        <p:spPr>
          <a:xfrm>
            <a:off x="10607040" y="6556265"/>
            <a:ext cx="52904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당근의 성장으로 지역기반 알바생을 뺏길 위험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경제상황 악화로 </a:t>
            </a:r>
            <a:r>
              <a:rPr lang="ko-KR" altLang="en-US" dirty="0" err="1"/>
              <a:t>무인점포</a:t>
            </a:r>
            <a:r>
              <a:rPr lang="ko-KR" altLang="en-US" dirty="0"/>
              <a:t> 폐업이 많아지고 있음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b="0" i="0" dirty="0">
                <a:effectLst/>
                <a:latin typeface="fkGroteskNeue"/>
              </a:rPr>
              <a:t>대표적인 </a:t>
            </a:r>
            <a:r>
              <a:rPr lang="ko-KR" altLang="en-US" b="0" i="0" dirty="0" err="1">
                <a:effectLst/>
                <a:latin typeface="fkGroteskNeue"/>
              </a:rPr>
              <a:t>무인점포</a:t>
            </a:r>
            <a:r>
              <a:rPr lang="ko-KR" altLang="en-US" b="0" i="0" dirty="0">
                <a:effectLst/>
                <a:latin typeface="fkGroteskNeue"/>
              </a:rPr>
              <a:t> 업종인 무인 아이스크림 할인점의 경우</a:t>
            </a:r>
            <a:r>
              <a:rPr lang="en-US" altLang="ko-KR" b="0" i="0" dirty="0">
                <a:effectLst/>
                <a:latin typeface="fkGroteskNeue"/>
              </a:rPr>
              <a:t>, 2023</a:t>
            </a:r>
            <a:r>
              <a:rPr lang="ko-KR" altLang="en-US" b="0" i="0" dirty="0">
                <a:effectLst/>
                <a:latin typeface="fkGroteskNeue"/>
              </a:rPr>
              <a:t>년 기준 국내 최초 브랜드의 </a:t>
            </a:r>
            <a:r>
              <a:rPr lang="ko-KR" altLang="en-US" b="0" i="0" dirty="0" err="1">
                <a:effectLst/>
                <a:latin typeface="fkGroteskNeue"/>
              </a:rPr>
              <a:t>폐점률이</a:t>
            </a:r>
            <a:r>
              <a:rPr lang="ko-KR" altLang="en-US" b="0" i="0" dirty="0">
                <a:effectLst/>
                <a:latin typeface="fkGroteskNeue"/>
              </a:rPr>
              <a:t> </a:t>
            </a:r>
            <a:r>
              <a:rPr lang="en-US" altLang="ko-KR" b="0" i="0" dirty="0">
                <a:effectLst/>
                <a:latin typeface="fkGroteskNeue"/>
              </a:rPr>
              <a:t>13.7%</a:t>
            </a:r>
            <a:r>
              <a:rPr lang="ko-KR" altLang="en-US" b="0" i="0" dirty="0">
                <a:effectLst/>
                <a:latin typeface="fkGroteskNeue"/>
              </a:rPr>
              <a:t>로 집계되었습니다</a:t>
            </a:r>
            <a:r>
              <a:rPr lang="en-US" altLang="ko-KR" b="0" i="0" dirty="0">
                <a:effectLst/>
                <a:latin typeface="fkGroteskNeue"/>
              </a:rPr>
              <a:t>. </a:t>
            </a:r>
            <a:r>
              <a:rPr lang="ko-KR" altLang="en-US" b="0" i="0" dirty="0">
                <a:effectLst/>
                <a:latin typeface="fkGroteskNeue"/>
              </a:rPr>
              <a:t>이는 전년 대비 </a:t>
            </a:r>
            <a:r>
              <a:rPr lang="en-US" altLang="ko-KR" b="0" i="0" dirty="0">
                <a:effectLst/>
                <a:latin typeface="fkGroteskNeue"/>
              </a:rPr>
              <a:t>8.3%</a:t>
            </a:r>
            <a:r>
              <a:rPr lang="ko-KR" altLang="en-US" b="0" i="0" dirty="0">
                <a:effectLst/>
                <a:latin typeface="fkGroteskNeue"/>
              </a:rPr>
              <a:t>포인트 상승한 수치로</a:t>
            </a:r>
            <a:r>
              <a:rPr lang="en-US" altLang="ko-KR" b="0" i="0" dirty="0">
                <a:effectLst/>
                <a:latin typeface="fkGroteskNeue"/>
              </a:rPr>
              <a:t>, 2021</a:t>
            </a:r>
            <a:r>
              <a:rPr lang="ko-KR" altLang="en-US" b="0" i="0" dirty="0">
                <a:effectLst/>
                <a:latin typeface="fkGroteskNeue"/>
              </a:rPr>
              <a:t>년 </a:t>
            </a:r>
            <a:r>
              <a:rPr lang="en-US" altLang="ko-KR" b="0" i="0" dirty="0">
                <a:effectLst/>
                <a:latin typeface="fkGroteskNeue"/>
              </a:rPr>
              <a:t>5.4%</a:t>
            </a:r>
            <a:r>
              <a:rPr lang="ko-KR" altLang="en-US" b="0" i="0" dirty="0">
                <a:effectLst/>
                <a:latin typeface="fkGroteskNeue"/>
              </a:rPr>
              <a:t>에서 크게 증가</a:t>
            </a:r>
            <a:r>
              <a:rPr lang="en-US" altLang="ko-KR" b="0" i="0" dirty="0">
                <a:effectLst/>
                <a:latin typeface="fkGroteskNeue"/>
              </a:rPr>
              <a:t>_</a:t>
            </a:r>
            <a:r>
              <a:rPr lang="ko-KR" altLang="en-US" b="0" i="0" dirty="0">
                <a:solidFill>
                  <a:srgbClr val="495057"/>
                </a:solidFill>
                <a:effectLst/>
                <a:latin typeface="Apple SD Gothic Neo"/>
              </a:rPr>
              <a:t> 공정거래위원회 가맹사업거래 정보공개서</a:t>
            </a:r>
            <a:r>
              <a:rPr lang="en-US" altLang="ko-KR" b="0" i="0" dirty="0">
                <a:solidFill>
                  <a:srgbClr val="495057"/>
                </a:solidFill>
                <a:effectLst/>
                <a:latin typeface="Apple SD Gothic Neo"/>
              </a:rPr>
              <a:t>)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17E4EC-7C97-6003-9DCB-CE0FB405A78E}"/>
              </a:ext>
            </a:extLst>
          </p:cNvPr>
          <p:cNvSpPr txBox="1"/>
          <p:nvPr/>
        </p:nvSpPr>
        <p:spPr>
          <a:xfrm>
            <a:off x="2455816" y="4968403"/>
            <a:ext cx="43107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특정 </a:t>
            </a:r>
            <a:r>
              <a:rPr lang="ko-KR" altLang="en-US" dirty="0" err="1"/>
              <a:t>무인점포가</a:t>
            </a:r>
            <a:r>
              <a:rPr lang="ko-KR" altLang="en-US" dirty="0"/>
              <a:t> 늘어나는 지역기반으로만 레퍼런스 확보하기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6FBD17-91E3-B065-1AAD-EA296F2FD4B4}"/>
              </a:ext>
            </a:extLst>
          </p:cNvPr>
          <p:cNvSpPr txBox="1"/>
          <p:nvPr/>
        </p:nvSpPr>
        <p:spPr>
          <a:xfrm>
            <a:off x="12488090" y="4968403"/>
            <a:ext cx="35269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지역</a:t>
            </a:r>
            <a:r>
              <a:rPr lang="en-US" altLang="ko-KR" dirty="0"/>
              <a:t> </a:t>
            </a:r>
            <a:r>
              <a:rPr lang="ko-KR" altLang="en-US" dirty="0"/>
              <a:t>일자리센터와 연계하기</a:t>
            </a:r>
            <a:endParaRPr lang="en-US" altLang="ko-KR" dirty="0"/>
          </a:p>
          <a:p>
            <a:r>
              <a:rPr lang="ko-KR" altLang="en-US" dirty="0"/>
              <a:t>교회</a:t>
            </a:r>
            <a:r>
              <a:rPr lang="en-US" altLang="ko-KR" dirty="0"/>
              <a:t>, </a:t>
            </a:r>
            <a:r>
              <a:rPr lang="ko-KR" altLang="en-US" dirty="0" err="1"/>
              <a:t>산앙회</a:t>
            </a:r>
            <a:r>
              <a:rPr lang="ko-KR" altLang="en-US" dirty="0"/>
              <a:t> 등을 통해 일자리 주선</a:t>
            </a:r>
            <a:endParaRPr lang="en-US" altLang="ko-K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9B4F58-CF80-00BF-EE8C-5ED361530F72}"/>
              </a:ext>
            </a:extLst>
          </p:cNvPr>
          <p:cNvSpPr txBox="1"/>
          <p:nvPr/>
        </p:nvSpPr>
        <p:spPr>
          <a:xfrm>
            <a:off x="8046720" y="1998947"/>
            <a:ext cx="21553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작은 규모로 지역기반으로</a:t>
            </a:r>
            <a:endParaRPr lang="en-US" altLang="ko-KR" dirty="0"/>
          </a:p>
          <a:p>
            <a:r>
              <a:rPr lang="ko-KR" altLang="en-US" dirty="0"/>
              <a:t>운영해 보기</a:t>
            </a:r>
            <a:endParaRPr lang="en-US" altLang="ko-K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45AF46-EBB9-9B4F-E0D1-7ACC9E15AED1}"/>
              </a:ext>
            </a:extLst>
          </p:cNvPr>
          <p:cNvSpPr txBox="1"/>
          <p:nvPr/>
        </p:nvSpPr>
        <p:spPr>
          <a:xfrm>
            <a:off x="8046720" y="6787097"/>
            <a:ext cx="21553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상황이 힘든 </a:t>
            </a:r>
            <a:r>
              <a:rPr lang="ko-KR" altLang="en-US" dirty="0" err="1"/>
              <a:t>무인점포에</a:t>
            </a:r>
            <a:endParaRPr lang="en-US" altLang="ko-KR" dirty="0"/>
          </a:p>
          <a:p>
            <a:r>
              <a:rPr lang="ko-KR" altLang="en-US" dirty="0"/>
              <a:t>적은 비용으로 운영할 수 있는 방안 보여주기</a:t>
            </a:r>
            <a:endParaRPr lang="en-US" altLang="ko-K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740</Words>
  <Application>Microsoft Office PowerPoint</Application>
  <PresentationFormat>사용자 지정</PresentationFormat>
  <Paragraphs>110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Apple SD Gothic Neo</vt:lpstr>
      <vt:lpstr>fkGroteskNeue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sanghyun Park</cp:lastModifiedBy>
  <cp:revision>2</cp:revision>
  <dcterms:created xsi:type="dcterms:W3CDTF">2025-04-26T00:56:45Z</dcterms:created>
  <dcterms:modified xsi:type="dcterms:W3CDTF">2025-04-27T12:05:42Z</dcterms:modified>
</cp:coreProperties>
</file>