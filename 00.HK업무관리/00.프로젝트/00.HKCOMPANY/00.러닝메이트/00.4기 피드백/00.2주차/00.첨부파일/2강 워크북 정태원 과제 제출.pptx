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59" r:id="rId4"/>
    <p:sldId id="260" r:id="rId5"/>
    <p:sldId id="263" r:id="rId6"/>
    <p:sldId id="267" r:id="rId7"/>
    <p:sldId id="272" r:id="rId8"/>
  </p:sldIdLst>
  <p:sldSz cx="17556480" cy="9875520"/>
  <p:notesSz cx="9875520" cy="1755648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216" y="312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viewProps" Target="viewProps.xml"  /><Relationship Id="rId11" Type="http://schemas.openxmlformats.org/officeDocument/2006/relationships/theme" Target="theme/theme1.xml"  /><Relationship Id="rId12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presProps" Target="presProps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5282F153-3F37-0F45-9E97-73ACFA13230C}" type="datetime1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image" Target="../media/image1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3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4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5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image" Target="../media/image6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6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가로 글상자 2"/>
          <p:cNvSpPr txBox="1"/>
          <p:nvPr/>
        </p:nvSpPr>
        <p:spPr>
          <a:xfrm>
            <a:off x="1326328" y="2349200"/>
            <a:ext cx="11654117" cy="63974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바쁜 일상 때문에 반려견 산책이 부족한 것에 대해 스트레스를 느끼고 있으며</a:t>
            </a:r>
            <a:r>
              <a:rPr lang="en-US" altLang="ko-KR"/>
              <a:t>,</a:t>
            </a:r>
            <a:r>
              <a:rPr lang="ko-KR" altLang="en-US"/>
              <a:t> 신뢰할 수 있는 제</a:t>
            </a:r>
            <a:r>
              <a:rPr lang="en-US" altLang="ko-KR"/>
              <a:t>3</a:t>
            </a:r>
            <a:r>
              <a:rPr lang="ko-KR" altLang="en-US"/>
              <a:t>자가 반려견을 대신 산책시켜주는 서비스를 필요로 하고 있다</a:t>
            </a:r>
            <a:r>
              <a:rPr lang="en-US" altLang="ko-KR"/>
              <a:t>.</a:t>
            </a:r>
            <a:endParaRPr lang="en-US" altLang="ko-KR"/>
          </a:p>
        </p:txBody>
      </p:sp>
      <p:sp>
        <p:nvSpPr>
          <p:cNvPr id="4" name="가로 글상자 3"/>
          <p:cNvSpPr txBox="1"/>
          <p:nvPr/>
        </p:nvSpPr>
        <p:spPr>
          <a:xfrm>
            <a:off x="1326328" y="3312906"/>
            <a:ext cx="11261911" cy="638064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고객은 산책자에 대한 신뢰성과 피드백 을 확인할 수 있다면 비용을 지불하고 산책 대행 서비스를 이용할 의향이 있다</a:t>
            </a:r>
            <a:r>
              <a:rPr lang="en-US" altLang="ko-KR"/>
              <a:t>.</a:t>
            </a:r>
            <a:endParaRPr lang="en-US" altLang="ko-KR"/>
          </a:p>
        </p:txBody>
      </p:sp>
      <p:sp>
        <p:nvSpPr>
          <p:cNvPr id="5" name="가로 글상자 4"/>
          <p:cNvSpPr txBox="1"/>
          <p:nvPr/>
        </p:nvSpPr>
        <p:spPr>
          <a:xfrm>
            <a:off x="1326328" y="4433494"/>
            <a:ext cx="11261911" cy="641426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바녀견을 맡긴 경험이 긍정적이면 동일 산책자를 반복해서 요청하거나 정기 산책 서비스로 전환할 가능성이 높다</a:t>
            </a:r>
            <a:r>
              <a:rPr lang="en-US" altLang="ko-KR"/>
              <a:t>.</a:t>
            </a:r>
            <a:endParaRPr lang="en-US" altLang="ko-KR"/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가로 글상자 2"/>
          <p:cNvSpPr txBox="1"/>
          <p:nvPr/>
        </p:nvSpPr>
        <p:spPr>
          <a:xfrm>
            <a:off x="1191857" y="2315583"/>
            <a:ext cx="11945470" cy="635262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만약 반려견 산책 대행 서비스를 이용할 때</a:t>
            </a:r>
            <a:r>
              <a:rPr lang="en-US" altLang="ko-KR"/>
              <a:t>,</a:t>
            </a:r>
            <a:r>
              <a:rPr lang="ko-KR" altLang="en-US"/>
              <a:t> 산책자의 실명 인증</a:t>
            </a:r>
            <a:r>
              <a:rPr lang="en-US" altLang="ko-KR"/>
              <a:t>,</a:t>
            </a:r>
            <a:r>
              <a:rPr lang="ko-KR" altLang="en-US"/>
              <a:t> 후기 </a:t>
            </a:r>
            <a:r>
              <a:rPr lang="en-US" altLang="ko-KR"/>
              <a:t>,</a:t>
            </a:r>
            <a:r>
              <a:rPr lang="ko-KR" altLang="en-US"/>
              <a:t> 위치 공유 기능이 제공된다면 보호자의 이용 전환율이 </a:t>
            </a:r>
            <a:r>
              <a:rPr lang="en-US" altLang="ko-KR"/>
              <a:t>30</a:t>
            </a:r>
            <a:r>
              <a:rPr lang="ko-KR" altLang="en-US"/>
              <a:t>프로 이상 증가할 것이다</a:t>
            </a:r>
            <a:r>
              <a:rPr lang="en-US" altLang="ko-KR"/>
              <a:t>.</a:t>
            </a:r>
            <a:endParaRPr lang="en-US" altLang="ko-KR"/>
          </a:p>
        </p:txBody>
      </p:sp>
      <p:sp>
        <p:nvSpPr>
          <p:cNvPr id="4" name="가로 글상자 3"/>
          <p:cNvSpPr txBox="1"/>
          <p:nvPr/>
        </p:nvSpPr>
        <p:spPr>
          <a:xfrm>
            <a:off x="1191857" y="3346524"/>
            <a:ext cx="11945470" cy="366321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만약 산책 중 실시간 사진과 산책 경로를 제공한다면 이용 고객의 만족도는 </a:t>
            </a:r>
            <a:r>
              <a:rPr lang="en-US" altLang="ko-KR"/>
              <a:t>4.5</a:t>
            </a:r>
            <a:r>
              <a:rPr lang="ko-KR" altLang="en-US"/>
              <a:t>점 이상이 될 것이다</a:t>
            </a:r>
            <a:r>
              <a:rPr lang="en-US" altLang="ko-KR"/>
              <a:t>.</a:t>
            </a:r>
            <a:endParaRPr lang="en-US" altLang="ko-KR"/>
          </a:p>
        </p:txBody>
      </p:sp>
      <p:sp>
        <p:nvSpPr>
          <p:cNvPr id="5" name="가로 글상자 4"/>
          <p:cNvSpPr txBox="1"/>
          <p:nvPr/>
        </p:nvSpPr>
        <p:spPr>
          <a:xfrm>
            <a:off x="1191857" y="4388671"/>
            <a:ext cx="11810999" cy="362399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만약 보호자가 동일 산책자와 </a:t>
            </a:r>
            <a:r>
              <a:rPr lang="en-US" altLang="ko-KR"/>
              <a:t>2</a:t>
            </a:r>
            <a:r>
              <a:rPr lang="ko-KR" altLang="en-US"/>
              <a:t>회 이상 긍정적 경험을 했다면 정기 산책 신청 전환율이 </a:t>
            </a:r>
            <a:r>
              <a:rPr lang="en-US" altLang="ko-KR"/>
              <a:t>20</a:t>
            </a:r>
            <a:r>
              <a:rPr lang="ko-KR" altLang="en-US"/>
              <a:t>프로 이상이 될 것이다</a:t>
            </a:r>
            <a:r>
              <a:rPr lang="en-US" altLang="ko-KR"/>
              <a:t>.</a:t>
            </a:r>
            <a:endParaRPr lang="en-US" altLang="ko-KR"/>
          </a:p>
        </p:txBody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78441" y="0"/>
            <a:ext cx="17556480" cy="9875520"/>
          </a:xfrm>
          <a:prstGeom prst="rect">
            <a:avLst/>
          </a:prstGeom>
        </p:spPr>
      </p:pic>
      <p:sp>
        <p:nvSpPr>
          <p:cNvPr id="3" name="가로 글상자 2"/>
          <p:cNvSpPr txBox="1"/>
          <p:nvPr/>
        </p:nvSpPr>
        <p:spPr>
          <a:xfrm>
            <a:off x="1214269" y="1979406"/>
            <a:ext cx="6454588" cy="1180989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반려견 보호자들은 바쁜 일정으로 인해 반려견의 산책을 꾸준히 시키지 못하고 있음.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보호자는 죄책감과 스트레스를 느끼며, 반려견의 건강 문제(비만, 스트레스 등)로 이어질 수 있음.</a:t>
            </a:r>
            <a:endParaRPr lang="ko-KR" altLang="en-US"/>
          </a:p>
        </p:txBody>
      </p:sp>
      <p:sp>
        <p:nvSpPr>
          <p:cNvPr id="4" name="가로 글상자 3"/>
          <p:cNvSpPr txBox="1"/>
          <p:nvPr/>
        </p:nvSpPr>
        <p:spPr>
          <a:xfrm>
            <a:off x="9641092" y="1889759"/>
            <a:ext cx="6633883" cy="1461136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1인 가구 보호자가 많아졌지만, 일과 후 체력 및 시간 부족으로 산책에 어려움을 겪음.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신뢰할 수 있는 반려견 산책 대행 서비스를 찾기 어려움.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기존 지인 부탁 방식이나 펫시터 서비스는 번거롭고 비싼 경우가 많음.</a:t>
            </a:r>
            <a:endParaRPr lang="ko-KR" altLang="en-US"/>
          </a:p>
        </p:txBody>
      </p:sp>
      <p:sp>
        <p:nvSpPr>
          <p:cNvPr id="5" name="가로 글상자 4"/>
          <p:cNvSpPr txBox="1"/>
          <p:nvPr/>
        </p:nvSpPr>
        <p:spPr>
          <a:xfrm>
            <a:off x="1214269" y="4668817"/>
            <a:ext cx="2084294" cy="36352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Wag! </a:t>
            </a: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3567504" y="4523143"/>
            <a:ext cx="3966882" cy="639743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신원 인증 산책자 매칭, 실시간 경로 추적, 산책 인증샷 제공</a:t>
            </a:r>
            <a:endParaRPr lang="ko-KR" altLang="en-US"/>
          </a:p>
        </p:txBody>
      </p:sp>
      <p:sp>
        <p:nvSpPr>
          <p:cNvPr id="9" name="가로 글상자 8"/>
          <p:cNvSpPr txBox="1"/>
          <p:nvPr/>
        </p:nvSpPr>
        <p:spPr>
          <a:xfrm>
            <a:off x="7803327" y="4523143"/>
            <a:ext cx="3996466" cy="904201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보호자는 실시간 피드백(위치 추적, 인증샷)으로 심리적 안정감을 느낄 수 있음.</a:t>
            </a:r>
            <a:endParaRPr lang="ko-KR" altLang="en-US"/>
          </a:p>
        </p:txBody>
      </p:sp>
      <p:sp>
        <p:nvSpPr>
          <p:cNvPr id="10" name="가로 글상자 9"/>
          <p:cNvSpPr txBox="1"/>
          <p:nvPr/>
        </p:nvSpPr>
        <p:spPr>
          <a:xfrm>
            <a:off x="12326469" y="4523143"/>
            <a:ext cx="3686736" cy="1180427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산책자 신원 인증은 있지만, 산책 품질 관리 체계는 미흡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산책자 등급제 도입: 후기/정기교육 수료 기반 등급 부여</a:t>
            </a: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17662" y="0"/>
            <a:ext cx="17556480" cy="9875520"/>
          </a:xfrm>
          <a:prstGeom prst="rect">
            <a:avLst/>
          </a:prstGeom>
        </p:spPr>
      </p:pic>
      <p:sp>
        <p:nvSpPr>
          <p:cNvPr id="3" name="가로 글상자 2"/>
          <p:cNvSpPr txBox="1"/>
          <p:nvPr/>
        </p:nvSpPr>
        <p:spPr>
          <a:xfrm>
            <a:off x="2043502" y="1732877"/>
            <a:ext cx="3507441" cy="3382944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시간이 부족한 1인 가구 반려견 보호자(특히 MZ세대)는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강아지 산책을 책임지고 싶지만, 바쁜 일정으로 자주 놓치게 된다.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지인 부탁이나 펫시터 이용은 번거롭거나 비용 부담이 크고,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신뢰할 수 있는 산책자를 찾기 어려워 불안감을 느낀다.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산책을 건너뛴 강아지가 스트레스를 받고, 보호자 본인도 죄책감을 느끼는 악순환이 반복된다.</a:t>
            </a:r>
            <a:endParaRPr lang="ko-KR" altLang="en-US"/>
          </a:p>
        </p:txBody>
      </p:sp>
      <p:sp>
        <p:nvSpPr>
          <p:cNvPr id="4" name="가로 글상자 3"/>
          <p:cNvSpPr txBox="1"/>
          <p:nvPr/>
        </p:nvSpPr>
        <p:spPr>
          <a:xfrm>
            <a:off x="5875915" y="1867347"/>
            <a:ext cx="5031440" cy="1454973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강점)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미국/글로벌에서는 Wag!, Rover 등이 이미 신원 인증과 후기 기반 산책 서비스를 제공하고 있다.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산책 경로 추적, 인증샷, 후기 시스템 등 기본적인 신뢰 장치를 갖추고 있다.</a:t>
            </a:r>
            <a:endParaRPr lang="ko-KR" altLang="en-US"/>
          </a:p>
        </p:txBody>
      </p:sp>
      <p:sp>
        <p:nvSpPr>
          <p:cNvPr id="5" name="가로 글상자 4"/>
          <p:cNvSpPr txBox="1"/>
          <p:nvPr/>
        </p:nvSpPr>
        <p:spPr>
          <a:xfrm>
            <a:off x="5875915" y="3233849"/>
            <a:ext cx="5031440" cy="2279221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한계)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한국에서는 강아지 "산책만" 특화된 전문 플랫폼이 부족하다.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보호자-산책자 간 품질 차이를 보정하는 시스템이 약하다.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보험, 사고 대응, 산책 품질 표준화 등이 미흡하다.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11366796" y="1867347"/>
            <a:ext cx="4975412" cy="3382384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신원 인증 + 교육 이수 완료한 산책자만 등록 → 신뢰성 강화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산책 중 실시간 위치 공유, 인증샷 자동 업로드 제공 → 보호자 안심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산책자 등급제(후기/이력 기반) 운영 → 산책 품질 관리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기본 보험 자동 가입 → 사고 발생 시 보호자와 산책자 모두 보호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보호자와 산책자 간 실시간 채팅 기능 → 즉각적인 커뮤니케이션 지원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핵심: 반려견 산책 "전용" + "검증" + "실시간 관리"라는 3가지 키워드</a:t>
            </a:r>
            <a:endParaRPr lang="ko-KR" altLang="en-US"/>
          </a:p>
        </p:txBody>
      </p:sp>
      <p:sp>
        <p:nvSpPr>
          <p:cNvPr id="8" name="가로 글상자 7"/>
          <p:cNvSpPr txBox="1"/>
          <p:nvPr/>
        </p:nvSpPr>
        <p:spPr>
          <a:xfrm>
            <a:off x="900503" y="6360906"/>
            <a:ext cx="15520149" cy="1180988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"(시간이 부족한 1인 가구 반려견 보호자)가 (강아지 산책에 대한 책임감과 신뢰할 수 없는 대행 서비스로 인한 스트레스를 겪는) 문제를,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(시간 부족과 대행 서비스 품질 불균형)이라는 원인을 해결하고자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(검증된 산책자 매칭 + 실시간 위치 인증 피드백 + 보험 시스템 제공)을 통해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(반려견의 스트레스를 해소하고 보호자의 심리적 만족과 생활 편의를 높이는 것)을 목표로 돕겠습니다."</a:t>
            </a:r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mangoboard.net</ep:Company>
  <ep:Words>389</ep:Words>
  <ep:PresentationFormat>On-screen Show (16:9)</ep:PresentationFormat>
  <ep:Paragraphs>40</ep:Paragraphs>
  <ep:Slides>6</ep:Slides>
  <ep:Notes>6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ep:HeadingPairs>
  <ep:TitlesOfParts>
    <vt:vector size="7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2025-04-26T00:56:45.000</dcterms:created>
  <dc:creator>mangoboard.net_48059005</dc:creator>
  <cp:lastModifiedBy>98tom</cp:lastModifiedBy>
  <dcterms:modified xsi:type="dcterms:W3CDTF">2025-04-26T03:20:15.838</dcterms:modified>
  <cp:revision>13</cp:revision>
  <dc:subject>Presentation</dc:subject>
  <dc:title>러닝메이트 워크북v2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