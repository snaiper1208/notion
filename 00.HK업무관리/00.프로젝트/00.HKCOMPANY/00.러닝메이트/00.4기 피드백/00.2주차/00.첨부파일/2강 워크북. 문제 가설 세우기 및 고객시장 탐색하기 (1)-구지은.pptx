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9" r:id="rId3"/>
    <p:sldId id="260" r:id="rId4"/>
    <p:sldId id="262" r:id="rId5"/>
    <p:sldId id="267" r:id="rId6"/>
    <p:sldId id="273" r:id="rId7"/>
    <p:sldId id="272" r:id="rId8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67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6894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986" y="318"/>
            <a:ext cx="17556480" cy="987552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8000B6A5-B1E4-445D-B2B1-BA7D611CC0DF}"/>
              </a:ext>
            </a:extLst>
          </p:cNvPr>
          <p:cNvSpPr/>
          <p:nvPr/>
        </p:nvSpPr>
        <p:spPr>
          <a:xfrm>
            <a:off x="1356599" y="2612830"/>
            <a:ext cx="81531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초등 저학년 아동은 감정 표현 능력이 부족해 친구 관계 형성에 어려움을 겪는다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C1D3DD2-073C-4BFB-B420-A629241902E5}"/>
              </a:ext>
            </a:extLst>
          </p:cNvPr>
          <p:cNvSpPr/>
          <p:nvPr/>
        </p:nvSpPr>
        <p:spPr>
          <a:xfrm>
            <a:off x="1356598" y="5394932"/>
            <a:ext cx="112882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정서 지능은 타인과의 관계 개선</a:t>
            </a:r>
            <a:r>
              <a:rPr lang="en-US" altLang="ko-KR" dirty="0"/>
              <a:t>, </a:t>
            </a:r>
            <a:r>
              <a:rPr lang="ko-KR" altLang="en-US" dirty="0"/>
              <a:t>스트레스 관리</a:t>
            </a:r>
            <a:r>
              <a:rPr lang="en-US" altLang="ko-KR" dirty="0"/>
              <a:t>, </a:t>
            </a:r>
            <a:r>
              <a:rPr lang="ko-KR" altLang="en-US" dirty="0"/>
              <a:t>전반적인 삶의 질 향상에 핵심적인 역할을 합니다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6373C57-E94F-425D-8584-797CC0A0EEE7}"/>
              </a:ext>
            </a:extLst>
          </p:cNvPr>
          <p:cNvSpPr/>
          <p:nvPr/>
        </p:nvSpPr>
        <p:spPr>
          <a:xfrm>
            <a:off x="14330343" y="2612830"/>
            <a:ext cx="336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O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DDB12FF-AFE9-491C-BF5B-D1C93050E841}"/>
              </a:ext>
            </a:extLst>
          </p:cNvPr>
          <p:cNvSpPr/>
          <p:nvPr/>
        </p:nvSpPr>
        <p:spPr>
          <a:xfrm>
            <a:off x="14330343" y="4489296"/>
            <a:ext cx="336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O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ED7E39A-9B24-497C-A3C7-762986889607}"/>
              </a:ext>
            </a:extLst>
          </p:cNvPr>
          <p:cNvSpPr/>
          <p:nvPr/>
        </p:nvSpPr>
        <p:spPr>
          <a:xfrm>
            <a:off x="1356599" y="3457999"/>
            <a:ext cx="68403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시니어는 감정 표현 기회가 부족해 외로움과 정서적 고립을 느낀다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AE74269-9A61-4AED-A649-7621BF3FAC3A}"/>
              </a:ext>
            </a:extLst>
          </p:cNvPr>
          <p:cNvSpPr/>
          <p:nvPr/>
        </p:nvSpPr>
        <p:spPr>
          <a:xfrm>
            <a:off x="1356599" y="4498908"/>
            <a:ext cx="74655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부모와 아동 간 감정 소통 시간이 부족해 서로의 감정을 이해하기 어렵다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0294EAA-E6B2-430B-8968-C32F0C1D7DBD}"/>
              </a:ext>
            </a:extLst>
          </p:cNvPr>
          <p:cNvSpPr/>
          <p:nvPr/>
        </p:nvSpPr>
        <p:spPr>
          <a:xfrm>
            <a:off x="1443161" y="6554536"/>
            <a:ext cx="79800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시니어는 세대 간 감정 표현 방식 차이로 손주 세대와 소통에 어려움을 느낀다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025CA51-E431-42BC-B0AD-73D21440AEDF}"/>
              </a:ext>
            </a:extLst>
          </p:cNvPr>
          <p:cNvSpPr/>
          <p:nvPr/>
        </p:nvSpPr>
        <p:spPr>
          <a:xfrm>
            <a:off x="1356598" y="7450560"/>
            <a:ext cx="86196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맞벌이 가정은 아이의 감정적 신호를 놓치는 경우가 많아 정서적 소외감을 유발한다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001882C-A63E-4814-AC3C-82F4DD96B171}"/>
              </a:ext>
            </a:extLst>
          </p:cNvPr>
          <p:cNvSpPr/>
          <p:nvPr/>
        </p:nvSpPr>
        <p:spPr>
          <a:xfrm>
            <a:off x="14346373" y="3592977"/>
            <a:ext cx="3048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X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30F649E-EED0-4049-83DA-61BAAC65E402}"/>
              </a:ext>
            </a:extLst>
          </p:cNvPr>
          <p:cNvSpPr/>
          <p:nvPr/>
        </p:nvSpPr>
        <p:spPr>
          <a:xfrm>
            <a:off x="14330343" y="5479494"/>
            <a:ext cx="3048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X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BFC4C0A-FB9E-470D-A843-EED39CAF6ABD}"/>
              </a:ext>
            </a:extLst>
          </p:cNvPr>
          <p:cNvSpPr/>
          <p:nvPr/>
        </p:nvSpPr>
        <p:spPr>
          <a:xfrm>
            <a:off x="14346373" y="6524345"/>
            <a:ext cx="3048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X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9C5779F-8BC5-4377-A2B1-67C4CA5935F3}"/>
              </a:ext>
            </a:extLst>
          </p:cNvPr>
          <p:cNvSpPr/>
          <p:nvPr/>
        </p:nvSpPr>
        <p:spPr>
          <a:xfrm>
            <a:off x="14379584" y="7450560"/>
            <a:ext cx="3048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88535012-76A7-4370-865D-748D8FF1DF2A}"/>
              </a:ext>
            </a:extLst>
          </p:cNvPr>
          <p:cNvSpPr/>
          <p:nvPr/>
        </p:nvSpPr>
        <p:spPr>
          <a:xfrm>
            <a:off x="1280478" y="2445525"/>
            <a:ext cx="113382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감정 인식과 표현을 체험형 놀이를 통해 지원하면 아동의 감정 언어화 능력이 향상될 것이다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074B268-CEA0-46A4-8FC5-5EF80FC46805}"/>
              </a:ext>
            </a:extLst>
          </p:cNvPr>
          <p:cNvSpPr/>
          <p:nvPr/>
        </p:nvSpPr>
        <p:spPr>
          <a:xfrm>
            <a:off x="1280477" y="3307674"/>
            <a:ext cx="123963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시니어가 감정 표현 훈련 프로그램</a:t>
            </a:r>
            <a:r>
              <a:rPr lang="en-US" altLang="ko-KR" dirty="0"/>
              <a:t>(</a:t>
            </a:r>
            <a:r>
              <a:rPr lang="ko-KR" altLang="en-US" dirty="0"/>
              <a:t>감정 카드</a:t>
            </a:r>
            <a:r>
              <a:rPr lang="en-US" altLang="ko-KR" dirty="0"/>
              <a:t>, </a:t>
            </a:r>
            <a:r>
              <a:rPr lang="ko-KR" altLang="en-US" dirty="0"/>
              <a:t>워크북</a:t>
            </a:r>
            <a:r>
              <a:rPr lang="en-US" altLang="ko-KR" dirty="0"/>
              <a:t>, </a:t>
            </a:r>
            <a:r>
              <a:rPr lang="ko-KR" altLang="en-US" dirty="0"/>
              <a:t>감정 대화 활동 등</a:t>
            </a:r>
            <a:r>
              <a:rPr lang="en-US" altLang="ko-KR" dirty="0"/>
              <a:t>)</a:t>
            </a:r>
            <a:r>
              <a:rPr lang="ko-KR" altLang="en-US" dirty="0"/>
              <a:t>에 참여하면 정서적 고립감과 외로움이 감소할 것이다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847AE5B-2E4E-41FD-B08D-361EF017984D}"/>
              </a:ext>
            </a:extLst>
          </p:cNvPr>
          <p:cNvSpPr/>
          <p:nvPr/>
        </p:nvSpPr>
        <p:spPr>
          <a:xfrm>
            <a:off x="1175975" y="4446822"/>
            <a:ext cx="121350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세대 간 감정 공감 활동</a:t>
            </a:r>
            <a:r>
              <a:rPr lang="en-US" altLang="ko-KR" dirty="0"/>
              <a:t>(</a:t>
            </a:r>
            <a:r>
              <a:rPr lang="ko-KR" altLang="en-US" dirty="0"/>
              <a:t>손주와 감정편지 주고받기 등</a:t>
            </a:r>
            <a:r>
              <a:rPr lang="en-US" altLang="ko-KR" dirty="0"/>
              <a:t>)</a:t>
            </a:r>
            <a:r>
              <a:rPr lang="ko-KR" altLang="en-US" dirty="0"/>
              <a:t>을 경험한 시니어는 가족에 대한 정서적 친밀감이 증가할 것이다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2EEBB2D-52AF-4297-8997-CFB78A4D2537}"/>
              </a:ext>
            </a:extLst>
          </p:cNvPr>
          <p:cNvSpPr/>
          <p:nvPr/>
        </p:nvSpPr>
        <p:spPr>
          <a:xfrm>
            <a:off x="1175975" y="5489597"/>
            <a:ext cx="121350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아동이 가족</a:t>
            </a:r>
            <a:r>
              <a:rPr lang="en-US" altLang="ko-KR" dirty="0"/>
              <a:t>(</a:t>
            </a:r>
            <a:r>
              <a:rPr lang="ko-KR" altLang="en-US" dirty="0"/>
              <a:t>부모</a:t>
            </a:r>
            <a:r>
              <a:rPr lang="en-US" altLang="ko-KR" dirty="0"/>
              <a:t>, </a:t>
            </a:r>
            <a:r>
              <a:rPr lang="ko-KR" altLang="en-US" dirty="0"/>
              <a:t>조부모</a:t>
            </a:r>
            <a:r>
              <a:rPr lang="en-US" altLang="ko-KR" dirty="0"/>
              <a:t>)</a:t>
            </a:r>
            <a:r>
              <a:rPr lang="ko-KR" altLang="en-US" dirty="0"/>
              <a:t>과 함께 감정 표현 놀이에 참여하면 정서적 안정감과 가족 내 소통 만족도가 증가할 것이다</a:t>
            </a:r>
            <a:r>
              <a:rPr lang="en-US" altLang="ko-KR" dirty="0"/>
              <a:t>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23CAF9F-84BB-4455-A576-C4C7436F4519}"/>
              </a:ext>
            </a:extLst>
          </p:cNvPr>
          <p:cNvSpPr/>
          <p:nvPr/>
        </p:nvSpPr>
        <p:spPr>
          <a:xfrm>
            <a:off x="1175975" y="7427892"/>
            <a:ext cx="74655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감정 표현 놀이 활동을 경험한 아동은 친구 관계 만족도가 향상될 </a:t>
            </a:r>
            <a:r>
              <a:rPr lang="ko-KR" altLang="en-US" dirty="0" err="1"/>
              <a:t>것다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CE97AFB-D0C8-4951-8200-BAB5EDF2F5B6}"/>
              </a:ext>
            </a:extLst>
          </p:cNvPr>
          <p:cNvSpPr/>
          <p:nvPr/>
        </p:nvSpPr>
        <p:spPr>
          <a:xfrm>
            <a:off x="1280477" y="6546871"/>
            <a:ext cx="117170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부모가 감정 수용형 응답 훈련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“</a:t>
            </a:r>
            <a:r>
              <a:rPr lang="ko-KR" altLang="en-US" dirty="0"/>
              <a:t>그럴 수 있지</a:t>
            </a:r>
            <a:r>
              <a:rPr lang="en-US" altLang="ko-KR" dirty="0"/>
              <a:t>, </a:t>
            </a:r>
            <a:r>
              <a:rPr lang="ko-KR" altLang="en-US" dirty="0"/>
              <a:t>이해해”</a:t>
            </a:r>
            <a:r>
              <a:rPr lang="en-US" altLang="ko-KR" dirty="0"/>
              <a:t>)</a:t>
            </a:r>
            <a:r>
              <a:rPr lang="ko-KR" altLang="en-US" dirty="0"/>
              <a:t>을 하면 아이의 감정 표현 빈도와 신뢰감이 증가할 것이다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8344EC2E-D7A3-4A00-BFBE-39352BE6AE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51183" y="2506068"/>
            <a:ext cx="438950" cy="49991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00A8724-108E-46F6-B388-7117EC1D67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87025" y="4437845"/>
            <a:ext cx="438950" cy="499915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CA2D0233-ECDD-4155-B027-3CA4899D628D}"/>
              </a:ext>
            </a:extLst>
          </p:cNvPr>
          <p:cNvSpPr/>
          <p:nvPr/>
        </p:nvSpPr>
        <p:spPr>
          <a:xfrm>
            <a:off x="14487025" y="3537248"/>
            <a:ext cx="3048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X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AD3B9766-41EA-496A-935C-8D53549167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83269" y="5415257"/>
            <a:ext cx="524301" cy="640135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979D4A10-BB0C-4C41-AA59-9995CF3D1281}"/>
              </a:ext>
            </a:extLst>
          </p:cNvPr>
          <p:cNvSpPr/>
          <p:nvPr/>
        </p:nvSpPr>
        <p:spPr>
          <a:xfrm>
            <a:off x="14554054" y="6533239"/>
            <a:ext cx="3048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X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735A2D1-FBFD-4F71-9DFC-621B4BF6BE27}"/>
              </a:ext>
            </a:extLst>
          </p:cNvPr>
          <p:cNvSpPr/>
          <p:nvPr/>
        </p:nvSpPr>
        <p:spPr>
          <a:xfrm>
            <a:off x="14554054" y="7555180"/>
            <a:ext cx="3048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23CA6D1-BFF6-4FE0-ADC5-D96D4ACED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-328212"/>
            <a:ext cx="17556163" cy="9875838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5DB965FE-6281-4BF7-AFCF-7A8445A5CCA3}"/>
              </a:ext>
            </a:extLst>
          </p:cNvPr>
          <p:cNvSpPr/>
          <p:nvPr/>
        </p:nvSpPr>
        <p:spPr>
          <a:xfrm>
            <a:off x="1285598" y="4425041"/>
            <a:ext cx="11288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GS</a:t>
            </a:r>
            <a:r>
              <a:rPr lang="ko-KR" altLang="en-US" dirty="0" err="1"/>
              <a:t>칼텍스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8CA83A0-229D-4137-AC92-A67B5713F2D4}"/>
              </a:ext>
            </a:extLst>
          </p:cNvPr>
          <p:cNvSpPr/>
          <p:nvPr/>
        </p:nvSpPr>
        <p:spPr>
          <a:xfrm>
            <a:off x="3769799" y="4425041"/>
            <a:ext cx="3863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예술치료사 파견</a:t>
            </a:r>
            <a:r>
              <a:rPr lang="en-US" altLang="ko-KR" dirty="0"/>
              <a:t>, </a:t>
            </a:r>
            <a:r>
              <a:rPr lang="ko-KR" altLang="en-US" dirty="0" err="1"/>
              <a:t>교실힐링</a:t>
            </a:r>
            <a:r>
              <a:rPr lang="ko-KR" altLang="en-US" dirty="0"/>
              <a:t> 프로그램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4BF7E2E-D264-4B78-A0D9-F991EBC5C278}"/>
              </a:ext>
            </a:extLst>
          </p:cNvPr>
          <p:cNvSpPr/>
          <p:nvPr/>
        </p:nvSpPr>
        <p:spPr>
          <a:xfrm>
            <a:off x="8009106" y="4148042"/>
            <a:ext cx="350288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예술치료를 통한 아동</a:t>
            </a:r>
            <a:r>
              <a:rPr lang="en-US" altLang="ko-KR" dirty="0"/>
              <a:t>·</a:t>
            </a:r>
            <a:r>
              <a:rPr lang="ko-KR" altLang="en-US" dirty="0"/>
              <a:t>청소년의 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정서 안정 및</a:t>
            </a:r>
            <a:r>
              <a:rPr lang="en-US" altLang="ko-KR" dirty="0"/>
              <a:t> </a:t>
            </a:r>
            <a:r>
              <a:rPr lang="ko-KR" altLang="en-US" dirty="0"/>
              <a:t>학교폭력 예방 효과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92E6CA7-BFF5-47BD-83ED-6C6021997FBD}"/>
              </a:ext>
            </a:extLst>
          </p:cNvPr>
          <p:cNvSpPr/>
          <p:nvPr/>
        </p:nvSpPr>
        <p:spPr>
          <a:xfrm>
            <a:off x="12373931" y="4254579"/>
            <a:ext cx="316625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프로그램의 지속성과 지역 간 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접근성 확대 필요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D99C3AB-E786-4331-950F-BFAA14313917}"/>
              </a:ext>
            </a:extLst>
          </p:cNvPr>
          <p:cNvSpPr/>
          <p:nvPr/>
        </p:nvSpPr>
        <p:spPr>
          <a:xfrm>
            <a:off x="1161366" y="5486750"/>
            <a:ext cx="27350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행복한학교재단 </a:t>
            </a:r>
            <a:r>
              <a:rPr lang="en-US" altLang="ko-KR" dirty="0"/>
              <a:t>(SK </a:t>
            </a:r>
            <a:r>
              <a:rPr lang="ko-KR" altLang="en-US" dirty="0"/>
              <a:t>설립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4078931-40A1-4847-9BE4-1A2A215BC00B}"/>
              </a:ext>
            </a:extLst>
          </p:cNvPr>
          <p:cNvSpPr/>
          <p:nvPr/>
        </p:nvSpPr>
        <p:spPr>
          <a:xfrm>
            <a:off x="1268866" y="491546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err="1"/>
              <a:t>마음톡톡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580B01E-1BCF-48C2-97C2-A7132241948A}"/>
              </a:ext>
            </a:extLst>
          </p:cNvPr>
          <p:cNvSpPr/>
          <p:nvPr/>
        </p:nvSpPr>
        <p:spPr>
          <a:xfrm>
            <a:off x="1161366" y="6058385"/>
            <a:ext cx="22701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널</a:t>
            </a:r>
            <a:r>
              <a:rPr lang="en-US" altLang="ko-KR" dirty="0"/>
              <a:t>, </a:t>
            </a:r>
            <a:r>
              <a:rPr lang="ko-KR" altLang="en-US" dirty="0"/>
              <a:t>최고로 </a:t>
            </a:r>
            <a:r>
              <a:rPr lang="ko-KR" altLang="en-US" dirty="0" err="1"/>
              <a:t>만들거야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DFB15F7-19B8-4228-B2F3-BB54360FD136}"/>
              </a:ext>
            </a:extLst>
          </p:cNvPr>
          <p:cNvSpPr/>
          <p:nvPr/>
        </p:nvSpPr>
        <p:spPr>
          <a:xfrm>
            <a:off x="3827687" y="5445150"/>
            <a:ext cx="322876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산림치유</a:t>
            </a:r>
            <a:r>
              <a:rPr lang="en-US" altLang="ko-KR" dirty="0"/>
              <a:t>, </a:t>
            </a:r>
            <a:r>
              <a:rPr lang="ko-KR" altLang="en-US" dirty="0"/>
              <a:t>문화체험</a:t>
            </a:r>
            <a:r>
              <a:rPr lang="en-US" altLang="ko-KR" dirty="0"/>
              <a:t>, </a:t>
            </a:r>
            <a:r>
              <a:rPr lang="ko-KR" altLang="en-US" dirty="0"/>
              <a:t>목공예 등</a:t>
            </a:r>
            <a:endParaRPr lang="en-US" altLang="ko-KR" dirty="0"/>
          </a:p>
          <a:p>
            <a:r>
              <a:rPr lang="ko-KR" altLang="en-US" dirty="0"/>
              <a:t> 체험형 정서교육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06BA694-20EF-4B6F-A01C-76977F08A458}"/>
              </a:ext>
            </a:extLst>
          </p:cNvPr>
          <p:cNvSpPr/>
          <p:nvPr/>
        </p:nvSpPr>
        <p:spPr>
          <a:xfrm>
            <a:off x="8009106" y="5528664"/>
            <a:ext cx="39116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취약계층 아동의 자아존중감 향상 및 </a:t>
            </a:r>
            <a:endParaRPr lang="en-US" altLang="ko-KR" dirty="0"/>
          </a:p>
          <a:p>
            <a:r>
              <a:rPr lang="ko-KR" altLang="en-US" dirty="0"/>
              <a:t>심리적 안정 지원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37DE773-2971-41BD-9196-0689FA7DEE3D}"/>
              </a:ext>
            </a:extLst>
          </p:cNvPr>
          <p:cNvSpPr/>
          <p:nvPr/>
        </p:nvSpPr>
        <p:spPr>
          <a:xfrm>
            <a:off x="12373931" y="5542868"/>
            <a:ext cx="311335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프로그램의 지속성과 다양한 </a:t>
            </a:r>
            <a:endParaRPr lang="en-US" altLang="ko-KR" dirty="0"/>
          </a:p>
          <a:p>
            <a:r>
              <a:rPr lang="ko-KR" altLang="en-US" dirty="0"/>
              <a:t>지역으로의 확대 필요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FB2991A-0DB1-4E29-B6A0-E50BBE4B5F5C}"/>
              </a:ext>
            </a:extLst>
          </p:cNvPr>
          <p:cNvSpPr/>
          <p:nvPr/>
        </p:nvSpPr>
        <p:spPr>
          <a:xfrm>
            <a:off x="1180601" y="6945903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동심연구소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7F6EDC8-919E-4C45-AF08-04E934B40BEE}"/>
              </a:ext>
            </a:extLst>
          </p:cNvPr>
          <p:cNvSpPr/>
          <p:nvPr/>
        </p:nvSpPr>
        <p:spPr>
          <a:xfrm>
            <a:off x="1141488" y="7464089"/>
            <a:ext cx="25458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err="1"/>
              <a:t>우리아이</a:t>
            </a:r>
            <a:r>
              <a:rPr lang="ko-KR" altLang="en-US" dirty="0"/>
              <a:t> 행복프로젝트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BE32A3C-3F0C-43AD-8543-EFBCB7A2477A}"/>
              </a:ext>
            </a:extLst>
          </p:cNvPr>
          <p:cNvSpPr/>
          <p:nvPr/>
        </p:nvSpPr>
        <p:spPr>
          <a:xfrm>
            <a:off x="3687378" y="6986333"/>
            <a:ext cx="3805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사회정서학습 기반 전인교육 시스템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619E8CB-EC87-4D6A-B88A-1369BEA33820}"/>
              </a:ext>
            </a:extLst>
          </p:cNvPr>
          <p:cNvSpPr/>
          <p:nvPr/>
        </p:nvSpPr>
        <p:spPr>
          <a:xfrm>
            <a:off x="8014028" y="7000537"/>
            <a:ext cx="422743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SEL </a:t>
            </a:r>
            <a:r>
              <a:rPr lang="ko-KR" altLang="en-US" dirty="0"/>
              <a:t>기반 프로그램으로 아동의 정서 발달</a:t>
            </a:r>
            <a:endParaRPr lang="en-US" altLang="ko-KR" dirty="0"/>
          </a:p>
          <a:p>
            <a:r>
              <a:rPr lang="ko-KR" altLang="en-US" dirty="0"/>
              <a:t> 및 사회성 향상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E11BF5A-2679-4E15-A4BA-967CF2A2A85F}"/>
              </a:ext>
            </a:extLst>
          </p:cNvPr>
          <p:cNvSpPr/>
          <p:nvPr/>
        </p:nvSpPr>
        <p:spPr>
          <a:xfrm>
            <a:off x="12373931" y="6986333"/>
            <a:ext cx="408958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프로그램의 표준화 및 다양한 연령대에</a:t>
            </a:r>
            <a:endParaRPr lang="en-US" altLang="ko-KR" dirty="0"/>
          </a:p>
          <a:p>
            <a:r>
              <a:rPr lang="ko-KR" altLang="en-US" dirty="0"/>
              <a:t> 맞춘 콘텐츠 개발 필요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DFF0FD1-8B1A-4D0C-B10B-4923CD080B27}"/>
              </a:ext>
            </a:extLst>
          </p:cNvPr>
          <p:cNvSpPr/>
          <p:nvPr/>
        </p:nvSpPr>
        <p:spPr>
          <a:xfrm>
            <a:off x="1309986" y="1747679"/>
            <a:ext cx="87757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/>
              <a:t>브랜드들의 </a:t>
            </a:r>
            <a:r>
              <a:rPr lang="ko-KR" altLang="en-US" dirty="0" err="1"/>
              <a:t>정서돌봄</a:t>
            </a:r>
            <a:r>
              <a:rPr lang="ko-KR" altLang="en-US" dirty="0"/>
              <a:t> 서비스는 대부분 학교</a:t>
            </a:r>
            <a:r>
              <a:rPr lang="en-US" altLang="ko-KR" dirty="0"/>
              <a:t>, </a:t>
            </a:r>
            <a:r>
              <a:rPr lang="ko-KR" altLang="en-US" dirty="0"/>
              <a:t>복지기관 중심으로 </a:t>
            </a:r>
            <a:endParaRPr lang="en-US" altLang="ko-KR" dirty="0"/>
          </a:p>
          <a:p>
            <a:r>
              <a:rPr lang="ko-KR" altLang="en-US" dirty="0"/>
              <a:t>운영되며</a:t>
            </a:r>
            <a:r>
              <a:rPr lang="en-US" altLang="ko-KR" dirty="0"/>
              <a:t>, </a:t>
            </a:r>
            <a:r>
              <a:rPr lang="ko-KR" altLang="en-US" dirty="0"/>
              <a:t>위기 대응형</a:t>
            </a:r>
            <a:r>
              <a:rPr lang="en-US" altLang="ko-KR" dirty="0"/>
              <a:t>(</a:t>
            </a:r>
            <a:r>
              <a:rPr lang="ko-KR" altLang="en-US" dirty="0"/>
              <a:t>문제 발생 후 개입</a:t>
            </a:r>
            <a:r>
              <a:rPr lang="en-US" altLang="ko-KR" dirty="0"/>
              <a:t>) </a:t>
            </a:r>
            <a:r>
              <a:rPr lang="ko-KR" altLang="en-US" dirty="0"/>
              <a:t>프로그램이 주를 이룹니다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60A537D-A1B8-4995-9C9C-B5CD9BDB8B77}"/>
              </a:ext>
            </a:extLst>
          </p:cNvPr>
          <p:cNvSpPr/>
          <p:nvPr/>
        </p:nvSpPr>
        <p:spPr>
          <a:xfrm>
            <a:off x="9566696" y="1608056"/>
            <a:ext cx="53495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예방적 정서교육의 중요성에 대한 사회적 인식 부족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63F2BB3-2F99-4119-88DC-4C6B1538E100}"/>
              </a:ext>
            </a:extLst>
          </p:cNvPr>
          <p:cNvSpPr/>
          <p:nvPr/>
        </p:nvSpPr>
        <p:spPr>
          <a:xfrm>
            <a:off x="1222426" y="2411297"/>
            <a:ext cx="34547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전문가 주도형</a:t>
            </a:r>
            <a:r>
              <a:rPr lang="en-US" altLang="ko-KR" dirty="0"/>
              <a:t>, </a:t>
            </a:r>
            <a:r>
              <a:rPr lang="ko-KR" altLang="en-US" dirty="0"/>
              <a:t>수동적 참여 구조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6E185F4-D442-445D-999F-242FD21527B3}"/>
              </a:ext>
            </a:extLst>
          </p:cNvPr>
          <p:cNvSpPr/>
          <p:nvPr/>
        </p:nvSpPr>
        <p:spPr>
          <a:xfrm>
            <a:off x="9576107" y="2062619"/>
            <a:ext cx="70759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아동</a:t>
            </a:r>
            <a:r>
              <a:rPr lang="en-US" altLang="ko-KR" dirty="0"/>
              <a:t>·</a:t>
            </a:r>
            <a:r>
              <a:rPr lang="ko-KR" altLang="en-US" dirty="0"/>
              <a:t>시니어 스스로 감정을 표현하고 주도하는 방식의 프로그램 부족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201CF0D-CA81-47BA-B8FE-65F7656914F5}"/>
              </a:ext>
            </a:extLst>
          </p:cNvPr>
          <p:cNvSpPr/>
          <p:nvPr/>
        </p:nvSpPr>
        <p:spPr>
          <a:xfrm>
            <a:off x="1180601" y="2780979"/>
            <a:ext cx="28825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일회성 체험 위주 프로그램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A996BEB-685F-4BC8-B713-5B97759D8655}"/>
              </a:ext>
            </a:extLst>
          </p:cNvPr>
          <p:cNvSpPr/>
          <p:nvPr/>
        </p:nvSpPr>
        <p:spPr>
          <a:xfrm>
            <a:off x="9576107" y="2509045"/>
            <a:ext cx="49407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지속적 정서 표현 루틴 구축을 목표로 하지 않음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87383" y="-138340"/>
            <a:ext cx="17556480" cy="987552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46E2B90A-04B5-4B62-BA29-171AFA88DC4F}"/>
              </a:ext>
            </a:extLst>
          </p:cNvPr>
          <p:cNvSpPr/>
          <p:nvPr/>
        </p:nvSpPr>
        <p:spPr>
          <a:xfrm>
            <a:off x="11038432" y="2090408"/>
            <a:ext cx="87757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/>
              <a:t>감정 표현이 서툰 일상 속 아동과 시니어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맞벌이 가정 부모 </a:t>
            </a:r>
            <a:r>
              <a:rPr lang="en-US" altLang="ko-KR" dirty="0"/>
              <a:t>(</a:t>
            </a:r>
            <a:r>
              <a:rPr lang="ko-KR" altLang="en-US" dirty="0"/>
              <a:t>가정 중심</a:t>
            </a:r>
            <a:r>
              <a:rPr lang="en-US" altLang="ko-KR" dirty="0"/>
              <a:t>, </a:t>
            </a:r>
            <a:r>
              <a:rPr lang="ko-KR" altLang="en-US" dirty="0"/>
              <a:t>사용자 중심 접근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FAC4E29-7AA2-475C-AEDB-691CBEF6EBF6}"/>
              </a:ext>
            </a:extLst>
          </p:cNvPr>
          <p:cNvSpPr/>
          <p:nvPr/>
        </p:nvSpPr>
        <p:spPr>
          <a:xfrm>
            <a:off x="11038432" y="4020939"/>
            <a:ext cx="46249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일상 속 감정 표현 부족 → 정서적 위축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가족 간 감정단절 </a:t>
            </a:r>
            <a:r>
              <a:rPr lang="en-US" altLang="ko-KR" dirty="0"/>
              <a:t>(</a:t>
            </a:r>
            <a:r>
              <a:rPr lang="ko-KR" altLang="en-US" dirty="0"/>
              <a:t>예방적</a:t>
            </a:r>
            <a:r>
              <a:rPr lang="en-US" altLang="ko-KR" dirty="0"/>
              <a:t>, </a:t>
            </a:r>
            <a:r>
              <a:rPr lang="ko-KR" altLang="en-US" dirty="0"/>
              <a:t>일상형 문제 접근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93D96F1-15EE-4E5C-9B29-1273F29613A5}"/>
              </a:ext>
            </a:extLst>
          </p:cNvPr>
          <p:cNvSpPr/>
          <p:nvPr/>
        </p:nvSpPr>
        <p:spPr>
          <a:xfrm>
            <a:off x="692649" y="6523452"/>
            <a:ext cx="151787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감정 표현이 서툰 가족 구성원이 일상 속 놀이와 대화를 통해 감정 인식</a:t>
            </a:r>
            <a:r>
              <a:rPr lang="en-US" altLang="ko-KR" dirty="0"/>
              <a:t>-</a:t>
            </a:r>
            <a:r>
              <a:rPr lang="ko-KR" altLang="en-US" dirty="0"/>
              <a:t>표현</a:t>
            </a:r>
            <a:r>
              <a:rPr lang="en-US" altLang="ko-KR" dirty="0"/>
              <a:t>-</a:t>
            </a:r>
            <a:r>
              <a:rPr lang="ko-KR" altLang="en-US" dirty="0"/>
              <a:t>공감의 루틴을 만들고</a:t>
            </a:r>
            <a:r>
              <a:rPr lang="en-US" altLang="ko-KR" dirty="0"/>
              <a:t>, </a:t>
            </a:r>
            <a:r>
              <a:rPr lang="ko-KR" altLang="en-US" dirty="0"/>
              <a:t>스스로 정서적 회복력을 키우는 데 도움을 주는 생활형 </a:t>
            </a:r>
            <a:r>
              <a:rPr lang="ko-KR" altLang="en-US" dirty="0" err="1"/>
              <a:t>정서돌봄</a:t>
            </a:r>
            <a:r>
              <a:rPr lang="ko-KR" altLang="en-US" dirty="0"/>
              <a:t> 서비스</a:t>
            </a:r>
            <a:r>
              <a:rPr lang="en-US" altLang="ko-KR" dirty="0"/>
              <a:t>"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46B3304-63D0-47A9-BCC3-5DBD27925DB8}"/>
              </a:ext>
            </a:extLst>
          </p:cNvPr>
          <p:cNvSpPr/>
          <p:nvPr/>
        </p:nvSpPr>
        <p:spPr>
          <a:xfrm>
            <a:off x="1686379" y="3077410"/>
            <a:ext cx="40575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감정 표현이 서툰 초등 저학년 </a:t>
            </a:r>
            <a:r>
              <a:rPr lang="en-US" altLang="ko-KR" dirty="0"/>
              <a:t>(7~10</a:t>
            </a:r>
            <a:r>
              <a:rPr lang="ko-KR" altLang="en-US" dirty="0"/>
              <a:t>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5DCFF5B-0EFC-4002-B719-37CA675C7BC4}"/>
              </a:ext>
            </a:extLst>
          </p:cNvPr>
          <p:cNvSpPr/>
          <p:nvPr/>
        </p:nvSpPr>
        <p:spPr>
          <a:xfrm>
            <a:off x="1694709" y="4153089"/>
            <a:ext cx="368081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육아 스트레스와 소통 갈증을 가진 </a:t>
            </a:r>
            <a:endParaRPr lang="en-US" altLang="ko-KR" dirty="0"/>
          </a:p>
          <a:p>
            <a:r>
              <a:rPr lang="ko-KR" altLang="en-US" dirty="0"/>
              <a:t>맞벌이 부모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7C76DD6-016C-4161-B9D9-1C316992DFFA}"/>
              </a:ext>
            </a:extLst>
          </p:cNvPr>
          <p:cNvSpPr/>
          <p:nvPr/>
        </p:nvSpPr>
        <p:spPr>
          <a:xfrm>
            <a:off x="1668260" y="1967392"/>
            <a:ext cx="344998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정서적 고립과  세대 소통 단절을</a:t>
            </a:r>
            <a:endParaRPr lang="en-US" altLang="ko-KR" dirty="0"/>
          </a:p>
          <a:p>
            <a:r>
              <a:rPr lang="ko-KR" altLang="en-US" dirty="0"/>
              <a:t> 느끼는 시니어 </a:t>
            </a:r>
            <a:r>
              <a:rPr lang="en-US" altLang="ko-KR" dirty="0"/>
              <a:t>(65</a:t>
            </a:r>
            <a:r>
              <a:rPr lang="ko-KR" altLang="en-US" dirty="0"/>
              <a:t>세 이상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811E524-296A-4D33-8F16-721E34C0257A}"/>
              </a:ext>
            </a:extLst>
          </p:cNvPr>
          <p:cNvSpPr/>
          <p:nvPr/>
        </p:nvSpPr>
        <p:spPr>
          <a:xfrm>
            <a:off x="5743900" y="2054556"/>
            <a:ext cx="40575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err="1"/>
              <a:t>아동은감정</a:t>
            </a:r>
            <a:r>
              <a:rPr lang="ko-KR" altLang="en-US" dirty="0"/>
              <a:t> 표현과 감정 어휘 부족 </a:t>
            </a:r>
            <a:endParaRPr lang="en-US" altLang="ko-KR" dirty="0"/>
          </a:p>
          <a:p>
            <a:r>
              <a:rPr lang="ko-KR" altLang="en-US" dirty="0"/>
              <a:t>→ 친구 관계</a:t>
            </a:r>
            <a:r>
              <a:rPr lang="en-US" altLang="ko-KR" dirty="0"/>
              <a:t>, </a:t>
            </a:r>
            <a:r>
              <a:rPr lang="ko-KR" altLang="en-US" dirty="0"/>
              <a:t>자기표현 어려움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ECF6232-7C83-48A7-869A-DD837581D0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2705" y="2754044"/>
            <a:ext cx="3542083" cy="780356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D7EC9F19-C234-4C6A-9A22-471A904EADE7}"/>
              </a:ext>
            </a:extLst>
          </p:cNvPr>
          <p:cNvSpPr/>
          <p:nvPr/>
        </p:nvSpPr>
        <p:spPr>
          <a:xfrm>
            <a:off x="5622705" y="3641765"/>
            <a:ext cx="44262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아이 감정 이해에 관심은 있지만 방법 부족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6C8453CC-7B25-4A38-ABE3-6E44DA71F0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248"/>
            <a:ext cx="17556163" cy="98753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1DA95DF1-6ECC-44E8-A653-5F5D34404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B53FFA6F-EC9E-46D6-B708-A6A828ECA534}"/>
              </a:ext>
            </a:extLst>
          </p:cNvPr>
          <p:cNvSpPr/>
          <p:nvPr/>
        </p:nvSpPr>
        <p:spPr>
          <a:xfrm>
            <a:off x="2103437" y="2429499"/>
            <a:ext cx="128317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정부의 아동권리 강화</a:t>
            </a:r>
            <a:r>
              <a:rPr lang="en-US" altLang="ko-KR" dirty="0"/>
              <a:t>, </a:t>
            </a:r>
            <a:r>
              <a:rPr lang="ko-KR" altLang="en-US" dirty="0"/>
              <a:t>고령사회 대응 정책 확대→ 아동 정서발달 지원사업</a:t>
            </a:r>
            <a:r>
              <a:rPr lang="en-US" altLang="ko-KR" dirty="0"/>
              <a:t>, </a:t>
            </a:r>
            <a:r>
              <a:rPr lang="ko-KR" altLang="en-US" dirty="0"/>
              <a:t>노인정서지원 프로그램 확대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3C4E188-5DA8-4418-9E5A-FF9A4971937E}"/>
              </a:ext>
            </a:extLst>
          </p:cNvPr>
          <p:cNvSpPr/>
          <p:nvPr/>
        </p:nvSpPr>
        <p:spPr>
          <a:xfrm>
            <a:off x="2103437" y="3339341"/>
            <a:ext cx="120559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맞벌이 가정 증가</a:t>
            </a:r>
            <a:r>
              <a:rPr lang="en-US" altLang="ko-KR" dirty="0"/>
              <a:t>, </a:t>
            </a:r>
            <a:r>
              <a:rPr lang="ko-KR" altLang="en-US" dirty="0"/>
              <a:t>부모 육아 부담 심화→ 가정 내 감정 케어 필요성 증가 </a:t>
            </a:r>
            <a:r>
              <a:rPr lang="en-US" altLang="ko-KR" dirty="0"/>
              <a:t>/ </a:t>
            </a:r>
            <a:r>
              <a:rPr lang="ko-KR" altLang="en-US" dirty="0"/>
              <a:t>정서교육 관련 소비 여력 확대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4D09DD1-5248-4DAA-A066-DCC474D73D9E}"/>
              </a:ext>
            </a:extLst>
          </p:cNvPr>
          <p:cNvSpPr/>
          <p:nvPr/>
        </p:nvSpPr>
        <p:spPr>
          <a:xfrm>
            <a:off x="2103437" y="4429294"/>
            <a:ext cx="138154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정서지능</a:t>
            </a:r>
            <a:r>
              <a:rPr lang="en-US" altLang="ko-KR" dirty="0"/>
              <a:t>(EQ) </a:t>
            </a:r>
            <a:r>
              <a:rPr lang="ko-KR" altLang="en-US" dirty="0"/>
              <a:t>중요성에 대한 인식 확산→ 학교</a:t>
            </a:r>
            <a:r>
              <a:rPr lang="en-US" altLang="ko-KR" dirty="0"/>
              <a:t>·</a:t>
            </a:r>
            <a:r>
              <a:rPr lang="ko-KR" altLang="en-US" dirty="0"/>
              <a:t>가정</a:t>
            </a:r>
            <a:r>
              <a:rPr lang="en-US" altLang="ko-KR" dirty="0"/>
              <a:t>·</a:t>
            </a:r>
            <a:r>
              <a:rPr lang="ko-KR" altLang="en-US" dirty="0"/>
              <a:t>사회 전반에서 감정교육과 소통능력 강조 </a:t>
            </a:r>
            <a:r>
              <a:rPr lang="ko-KR" altLang="en-US" dirty="0" err="1"/>
              <a:t>트렌드사회적</a:t>
            </a:r>
            <a:r>
              <a:rPr lang="ko-KR" altLang="en-US" dirty="0"/>
              <a:t> 고립</a:t>
            </a:r>
            <a:r>
              <a:rPr lang="en-US" altLang="ko-KR" dirty="0"/>
              <a:t>, </a:t>
            </a:r>
            <a:r>
              <a:rPr lang="ko-KR" altLang="en-US" dirty="0"/>
              <a:t>정신건강 문제 이슈화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0B25BFD-6963-447D-9817-14643E68581A}"/>
              </a:ext>
            </a:extLst>
          </p:cNvPr>
          <p:cNvSpPr/>
          <p:nvPr/>
        </p:nvSpPr>
        <p:spPr>
          <a:xfrm>
            <a:off x="2103437" y="5505789"/>
            <a:ext cx="129980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err="1"/>
              <a:t>비대면</a:t>
            </a:r>
            <a:r>
              <a:rPr lang="en-US" altLang="ko-KR" dirty="0"/>
              <a:t>·</a:t>
            </a:r>
            <a:r>
              <a:rPr lang="ko-KR" altLang="en-US" dirty="0"/>
              <a:t>디지털 교육 콘텐츠 확대→ </a:t>
            </a:r>
            <a:r>
              <a:rPr lang="ko-KR" altLang="en-US" dirty="0" err="1"/>
              <a:t>홈스쿨링형</a:t>
            </a:r>
            <a:r>
              <a:rPr lang="ko-KR" altLang="en-US" dirty="0"/>
              <a:t> </a:t>
            </a:r>
            <a:r>
              <a:rPr lang="ko-KR" altLang="en-US" dirty="0" err="1"/>
              <a:t>정서돌봄</a:t>
            </a:r>
            <a:r>
              <a:rPr lang="ko-KR" altLang="en-US" dirty="0"/>
              <a:t> 키트와 디지털 기반 감정교육 솔루션 가능성 확대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2734E99-EA69-41DB-A925-5356AE1D9892}"/>
              </a:ext>
            </a:extLst>
          </p:cNvPr>
          <p:cNvSpPr/>
          <p:nvPr/>
        </p:nvSpPr>
        <p:spPr>
          <a:xfrm>
            <a:off x="2103436" y="6476056"/>
            <a:ext cx="128317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err="1"/>
              <a:t>팬데믹</a:t>
            </a:r>
            <a:r>
              <a:rPr lang="ko-KR" altLang="en-US" dirty="0"/>
              <a:t> 이후 </a:t>
            </a:r>
            <a:r>
              <a:rPr lang="ko-KR" altLang="en-US" dirty="0" err="1"/>
              <a:t>비대면</a:t>
            </a:r>
            <a:r>
              <a:rPr lang="en-US" altLang="ko-KR" dirty="0"/>
              <a:t>, </a:t>
            </a:r>
            <a:r>
              <a:rPr lang="ko-KR" altLang="en-US" dirty="0"/>
              <a:t>가정 중심 생활 강화→ 집 안에서 즐길 수 있는 감정놀이</a:t>
            </a:r>
            <a:r>
              <a:rPr lang="en-US" altLang="ko-KR" dirty="0"/>
              <a:t>·</a:t>
            </a:r>
            <a:r>
              <a:rPr lang="ko-KR" altLang="en-US" dirty="0" err="1"/>
              <a:t>정서돌봄</a:t>
            </a:r>
            <a:r>
              <a:rPr lang="ko-KR" altLang="en-US" dirty="0"/>
              <a:t> 콘텐츠 수요 증가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2C83BDB-292F-44C5-9A8E-CC3CA4498D34}"/>
              </a:ext>
            </a:extLst>
          </p:cNvPr>
          <p:cNvSpPr/>
          <p:nvPr/>
        </p:nvSpPr>
        <p:spPr>
          <a:xfrm>
            <a:off x="2103436" y="7580260"/>
            <a:ext cx="1460514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아동</a:t>
            </a:r>
            <a:r>
              <a:rPr lang="en-US" altLang="ko-KR" dirty="0"/>
              <a:t>·</a:t>
            </a:r>
            <a:r>
              <a:rPr lang="ko-KR" altLang="en-US" dirty="0"/>
              <a:t>청소년</a:t>
            </a:r>
            <a:r>
              <a:rPr lang="en-US" altLang="ko-KR" dirty="0"/>
              <a:t>·</a:t>
            </a:r>
            <a:r>
              <a:rPr lang="ko-KR" altLang="en-US" dirty="0"/>
              <a:t>노인 보호 관련 법규 강화→ 학교와 복지기관 중심의 정서 지원 프로그램 의무화 가능성개인정보 보호법 강화에 따른 사용자 데이터 관리 주의 필요</a:t>
            </a:r>
          </a:p>
        </p:txBody>
      </p:sp>
    </p:spTree>
    <p:extLst>
      <p:ext uri="{BB962C8B-B14F-4D97-AF65-F5344CB8AC3E}">
        <p14:creationId xmlns:p14="http://schemas.microsoft.com/office/powerpoint/2010/main" val="1458308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590</Words>
  <Application>Microsoft Office PowerPoint</Application>
  <PresentationFormat>사용자 지정</PresentationFormat>
  <Paragraphs>75</Paragraphs>
  <Slides>7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지은 구</cp:lastModifiedBy>
  <cp:revision>14</cp:revision>
  <dcterms:created xsi:type="dcterms:W3CDTF">2025-04-26T00:56:45Z</dcterms:created>
  <dcterms:modified xsi:type="dcterms:W3CDTF">2025-04-26T15:42:14Z</dcterms:modified>
</cp:coreProperties>
</file>