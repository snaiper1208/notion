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46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061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3E4A8A-4446-47F2-829B-005F1E7F0E70}"/>
              </a:ext>
            </a:extLst>
          </p:cNvPr>
          <p:cNvSpPr txBox="1"/>
          <p:nvPr/>
        </p:nvSpPr>
        <p:spPr>
          <a:xfrm>
            <a:off x="1102290" y="2492607"/>
            <a:ext cx="12100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사용자는 단순한 알림이나 캘린더로는 루틴을 꾸준히 지키기 어렵다</a:t>
            </a:r>
            <a:r>
              <a:rPr lang="en-US" altLang="ko-KR" sz="2800" dirty="0"/>
              <a:t>.</a:t>
            </a:r>
            <a:endParaRPr lang="ko-KR" alt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326DA-837F-4A1D-ADFD-9ADE600966CC}"/>
              </a:ext>
            </a:extLst>
          </p:cNvPr>
          <p:cNvSpPr txBox="1"/>
          <p:nvPr/>
        </p:nvSpPr>
        <p:spPr>
          <a:xfrm>
            <a:off x="1102287" y="3208745"/>
            <a:ext cx="12100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사용자는 </a:t>
            </a:r>
            <a:r>
              <a:rPr lang="en-US" altLang="ko-KR" sz="2800" dirty="0"/>
              <a:t>'</a:t>
            </a:r>
            <a:r>
              <a:rPr lang="ko-KR" altLang="en-US" sz="2800" dirty="0"/>
              <a:t>실제 사람</a:t>
            </a:r>
            <a:r>
              <a:rPr lang="en-US" altLang="ko-KR" sz="2800" dirty="0"/>
              <a:t>'</a:t>
            </a:r>
            <a:r>
              <a:rPr lang="ko-KR" altLang="en-US" sz="2800" dirty="0"/>
              <a:t>이 전화를 걸어주는 방식이 알람보다 더 강력한 실행 동기를 준다고 느낄 것이다</a:t>
            </a:r>
            <a:r>
              <a:rPr lang="en-US" altLang="ko-KR" sz="2800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14FE1-A0D2-4414-8DAE-56DDF42BE04E}"/>
              </a:ext>
            </a:extLst>
          </p:cNvPr>
          <p:cNvSpPr txBox="1"/>
          <p:nvPr/>
        </p:nvSpPr>
        <p:spPr>
          <a:xfrm>
            <a:off x="1102290" y="4248931"/>
            <a:ext cx="12100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사용자는 하루 </a:t>
            </a:r>
            <a:r>
              <a:rPr lang="en-US" altLang="ko-KR" sz="2800" dirty="0"/>
              <a:t>1</a:t>
            </a:r>
            <a:r>
              <a:rPr lang="ko-KR" altLang="en-US" sz="2800" dirty="0"/>
              <a:t>회 정도의 전화 리마인드 빈도를 가장 부담 없이 받아들일 것이다</a:t>
            </a:r>
            <a:r>
              <a:rPr lang="en-US" altLang="ko-KR" sz="2800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E9032-06B6-466B-BEDB-381495442AF8}"/>
              </a:ext>
            </a:extLst>
          </p:cNvPr>
          <p:cNvSpPr txBox="1"/>
          <p:nvPr/>
        </p:nvSpPr>
        <p:spPr>
          <a:xfrm>
            <a:off x="1102289" y="5383318"/>
            <a:ext cx="12100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사용자는 작은 루틴 성공 경험이 반복되면 </a:t>
            </a:r>
            <a:r>
              <a:rPr lang="ko-KR" altLang="en-US" sz="2800" dirty="0" err="1"/>
              <a:t>자기효능감이</a:t>
            </a:r>
            <a:r>
              <a:rPr lang="ko-KR" altLang="en-US" sz="2800" dirty="0"/>
              <a:t> 점차 회복될 것이다</a:t>
            </a:r>
            <a:r>
              <a:rPr lang="en-US" altLang="ko-KR" sz="2800" dirty="0"/>
              <a:t>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CAF7F-5847-4A96-8A91-3BE2E12F2D80}"/>
              </a:ext>
            </a:extLst>
          </p:cNvPr>
          <p:cNvSpPr txBox="1"/>
          <p:nvPr/>
        </p:nvSpPr>
        <p:spPr>
          <a:xfrm>
            <a:off x="1102286" y="6233421"/>
            <a:ext cx="121001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사용자는 </a:t>
            </a:r>
            <a:r>
              <a:rPr lang="ko-KR" altLang="en-US" sz="2800" dirty="0" err="1"/>
              <a:t>루틴콜</a:t>
            </a:r>
            <a:r>
              <a:rPr lang="ko-KR" altLang="en-US" sz="2800" dirty="0"/>
              <a:t> 서비스를 통해 루틴 성공률이 체감될 경우</a:t>
            </a:r>
            <a:r>
              <a:rPr lang="en-US" altLang="ko-KR" sz="2800" dirty="0"/>
              <a:t>, </a:t>
            </a:r>
            <a:r>
              <a:rPr lang="ko-KR" altLang="en-US" sz="2800" dirty="0"/>
              <a:t>지속적으로 유료 구독할 의향이 있을 것이다</a:t>
            </a:r>
            <a:r>
              <a:rPr lang="en-US" altLang="ko-KR" sz="2800" dirty="0"/>
              <a:t>. </a:t>
            </a:r>
            <a:endParaRPr lang="ko-KR" alt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75ECFC-F1AE-4480-8754-A4DBFEA3CECE}"/>
              </a:ext>
            </a:extLst>
          </p:cNvPr>
          <p:cNvSpPr txBox="1"/>
          <p:nvPr/>
        </p:nvSpPr>
        <p:spPr>
          <a:xfrm>
            <a:off x="13678421" y="2460826"/>
            <a:ext cx="2775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O</a:t>
            </a:r>
            <a:endParaRPr lang="ko-KR" alt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81C378-BEFB-4C79-AF85-FA41CA9CD95A}"/>
              </a:ext>
            </a:extLst>
          </p:cNvPr>
          <p:cNvSpPr txBox="1"/>
          <p:nvPr/>
        </p:nvSpPr>
        <p:spPr>
          <a:xfrm>
            <a:off x="13678422" y="3421693"/>
            <a:ext cx="2775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X</a:t>
            </a:r>
            <a:endParaRPr lang="ko-KR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17FC58-A7A3-43D4-B1E0-1941DA8171CC}"/>
              </a:ext>
            </a:extLst>
          </p:cNvPr>
          <p:cNvSpPr txBox="1"/>
          <p:nvPr/>
        </p:nvSpPr>
        <p:spPr>
          <a:xfrm>
            <a:off x="13678422" y="4445317"/>
            <a:ext cx="2775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X</a:t>
            </a:r>
            <a:endParaRPr lang="ko-KR" alt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DC926-3D17-47AF-A4FD-A901DD17A018}"/>
              </a:ext>
            </a:extLst>
          </p:cNvPr>
          <p:cNvSpPr txBox="1"/>
          <p:nvPr/>
        </p:nvSpPr>
        <p:spPr>
          <a:xfrm>
            <a:off x="13673585" y="6473015"/>
            <a:ext cx="2775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X</a:t>
            </a:r>
            <a:endParaRPr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1A1100-2A32-404A-BC3B-768DEA84B748}"/>
              </a:ext>
            </a:extLst>
          </p:cNvPr>
          <p:cNvSpPr txBox="1"/>
          <p:nvPr/>
        </p:nvSpPr>
        <p:spPr>
          <a:xfrm>
            <a:off x="13673586" y="5449391"/>
            <a:ext cx="2775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O</a:t>
            </a:r>
            <a:endParaRPr lang="ko-KR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DBDFB7-EE94-47C6-B7B9-130A38A979D6}"/>
              </a:ext>
            </a:extLst>
          </p:cNvPr>
          <p:cNvSpPr txBox="1"/>
          <p:nvPr/>
        </p:nvSpPr>
        <p:spPr>
          <a:xfrm>
            <a:off x="1102284" y="2349066"/>
            <a:ext cx="12100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루틴 실행 실패 경험이 반복되는 개인 사용자가 기계적인 알림에 무감각해지기 때문에 루틴 실행을 꾸준히 지속하지 못한다고 생각한다</a:t>
            </a:r>
            <a:r>
              <a:rPr lang="en-US" altLang="ko-KR" sz="2000" dirty="0"/>
              <a:t>. </a:t>
            </a:r>
            <a:endParaRPr lang="ko-KR" alt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AFFA58-B1FE-43E3-A758-E9B942596555}"/>
              </a:ext>
            </a:extLst>
          </p:cNvPr>
          <p:cNvSpPr txBox="1"/>
          <p:nvPr/>
        </p:nvSpPr>
        <p:spPr>
          <a:xfrm>
            <a:off x="1102285" y="3345444"/>
            <a:ext cx="12100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일상 리듬을 관리하기 어려워하는 사용자들이 사람의 목소리처럼 감정이 담긴 직접적 알림이 부족하기 때문에 루틴 시작을 반복적으로 미루고 포기한다고 생각한다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7E139-0870-4524-AAAA-A25A42557B0C}"/>
              </a:ext>
            </a:extLst>
          </p:cNvPr>
          <p:cNvSpPr txBox="1"/>
          <p:nvPr/>
        </p:nvSpPr>
        <p:spPr>
          <a:xfrm>
            <a:off x="1102285" y="4393174"/>
            <a:ext cx="12100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루틴 실패로 자존감이 낮아진 개인 사용자가 반복되는 실패 경험을 끊어낼 성공 경험이 부족하기 때문에 루틴 유지 동기를 상실한다고 생각한다</a:t>
            </a:r>
            <a:r>
              <a:rPr lang="en-US" altLang="ko-KR" sz="2000" dirty="0"/>
              <a:t>. 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3A902E-B43E-4BDC-927E-B7B51C68EFF7}"/>
              </a:ext>
            </a:extLst>
          </p:cNvPr>
          <p:cNvSpPr txBox="1"/>
          <p:nvPr/>
        </p:nvSpPr>
        <p:spPr>
          <a:xfrm>
            <a:off x="1102283" y="5335598"/>
            <a:ext cx="12100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매일 루틴 실패를 경험하는 사용자가 하루 </a:t>
            </a:r>
            <a:r>
              <a:rPr lang="en-US" altLang="ko-KR" sz="2000" dirty="0"/>
              <a:t>1</a:t>
            </a:r>
            <a:r>
              <a:rPr lang="ko-KR" altLang="en-US" sz="2000" dirty="0"/>
              <a:t>회 이하의 부드러운 리마인드를 받지 못하기 때문에 루틴 실행 자체를 시작하지 못한다고 생각한다</a:t>
            </a:r>
            <a:r>
              <a:rPr lang="en-US" altLang="ko-KR" sz="2000" dirty="0"/>
              <a:t>. 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A5A95A-4C12-4804-913B-F599EF6D7A83}"/>
              </a:ext>
            </a:extLst>
          </p:cNvPr>
          <p:cNvSpPr txBox="1"/>
          <p:nvPr/>
        </p:nvSpPr>
        <p:spPr>
          <a:xfrm>
            <a:off x="5924811" y="2004164"/>
            <a:ext cx="51607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강점</a:t>
            </a:r>
            <a:r>
              <a:rPr lang="en-US" altLang="ko-KR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다양한 생산성 앱(예: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챌린저스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Todoist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등)이 존재하고, 간편하게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셋업할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수 있다.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latin typeface="Arial" panose="020B0604020202020204" pitchFamily="34" charset="0"/>
              </a:rPr>
              <a:t>-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일정이나 목표를 시각화해주는 도구가 발달해 있다.</a:t>
            </a:r>
            <a:endParaRPr lang="en-US" altLang="ko-KR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한계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latin typeface="Arial" panose="020B0604020202020204" pitchFamily="34" charset="0"/>
              </a:rPr>
              <a:t>- </a:t>
            </a:r>
            <a:r>
              <a:rPr lang="ko-KR" altLang="en-US" dirty="0"/>
              <a:t>알림만 제공하고 실제 행동을 유도하지 못한다</a:t>
            </a:r>
            <a:r>
              <a:rPr lang="en-US" altLang="ko-KR" dirty="0"/>
              <a:t>.</a:t>
            </a:r>
            <a:endParaRPr kumimoji="0" lang="en-US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latin typeface="Arial" panose="020B0604020202020204" pitchFamily="34" charset="0"/>
              </a:rPr>
              <a:t>- </a:t>
            </a:r>
            <a:r>
              <a:rPr lang="ko-KR" altLang="en-US" dirty="0"/>
              <a:t>기계적인 푸시 알림은 습관화되면서 무시되는 경향이 있다</a:t>
            </a:r>
            <a:r>
              <a:rPr lang="en-US" altLang="ko-KR" dirty="0"/>
              <a:t>.</a:t>
            </a:r>
            <a:endParaRPr lang="en-US" altLang="ko-KR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>
                <a:latin typeface="Arial" panose="020B0604020202020204" pitchFamily="34" charset="0"/>
              </a:rPr>
              <a:t>- </a:t>
            </a:r>
            <a:r>
              <a:rPr lang="ko-KR" altLang="en-US" dirty="0"/>
              <a:t>실패에 대한 인간적인 피드백이나 동기부여를 제공하지 못한다</a:t>
            </a:r>
            <a:r>
              <a:rPr lang="en-US" altLang="ko-KR" dirty="0"/>
              <a:t>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F90AF-E57A-4A77-8C01-24C4C1E79378}"/>
              </a:ext>
            </a:extLst>
          </p:cNvPr>
          <p:cNvSpPr txBox="1"/>
          <p:nvPr/>
        </p:nvSpPr>
        <p:spPr>
          <a:xfrm>
            <a:off x="2066795" y="2004164"/>
            <a:ext cx="3620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사용자는 스스로 세운 루틴을 꾸준히 유지하는 데 반복적으로 실패하고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22E83-F217-4349-A0E6-998C937F399C}"/>
              </a:ext>
            </a:extLst>
          </p:cNvPr>
          <p:cNvSpPr txBox="1"/>
          <p:nvPr/>
        </p:nvSpPr>
        <p:spPr>
          <a:xfrm>
            <a:off x="2066793" y="2927494"/>
            <a:ext cx="36200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단순한 앱 알림이나 캘린더 리마인드로는 루틴 행동을 시작하거나 유지하는 데 실질적으로 도움이 되지 않는다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E531D-01B8-4B60-83B1-D098F9BBBF2A}"/>
              </a:ext>
            </a:extLst>
          </p:cNvPr>
          <p:cNvSpPr txBox="1"/>
          <p:nvPr/>
        </p:nvSpPr>
        <p:spPr>
          <a:xfrm>
            <a:off x="2066791" y="4302340"/>
            <a:ext cx="3620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루틴 실패가 반복되면서 자존감 저하와 무기력감을 겪는다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E6ADCB-6B4D-4485-806F-678321AE6CCC}"/>
              </a:ext>
            </a:extLst>
          </p:cNvPr>
          <p:cNvSpPr txBox="1"/>
          <p:nvPr/>
        </p:nvSpPr>
        <p:spPr>
          <a:xfrm>
            <a:off x="776614" y="2004164"/>
            <a:ext cx="11148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고객케이스</a:t>
            </a:r>
            <a:r>
              <a:rPr lang="en-US" altLang="ko-KR" dirty="0"/>
              <a:t>1</a:t>
            </a:r>
          </a:p>
          <a:p>
            <a:r>
              <a:rPr lang="ko-KR" altLang="en-US" dirty="0"/>
              <a:t>고객</a:t>
            </a:r>
            <a:r>
              <a:rPr lang="en-US" altLang="ko-KR" dirty="0"/>
              <a:t>=</a:t>
            </a:r>
            <a:r>
              <a:rPr lang="ko-KR" altLang="en-US" dirty="0"/>
              <a:t>사용자</a:t>
            </a:r>
            <a:r>
              <a:rPr lang="en-US" altLang="ko-KR" dirty="0"/>
              <a:t>=</a:t>
            </a:r>
            <a:r>
              <a:rPr lang="ko-KR" altLang="en-US" dirty="0"/>
              <a:t>문제당사자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BA47B-DE19-49B2-BC8F-211A45D9B1F9}"/>
              </a:ext>
            </a:extLst>
          </p:cNvPr>
          <p:cNvSpPr txBox="1"/>
          <p:nvPr/>
        </p:nvSpPr>
        <p:spPr>
          <a:xfrm>
            <a:off x="11311003" y="2004164"/>
            <a:ext cx="5160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 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설정한 시간에 진짜 사람이 전화를 걸어 직접 루틴을 상기시켜준다.</a:t>
            </a:r>
          </a:p>
          <a:p>
            <a:r>
              <a:rPr lang="en-US" altLang="ko-KR" dirty="0"/>
              <a:t>2) </a:t>
            </a:r>
            <a:r>
              <a:rPr lang="ko-KR" altLang="en-US" dirty="0"/>
              <a:t>기계적인 알림 대신 사람 목소리를 통한 ‘따뜻한 </a:t>
            </a:r>
            <a:r>
              <a:rPr lang="ko-KR" altLang="en-US" dirty="0" err="1"/>
              <a:t>리마인드’로</a:t>
            </a:r>
            <a:r>
              <a:rPr lang="ko-KR" altLang="en-US" dirty="0"/>
              <a:t> 실행 가능성을 높인다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126A71-A628-4BD5-9186-D6A26B5B6165}"/>
              </a:ext>
            </a:extLst>
          </p:cNvPr>
          <p:cNvSpPr txBox="1"/>
          <p:nvPr/>
        </p:nvSpPr>
        <p:spPr>
          <a:xfrm>
            <a:off x="11323529" y="3702175"/>
            <a:ext cx="5160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1) </a:t>
            </a:r>
            <a:r>
              <a:rPr lang="ko-KR" altLang="en-US" dirty="0"/>
              <a:t>초기에는 실제 운영진이 직접 전화를 걸어 서비스를 제공하고</a:t>
            </a:r>
            <a:r>
              <a:rPr lang="en-US" altLang="ko-KR" dirty="0"/>
              <a:t>, </a:t>
            </a:r>
            <a:r>
              <a:rPr lang="ko-KR" altLang="en-US" dirty="0"/>
              <a:t>이후 사용자 행동 데이터를 기반으로 </a:t>
            </a:r>
            <a:r>
              <a:rPr lang="en-US" altLang="ko-KR" dirty="0"/>
              <a:t>AI </a:t>
            </a:r>
            <a:r>
              <a:rPr lang="ko-KR" altLang="en-US" dirty="0"/>
              <a:t>음성 서비스로 확장한다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8105B4-A5ED-4CF7-B3CC-FBE02FDE23B1}"/>
              </a:ext>
            </a:extLst>
          </p:cNvPr>
          <p:cNvSpPr txBox="1"/>
          <p:nvPr/>
        </p:nvSpPr>
        <p:spPr>
          <a:xfrm>
            <a:off x="776614" y="6350696"/>
            <a:ext cx="15695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루틴 실행 실패를 반복하는 개인 사용자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en-US" altLang="ko-KR" dirty="0"/>
              <a:t>(</a:t>
            </a:r>
            <a:r>
              <a:rPr lang="ko-KR" altLang="en-US" dirty="0"/>
              <a:t>기계적인 알림에 </a:t>
            </a:r>
            <a:r>
              <a:rPr lang="ko-KR" altLang="en-US" dirty="0" err="1"/>
              <a:t>무감각해져</a:t>
            </a:r>
            <a:r>
              <a:rPr lang="ko-KR" altLang="en-US" dirty="0"/>
              <a:t> 루틴 행동으로 이어지지 못하는 문제</a:t>
            </a:r>
            <a:r>
              <a:rPr lang="en-US" altLang="ko-KR" dirty="0"/>
              <a:t>)</a:t>
            </a:r>
            <a:r>
              <a:rPr lang="ko-KR" altLang="en-US" dirty="0"/>
              <a:t>를 해결하기 위해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비인간적이고 기계적인 리마인드 방식</a:t>
            </a:r>
            <a:r>
              <a:rPr lang="en-US" altLang="ko-KR" dirty="0"/>
              <a:t>)</a:t>
            </a:r>
            <a:r>
              <a:rPr lang="ko-KR" altLang="en-US" dirty="0"/>
              <a:t>을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사람 목소리 기반 맞춤형 </a:t>
            </a:r>
            <a:r>
              <a:rPr lang="ko-KR" altLang="en-US" dirty="0" err="1"/>
              <a:t>루틴콜</a:t>
            </a:r>
            <a:r>
              <a:rPr lang="ko-KR" altLang="en-US" dirty="0"/>
              <a:t> 서비스</a:t>
            </a:r>
            <a:r>
              <a:rPr lang="en-US" altLang="ko-KR" dirty="0"/>
              <a:t>)</a:t>
            </a:r>
            <a:r>
              <a:rPr lang="ko-KR" altLang="en-US" dirty="0"/>
              <a:t>를 제공함으로써 해결하여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작은 성공을 반복하며 루틴 유지 성공률을 높이고</a:t>
            </a:r>
            <a:r>
              <a:rPr lang="en-US" altLang="ko-KR" dirty="0"/>
              <a:t>, </a:t>
            </a:r>
            <a:r>
              <a:rPr lang="ko-KR" altLang="en-US" dirty="0" err="1"/>
              <a:t>자기효능감을</a:t>
            </a:r>
            <a:r>
              <a:rPr lang="ko-KR" altLang="en-US" dirty="0"/>
              <a:t> 회복</a:t>
            </a:r>
            <a:r>
              <a:rPr lang="en-US" altLang="ko-KR" dirty="0"/>
              <a:t>)</a:t>
            </a:r>
            <a:r>
              <a:rPr lang="ko-KR" altLang="en-US" dirty="0"/>
              <a:t>할 수 있도록 하겠습니다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378</Words>
  <Application>Microsoft Office PowerPoint</Application>
  <PresentationFormat>사용자 지정</PresentationFormat>
  <Paragraphs>45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? ??</cp:lastModifiedBy>
  <cp:revision>7</cp:revision>
  <dcterms:created xsi:type="dcterms:W3CDTF">2025-04-26T00:56:45Z</dcterms:created>
  <dcterms:modified xsi:type="dcterms:W3CDTF">2025-04-26T14:11:22Z</dcterms:modified>
</cp:coreProperties>
</file>