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9" r:id="rId2"/>
    <p:sldId id="280" r:id="rId3"/>
    <p:sldId id="282" r:id="rId4"/>
    <p:sldId id="283" r:id="rId5"/>
    <p:sldId id="287" r:id="rId6"/>
    <p:sldId id="288" r:id="rId7"/>
    <p:sldId id="290" r:id="rId8"/>
    <p:sldId id="308" r:id="rId9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90"/>
    <p:restoredTop sz="94610"/>
  </p:normalViewPr>
  <p:slideViewPr>
    <p:cSldViewPr snapToGrid="0" snapToObjects="1">
      <p:cViewPr>
        <p:scale>
          <a:sx n="89" d="100"/>
          <a:sy n="89" d="100"/>
        </p:scale>
        <p:origin x="14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06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F7D7DD-57FD-C147-605A-1F091F2B292C}"/>
              </a:ext>
            </a:extLst>
          </p:cNvPr>
          <p:cNvSpPr txBox="1"/>
          <p:nvPr/>
        </p:nvSpPr>
        <p:spPr>
          <a:xfrm>
            <a:off x="1219200" y="2420471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기업 고객은 출장 예약 및 경비 정산 과정에서 시간과 인력 자원의 낭비를 경험하고 있다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413B9-E5EC-4555-930F-A411F7B98CAE}"/>
              </a:ext>
            </a:extLst>
          </p:cNvPr>
          <p:cNvSpPr txBox="1"/>
          <p:nvPr/>
        </p:nvSpPr>
        <p:spPr>
          <a:xfrm>
            <a:off x="1219200" y="3325906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출장 중 발생하는 영수증 및 경비 내역의 수기 정리가 비효율적이며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오류가 빈번하다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BCB4E-C236-21CD-8618-E0622BB99FA0}"/>
              </a:ext>
            </a:extLst>
          </p:cNvPr>
          <p:cNvSpPr txBox="1"/>
          <p:nvPr/>
        </p:nvSpPr>
        <p:spPr>
          <a:xfrm>
            <a:off x="1219200" y="4381949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기업 내 워크스페이스와 외부 서비스</a:t>
            </a:r>
            <a:r>
              <a:rPr lang="en-US" altLang="ko-KR" b="0" i="0" dirty="0">
                <a:effectLst/>
                <a:latin typeface="fkGroteskNeue"/>
              </a:rPr>
              <a:t>(</a:t>
            </a:r>
            <a:r>
              <a:rPr lang="ko-KR" altLang="en-US" b="0" i="0" dirty="0">
                <a:effectLst/>
                <a:latin typeface="fkGroteskNeue"/>
              </a:rPr>
              <a:t>항공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숙소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교통 등</a:t>
            </a:r>
            <a:r>
              <a:rPr lang="en-US" altLang="ko-KR" b="0" i="0" dirty="0">
                <a:effectLst/>
                <a:latin typeface="fkGroteskNeue"/>
              </a:rPr>
              <a:t>) </a:t>
            </a:r>
            <a:r>
              <a:rPr lang="ko-KR" altLang="en-US" b="0" i="0" dirty="0">
                <a:effectLst/>
                <a:latin typeface="fkGroteskNeue"/>
              </a:rPr>
              <a:t>간 데이터 연동이 원활하지 않다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D1CC6-4A25-3A2D-5DE9-3B506B9693AF}"/>
              </a:ext>
            </a:extLst>
          </p:cNvPr>
          <p:cNvSpPr txBox="1"/>
          <p:nvPr/>
        </p:nvSpPr>
        <p:spPr>
          <a:xfrm>
            <a:off x="1219200" y="5396753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출장 예산 초과 및 경비 부정 사용에 대한 기업의 통제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감시 니즈가 존재한다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1676DC-2170-E3BB-8C18-67DA9197CE0F}"/>
              </a:ext>
            </a:extLst>
          </p:cNvPr>
          <p:cNvSpPr txBox="1"/>
          <p:nvPr/>
        </p:nvSpPr>
        <p:spPr>
          <a:xfrm>
            <a:off x="1219200" y="6411557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출장 자동화 서비스의 도입으로 관리 효율성과 비용 절감이 동시에 기대된다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67DFC9-33E2-9A89-50CE-269D2298BE79}"/>
              </a:ext>
            </a:extLst>
          </p:cNvPr>
          <p:cNvSpPr txBox="1"/>
          <p:nvPr/>
        </p:nvSpPr>
        <p:spPr>
          <a:xfrm>
            <a:off x="1219200" y="7405165"/>
            <a:ext cx="11833412" cy="555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66D898-E36B-E016-C027-6C38871C88F4}"/>
              </a:ext>
            </a:extLst>
          </p:cNvPr>
          <p:cNvSpPr txBox="1"/>
          <p:nvPr/>
        </p:nvSpPr>
        <p:spPr>
          <a:xfrm>
            <a:off x="14615740" y="3290046"/>
            <a:ext cx="108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850592-C473-B102-BABB-C9E0F633BE58}"/>
              </a:ext>
            </a:extLst>
          </p:cNvPr>
          <p:cNvSpPr txBox="1"/>
          <p:nvPr/>
        </p:nvSpPr>
        <p:spPr>
          <a:xfrm>
            <a:off x="14615740" y="2474259"/>
            <a:ext cx="108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7FDDE-4E3F-36AD-E7E0-A734983F4762}"/>
              </a:ext>
            </a:extLst>
          </p:cNvPr>
          <p:cNvSpPr txBox="1"/>
          <p:nvPr/>
        </p:nvSpPr>
        <p:spPr>
          <a:xfrm>
            <a:off x="14615740" y="4283337"/>
            <a:ext cx="108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65F5E8-DA86-017D-5565-FCDF9128EBF2}"/>
              </a:ext>
            </a:extLst>
          </p:cNvPr>
          <p:cNvSpPr txBox="1"/>
          <p:nvPr/>
        </p:nvSpPr>
        <p:spPr>
          <a:xfrm>
            <a:off x="14615740" y="5333103"/>
            <a:ext cx="108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3A9F4E-3591-9B18-693E-50A63F9F0EF5}"/>
              </a:ext>
            </a:extLst>
          </p:cNvPr>
          <p:cNvSpPr txBox="1"/>
          <p:nvPr/>
        </p:nvSpPr>
        <p:spPr>
          <a:xfrm>
            <a:off x="14615740" y="6312945"/>
            <a:ext cx="108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A7A2D2-AADA-BF4F-9A49-B9BAB108C940}"/>
              </a:ext>
            </a:extLst>
          </p:cNvPr>
          <p:cNvSpPr txBox="1"/>
          <p:nvPr/>
        </p:nvSpPr>
        <p:spPr>
          <a:xfrm>
            <a:off x="14615740" y="7262308"/>
            <a:ext cx="108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D202AF-956B-2264-B170-DA4BAB6A6CE1}"/>
              </a:ext>
            </a:extLst>
          </p:cNvPr>
          <p:cNvSpPr txBox="1"/>
          <p:nvPr/>
        </p:nvSpPr>
        <p:spPr>
          <a:xfrm>
            <a:off x="1219200" y="7455367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출장 경비와 영수증 처리가 자동화되면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담당자와 출장자의 업무 부담이 크게 줄어들 것이다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AB40AC-0AAA-F74B-0B41-316C9CC740E1}"/>
              </a:ext>
            </a:extLst>
          </p:cNvPr>
          <p:cNvSpPr txBox="1"/>
          <p:nvPr/>
        </p:nvSpPr>
        <p:spPr>
          <a:xfrm>
            <a:off x="1219200" y="2420471"/>
            <a:ext cx="11833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고객</a:t>
            </a:r>
            <a:r>
              <a:rPr lang="en-US" altLang="ko-KR" b="0" i="0" dirty="0">
                <a:effectLst/>
                <a:latin typeface="fkGroteskNeue"/>
              </a:rPr>
              <a:t>(</a:t>
            </a:r>
            <a:r>
              <a:rPr lang="ko-KR" altLang="en-US" b="0" i="0" dirty="0">
                <a:effectLst/>
                <a:latin typeface="fkGroteskNeue"/>
              </a:rPr>
              <a:t>기업</a:t>
            </a:r>
            <a:r>
              <a:rPr lang="en-US" altLang="ko-KR" b="0" i="0" dirty="0">
                <a:effectLst/>
                <a:latin typeface="fkGroteskNeue"/>
              </a:rPr>
              <a:t>)</a:t>
            </a:r>
            <a:r>
              <a:rPr lang="ko-KR" altLang="en-US" b="0" i="0" dirty="0">
                <a:effectLst/>
                <a:latin typeface="fkGroteskNeue"/>
              </a:rPr>
              <a:t>은 출장 예약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경비 정산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영수증 관리 등 전 과정을 자동화하면 </a:t>
            </a:r>
            <a:r>
              <a:rPr lang="en-US" altLang="ko-KR" b="0" i="0" dirty="0">
                <a:effectLst/>
                <a:latin typeface="fkGroteskNeue"/>
              </a:rPr>
              <a:t>50% </a:t>
            </a:r>
            <a:r>
              <a:rPr lang="ko-KR" altLang="en-US" b="0" i="0" dirty="0">
                <a:effectLst/>
                <a:latin typeface="fkGroteskNeue"/>
              </a:rPr>
              <a:t>이상의 관리 비용과 시간을 절감할 수 있다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EF3277-0E40-0A51-7BB4-C1F54DDC2795}"/>
              </a:ext>
            </a:extLst>
          </p:cNvPr>
          <p:cNvSpPr txBox="1"/>
          <p:nvPr/>
        </p:nvSpPr>
        <p:spPr>
          <a:xfrm>
            <a:off x="1219200" y="3451412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출장자의 </a:t>
            </a:r>
            <a:r>
              <a:rPr lang="en-US" altLang="ko-KR" b="0" i="0" dirty="0">
                <a:effectLst/>
                <a:latin typeface="fkGroteskNeue"/>
              </a:rPr>
              <a:t>80% </a:t>
            </a:r>
            <a:r>
              <a:rPr lang="ko-KR" altLang="en-US" b="0" i="0" dirty="0">
                <a:effectLst/>
                <a:latin typeface="fkGroteskNeue"/>
              </a:rPr>
              <a:t>이상이 모바일 기반 영수증 업로드 및 자동 정리 기능을 선호할 것이다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C8C18-4014-1474-D640-F81E19D5F22E}"/>
              </a:ext>
            </a:extLst>
          </p:cNvPr>
          <p:cNvSpPr txBox="1"/>
          <p:nvPr/>
        </p:nvSpPr>
        <p:spPr>
          <a:xfrm>
            <a:off x="1219200" y="4482353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기업의 </a:t>
            </a:r>
            <a:r>
              <a:rPr lang="en-US" altLang="ko-KR" b="0" i="0" dirty="0">
                <a:effectLst/>
                <a:latin typeface="fkGroteskNeue"/>
              </a:rPr>
              <a:t>60% </a:t>
            </a:r>
            <a:r>
              <a:rPr lang="ko-KR" altLang="en-US" b="0" i="0" dirty="0">
                <a:effectLst/>
                <a:latin typeface="fkGroteskNeue"/>
              </a:rPr>
              <a:t>이상이 기존 수기 또는 엑셀 기반 출장 관리 방식에서 자동화 솔루션으로 전환할 의향이 있다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11AF8-E2C7-7D4A-6A28-32BDC465FCE0}"/>
              </a:ext>
            </a:extLst>
          </p:cNvPr>
          <p:cNvSpPr txBox="1"/>
          <p:nvPr/>
        </p:nvSpPr>
        <p:spPr>
          <a:xfrm>
            <a:off x="1219200" y="5513294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출장 경비의 실시간 통합 관리로 예산 초과 사례가 </a:t>
            </a:r>
            <a:r>
              <a:rPr lang="en-US" altLang="ko-KR" b="0" i="0" dirty="0">
                <a:effectLst/>
                <a:latin typeface="fkGroteskNeue"/>
              </a:rPr>
              <a:t>30% </a:t>
            </a:r>
            <a:r>
              <a:rPr lang="ko-KR" altLang="en-US" b="0" i="0" dirty="0">
                <a:effectLst/>
                <a:latin typeface="fkGroteskNeue"/>
              </a:rPr>
              <a:t>이상 감소할 것이다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D91B5-FA87-4EB4-F32E-1568BCDE2605}"/>
              </a:ext>
            </a:extLst>
          </p:cNvPr>
          <p:cNvSpPr txBox="1"/>
          <p:nvPr/>
        </p:nvSpPr>
        <p:spPr>
          <a:xfrm>
            <a:off x="1219200" y="6478800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b="0" i="0" dirty="0">
                <a:effectLst/>
                <a:latin typeface="fkGroteskNeue"/>
              </a:rPr>
              <a:t>AI </a:t>
            </a:r>
            <a:r>
              <a:rPr lang="ko-KR" altLang="en-US" b="0" i="0" dirty="0">
                <a:effectLst/>
                <a:latin typeface="fkGroteskNeue"/>
              </a:rPr>
              <a:t>기반 출장 자동화 서비스 도입 후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기업 내 경비 부정 사용 적발 건수가 감소할 것이다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640BC-AE10-F636-9124-9C02378F6C6C}"/>
              </a:ext>
            </a:extLst>
          </p:cNvPr>
          <p:cNvSpPr txBox="1"/>
          <p:nvPr/>
        </p:nvSpPr>
        <p:spPr>
          <a:xfrm>
            <a:off x="1219200" y="7444306"/>
            <a:ext cx="11833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출장 자동화 서비스를 도입한 기업의 </a:t>
            </a:r>
            <a:r>
              <a:rPr lang="en-US" altLang="ko-KR" b="0" i="0" dirty="0">
                <a:effectLst/>
                <a:latin typeface="fkGroteskNeue"/>
              </a:rPr>
              <a:t>70% </a:t>
            </a:r>
            <a:r>
              <a:rPr lang="ko-KR" altLang="en-US" b="0" i="0" dirty="0">
                <a:effectLst/>
                <a:latin typeface="fkGroteskNeue"/>
              </a:rPr>
              <a:t>이상이 서비스 도입 후 </a:t>
            </a:r>
            <a:r>
              <a:rPr lang="en-US" altLang="ko-KR" b="0" i="0" dirty="0">
                <a:effectLst/>
                <a:latin typeface="fkGroteskNeue"/>
              </a:rPr>
              <a:t>3</a:t>
            </a:r>
            <a:r>
              <a:rPr lang="ko-KR" altLang="en-US" b="0" i="0" dirty="0">
                <a:effectLst/>
                <a:latin typeface="fkGroteskNeue"/>
              </a:rPr>
              <a:t>개월 이내에 재계약 의사를 보일 것이다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7E421F-5A41-A149-AA61-FF8F994698A9}"/>
              </a:ext>
            </a:extLst>
          </p:cNvPr>
          <p:cNvSpPr txBox="1"/>
          <p:nvPr/>
        </p:nvSpPr>
        <p:spPr>
          <a:xfrm>
            <a:off x="14615740" y="2474259"/>
            <a:ext cx="108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AE192D-A3FC-7FD4-6052-8979287BB41B}"/>
              </a:ext>
            </a:extLst>
          </p:cNvPr>
          <p:cNvSpPr txBox="1"/>
          <p:nvPr/>
        </p:nvSpPr>
        <p:spPr>
          <a:xfrm>
            <a:off x="14615740" y="3451412"/>
            <a:ext cx="108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B8C00C-3395-EBE2-F030-47107C022A49}"/>
              </a:ext>
            </a:extLst>
          </p:cNvPr>
          <p:cNvSpPr txBox="1"/>
          <p:nvPr/>
        </p:nvSpPr>
        <p:spPr>
          <a:xfrm>
            <a:off x="14615740" y="4460831"/>
            <a:ext cx="108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96E2F6-6DE7-6EDF-FB1F-FFBF9748DA2B}"/>
              </a:ext>
            </a:extLst>
          </p:cNvPr>
          <p:cNvSpPr txBox="1"/>
          <p:nvPr/>
        </p:nvSpPr>
        <p:spPr>
          <a:xfrm>
            <a:off x="14615740" y="5513294"/>
            <a:ext cx="108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52A1A2-491A-382F-7B85-449AC179FBBD}"/>
              </a:ext>
            </a:extLst>
          </p:cNvPr>
          <p:cNvSpPr txBox="1"/>
          <p:nvPr/>
        </p:nvSpPr>
        <p:spPr>
          <a:xfrm>
            <a:off x="14615740" y="6457278"/>
            <a:ext cx="108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AC32DA-F6D4-7273-EDCC-9F810E761BAE}"/>
              </a:ext>
            </a:extLst>
          </p:cNvPr>
          <p:cNvSpPr txBox="1"/>
          <p:nvPr/>
        </p:nvSpPr>
        <p:spPr>
          <a:xfrm>
            <a:off x="14615740" y="7404854"/>
            <a:ext cx="108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X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318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35A251-343C-7D90-2C76-4CD1B448FAA0}"/>
              </a:ext>
            </a:extLst>
          </p:cNvPr>
          <p:cNvSpPr txBox="1"/>
          <p:nvPr/>
        </p:nvSpPr>
        <p:spPr>
          <a:xfrm>
            <a:off x="814388" y="2043113"/>
            <a:ext cx="10429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케이스 </a:t>
            </a:r>
            <a:r>
              <a:rPr lang="en-US" altLang="ko-KR" b="0" i="0" dirty="0">
                <a:effectLst/>
                <a:latin typeface="fkGroteskNeue"/>
              </a:rPr>
              <a:t>3</a:t>
            </a:r>
          </a:p>
          <a:p>
            <a:r>
              <a:rPr lang="ko-KR" altLang="en-US" dirty="0">
                <a:latin typeface="fkGroteskNeue"/>
              </a:rPr>
              <a:t>고객</a:t>
            </a:r>
            <a:r>
              <a:rPr lang="en-US" altLang="ko-KR" dirty="0">
                <a:latin typeface="fkGroteskNeue"/>
              </a:rPr>
              <a:t>!=</a:t>
            </a:r>
            <a:r>
              <a:rPr lang="ko-KR" altLang="en-US" dirty="0">
                <a:latin typeface="fkGroteskNeue"/>
              </a:rPr>
              <a:t>문제당사자</a:t>
            </a:r>
            <a:r>
              <a:rPr lang="en-US" altLang="ko-KR" dirty="0">
                <a:latin typeface="fkGroteskNeue"/>
              </a:rPr>
              <a:t>=</a:t>
            </a:r>
            <a:r>
              <a:rPr lang="ko-KR" altLang="en-US" dirty="0">
                <a:latin typeface="fkGroteskNeue"/>
              </a:rPr>
              <a:t>사용자</a:t>
            </a:r>
            <a:endParaRPr lang="en-US" altLang="ko-KR" b="0" i="0" dirty="0">
              <a:effectLst/>
              <a:latin typeface="fkGroteskNeue"/>
            </a:endParaRPr>
          </a:p>
          <a:p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A2803-489F-E9C8-C99F-41E452E9462F}"/>
              </a:ext>
            </a:extLst>
          </p:cNvPr>
          <p:cNvSpPr txBox="1"/>
          <p:nvPr/>
        </p:nvSpPr>
        <p:spPr>
          <a:xfrm>
            <a:off x="2185985" y="2043113"/>
            <a:ext cx="3443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b="0" i="0" dirty="0">
                <a:effectLst/>
                <a:latin typeface="fkGroteskNeue"/>
              </a:rPr>
              <a:t>출장 예약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경비 정산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영수증 제출 등 출장 관련 행정 업무에 과도한 시간과 노력이 소요된다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AD98E-63FB-9D89-E082-442596D3E8A4}"/>
              </a:ext>
            </a:extLst>
          </p:cNvPr>
          <p:cNvSpPr txBox="1"/>
          <p:nvPr/>
        </p:nvSpPr>
        <p:spPr>
          <a:xfrm>
            <a:off x="2047388" y="2993678"/>
            <a:ext cx="34432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b="0" i="0" dirty="0">
                <a:effectLst/>
                <a:latin typeface="fkGroteskNeue"/>
              </a:rPr>
              <a:t>출장 예산 내에서 최적의 항공권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숙소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교통편을 직접 비교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예약하는 과정이 번거롭고 비효율적이다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A02E5-E41E-70A2-790B-EBEA3DA791D3}"/>
              </a:ext>
            </a:extLst>
          </p:cNvPr>
          <p:cNvSpPr txBox="1"/>
          <p:nvPr/>
        </p:nvSpPr>
        <p:spPr>
          <a:xfrm>
            <a:off x="2185985" y="4194007"/>
            <a:ext cx="3443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b="0" i="0" dirty="0">
                <a:effectLst/>
                <a:latin typeface="fkGroteskNeue"/>
              </a:rPr>
              <a:t>출장 중 발생하는 영수증을 수기로 정리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제출해야 하며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누락이나 오류가 자주 발생한다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5AAB85-2A8F-F496-03BA-C6689164606D}"/>
              </a:ext>
            </a:extLst>
          </p:cNvPr>
          <p:cNvSpPr txBox="1"/>
          <p:nvPr/>
        </p:nvSpPr>
        <p:spPr>
          <a:xfrm>
            <a:off x="5957882" y="1839517"/>
            <a:ext cx="50149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강점</a:t>
            </a:r>
            <a:endParaRPr lang="en-US" altLang="ko-KR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다양한 출장 예약 플랫폼 및 경비 관리 솔루션이 존재하여 선택의 폭이 넓음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일부 서비스는 출장 예약과 경비 정산을 통합 제공</a:t>
            </a:r>
          </a:p>
          <a:p>
            <a:endParaRPr kumimoji="1" lang="en-US" altLang="ko-KR" dirty="0"/>
          </a:p>
          <a:p>
            <a:r>
              <a:rPr lang="ko-KR" altLang="en-US" b="0" i="0" dirty="0">
                <a:effectLst/>
                <a:latin typeface="fkGroteskNeue"/>
              </a:rPr>
              <a:t>한계</a:t>
            </a:r>
            <a:endParaRPr kumimoji="1" lang="en-US" altLang="ko-KR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예약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정산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영수증 관리 등 각 기능이 분산되어 있어 일원화된 자동화가 어려움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여전히 수작업이 필요한 부분이 많고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기업 내 워크스페이스와 연동이 제한적임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예산 통제 및 실시간 모니터링 기능이 미흡함</a:t>
            </a:r>
          </a:p>
          <a:p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8472B-4439-72F4-C258-9C59A84C7421}"/>
              </a:ext>
            </a:extLst>
          </p:cNvPr>
          <p:cNvSpPr txBox="1"/>
          <p:nvPr/>
        </p:nvSpPr>
        <p:spPr>
          <a:xfrm>
            <a:off x="11440002" y="1945335"/>
            <a:ext cx="49863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" altLang="ko-KR" b="0" i="0" dirty="0">
                <a:effectLst/>
                <a:latin typeface="fkGroteskNeue"/>
              </a:rPr>
              <a:t>AI </a:t>
            </a:r>
            <a:r>
              <a:rPr lang="ko-KR" altLang="en-US" b="0" i="0" dirty="0">
                <a:effectLst/>
                <a:latin typeface="fkGroteskNeue"/>
              </a:rPr>
              <a:t>에이전트를 활용한 </a:t>
            </a:r>
            <a:r>
              <a:rPr lang="ko-KR" altLang="en-US" b="0" i="0" dirty="0" err="1">
                <a:effectLst/>
                <a:latin typeface="fkGroteskNeue"/>
              </a:rPr>
              <a:t>온보딩</a:t>
            </a:r>
            <a:r>
              <a:rPr lang="ko-KR" altLang="en-US" b="0" i="0" dirty="0">
                <a:effectLst/>
                <a:latin typeface="fkGroteskNeue"/>
              </a:rPr>
              <a:t> 프로세스를 통해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출장 목적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예산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일정 등 기업 정책에 맞춘 맞춤형 출장 예약</a:t>
            </a:r>
            <a:r>
              <a:rPr lang="en-US" altLang="ko-KR" b="0" i="0" dirty="0">
                <a:effectLst/>
                <a:latin typeface="fkGroteskNeue"/>
              </a:rPr>
              <a:t>(</a:t>
            </a:r>
            <a:r>
              <a:rPr lang="ko-KR" altLang="en-US" b="0" i="0" dirty="0">
                <a:effectLst/>
                <a:latin typeface="fkGroteskNeue"/>
              </a:rPr>
              <a:t>항공권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숙소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교통 등</a:t>
            </a:r>
            <a:r>
              <a:rPr lang="en-US" altLang="ko-KR" b="0" i="0" dirty="0">
                <a:effectLst/>
                <a:latin typeface="fkGroteskNeue"/>
              </a:rPr>
              <a:t>) </a:t>
            </a:r>
            <a:r>
              <a:rPr lang="ko-KR" altLang="en-US" b="0" i="0" dirty="0">
                <a:effectLst/>
                <a:latin typeface="fkGroteskNeue"/>
              </a:rPr>
              <a:t>자동화</a:t>
            </a:r>
          </a:p>
          <a:p>
            <a:pPr algn="l">
              <a:buFont typeface="+mj-lt"/>
              <a:buAutoNum type="arabicPeriod"/>
            </a:pPr>
            <a:r>
              <a:rPr lang="ko-KR" altLang="en-US" b="0" i="0" dirty="0">
                <a:effectLst/>
                <a:latin typeface="fkGroteskNeue"/>
              </a:rPr>
              <a:t>출장 중 발생하는 영수증을 </a:t>
            </a:r>
            <a:r>
              <a:rPr lang="en" altLang="ko-KR" b="0" i="0" dirty="0">
                <a:effectLst/>
                <a:latin typeface="fkGroteskNeue"/>
              </a:rPr>
              <a:t>OCR</a:t>
            </a:r>
            <a:r>
              <a:rPr lang="ko-KR" altLang="en-US" b="0" i="0" dirty="0">
                <a:effectLst/>
                <a:latin typeface="fkGroteskNeue"/>
              </a:rPr>
              <a:t>로 자동 인식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정리하여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기업 워크스페이스에 실시간 업로드 및 경비 정산 자동화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924C6-1191-A101-EF3E-2E02F29A7689}"/>
              </a:ext>
            </a:extLst>
          </p:cNvPr>
          <p:cNvSpPr txBox="1"/>
          <p:nvPr/>
        </p:nvSpPr>
        <p:spPr>
          <a:xfrm>
            <a:off x="11440001" y="3593843"/>
            <a:ext cx="49863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ko-KR" altLang="en-US" b="0" i="0" dirty="0">
                <a:effectLst/>
                <a:latin typeface="fkGroteskNeue"/>
              </a:rPr>
              <a:t>예산 에이전트가 실시간으로 예산 집행 현황을 모니터링하고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초과 시 알림 및 통제 기능 제공</a:t>
            </a:r>
          </a:p>
          <a:p>
            <a:pPr algn="l">
              <a:buFont typeface="+mj-lt"/>
              <a:buAutoNum type="arabicPeriod"/>
            </a:pPr>
            <a:r>
              <a:rPr lang="ko-KR" altLang="en-US" b="0" i="0" dirty="0">
                <a:effectLst/>
                <a:latin typeface="fkGroteskNeue"/>
              </a:rPr>
              <a:t>모든 출장 데이터가 기업 내 워크스페이스에 자동 연동되어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투명한 경비 관리와 감사 대응이 용이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E053C7-B688-1E9C-0880-BB972EC26295}"/>
              </a:ext>
            </a:extLst>
          </p:cNvPr>
          <p:cNvSpPr txBox="1"/>
          <p:nvPr/>
        </p:nvSpPr>
        <p:spPr>
          <a:xfrm>
            <a:off x="917562" y="7160359"/>
            <a:ext cx="153844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b="0" i="0" dirty="0">
                <a:effectLst/>
                <a:latin typeface="fkGroteskNeue"/>
              </a:rPr>
              <a:t>“기업의 출장 담당자와 임직원이 </a:t>
            </a:r>
            <a:r>
              <a:rPr lang="en-US" altLang="ko-KR" b="0" i="0" dirty="0">
                <a:effectLst/>
                <a:latin typeface="fkGroteskNeue"/>
              </a:rPr>
              <a:t>(</a:t>
            </a:r>
            <a:r>
              <a:rPr lang="ko-KR" altLang="en-US" b="0" i="0" dirty="0">
                <a:effectLst/>
                <a:latin typeface="fkGroteskNeue"/>
              </a:rPr>
              <a:t>출장 예약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정산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영수증 관리에 과도한 시간과 비용 부담을 겪는</a:t>
            </a:r>
            <a:r>
              <a:rPr lang="en-US" altLang="ko-KR" b="0" i="0" dirty="0">
                <a:effectLst/>
                <a:latin typeface="fkGroteskNeue"/>
              </a:rPr>
              <a:t>) </a:t>
            </a:r>
            <a:r>
              <a:rPr lang="ko-KR" altLang="en-US" b="0" i="0" dirty="0">
                <a:effectLst/>
                <a:latin typeface="fkGroteskNeue"/>
              </a:rPr>
              <a:t>문제를</a:t>
            </a:r>
            <a:r>
              <a:rPr lang="en-US" altLang="ko-KR" b="0" i="0" dirty="0">
                <a:effectLst/>
                <a:latin typeface="fkGroteskNeue"/>
              </a:rPr>
              <a:t>,</a:t>
            </a:r>
            <a:br>
              <a:rPr lang="en-US" altLang="ko-KR" b="0" i="0" dirty="0">
                <a:effectLst/>
                <a:latin typeface="fkGroteskNeue"/>
              </a:rPr>
            </a:br>
            <a:r>
              <a:rPr lang="en-US" altLang="ko-KR" b="0" i="0" dirty="0">
                <a:effectLst/>
                <a:latin typeface="fkGroteskNeue"/>
              </a:rPr>
              <a:t>(</a:t>
            </a:r>
            <a:r>
              <a:rPr lang="en" altLang="ko-KR" b="0" i="0" dirty="0">
                <a:effectLst/>
                <a:latin typeface="fkGroteskNeue"/>
              </a:rPr>
              <a:t>AI </a:t>
            </a:r>
            <a:r>
              <a:rPr lang="ko-KR" altLang="en-US" b="0" i="0" dirty="0">
                <a:effectLst/>
                <a:latin typeface="fkGroteskNeue"/>
              </a:rPr>
              <a:t>기반 출장 자동화 에이전트와 실시간 경비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영수증 관리 서비스</a:t>
            </a:r>
            <a:r>
              <a:rPr lang="en-US" altLang="ko-KR" b="0" i="0" dirty="0">
                <a:effectLst/>
                <a:latin typeface="fkGroteskNeue"/>
              </a:rPr>
              <a:t>)</a:t>
            </a:r>
            <a:r>
              <a:rPr lang="ko-KR" altLang="en-US" b="0" i="0" dirty="0">
                <a:effectLst/>
                <a:latin typeface="fkGroteskNeue"/>
              </a:rPr>
              <a:t>라는 방식으로 해결하고자 합니다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br>
              <a:rPr lang="en-US" altLang="ko-KR" b="0" i="0" dirty="0">
                <a:effectLst/>
                <a:latin typeface="fkGroteskNeue"/>
              </a:rPr>
            </a:br>
            <a:r>
              <a:rPr lang="en-US" altLang="ko-KR" b="0" i="0" dirty="0">
                <a:effectLst/>
                <a:latin typeface="fkGroteskNeue"/>
              </a:rPr>
              <a:t>(</a:t>
            </a:r>
            <a:r>
              <a:rPr lang="ko-KR" altLang="en-US" b="0" i="0" dirty="0">
                <a:effectLst/>
                <a:latin typeface="fkGroteskNeue"/>
              </a:rPr>
              <a:t>출장 예약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경비 정산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영수증 관리 등 모든 과정을 자동화해</a:t>
            </a:r>
            <a:r>
              <a:rPr lang="en-US" altLang="ko-KR" b="0" i="0" dirty="0">
                <a:effectLst/>
                <a:latin typeface="fkGroteskNeue"/>
              </a:rPr>
              <a:t>,</a:t>
            </a:r>
            <a:br>
              <a:rPr lang="en-US" altLang="ko-KR" b="0" i="0" dirty="0">
                <a:effectLst/>
                <a:latin typeface="fkGroteskNeue"/>
              </a:rPr>
            </a:br>
            <a:r>
              <a:rPr lang="ko-KR" altLang="en-US" b="0" i="0" dirty="0">
                <a:effectLst/>
                <a:latin typeface="fkGroteskNeue"/>
              </a:rPr>
              <a:t>신속하고 투명하게 출장 업무를 처리하고 비용을 절감할 수 있도록</a:t>
            </a:r>
            <a:r>
              <a:rPr lang="en-US" altLang="ko-KR" b="0" i="0" dirty="0">
                <a:effectLst/>
                <a:latin typeface="fkGroteskNeue"/>
              </a:rPr>
              <a:t>) </a:t>
            </a:r>
            <a:r>
              <a:rPr lang="ko-KR" altLang="en-US" b="0" i="0" dirty="0">
                <a:effectLst/>
                <a:latin typeface="fkGroteskNeue"/>
              </a:rPr>
              <a:t>돕겠습니다</a:t>
            </a:r>
            <a:r>
              <a:rPr lang="en-US" altLang="ko-KR" b="0" i="0" dirty="0">
                <a:effectLst/>
                <a:latin typeface="fkGroteskNeue"/>
              </a:rPr>
              <a:t>.”</a:t>
            </a:r>
          </a:p>
          <a:p>
            <a:pPr algn="l"/>
            <a:r>
              <a:rPr lang="ko-KR" altLang="en-US" b="0" i="0" dirty="0">
                <a:effectLst/>
                <a:latin typeface="fkGroteskNeue"/>
              </a:rPr>
              <a:t>이렇게 구성하면 귀하의 </a:t>
            </a:r>
            <a:r>
              <a:rPr lang="en" altLang="ko-KR" b="0" i="0" dirty="0">
                <a:effectLst/>
                <a:latin typeface="fkGroteskNeue"/>
              </a:rPr>
              <a:t>B2B </a:t>
            </a:r>
            <a:r>
              <a:rPr lang="ko-KR" altLang="en-US" b="0" i="0" dirty="0">
                <a:effectLst/>
                <a:latin typeface="fkGroteskNeue"/>
              </a:rPr>
              <a:t>출장 완전 자동화 서비스에 맞는 슬라이드가 완성됩니다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  <a:p>
            <a:endParaRPr kumimoji="1"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</TotalTime>
  <Words>488</Words>
  <Application>Microsoft Macintosh PowerPoint</Application>
  <PresentationFormat>사용자 지정</PresentationFormat>
  <Paragraphs>51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fkGroteskNeue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최명재</cp:lastModifiedBy>
  <cp:revision>2</cp:revision>
  <dcterms:created xsi:type="dcterms:W3CDTF">2025-04-21T00:55:53Z</dcterms:created>
  <dcterms:modified xsi:type="dcterms:W3CDTF">2025-04-25T04:37:30Z</dcterms:modified>
</cp:coreProperties>
</file>