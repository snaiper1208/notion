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83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582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4031669" y="1829216"/>
            <a:ext cx="320477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b="1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보험사</a:t>
            </a:r>
            <a:r>
              <a:rPr lang="en-US" altLang="ko-KR"/>
              <a:t>: </a:t>
            </a:r>
            <a:r>
              <a:rPr lang="ko-KR" altLang="en-US"/>
              <a:t>내부 소통 효율화를 원하는 대형 보험사 및 중소형 보험사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보험대리점</a:t>
            </a:r>
            <a:r>
              <a:rPr lang="en-US" altLang="ko-KR" b="1"/>
              <a:t>/</a:t>
            </a:r>
            <a:r>
              <a:rPr lang="ko-KR" altLang="en-US" b="1"/>
              <a:t>설계사 조직</a:t>
            </a:r>
            <a:r>
              <a:rPr lang="en-US" altLang="ko-KR"/>
              <a:t>: </a:t>
            </a:r>
            <a:r>
              <a:rPr lang="ko-KR" altLang="en-US"/>
              <a:t>분산된 지점과 설계사 간 실시간 협업이 필요한 조직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인슈어테크 스타트업</a:t>
            </a:r>
            <a:r>
              <a:rPr lang="en-US" altLang="ko-KR"/>
              <a:t>: </a:t>
            </a:r>
            <a:r>
              <a:rPr lang="ko-KR" altLang="en-US"/>
              <a:t>고객 대응 및 팀 커뮤니케이션 자동화</a:t>
            </a:r>
            <a:r>
              <a:rPr lang="en-US" altLang="ko-KR"/>
              <a:t>/</a:t>
            </a:r>
            <a:r>
              <a:rPr lang="ko-KR" altLang="en-US"/>
              <a:t>고도화가 필요한 스타트업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기타 금융회사</a:t>
            </a:r>
            <a:r>
              <a:rPr lang="en-US" altLang="ko-KR"/>
              <a:t>: </a:t>
            </a:r>
            <a:r>
              <a:rPr lang="ko-KR" altLang="en-US"/>
              <a:t>보험 외 금융분야</a:t>
            </a:r>
            <a:r>
              <a:rPr lang="en-US" altLang="ko-KR"/>
              <a:t>(</a:t>
            </a:r>
            <a:r>
              <a:rPr lang="ko-KR" altLang="en-US"/>
              <a:t>은행</a:t>
            </a:r>
            <a:r>
              <a:rPr lang="en-US" altLang="ko-KR"/>
              <a:t>, </a:t>
            </a:r>
            <a:r>
              <a:rPr lang="ko-KR" altLang="en-US"/>
              <a:t>카드 등</a:t>
            </a:r>
            <a:r>
              <a:rPr lang="en-US" altLang="ko-KR"/>
              <a:t>)</a:t>
            </a:r>
            <a:r>
              <a:rPr lang="ko-KR" altLang="en-US"/>
              <a:t>에서 협업 플랫폼을 원하는 기업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7178358" y="2151748"/>
            <a:ext cx="345916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전문화된 협업 플랫폼</a:t>
            </a:r>
            <a:r>
              <a:rPr lang="ko-KR" altLang="ko-KR" sz="1600">
                <a:latin typeface="Arial" panose="020B0604020202020204" pitchFamily="34" charset="0"/>
              </a:rPr>
              <a:t>: 보험 업무 프로세스(계약·심사·보상 등)에 특화된 채팅, 화상, 문서 공유 기능 제공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규제 대응 및 보안 강화</a:t>
            </a:r>
            <a:r>
              <a:rPr lang="ko-KR" altLang="ko-KR" sz="1600">
                <a:latin typeface="Arial" panose="020B0604020202020204" pitchFamily="34" charset="0"/>
              </a:rPr>
              <a:t>: 금융권 규정(개인정보보호, 내부통제 등)을 충족하는 보안·감사 기능 탑재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데이터 기반 통찰</a:t>
            </a:r>
            <a:r>
              <a:rPr lang="ko-KR" altLang="ko-KR" sz="1600">
                <a:latin typeface="Arial" panose="020B0604020202020204" pitchFamily="34" charset="0"/>
              </a:rPr>
              <a:t>: 상담 이력·문서·데이터를 자동으로 분석하여 인사이트 제공 (고객분석, 트렌드 분석 등)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커스터마이징</a:t>
            </a:r>
            <a:r>
              <a:rPr lang="ko-KR" altLang="ko-KR" sz="1600">
                <a:latin typeface="Arial" panose="020B0604020202020204" pitchFamily="34" charset="0"/>
              </a:rPr>
              <a:t>: 조직별 업무 프로세스와 브랜딩에 맞춘 커스터마이징 기능 지원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0367354" y="4269337"/>
            <a:ext cx="345532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직접 영업/세일즈(Direct Sales)</a:t>
            </a:r>
            <a:r>
              <a:rPr lang="ko-KR" altLang="ko-KR" sz="1600">
                <a:latin typeface="Arial" panose="020B0604020202020204" pitchFamily="34" charset="0"/>
              </a:rPr>
              <a:t>: 보험사 및 금융기관 대상 제안, 세미나, 컨퍼런스 참여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파트너 채널</a:t>
            </a:r>
            <a:r>
              <a:rPr lang="ko-KR" altLang="ko-KR" sz="1600">
                <a:latin typeface="Arial" panose="020B0604020202020204" pitchFamily="34" charset="0"/>
              </a:rPr>
              <a:t>: IT 컨설팅 기업, 클라우드 솔루션 기업 등과 제휴하여 공동 마케팅 전개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온라인 마케팅</a:t>
            </a:r>
            <a:r>
              <a:rPr lang="ko-KR" altLang="ko-KR" sz="1600">
                <a:latin typeface="Arial" panose="020B0604020202020204" pitchFamily="34" charset="0"/>
              </a:rPr>
              <a:t>: 웹사이트, SNS, 뉴스레터 등 온라인 홍보 채널 운영 및 잠재 고객 리드 확보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레퍼럴/추천</a:t>
            </a:r>
            <a:r>
              <a:rPr lang="ko-KR" altLang="ko-KR" sz="1600">
                <a:latin typeface="Arial" panose="020B0604020202020204" pitchFamily="34" charset="0"/>
              </a:rPr>
              <a:t>: 기존 고객사의 소개를 통한 신규 고객 유치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0367354" y="1868577"/>
            <a:ext cx="366431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전담 고객 성공 매니저(CSM) 배정</a:t>
            </a:r>
            <a:r>
              <a:rPr lang="ko-KR" altLang="ko-KR" sz="1600">
                <a:latin typeface="Arial" panose="020B0604020202020204" pitchFamily="34" charset="0"/>
              </a:rPr>
              <a:t>: 대형 고객사 대상 전담 매니저 지원, 상담/운영 노하우 제공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커뮤니티 및 교육</a:t>
            </a:r>
            <a:r>
              <a:rPr lang="ko-KR" altLang="ko-KR" sz="1600">
                <a:latin typeface="Arial" panose="020B0604020202020204" pitchFamily="34" charset="0"/>
              </a:rPr>
              <a:t>: 사용자 대상 정기 교육, 웨비나, 기술지원 포럼 운영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지속적 피드백 루프</a:t>
            </a:r>
            <a:r>
              <a:rPr lang="ko-KR" altLang="ko-KR" sz="1600">
                <a:latin typeface="Arial" panose="020B0604020202020204" pitchFamily="34" charset="0"/>
              </a:rPr>
              <a:t>: 플랫폼 기능 개선 요청이나 문제 발생 시 즉각적인 기술지원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9090819" y="7044685"/>
            <a:ext cx="79932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>
                <a:latin typeface="Arial" panose="020B0604020202020204" pitchFamily="34" charset="0"/>
              </a:rPr>
              <a:t>구독형 SaaS 요금제</a:t>
            </a:r>
            <a:r>
              <a:rPr lang="ko-KR" altLang="ko-KR">
                <a:latin typeface="Arial" panose="020B0604020202020204" pitchFamily="34" charset="0"/>
              </a:rPr>
              <a:t>: 사용자 수, 기능 범위에 따라 월/년 단위로 과금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>
                <a:latin typeface="Arial" panose="020B0604020202020204" pitchFamily="34" charset="0"/>
              </a:rPr>
              <a:t>프리미엄 기능 추가 과금</a:t>
            </a:r>
            <a:r>
              <a:rPr lang="ko-KR" altLang="ko-KR">
                <a:latin typeface="Arial" panose="020B0604020202020204" pitchFamily="34" charset="0"/>
              </a:rPr>
              <a:t>: 고급 보안 기능, AI 챗봇, 맞춤형 통계 리포트 등 추가 기능 유료화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>
                <a:latin typeface="Arial" panose="020B0604020202020204" pitchFamily="34" charset="0"/>
              </a:rPr>
              <a:t>컨설팅/구축 서비스</a:t>
            </a:r>
            <a:r>
              <a:rPr lang="ko-KR" altLang="ko-KR">
                <a:latin typeface="Arial" panose="020B0604020202020204" pitchFamily="34" charset="0"/>
              </a:rPr>
              <a:t>: 대규모 커스터마이징 또는 온프레미스 구축을 원하는 고객 대상 별도 컨설팅 수수료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631968" y="4032961"/>
            <a:ext cx="369863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sz="1600" b="1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/>
              <a:t>개발</a:t>
            </a:r>
            <a:r>
              <a:rPr lang="en-US" altLang="ko-KR" sz="1600" b="1"/>
              <a:t>·</a:t>
            </a:r>
            <a:r>
              <a:rPr lang="ko-KR" altLang="en-US" sz="1600" b="1"/>
              <a:t>운영 인력</a:t>
            </a:r>
            <a:r>
              <a:rPr lang="en-US" altLang="ko-KR" sz="1600"/>
              <a:t>: </a:t>
            </a:r>
            <a:r>
              <a:rPr lang="ko-KR" altLang="en-US" sz="1600"/>
              <a:t>금융권 레거시 시스템 이해와 클라우드 기반 협업 솔루션을 개발할 수 있는 전문 인력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/>
              <a:t>솔루션 플랫폼</a:t>
            </a:r>
            <a:r>
              <a:rPr lang="en-US" altLang="ko-KR" sz="1600"/>
              <a:t>: </a:t>
            </a:r>
            <a:r>
              <a:rPr lang="ko-KR" altLang="en-US" sz="1600"/>
              <a:t>인톡 파트너스가 자체 보유</a:t>
            </a:r>
            <a:r>
              <a:rPr lang="en-US" altLang="ko-KR" sz="1600"/>
              <a:t>/</a:t>
            </a:r>
            <a:r>
              <a:rPr lang="ko-KR" altLang="en-US" sz="1600"/>
              <a:t>운영하는 협업 플랫폼</a:t>
            </a:r>
            <a:r>
              <a:rPr lang="en-US" altLang="ko-KR" sz="1600"/>
              <a:t>(</a:t>
            </a:r>
            <a:r>
              <a:rPr lang="ko-KR" altLang="en-US" sz="1600"/>
              <a:t>서버 인프라</a:t>
            </a:r>
            <a:r>
              <a:rPr lang="en-US" altLang="ko-KR" sz="1600"/>
              <a:t>, AI </a:t>
            </a:r>
            <a:r>
              <a:rPr lang="ko-KR" altLang="en-US" sz="1600"/>
              <a:t>엔진 등</a:t>
            </a:r>
            <a:r>
              <a:rPr lang="en-US" altLang="ko-KR" sz="160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/>
              <a:t>특화 노하우</a:t>
            </a:r>
            <a:r>
              <a:rPr lang="en-US" altLang="ko-KR" sz="1600" b="1"/>
              <a:t>/</a:t>
            </a:r>
            <a:r>
              <a:rPr lang="ko-KR" altLang="en-US" sz="1600" b="1"/>
              <a:t>네트워크</a:t>
            </a:r>
            <a:r>
              <a:rPr lang="en-US" altLang="ko-KR" sz="1600"/>
              <a:t>: </a:t>
            </a:r>
            <a:r>
              <a:rPr lang="ko-KR" altLang="en-US" sz="1600"/>
              <a:t>보험 및 금융분야 규제</a:t>
            </a:r>
            <a:r>
              <a:rPr lang="en-US" altLang="ko-KR" sz="1600"/>
              <a:t>, </a:t>
            </a:r>
            <a:r>
              <a:rPr lang="ko-KR" altLang="en-US" sz="1600"/>
              <a:t>보안</a:t>
            </a:r>
            <a:r>
              <a:rPr lang="en-US" altLang="ko-KR" sz="1600"/>
              <a:t>, </a:t>
            </a:r>
            <a:r>
              <a:rPr lang="ko-KR" altLang="en-US" sz="1600"/>
              <a:t>업무 프로세스에 대한 전문 지식과 파트너 네트워크</a:t>
            </a:r>
            <a:endParaRPr lang="ko-KR" altLang="en-US" sz="1600"/>
          </a:p>
        </p:txBody>
      </p:sp>
      <p:sp>
        <p:nvSpPr>
          <p:cNvPr id="22" name="직사각형 21"/>
          <p:cNvSpPr/>
          <p:nvPr/>
        </p:nvSpPr>
        <p:spPr>
          <a:xfrm>
            <a:off x="3932079" y="1843030"/>
            <a:ext cx="339852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솔루션 개발 및 유지보수</a:t>
            </a:r>
            <a:r>
              <a:rPr lang="ko-KR" altLang="ko-KR" sz="1600">
                <a:latin typeface="Arial" panose="020B0604020202020204" pitchFamily="34" charset="0"/>
              </a:rPr>
              <a:t>: 금융권 요구사항을 반영한 기능 개발, 보안 업데이트, 플랫폼 확장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시장/고객 분석</a:t>
            </a:r>
            <a:r>
              <a:rPr lang="ko-KR" altLang="ko-KR" sz="1600">
                <a:latin typeface="Arial" panose="020B0604020202020204" pitchFamily="34" charset="0"/>
              </a:rPr>
              <a:t>: 보험사·금융사별 니즈 파악, 인슈어테크 트렌드 연구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>
                <a:latin typeface="Arial" panose="020B0604020202020204" pitchFamily="34" charset="0"/>
              </a:rPr>
              <a:t>영업 및 마케팅</a:t>
            </a:r>
            <a:r>
              <a:rPr lang="ko-KR" altLang="ko-KR" sz="1600">
                <a:latin typeface="Arial" panose="020B0604020202020204" pitchFamily="34" charset="0"/>
              </a:rPr>
              <a:t>: 세미나, 컨퍼런스, 레퍼럴 프로그램, 파트너십 확장을 통한 </a:t>
            </a:r>
            <a:r>
              <a:rPr lang="ko-KR" altLang="ko-KR" sz="1600">
                <a:latin typeface="Arial" panose="020B0604020202020204" pitchFamily="34" charset="0"/>
              </a:rPr>
              <a:t>지속적 </a:t>
            </a:r>
            <a:r>
              <a:rPr lang="ko-KR" altLang="ko-KR" sz="1600" smtClean="0">
                <a:latin typeface="Arial" panose="020B0604020202020204" pitchFamily="34" charset="0"/>
              </a:rPr>
              <a:t>홍보</a:t>
            </a:r>
            <a:endParaRPr lang="ko-KR" altLang="ko-KR" sz="1600">
              <a:latin typeface="Arial" panose="020B0604020202020204" pitchFamily="34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35048" y="2058473"/>
            <a:ext cx="329692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클라우드 서비스 제공업체</a:t>
            </a:r>
            <a:r>
              <a:rPr lang="en-US" altLang="ko-KR"/>
              <a:t>: </a:t>
            </a:r>
            <a:r>
              <a:rPr lang="ko-KR" altLang="en-US"/>
              <a:t>안정적 서버 운영 및 확장성을 위해 </a:t>
            </a:r>
            <a:r>
              <a:rPr lang="en-US" altLang="ko-KR"/>
              <a:t>AWS, Azure, GCP </a:t>
            </a:r>
            <a:r>
              <a:rPr lang="ko-KR" altLang="en-US"/>
              <a:t>등과 협업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보험 전문 컨설팅 기업</a:t>
            </a:r>
            <a:r>
              <a:rPr lang="en-US" altLang="ko-KR"/>
              <a:t>: </a:t>
            </a:r>
            <a:r>
              <a:rPr lang="ko-KR" altLang="en-US"/>
              <a:t>보험 업무 프로세스 분석</a:t>
            </a:r>
            <a:r>
              <a:rPr lang="en-US" altLang="ko-KR"/>
              <a:t>, </a:t>
            </a:r>
            <a:r>
              <a:rPr lang="ko-KR" altLang="en-US"/>
              <a:t>내부통제 프로세스 수립 등 컨설팅 연계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보안 솔루션</a:t>
            </a:r>
            <a:r>
              <a:rPr lang="en-US" altLang="ko-KR" b="1"/>
              <a:t>/</a:t>
            </a:r>
            <a:r>
              <a:rPr lang="ko-KR" altLang="en-US" b="1"/>
              <a:t>핀테크 스타트업</a:t>
            </a:r>
            <a:r>
              <a:rPr lang="en-US" altLang="ko-KR"/>
              <a:t>: </a:t>
            </a:r>
            <a:r>
              <a:rPr lang="ko-KR" altLang="en-US"/>
              <a:t>금융 보안 인증</a:t>
            </a:r>
            <a:r>
              <a:rPr lang="en-US" altLang="ko-KR"/>
              <a:t>, AI </a:t>
            </a:r>
            <a:r>
              <a:rPr lang="ko-KR" altLang="en-US"/>
              <a:t>챗봇</a:t>
            </a:r>
            <a:r>
              <a:rPr lang="en-US" altLang="ko-KR"/>
              <a:t>, </a:t>
            </a:r>
            <a:r>
              <a:rPr lang="ko-KR" altLang="en-US"/>
              <a:t>데이터 분석 등 전문 파트너사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금융</a:t>
            </a:r>
            <a:r>
              <a:rPr lang="en-US" altLang="ko-KR" b="1"/>
              <a:t>/</a:t>
            </a:r>
            <a:r>
              <a:rPr lang="ko-KR" altLang="en-US" b="1"/>
              <a:t>공공 규제기관</a:t>
            </a:r>
            <a:r>
              <a:rPr lang="en-US" altLang="ko-KR"/>
              <a:t>: </a:t>
            </a:r>
            <a:r>
              <a:rPr lang="ko-KR" altLang="en-US"/>
              <a:t>관련 규제 컨설팅</a:t>
            </a:r>
            <a:r>
              <a:rPr lang="en-US" altLang="ko-KR"/>
              <a:t>, </a:t>
            </a:r>
            <a:r>
              <a:rPr lang="ko-KR" altLang="en-US"/>
              <a:t>승인</a:t>
            </a:r>
            <a:r>
              <a:rPr lang="en-US" altLang="ko-KR"/>
              <a:t>·</a:t>
            </a:r>
            <a:r>
              <a:rPr lang="ko-KR" altLang="en-US"/>
              <a:t>자문</a:t>
            </a:r>
            <a:r>
              <a:rPr lang="en-US" altLang="ko-KR"/>
              <a:t>, </a:t>
            </a:r>
            <a:r>
              <a:rPr lang="ko-KR" altLang="en-US"/>
              <a:t>검증을 통한 신뢰 구축</a:t>
            </a:r>
          </a:p>
          <a:p>
            <a:r>
              <a:rPr lang="en-US" altLang="ko-KR" b="1"/>
              <a:t>9. </a:t>
            </a:r>
            <a:r>
              <a:rPr lang="ko-KR" altLang="en-US" b="1"/>
              <a:t>비용 구조 </a:t>
            </a:r>
            <a:r>
              <a:rPr lang="en-US" altLang="ko-KR" b="1"/>
              <a:t>(Cost </a:t>
            </a:r>
            <a:r>
              <a:rPr lang="en-US" altLang="ko-KR" b="1"/>
              <a:t>Structure</a:t>
            </a:r>
            <a:r>
              <a:rPr lang="en-US" altLang="ko-KR" b="1" smtClean="0"/>
              <a:t>)</a:t>
            </a: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879274" y="6767687"/>
            <a:ext cx="742652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b="1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개발 및 </a:t>
            </a:r>
            <a:r>
              <a:rPr lang="en-US" altLang="ko-KR" b="1"/>
              <a:t>R&amp;D </a:t>
            </a:r>
            <a:r>
              <a:rPr lang="ko-KR" altLang="en-US" b="1"/>
              <a:t>비용</a:t>
            </a:r>
            <a:r>
              <a:rPr lang="en-US" altLang="ko-KR"/>
              <a:t>: </a:t>
            </a:r>
            <a:r>
              <a:rPr lang="ko-KR" altLang="en-US"/>
              <a:t>인력 급여</a:t>
            </a:r>
            <a:r>
              <a:rPr lang="en-US" altLang="ko-KR"/>
              <a:t>, </a:t>
            </a:r>
            <a:r>
              <a:rPr lang="ko-KR" altLang="en-US"/>
              <a:t>기술 라이선스</a:t>
            </a:r>
            <a:r>
              <a:rPr lang="en-US" altLang="ko-KR"/>
              <a:t>, </a:t>
            </a:r>
            <a:r>
              <a:rPr lang="ko-KR" altLang="en-US"/>
              <a:t>클라우드 인프라 사용료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마케팅</a:t>
            </a:r>
            <a:r>
              <a:rPr lang="en-US" altLang="ko-KR" b="1"/>
              <a:t>/</a:t>
            </a:r>
            <a:r>
              <a:rPr lang="ko-KR" altLang="en-US" b="1"/>
              <a:t>세일즈 비용</a:t>
            </a:r>
            <a:r>
              <a:rPr lang="en-US" altLang="ko-KR"/>
              <a:t>: </a:t>
            </a:r>
            <a:r>
              <a:rPr lang="ko-KR" altLang="en-US"/>
              <a:t>전시회</a:t>
            </a:r>
            <a:r>
              <a:rPr lang="en-US" altLang="ko-KR"/>
              <a:t>·</a:t>
            </a:r>
            <a:r>
              <a:rPr lang="ko-KR" altLang="en-US"/>
              <a:t>세미나 참가</a:t>
            </a:r>
            <a:r>
              <a:rPr lang="en-US" altLang="ko-KR"/>
              <a:t>, </a:t>
            </a:r>
            <a:r>
              <a:rPr lang="ko-KR" altLang="en-US"/>
              <a:t>광고</a:t>
            </a:r>
            <a:r>
              <a:rPr lang="en-US" altLang="ko-KR"/>
              <a:t>, </a:t>
            </a:r>
            <a:r>
              <a:rPr lang="ko-KR" altLang="en-US"/>
              <a:t>파트너십 구축 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고객 지원</a:t>
            </a:r>
            <a:r>
              <a:rPr lang="en-US" altLang="ko-KR" b="1"/>
              <a:t>·</a:t>
            </a:r>
            <a:r>
              <a:rPr lang="ko-KR" altLang="en-US" b="1"/>
              <a:t>운영 비용</a:t>
            </a:r>
            <a:r>
              <a:rPr lang="en-US" altLang="ko-KR"/>
              <a:t>: </a:t>
            </a:r>
            <a:r>
              <a:rPr lang="ko-KR" altLang="en-US"/>
              <a:t>고객 성공 매니저 운영</a:t>
            </a:r>
            <a:r>
              <a:rPr lang="en-US" altLang="ko-KR"/>
              <a:t>, </a:t>
            </a:r>
            <a:r>
              <a:rPr lang="ko-KR" altLang="en-US"/>
              <a:t>컨설팅 인력 비용</a:t>
            </a:r>
            <a:r>
              <a:rPr lang="en-US" altLang="ko-KR"/>
              <a:t>, </a:t>
            </a:r>
            <a:r>
              <a:rPr lang="ko-KR" altLang="en-US"/>
              <a:t>고객사 커스터마이징 유지보수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/>
              <a:t>관리</a:t>
            </a:r>
            <a:r>
              <a:rPr lang="en-US" altLang="ko-KR" b="1"/>
              <a:t>/</a:t>
            </a:r>
            <a:r>
              <a:rPr lang="ko-KR" altLang="en-US" b="1"/>
              <a:t>일반 운영 비용</a:t>
            </a:r>
            <a:r>
              <a:rPr lang="en-US" altLang="ko-KR"/>
              <a:t>: </a:t>
            </a:r>
            <a:r>
              <a:rPr lang="ko-KR" altLang="en-US"/>
              <a:t>사무실 임대</a:t>
            </a:r>
            <a:r>
              <a:rPr lang="en-US" altLang="ko-KR"/>
              <a:t>, </a:t>
            </a:r>
            <a:r>
              <a:rPr lang="ko-KR" altLang="en-US"/>
              <a:t>인사</a:t>
            </a:r>
            <a:r>
              <a:rPr lang="en-US" altLang="ko-KR"/>
              <a:t>·</a:t>
            </a:r>
            <a:r>
              <a:rPr lang="ko-KR" altLang="en-US"/>
              <a:t>회계</a:t>
            </a:r>
            <a:r>
              <a:rPr lang="en-US" altLang="ko-KR"/>
              <a:t>·</a:t>
            </a:r>
            <a:r>
              <a:rPr lang="ko-KR" altLang="en-US"/>
              <a:t>법무 등 관리 부문</a:t>
            </a: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538</Words>
  <Application>Microsoft Office PowerPoint</Application>
  <PresentationFormat>사용자 지정</PresentationFormat>
  <Paragraphs>41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Windows User</cp:lastModifiedBy>
  <cp:revision>2</cp:revision>
  <dcterms:created xsi:type="dcterms:W3CDTF">2025-04-27T10:44:52Z</dcterms:created>
  <dcterms:modified xsi:type="dcterms:W3CDTF">2025-05-11T09:17:52Z</dcterms:modified>
</cp:coreProperties>
</file>