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9" r:id="rId2"/>
  </p:sldIdLst>
  <p:sldSz cx="17556163" cy="9875838"/>
  <p:notesSz cx="9875838" cy="1755616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1" d="100"/>
          <a:sy n="61" d="100"/>
        </p:scale>
        <p:origin x="219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3655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17" y="0"/>
            <a:ext cx="17556480" cy="98755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65AAE98-714D-EFFE-83CA-57D1C6452E41}"/>
              </a:ext>
            </a:extLst>
          </p:cNvPr>
          <p:cNvSpPr txBox="1"/>
          <p:nvPr/>
        </p:nvSpPr>
        <p:spPr>
          <a:xfrm>
            <a:off x="14149794" y="1962116"/>
            <a:ext cx="2355742" cy="37380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ko-KR" sz="1600" b="1" dirty="0">
                <a:latin typeface="+mn-ea"/>
              </a:rPr>
              <a:t>MZ</a:t>
            </a:r>
            <a:r>
              <a:rPr lang="ko-KR" altLang="en-US" sz="1600" b="1" dirty="0">
                <a:latin typeface="+mn-ea"/>
              </a:rPr>
              <a:t>세대</a:t>
            </a:r>
            <a:r>
              <a:rPr lang="en-US" altLang="ko-KR" sz="1600" b="1" dirty="0">
                <a:latin typeface="+mn-ea"/>
              </a:rPr>
              <a:t>(20~34</a:t>
            </a:r>
            <a:r>
              <a:rPr lang="ko-KR" altLang="en-US" sz="1600" b="1" dirty="0">
                <a:latin typeface="+mn-ea"/>
              </a:rPr>
              <a:t>세</a:t>
            </a:r>
            <a:r>
              <a:rPr lang="en-US" altLang="ko-KR" sz="1600" b="1" dirty="0">
                <a:latin typeface="+mn-ea"/>
              </a:rPr>
              <a:t>)</a:t>
            </a:r>
            <a:endParaRPr lang="ko-KR" altLang="en-US" sz="1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+mn-ea"/>
              </a:rPr>
              <a:t>- </a:t>
            </a:r>
            <a:r>
              <a:rPr lang="ko-KR" altLang="en-US" sz="1600" dirty="0">
                <a:latin typeface="+mn-ea"/>
              </a:rPr>
              <a:t>금융에 관심은 있으나 실천력이 부족한 청년층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+mn-ea"/>
              </a:rPr>
              <a:t>- </a:t>
            </a:r>
            <a:r>
              <a:rPr lang="ko-KR" altLang="en-US" sz="1600" dirty="0">
                <a:latin typeface="+mn-ea"/>
              </a:rPr>
              <a:t>소비 습관을 바꾸고 싶은 직장인</a:t>
            </a:r>
            <a:r>
              <a:rPr lang="en-US" altLang="ko-KR" sz="1600" dirty="0">
                <a:latin typeface="+mn-ea"/>
              </a:rPr>
              <a:t>·</a:t>
            </a:r>
            <a:r>
              <a:rPr lang="ko-KR" altLang="en-US" sz="1600" dirty="0">
                <a:latin typeface="+mn-ea"/>
              </a:rPr>
              <a:t>대학생</a:t>
            </a:r>
          </a:p>
          <a:p>
            <a:pPr>
              <a:lnSpc>
                <a:spcPct val="150000"/>
              </a:lnSpc>
            </a:pPr>
            <a:endParaRPr lang="en-US" altLang="ko-KR" sz="1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+mn-ea"/>
              </a:rPr>
              <a:t>- </a:t>
            </a:r>
            <a:r>
              <a:rPr lang="ko-KR" altLang="en-US" sz="1600" dirty="0">
                <a:latin typeface="+mn-ea"/>
              </a:rPr>
              <a:t>자산은 없고 소비만 많은 </a:t>
            </a:r>
            <a:r>
              <a:rPr lang="en-US" altLang="ko-KR" sz="1600" dirty="0">
                <a:latin typeface="+mn-ea"/>
              </a:rPr>
              <a:t>'</a:t>
            </a:r>
            <a:r>
              <a:rPr lang="ko-KR" altLang="en-US" sz="1600" dirty="0">
                <a:latin typeface="+mn-ea"/>
              </a:rPr>
              <a:t>무계획 소비자</a:t>
            </a:r>
            <a:r>
              <a:rPr lang="en-US" altLang="ko-KR" sz="1600" dirty="0">
                <a:latin typeface="+mn-ea"/>
              </a:rPr>
              <a:t>'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C4D5B3-FBD3-226D-FE7D-0B63D87F7ABC}"/>
              </a:ext>
            </a:extLst>
          </p:cNvPr>
          <p:cNvSpPr txBox="1"/>
          <p:nvPr/>
        </p:nvSpPr>
        <p:spPr>
          <a:xfrm>
            <a:off x="10582031" y="2186575"/>
            <a:ext cx="3001107" cy="15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latin typeface="+mn-ea"/>
              </a:rPr>
              <a:t>- </a:t>
            </a:r>
            <a:r>
              <a:rPr lang="ko-KR" altLang="en-US" sz="1600" dirty="0">
                <a:latin typeface="+mn-ea"/>
              </a:rPr>
              <a:t>개인화 리포트와 리마인드로 지속적 관계 유지</a:t>
            </a:r>
          </a:p>
          <a:p>
            <a:pPr>
              <a:lnSpc>
                <a:spcPct val="150000"/>
              </a:lnSpc>
            </a:pPr>
            <a:endParaRPr lang="en-US" altLang="ko-KR" sz="1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+mn-ea"/>
              </a:rPr>
              <a:t>- </a:t>
            </a:r>
            <a:r>
              <a:rPr lang="ko-KR" altLang="en-US" sz="1600" dirty="0">
                <a:latin typeface="+mn-ea"/>
              </a:rPr>
              <a:t>피드백 기능</a:t>
            </a:r>
            <a:endParaRPr lang="en-US" altLang="ko-KR" sz="1600" dirty="0"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B83403-C5F8-024D-0259-FDF32B33AE83}"/>
              </a:ext>
            </a:extLst>
          </p:cNvPr>
          <p:cNvSpPr txBox="1"/>
          <p:nvPr/>
        </p:nvSpPr>
        <p:spPr>
          <a:xfrm>
            <a:off x="10582031" y="4568428"/>
            <a:ext cx="3001107" cy="15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+mn-ea"/>
              </a:rPr>
              <a:t>모바일 앱</a:t>
            </a:r>
            <a:r>
              <a:rPr lang="en-US" altLang="ko-KR" sz="1600" dirty="0">
                <a:latin typeface="+mn-ea"/>
              </a:rPr>
              <a:t>: </a:t>
            </a:r>
            <a:r>
              <a:rPr lang="ko-KR" altLang="en-US" sz="1600" dirty="0">
                <a:latin typeface="+mn-ea"/>
              </a:rPr>
              <a:t>소비 분석</a:t>
            </a:r>
            <a:r>
              <a:rPr lang="en-US" altLang="ko-KR" sz="1600" dirty="0">
                <a:latin typeface="+mn-ea"/>
              </a:rPr>
              <a:t>, </a:t>
            </a:r>
            <a:r>
              <a:rPr lang="ko-KR" altLang="en-US" sz="1600" dirty="0">
                <a:latin typeface="+mn-ea"/>
              </a:rPr>
              <a:t>피드백</a:t>
            </a:r>
            <a:r>
              <a:rPr lang="en-US" altLang="ko-KR" sz="1600" dirty="0">
                <a:latin typeface="+mn-ea"/>
              </a:rPr>
              <a:t>, </a:t>
            </a:r>
            <a:r>
              <a:rPr lang="ko-KR" altLang="en-US" sz="1600" dirty="0">
                <a:latin typeface="+mn-ea"/>
              </a:rPr>
              <a:t>챌린지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+mn-ea"/>
              </a:rPr>
              <a:t>SNS </a:t>
            </a:r>
            <a:r>
              <a:rPr lang="ko-KR" altLang="en-US" sz="1600" dirty="0" err="1">
                <a:latin typeface="+mn-ea"/>
              </a:rPr>
              <a:t>숏폼</a:t>
            </a:r>
            <a:r>
              <a:rPr lang="en-US" altLang="ko-KR" sz="1600" dirty="0">
                <a:latin typeface="+mn-ea"/>
              </a:rPr>
              <a:t>(</a:t>
            </a:r>
            <a:r>
              <a:rPr lang="ko-KR" altLang="en-US" sz="1600" dirty="0">
                <a:latin typeface="+mn-ea"/>
              </a:rPr>
              <a:t>인스타</a:t>
            </a:r>
            <a:r>
              <a:rPr lang="en-US" altLang="ko-KR" sz="1600" dirty="0">
                <a:latin typeface="+mn-ea"/>
              </a:rPr>
              <a:t>, </a:t>
            </a:r>
            <a:r>
              <a:rPr lang="ko-KR" altLang="en-US" sz="1600" dirty="0">
                <a:latin typeface="+mn-ea"/>
              </a:rPr>
              <a:t>유튜브</a:t>
            </a:r>
            <a:r>
              <a:rPr lang="en-US" altLang="ko-KR" sz="1600" dirty="0">
                <a:latin typeface="+mn-ea"/>
              </a:rPr>
              <a:t>, </a:t>
            </a:r>
            <a:r>
              <a:rPr lang="ko-KR" altLang="en-US" sz="1600" dirty="0" err="1">
                <a:latin typeface="+mn-ea"/>
              </a:rPr>
              <a:t>틱톡</a:t>
            </a:r>
            <a:r>
              <a:rPr lang="en-US" altLang="ko-KR" sz="1600" dirty="0">
                <a:latin typeface="+mn-ea"/>
              </a:rPr>
              <a:t>): </a:t>
            </a:r>
            <a:r>
              <a:rPr lang="ko-KR" altLang="en-US" sz="1600" dirty="0">
                <a:latin typeface="+mn-ea"/>
              </a:rPr>
              <a:t>유입 및 브랜드 강화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A50D24-05CC-30DB-A9D2-A68591226CDD}"/>
              </a:ext>
            </a:extLst>
          </p:cNvPr>
          <p:cNvSpPr txBox="1"/>
          <p:nvPr/>
        </p:nvSpPr>
        <p:spPr>
          <a:xfrm>
            <a:off x="7277370" y="2011911"/>
            <a:ext cx="3001106" cy="29993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ko-KR" altLang="en-US" sz="1600" b="1" dirty="0">
                <a:latin typeface="+mn-ea"/>
              </a:rPr>
              <a:t>소비내역 기반 맞춤 피드백 </a:t>
            </a:r>
            <a:r>
              <a:rPr lang="en-US" altLang="ko-KR" sz="1600" b="1" dirty="0">
                <a:latin typeface="+mn-ea"/>
              </a:rPr>
              <a:t>+ </a:t>
            </a:r>
            <a:r>
              <a:rPr lang="ko-KR" altLang="en-US" sz="1600" b="1" dirty="0">
                <a:latin typeface="+mn-ea"/>
              </a:rPr>
              <a:t>공감형 </a:t>
            </a:r>
            <a:r>
              <a:rPr lang="ko-KR" altLang="en-US" sz="1600" b="1" dirty="0" err="1">
                <a:latin typeface="+mn-ea"/>
              </a:rPr>
              <a:t>숏폼</a:t>
            </a:r>
            <a:r>
              <a:rPr lang="ko-KR" altLang="en-US" sz="1600" b="1" dirty="0">
                <a:latin typeface="+mn-ea"/>
              </a:rPr>
              <a:t> 콘텐츠</a:t>
            </a:r>
            <a:endParaRPr lang="ko-KR" altLang="en-US" sz="1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+mn-ea"/>
              </a:rPr>
              <a:t>- </a:t>
            </a:r>
            <a:r>
              <a:rPr lang="ko-KR" altLang="en-US" sz="1600" dirty="0">
                <a:latin typeface="+mn-ea"/>
              </a:rPr>
              <a:t>‘왜 돈이 안 </a:t>
            </a:r>
            <a:r>
              <a:rPr lang="ko-KR" altLang="en-US" sz="1600" dirty="0" err="1">
                <a:latin typeface="+mn-ea"/>
              </a:rPr>
              <a:t>모일까’를</a:t>
            </a:r>
            <a:r>
              <a:rPr lang="ko-KR" altLang="en-US" sz="1600" dirty="0">
                <a:latin typeface="+mn-ea"/>
              </a:rPr>
              <a:t> 정확히 짚어주는 </a:t>
            </a:r>
            <a:r>
              <a:rPr lang="ko-KR" altLang="en-US" sz="1600" b="1" dirty="0">
                <a:latin typeface="+mn-ea"/>
              </a:rPr>
              <a:t>데이터 분석 리포트</a:t>
            </a:r>
            <a:endParaRPr lang="ko-KR" altLang="en-US" sz="1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+mn-ea"/>
              </a:rPr>
              <a:t>- </a:t>
            </a:r>
            <a:r>
              <a:rPr lang="ko-KR" altLang="en-US" sz="1600" dirty="0">
                <a:latin typeface="+mn-ea"/>
              </a:rPr>
              <a:t>금융 지식을 </a:t>
            </a:r>
            <a:r>
              <a:rPr lang="ko-KR" altLang="en-US" sz="1600" b="1" dirty="0">
                <a:latin typeface="+mn-ea"/>
              </a:rPr>
              <a:t>가볍고 중독성 있게 학습</a:t>
            </a:r>
            <a:endParaRPr lang="ko-KR" altLang="en-US" sz="1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600">
                <a:latin typeface="+mn-ea"/>
              </a:rPr>
              <a:t>- </a:t>
            </a:r>
            <a:r>
              <a:rPr lang="ko-KR" altLang="en-US" sz="1600">
                <a:latin typeface="+mn-ea"/>
              </a:rPr>
              <a:t>투자 </a:t>
            </a:r>
            <a:r>
              <a:rPr lang="ko-KR" altLang="en-US" sz="1600" dirty="0">
                <a:latin typeface="+mn-ea"/>
              </a:rPr>
              <a:t>이전에 반드시 필요한 </a:t>
            </a:r>
            <a:r>
              <a:rPr lang="ko-KR" altLang="en-US" sz="1600" b="1" dirty="0">
                <a:latin typeface="+mn-ea"/>
              </a:rPr>
              <a:t>소비 교정 → 금융 행동 변화</a:t>
            </a:r>
            <a:endParaRPr lang="ko-KR" altLang="en-US" sz="1600" dirty="0"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C8BD6D-B43E-78A0-973E-56BD63716CF0}"/>
              </a:ext>
            </a:extLst>
          </p:cNvPr>
          <p:cNvSpPr txBox="1"/>
          <p:nvPr/>
        </p:nvSpPr>
        <p:spPr>
          <a:xfrm>
            <a:off x="3972866" y="1914551"/>
            <a:ext cx="3076611" cy="15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600" dirty="0">
                <a:latin typeface="+mn-ea"/>
              </a:rPr>
              <a:t>소비 데이터 수집</a:t>
            </a:r>
            <a:r>
              <a:rPr lang="en-US" altLang="ko-KR" sz="1600" dirty="0">
                <a:latin typeface="+mn-ea"/>
              </a:rPr>
              <a:t>/</a:t>
            </a:r>
            <a:r>
              <a:rPr lang="ko-KR" altLang="en-US" sz="1600" dirty="0">
                <a:latin typeface="+mn-ea"/>
              </a:rPr>
              <a:t>분석</a:t>
            </a:r>
            <a:endParaRPr lang="en-US" altLang="ko-KR" sz="1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>
                <a:latin typeface="+mn-ea"/>
              </a:rPr>
              <a:t>→ 개인화 리포트 제공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600" dirty="0">
                <a:latin typeface="+mn-ea"/>
              </a:rPr>
              <a:t>제휴 </a:t>
            </a:r>
            <a:r>
              <a:rPr lang="ko-KR" altLang="en-US" sz="1600" dirty="0" err="1">
                <a:latin typeface="+mn-ea"/>
              </a:rPr>
              <a:t>핀테크</a:t>
            </a:r>
            <a:r>
              <a:rPr lang="ko-KR" altLang="en-US" sz="1600" dirty="0">
                <a:latin typeface="+mn-ea"/>
              </a:rPr>
              <a:t> 상품 연결</a:t>
            </a:r>
            <a:endParaRPr lang="en-US" altLang="ko-KR" sz="1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>
                <a:latin typeface="+mn-ea"/>
              </a:rPr>
              <a:t>→ 전환 유도 및 수익화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BFA8B0-B02A-2B94-FF8A-7AAD6EAF471F}"/>
              </a:ext>
            </a:extLst>
          </p:cNvPr>
          <p:cNvSpPr txBox="1"/>
          <p:nvPr/>
        </p:nvSpPr>
        <p:spPr>
          <a:xfrm>
            <a:off x="4014525" y="4337565"/>
            <a:ext cx="2993292" cy="15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latin typeface="+mn-ea"/>
              </a:rPr>
              <a:t>- </a:t>
            </a:r>
            <a:r>
              <a:rPr lang="ko-KR" altLang="en-US" sz="1600" dirty="0">
                <a:latin typeface="+mn-ea"/>
              </a:rPr>
              <a:t>소비분석 알고리즘 및 추천 시스템</a:t>
            </a:r>
            <a:endParaRPr lang="en-US" altLang="ko-KR" sz="1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+mn-ea"/>
              </a:rPr>
              <a:t>- </a:t>
            </a:r>
            <a:r>
              <a:rPr lang="ko-KR" altLang="en-US" sz="1600" dirty="0" err="1">
                <a:latin typeface="+mn-ea"/>
              </a:rPr>
              <a:t>숏폼</a:t>
            </a:r>
            <a:r>
              <a:rPr lang="ko-KR" altLang="en-US" sz="1600" dirty="0">
                <a:latin typeface="+mn-ea"/>
              </a:rPr>
              <a:t> 금융 콘텐츠 기획</a:t>
            </a:r>
            <a:r>
              <a:rPr lang="en-US" altLang="ko-KR" sz="1600" dirty="0">
                <a:latin typeface="+mn-ea"/>
              </a:rPr>
              <a:t>·</a:t>
            </a:r>
            <a:r>
              <a:rPr lang="ko-KR" altLang="en-US" sz="1600" dirty="0">
                <a:latin typeface="+mn-ea"/>
              </a:rPr>
              <a:t>제작 역량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612085F-2551-EABD-8C5F-4B3D93F99787}"/>
              </a:ext>
            </a:extLst>
          </p:cNvPr>
          <p:cNvSpPr txBox="1"/>
          <p:nvPr/>
        </p:nvSpPr>
        <p:spPr>
          <a:xfrm>
            <a:off x="804985" y="2072922"/>
            <a:ext cx="2864326" cy="22606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 err="1">
                <a:latin typeface="+mn-ea"/>
              </a:rPr>
              <a:t>금융사</a:t>
            </a:r>
            <a:r>
              <a:rPr lang="en-US" altLang="ko-KR" sz="1600" dirty="0">
                <a:latin typeface="+mn-ea"/>
              </a:rPr>
              <a:t>/</a:t>
            </a:r>
            <a:r>
              <a:rPr lang="ko-KR" altLang="en-US" sz="1600" dirty="0" err="1">
                <a:latin typeface="+mn-ea"/>
              </a:rPr>
              <a:t>핀테크</a:t>
            </a:r>
            <a:r>
              <a:rPr lang="ko-KR" altLang="en-US" sz="1600" dirty="0">
                <a:latin typeface="+mn-ea"/>
              </a:rPr>
              <a:t> 기업</a:t>
            </a:r>
            <a:endParaRPr lang="en-US" altLang="ko-KR" sz="1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+mn-ea"/>
              </a:rPr>
              <a:t>– </a:t>
            </a:r>
            <a:r>
              <a:rPr lang="ko-KR" altLang="en-US" sz="1600" dirty="0">
                <a:latin typeface="+mn-ea"/>
              </a:rPr>
              <a:t>카드사</a:t>
            </a:r>
            <a:r>
              <a:rPr lang="en-US" altLang="ko-KR" sz="1600" dirty="0">
                <a:latin typeface="+mn-ea"/>
              </a:rPr>
              <a:t>, </a:t>
            </a:r>
            <a:r>
              <a:rPr lang="ko-KR" altLang="en-US" sz="1600" dirty="0">
                <a:latin typeface="+mn-ea"/>
              </a:rPr>
              <a:t>보험사</a:t>
            </a:r>
            <a:r>
              <a:rPr lang="en-US" altLang="ko-KR" sz="1600" dirty="0">
                <a:latin typeface="+mn-ea"/>
              </a:rPr>
              <a:t>, </a:t>
            </a:r>
            <a:r>
              <a:rPr lang="ko-KR" altLang="en-US" sz="1600" dirty="0" err="1">
                <a:latin typeface="+mn-ea"/>
              </a:rPr>
              <a:t>예적금</a:t>
            </a:r>
            <a:r>
              <a:rPr lang="ko-KR" altLang="en-US" sz="1600" dirty="0">
                <a:latin typeface="+mn-ea"/>
              </a:rPr>
              <a:t> 상품 등</a:t>
            </a:r>
          </a:p>
          <a:p>
            <a:pPr>
              <a:lnSpc>
                <a:spcPct val="150000"/>
              </a:lnSpc>
            </a:pPr>
            <a:endParaRPr lang="ko-KR" altLang="en-US" sz="1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 err="1">
                <a:latin typeface="+mn-ea"/>
              </a:rPr>
              <a:t>마이데이터</a:t>
            </a:r>
            <a:r>
              <a:rPr lang="ko-KR" altLang="en-US" sz="1600" dirty="0">
                <a:latin typeface="+mn-ea"/>
              </a:rPr>
              <a:t> </a:t>
            </a:r>
            <a:r>
              <a:rPr lang="en-US" altLang="ko-KR" sz="1600" dirty="0">
                <a:latin typeface="+mn-ea"/>
              </a:rPr>
              <a:t>API </a:t>
            </a:r>
            <a:r>
              <a:rPr lang="ko-KR" altLang="en-US" sz="1600" dirty="0">
                <a:latin typeface="+mn-ea"/>
              </a:rPr>
              <a:t>기업</a:t>
            </a:r>
            <a:endParaRPr lang="en-US" altLang="ko-KR" sz="1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+mn-ea"/>
              </a:rPr>
              <a:t>– </a:t>
            </a:r>
            <a:r>
              <a:rPr lang="ko-KR" altLang="en-US" sz="1600" dirty="0">
                <a:latin typeface="+mn-ea"/>
              </a:rPr>
              <a:t>사용자 소비정보 연동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5C0D49-06F7-C58B-5905-A8F3A8E1FB3E}"/>
              </a:ext>
            </a:extLst>
          </p:cNvPr>
          <p:cNvSpPr txBox="1"/>
          <p:nvPr/>
        </p:nvSpPr>
        <p:spPr>
          <a:xfrm>
            <a:off x="877402" y="7200277"/>
            <a:ext cx="7166217" cy="11526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+mn-ea"/>
              </a:rPr>
              <a:t>앱 개발 및 데이터 인프라 유지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latin typeface="+mn-ea"/>
              </a:rPr>
              <a:t>콘텐츠 제작 인력 및 마케팅 집행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latin typeface="+mn-ea"/>
              </a:rPr>
              <a:t>사용자 획득</a:t>
            </a:r>
            <a:r>
              <a:rPr lang="en-US" altLang="ko-KR" sz="1600" dirty="0">
                <a:latin typeface="+mn-ea"/>
              </a:rPr>
              <a:t>(CAC) </a:t>
            </a:r>
            <a:r>
              <a:rPr lang="ko-KR" altLang="en-US" sz="1600" dirty="0">
                <a:latin typeface="+mn-ea"/>
              </a:rPr>
              <a:t>및 운영비용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BDBC3A-3871-ADAB-AF6F-28D0DC5EC723}"/>
              </a:ext>
            </a:extLst>
          </p:cNvPr>
          <p:cNvSpPr txBox="1"/>
          <p:nvPr/>
        </p:nvSpPr>
        <p:spPr>
          <a:xfrm>
            <a:off x="9266436" y="7135265"/>
            <a:ext cx="6898296" cy="11526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+mn-ea"/>
              </a:rPr>
              <a:t>구독 모델 </a:t>
            </a:r>
            <a:r>
              <a:rPr lang="en-US" altLang="ko-KR" sz="1600" dirty="0">
                <a:latin typeface="+mn-ea"/>
              </a:rPr>
              <a:t>– </a:t>
            </a:r>
            <a:r>
              <a:rPr lang="ko-KR" altLang="en-US" sz="1600" dirty="0">
                <a:latin typeface="+mn-ea"/>
              </a:rPr>
              <a:t>고급 리포트 및 프리미엄 기능</a:t>
            </a:r>
          </a:p>
          <a:p>
            <a:pPr>
              <a:lnSpc>
                <a:spcPct val="150000"/>
              </a:lnSpc>
            </a:pPr>
            <a:r>
              <a:rPr lang="ko-KR" altLang="en-US" sz="1600" dirty="0" err="1">
                <a:latin typeface="+mn-ea"/>
              </a:rPr>
              <a:t>핀테크</a:t>
            </a:r>
            <a:r>
              <a:rPr lang="ko-KR" altLang="en-US" sz="1600" dirty="0">
                <a:latin typeface="+mn-ea"/>
              </a:rPr>
              <a:t> 제휴 수익 </a:t>
            </a:r>
            <a:r>
              <a:rPr lang="en-US" altLang="ko-KR" sz="1600" dirty="0">
                <a:latin typeface="+mn-ea"/>
              </a:rPr>
              <a:t>– </a:t>
            </a:r>
            <a:r>
              <a:rPr lang="ko-KR" altLang="en-US" sz="1600" dirty="0">
                <a:latin typeface="+mn-ea"/>
              </a:rPr>
              <a:t>카드</a:t>
            </a:r>
            <a:r>
              <a:rPr lang="en-US" altLang="ko-KR" sz="1600" dirty="0">
                <a:latin typeface="+mn-ea"/>
              </a:rPr>
              <a:t>·</a:t>
            </a:r>
            <a:r>
              <a:rPr lang="ko-KR" altLang="en-US" sz="1600" dirty="0">
                <a:latin typeface="+mn-ea"/>
              </a:rPr>
              <a:t>보험</a:t>
            </a:r>
            <a:r>
              <a:rPr lang="en-US" altLang="ko-KR" sz="1600" dirty="0">
                <a:latin typeface="+mn-ea"/>
              </a:rPr>
              <a:t>·</a:t>
            </a:r>
            <a:r>
              <a:rPr lang="ko-KR" altLang="en-US" sz="1600" dirty="0">
                <a:latin typeface="+mn-ea"/>
              </a:rPr>
              <a:t>저축 등 전환 성과 수익</a:t>
            </a:r>
          </a:p>
          <a:p>
            <a:pPr>
              <a:lnSpc>
                <a:spcPct val="150000"/>
              </a:lnSpc>
            </a:pPr>
            <a:r>
              <a:rPr lang="ko-KR" altLang="en-US" sz="1600">
                <a:latin typeface="+mn-ea"/>
              </a:rPr>
              <a:t>정밀 </a:t>
            </a:r>
            <a:r>
              <a:rPr lang="ko-KR" altLang="en-US" sz="1600" dirty="0">
                <a:latin typeface="+mn-ea"/>
              </a:rPr>
              <a:t>타깃 광고 </a:t>
            </a:r>
            <a:r>
              <a:rPr lang="en-US" altLang="ko-KR" sz="1600" dirty="0">
                <a:latin typeface="+mn-ea"/>
              </a:rPr>
              <a:t>– </a:t>
            </a:r>
            <a:r>
              <a:rPr lang="ko-KR" altLang="en-US" sz="1600" dirty="0">
                <a:latin typeface="+mn-ea"/>
              </a:rPr>
              <a:t>소비패턴 기반 브랜드 캠페인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201</Words>
  <Application>Microsoft Office PowerPoint</Application>
  <PresentationFormat>사용자 지정</PresentationFormat>
  <Paragraphs>33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프레젠테이션</vt:lpstr>
    </vt:vector>
  </TitlesOfParts>
  <Company>mangoboard.net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러닝메이트 워크북v2</dc:title>
  <dc:subject>Presentation</dc:subject>
  <dc:creator>mangoboard.net_48059005</dc:creator>
  <cp:lastModifiedBy>대산 오</cp:lastModifiedBy>
  <cp:revision>3</cp:revision>
  <dcterms:created xsi:type="dcterms:W3CDTF">2025-04-27T10:44:52Z</dcterms:created>
  <dcterms:modified xsi:type="dcterms:W3CDTF">2025-05-10T04:09:16Z</dcterms:modified>
</cp:coreProperties>
</file>