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862" autoAdjust="0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53" y="13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824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057F59-DADF-CA6A-199F-28F761885338}"/>
              </a:ext>
            </a:extLst>
          </p:cNvPr>
          <p:cNvSpPr txBox="1"/>
          <p:nvPr/>
        </p:nvSpPr>
        <p:spPr>
          <a:xfrm>
            <a:off x="13853159" y="1870650"/>
            <a:ext cx="3001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B2C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600" dirty="0"/>
              <a:t>20~30</a:t>
            </a:r>
            <a:r>
              <a:rPr lang="ko-KR" altLang="en-US" sz="1600" dirty="0"/>
              <a:t>대 직장인 </a:t>
            </a:r>
            <a:endParaRPr lang="en-US" altLang="ko-K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아침에 스마트폰 콘텐츠에 빠져 시간 관리를 못하는 사람</a:t>
            </a:r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수험생 및 대학생</a:t>
            </a:r>
            <a:endParaRPr lang="en-US" altLang="ko-K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아침 기상 시 피로와 스트레스로 인해 집중 모드로 전환이 어려운 사람들</a:t>
            </a:r>
            <a:endParaRPr lang="en-US" altLang="ko-KR" dirty="0"/>
          </a:p>
          <a:p>
            <a:r>
              <a:rPr lang="en-US" altLang="ko-KR" sz="2400" b="1" dirty="0"/>
              <a:t>B2B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기업 </a:t>
            </a:r>
            <a:r>
              <a:rPr lang="en-US" altLang="ko-KR" sz="1600" dirty="0"/>
              <a:t>(</a:t>
            </a:r>
            <a:r>
              <a:rPr lang="ko-KR" altLang="en-US" sz="1600" dirty="0"/>
              <a:t>직원들의 집중력 향상 및 스트레스 관리가 필요한 기업</a:t>
            </a:r>
            <a:r>
              <a:rPr lang="en-US" altLang="ko-KR" sz="16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교육기관 </a:t>
            </a:r>
            <a:r>
              <a:rPr lang="en-US" altLang="ko-KR" sz="1600" dirty="0"/>
              <a:t>(</a:t>
            </a:r>
            <a:r>
              <a:rPr lang="ko-KR" altLang="en-US" sz="1600" dirty="0"/>
              <a:t>학생들의 학습 집중력 향상 프로그램이 필요한 학원 및 기관</a:t>
            </a:r>
            <a:endParaRPr lang="en-US" altLang="ko-KR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3F2C2-6F8D-3FBA-59CC-CF7D06D9412C}"/>
              </a:ext>
            </a:extLst>
          </p:cNvPr>
          <p:cNvSpPr txBox="1"/>
          <p:nvPr/>
        </p:nvSpPr>
        <p:spPr>
          <a:xfrm>
            <a:off x="7162800" y="1870650"/>
            <a:ext cx="27889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아침 루틴 최적화 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아침 기상 후 </a:t>
            </a:r>
            <a:r>
              <a:rPr lang="en-US" altLang="ko-KR" sz="1600" dirty="0"/>
              <a:t>3~5</a:t>
            </a:r>
            <a:r>
              <a:rPr lang="ko-KR" altLang="en-US" sz="1600" dirty="0"/>
              <a:t>분 간 뇌파 분석을 통해 맞춤형 명상 제공</a:t>
            </a:r>
            <a:endParaRPr lang="en-US" altLang="ko-KR" sz="1600" dirty="0"/>
          </a:p>
          <a:p>
            <a:r>
              <a:rPr lang="en-US" altLang="ko-KR" sz="1600" dirty="0"/>
              <a:t>2</a:t>
            </a:r>
            <a:r>
              <a:rPr lang="ko-KR" altLang="en-US" sz="1600" dirty="0"/>
              <a:t>주 체험형 프로그램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초기 </a:t>
            </a:r>
            <a:r>
              <a:rPr lang="en-US" altLang="ko-KR" sz="1600" dirty="0"/>
              <a:t>2</a:t>
            </a:r>
            <a:r>
              <a:rPr lang="ko-KR" altLang="en-US" sz="1600" dirty="0"/>
              <a:t>주간 뇌파 기기와 콘텐츠를 무료로 체험하고 데이터 기반 리포트 제공</a:t>
            </a:r>
            <a:endParaRPr lang="en-US" altLang="ko-KR" sz="1600" dirty="0"/>
          </a:p>
          <a:p>
            <a:r>
              <a:rPr lang="ko-KR" altLang="en-US" sz="1600" dirty="0"/>
              <a:t>환급형 프로그램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새해</a:t>
            </a:r>
            <a:r>
              <a:rPr lang="en-US" altLang="ko-KR" sz="1600" dirty="0"/>
              <a:t>/</a:t>
            </a:r>
            <a:r>
              <a:rPr lang="ko-KR" altLang="en-US" sz="1600" dirty="0"/>
              <a:t>여름 대비 루틴 훈련을 통해 </a:t>
            </a:r>
            <a:r>
              <a:rPr lang="en-US" altLang="ko-KR" sz="1600" dirty="0"/>
              <a:t>2</a:t>
            </a:r>
            <a:r>
              <a:rPr lang="ko-KR" altLang="en-US" sz="1600" dirty="0"/>
              <a:t>개월 동안 목표 달성 시 전액 환급</a:t>
            </a:r>
            <a:endParaRPr lang="en-US" altLang="ko-KR" sz="1600" dirty="0"/>
          </a:p>
          <a:p>
            <a:r>
              <a:rPr lang="ko-KR" altLang="en-US" sz="1400" dirty="0"/>
              <a:t>집단 데이터 리포트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직장인</a:t>
            </a:r>
            <a:r>
              <a:rPr lang="en-US" altLang="ko-KR" sz="1400" dirty="0"/>
              <a:t>/</a:t>
            </a:r>
            <a:r>
              <a:rPr lang="ko-KR" altLang="en-US" sz="1400" dirty="0"/>
              <a:t>학생 대상 강의 전</a:t>
            </a:r>
            <a:r>
              <a:rPr lang="en-US" altLang="ko-KR" sz="1400" dirty="0"/>
              <a:t>, </a:t>
            </a:r>
            <a:r>
              <a:rPr lang="ko-KR" altLang="en-US" sz="1400" dirty="0"/>
              <a:t>휴식 후 생각 전환 명상 제공 후 데이터 리포트 제공</a:t>
            </a:r>
            <a:endParaRPr lang="en-US" altLang="ko-KR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0589BF-3EF2-3BD2-DBB0-33B585DC5DAB}"/>
              </a:ext>
            </a:extLst>
          </p:cNvPr>
          <p:cNvSpPr txBox="1"/>
          <p:nvPr/>
        </p:nvSpPr>
        <p:spPr>
          <a:xfrm>
            <a:off x="10507980" y="1870650"/>
            <a:ext cx="27889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1:1 </a:t>
            </a:r>
            <a:r>
              <a:rPr lang="ko-KR" altLang="en-US" sz="2000" dirty="0"/>
              <a:t>맞춤형 뇌파 리포트 제공</a:t>
            </a:r>
            <a:endParaRPr lang="en-US" altLang="ko-KR" sz="2000" dirty="0"/>
          </a:p>
          <a:p>
            <a:r>
              <a:rPr lang="ko-KR" altLang="en-US" sz="2000" dirty="0" err="1"/>
              <a:t>환급반</a:t>
            </a:r>
            <a:r>
              <a:rPr lang="en-US" altLang="ko-KR" sz="2000" dirty="0"/>
              <a:t>,</a:t>
            </a:r>
            <a:r>
              <a:rPr lang="ko-KR" altLang="en-US" sz="2000" dirty="0"/>
              <a:t> 체험형 대상 </a:t>
            </a:r>
            <a:r>
              <a:rPr lang="ko-KR" altLang="en-US" sz="2000" dirty="0" err="1"/>
              <a:t>단톡방</a:t>
            </a:r>
            <a:r>
              <a:rPr lang="ko-KR" altLang="en-US" sz="2000" dirty="0"/>
              <a:t> 개설</a:t>
            </a:r>
            <a:endParaRPr lang="en-US" altLang="ko-KR" sz="2000" dirty="0"/>
          </a:p>
          <a:p>
            <a:r>
              <a:rPr lang="ko-KR" altLang="en-US" sz="2000" dirty="0"/>
              <a:t>소개 시 할인 제도</a:t>
            </a:r>
            <a:endParaRPr lang="en-US" altLang="ko-KR" sz="2000" dirty="0"/>
          </a:p>
          <a:p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0E63AA-817A-AD85-DB65-D056BFD46656}"/>
              </a:ext>
            </a:extLst>
          </p:cNvPr>
          <p:cNvSpPr txBox="1"/>
          <p:nvPr/>
        </p:nvSpPr>
        <p:spPr>
          <a:xfrm>
            <a:off x="10591800" y="4354770"/>
            <a:ext cx="27889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공식 웹사이트</a:t>
            </a:r>
            <a:r>
              <a:rPr lang="en-US" altLang="ko-KR" sz="2000" dirty="0"/>
              <a:t>(</a:t>
            </a:r>
            <a:r>
              <a:rPr lang="ko-KR" altLang="en-US" sz="2000" dirty="0"/>
              <a:t>미정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SNS </a:t>
            </a:r>
          </a:p>
          <a:p>
            <a:r>
              <a:rPr lang="ko-KR" altLang="en-US" sz="2000" dirty="0"/>
              <a:t>온라인 플랫폼</a:t>
            </a:r>
            <a:r>
              <a:rPr lang="en-US" altLang="ko-KR" sz="2000" dirty="0"/>
              <a:t>(</a:t>
            </a:r>
            <a:r>
              <a:rPr lang="ko-KR" altLang="en-US" sz="2000" dirty="0"/>
              <a:t>네이버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쿠팡</a:t>
            </a:r>
            <a:r>
              <a:rPr lang="ko-KR" altLang="en-US" sz="2000" dirty="0"/>
              <a:t> 등</a:t>
            </a:r>
            <a:r>
              <a:rPr lang="en-US" altLang="ko-KR" sz="20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77B979-11F8-11D3-3A7C-B02D4E61A25B}"/>
              </a:ext>
            </a:extLst>
          </p:cNvPr>
          <p:cNvSpPr txBox="1"/>
          <p:nvPr/>
        </p:nvSpPr>
        <p:spPr>
          <a:xfrm>
            <a:off x="3992880" y="1840170"/>
            <a:ext cx="3169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EEG</a:t>
            </a:r>
            <a:r>
              <a:rPr lang="ko-KR" altLang="en-US" dirty="0"/>
              <a:t> 수집 디바이스 개발</a:t>
            </a:r>
            <a:endParaRPr lang="en-US" altLang="ko-KR" dirty="0"/>
          </a:p>
          <a:p>
            <a:r>
              <a:rPr lang="ko-KR" altLang="en-US" dirty="0"/>
              <a:t>플랫폼 및 앱 개발</a:t>
            </a:r>
            <a:endParaRPr lang="en-US" altLang="ko-KR" dirty="0"/>
          </a:p>
          <a:p>
            <a:r>
              <a:rPr lang="ko-KR" altLang="en-US" dirty="0"/>
              <a:t>맞춤형 명상 콘텐츠 제작</a:t>
            </a:r>
            <a:endParaRPr lang="en-US" altLang="ko-KR" dirty="0"/>
          </a:p>
          <a:p>
            <a:r>
              <a:rPr lang="ko-KR" altLang="en-US" dirty="0"/>
              <a:t>사용자 피드백 및 데이터 최적화</a:t>
            </a:r>
            <a:endParaRPr lang="en-US" altLang="ko-KR" dirty="0"/>
          </a:p>
          <a:p>
            <a:r>
              <a:rPr lang="ko-KR" altLang="en-US" dirty="0"/>
              <a:t>환불 및 환급 프로그램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2917C-3D30-CCDF-D6EE-D5F71382B3A0}"/>
              </a:ext>
            </a:extLst>
          </p:cNvPr>
          <p:cNvSpPr txBox="1"/>
          <p:nvPr/>
        </p:nvSpPr>
        <p:spPr>
          <a:xfrm>
            <a:off x="701040" y="1870650"/>
            <a:ext cx="278892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제조 파트너 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PCB </a:t>
            </a:r>
            <a:r>
              <a:rPr lang="ko-KR" altLang="en-US" sz="2000" dirty="0"/>
              <a:t>제작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OEM </a:t>
            </a:r>
            <a:r>
              <a:rPr lang="ko-KR" altLang="en-US" sz="2000" dirty="0"/>
              <a:t>생산 업체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데이터 파트너 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연구소 및 대학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r>
              <a:rPr lang="ko-KR" altLang="en-US" sz="2000" dirty="0"/>
              <a:t>콘텐츠 파트너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B2B </a:t>
            </a:r>
            <a:r>
              <a:rPr lang="ko-KR" altLang="en-US" sz="2000" dirty="0"/>
              <a:t>파트너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64C209-E64E-07C3-E90F-95CF0624BD3A}"/>
              </a:ext>
            </a:extLst>
          </p:cNvPr>
          <p:cNvSpPr txBox="1"/>
          <p:nvPr/>
        </p:nvSpPr>
        <p:spPr>
          <a:xfrm>
            <a:off x="4023360" y="4400490"/>
            <a:ext cx="301752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개발 인력 </a:t>
            </a:r>
            <a:r>
              <a:rPr lang="en-US" altLang="ko-KR" sz="2000" dirty="0"/>
              <a:t>2</a:t>
            </a:r>
            <a:r>
              <a:rPr lang="ko-KR" altLang="en-US" sz="2000" dirty="0"/>
              <a:t>명</a:t>
            </a:r>
            <a:endParaRPr lang="en-US" altLang="ko-KR" sz="2000" dirty="0"/>
          </a:p>
          <a:p>
            <a:r>
              <a:rPr lang="en-US" altLang="ko-KR" sz="2000" dirty="0"/>
              <a:t>EEG </a:t>
            </a:r>
            <a:r>
              <a:rPr lang="ko-KR" altLang="en-US" sz="2000" dirty="0"/>
              <a:t>데이터 연구인력 </a:t>
            </a:r>
            <a:r>
              <a:rPr lang="en-US" altLang="ko-KR" sz="2000" dirty="0"/>
              <a:t>1</a:t>
            </a:r>
            <a:r>
              <a:rPr lang="ko-KR" altLang="en-US" sz="2000" dirty="0"/>
              <a:t>명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1600" dirty="0"/>
              <a:t>EEG </a:t>
            </a:r>
            <a:r>
              <a:rPr lang="ko-KR" altLang="en-US" sz="1600" dirty="0"/>
              <a:t>기기 재고 필요</a:t>
            </a:r>
            <a:endParaRPr lang="en-US" altLang="ko-KR" sz="1600" dirty="0"/>
          </a:p>
          <a:p>
            <a:r>
              <a:rPr lang="ko-KR" altLang="en-US" sz="1600" dirty="0"/>
              <a:t>뇌파 분석 알고리즘 개발 필요</a:t>
            </a:r>
            <a:endParaRPr lang="en-US" altLang="ko-KR" sz="1600" dirty="0"/>
          </a:p>
          <a:p>
            <a:r>
              <a:rPr lang="ko-KR" altLang="en-US" sz="1600" dirty="0"/>
              <a:t>전략적 파트너들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30AF5C-E08F-D65B-05E2-59C1DBBD55B1}"/>
              </a:ext>
            </a:extLst>
          </p:cNvPr>
          <p:cNvSpPr txBox="1"/>
          <p:nvPr/>
        </p:nvSpPr>
        <p:spPr>
          <a:xfrm>
            <a:off x="701039" y="6976050"/>
            <a:ext cx="78940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기기 제작 및 배송 비용</a:t>
            </a:r>
            <a:r>
              <a:rPr lang="en-US" altLang="ko-KR" sz="2000" dirty="0"/>
              <a:t>, </a:t>
            </a:r>
            <a:r>
              <a:rPr lang="ko-KR" altLang="en-US" sz="2000" dirty="0"/>
              <a:t> 플랫폼 및 앱 개발 비용</a:t>
            </a:r>
            <a:r>
              <a:rPr lang="en-US" altLang="ko-KR" sz="2000" dirty="0"/>
              <a:t>, </a:t>
            </a:r>
            <a:r>
              <a:rPr lang="ko-KR" altLang="en-US" sz="2000" dirty="0"/>
              <a:t>콘텐츠 개발비 </a:t>
            </a:r>
            <a:r>
              <a:rPr lang="en-US" altLang="ko-KR" sz="2000" dirty="0"/>
              <a:t>(</a:t>
            </a:r>
            <a:r>
              <a:rPr lang="ko-KR" altLang="en-US" sz="2000" dirty="0"/>
              <a:t>명상</a:t>
            </a:r>
            <a:r>
              <a:rPr lang="en-US" altLang="ko-KR" sz="2000" dirty="0"/>
              <a:t>),</a:t>
            </a:r>
          </a:p>
          <a:p>
            <a:r>
              <a:rPr lang="ko-KR" altLang="en-US" sz="2000" dirty="0"/>
              <a:t>마케팅 및 영업비용</a:t>
            </a:r>
            <a:r>
              <a:rPr lang="en-US" altLang="ko-KR" sz="2000" dirty="0"/>
              <a:t>, </a:t>
            </a:r>
            <a:r>
              <a:rPr lang="ko-KR" altLang="en-US" sz="2000" dirty="0"/>
              <a:t>고객지원 및 환불</a:t>
            </a:r>
            <a:r>
              <a:rPr lang="en-US" altLang="ko-KR" sz="2000" dirty="0"/>
              <a:t>/</a:t>
            </a:r>
            <a:r>
              <a:rPr lang="ko-KR" altLang="en-US" sz="2000" dirty="0"/>
              <a:t>환급 처리 비용</a:t>
            </a:r>
            <a:r>
              <a:rPr lang="en-US" altLang="ko-KR" sz="2000" dirty="0"/>
              <a:t>, </a:t>
            </a:r>
            <a:r>
              <a:rPr lang="ko-KR" altLang="en-US" sz="2000" dirty="0"/>
              <a:t>법적 비용</a:t>
            </a:r>
            <a:r>
              <a:rPr lang="en-US" altLang="ko-KR" sz="2000" dirty="0"/>
              <a:t>(</a:t>
            </a:r>
            <a:r>
              <a:rPr lang="ko-KR" altLang="en-US" sz="2000" dirty="0"/>
              <a:t>데이터 프라이버시</a:t>
            </a:r>
            <a:r>
              <a:rPr lang="en-US" altLang="ko-KR" sz="2000" dirty="0"/>
              <a:t>, </a:t>
            </a:r>
            <a:r>
              <a:rPr lang="ko-KR" altLang="en-US" sz="2000" dirty="0"/>
              <a:t>보안</a:t>
            </a:r>
            <a:r>
              <a:rPr lang="en-US" altLang="ko-KR" sz="200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445CF-1E43-D16C-954C-597084E6F2C4}"/>
              </a:ext>
            </a:extLst>
          </p:cNvPr>
          <p:cNvSpPr txBox="1"/>
          <p:nvPr/>
        </p:nvSpPr>
        <p:spPr>
          <a:xfrm>
            <a:off x="8961120" y="7006530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기기판매 </a:t>
            </a:r>
            <a:r>
              <a:rPr lang="en-US" altLang="ko-KR" sz="2000" dirty="0"/>
              <a:t>(</a:t>
            </a:r>
            <a:r>
              <a:rPr lang="ko-KR" altLang="en-US" sz="2000" dirty="0"/>
              <a:t>각 약 </a:t>
            </a:r>
            <a:r>
              <a:rPr lang="en-US" altLang="ko-KR" sz="2000" dirty="0"/>
              <a:t>20</a:t>
            </a:r>
            <a:r>
              <a:rPr lang="ko-KR" altLang="en-US" sz="2000" dirty="0"/>
              <a:t>만원</a:t>
            </a:r>
            <a:r>
              <a:rPr lang="en-US" altLang="ko-KR" sz="2000" dirty="0"/>
              <a:t>), </a:t>
            </a:r>
            <a:r>
              <a:rPr lang="ko-KR" altLang="en-US" sz="2000" dirty="0"/>
              <a:t>앱 월 구독료 </a:t>
            </a:r>
            <a:r>
              <a:rPr lang="en-US" altLang="ko-KR" sz="2000" dirty="0"/>
              <a:t>(</a:t>
            </a:r>
            <a:r>
              <a:rPr lang="ko-KR" altLang="en-US" sz="2000" dirty="0"/>
              <a:t>월 </a:t>
            </a:r>
            <a:r>
              <a:rPr lang="en-US" altLang="ko-KR" sz="2000" dirty="0"/>
              <a:t>7,900</a:t>
            </a:r>
            <a:r>
              <a:rPr lang="ko-KR" altLang="en-US" sz="2000" dirty="0"/>
              <a:t>월</a:t>
            </a:r>
            <a:r>
              <a:rPr lang="en-US" altLang="ko-KR" sz="2000" dirty="0"/>
              <a:t>), </a:t>
            </a:r>
            <a:r>
              <a:rPr lang="ko-KR" altLang="en-US" sz="2000" dirty="0"/>
              <a:t>환급형 프로그램 참가비</a:t>
            </a:r>
            <a:r>
              <a:rPr lang="en-US" altLang="ko-KR" sz="2000" dirty="0"/>
              <a:t>, B2B </a:t>
            </a:r>
            <a:r>
              <a:rPr lang="ko-KR" altLang="en-US" sz="2000" dirty="0"/>
              <a:t>기업 맞춤형 프로그램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269</Words>
  <Application>Microsoft Office PowerPoint</Application>
  <PresentationFormat>사용자 지정</PresentationFormat>
  <Paragraphs>51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전 용구</cp:lastModifiedBy>
  <cp:revision>2</cp:revision>
  <dcterms:created xsi:type="dcterms:W3CDTF">2025-04-27T10:44:52Z</dcterms:created>
  <dcterms:modified xsi:type="dcterms:W3CDTF">2025-05-10T08:22:01Z</dcterms:modified>
</cp:coreProperties>
</file>