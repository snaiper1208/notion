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1890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otpress.com/ko/blog/ai-travel-agent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" y="414338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5E42D0-01DD-B598-9EDD-57E222A920B5}"/>
              </a:ext>
            </a:extLst>
          </p:cNvPr>
          <p:cNvSpPr txBox="1"/>
          <p:nvPr/>
        </p:nvSpPr>
        <p:spPr>
          <a:xfrm>
            <a:off x="14187488" y="2071688"/>
            <a:ext cx="24003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중소기업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lang="ko-KR" altLang="en-US" b="0" i="0" dirty="0">
                <a:effectLst/>
                <a:latin typeface="fkGroteskNeue"/>
              </a:rPr>
              <a:t>출장 관리 전담 인력이 부족하고 </a:t>
            </a:r>
            <a:r>
              <a:rPr kumimoji="1" lang="ko-KR" altLang="en-US" dirty="0" err="1"/>
              <a:t>슬랙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노션</a:t>
            </a:r>
            <a:r>
              <a:rPr kumimoji="1" lang="en-US" altLang="ko-KR" dirty="0"/>
              <a:t>,</a:t>
            </a:r>
            <a:r>
              <a:rPr kumimoji="1" lang="ko-KR" altLang="en-US" dirty="0"/>
              <a:t> 구글 워크스페이스를  사용하는 중소기업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D072C0-B69C-F493-EC91-E66E95EDA52B}"/>
              </a:ext>
            </a:extLst>
          </p:cNvPr>
          <p:cNvSpPr txBox="1"/>
          <p:nvPr/>
        </p:nvSpPr>
        <p:spPr>
          <a:xfrm>
            <a:off x="7286625" y="2143126"/>
            <a:ext cx="33147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완전 자동화된 출장 계획</a:t>
            </a:r>
            <a:r>
              <a:rPr lang="en-US" altLang="ko-KR" b="0" i="0" dirty="0">
                <a:effectLst/>
                <a:latin typeface="fkGroteskNeue"/>
              </a:rPr>
              <a:t>: </a:t>
            </a:r>
            <a:r>
              <a:rPr lang="ko-KR" altLang="en-US" b="0" i="0" dirty="0">
                <a:effectLst/>
                <a:latin typeface="fkGroteskNeue"/>
              </a:rPr>
              <a:t>간단한 텍스트 명령으로 전체 출장 일정 자동 생성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예산 최적화</a:t>
            </a:r>
            <a:r>
              <a:rPr lang="en-US" altLang="ko-KR" b="0" i="0" dirty="0">
                <a:effectLst/>
                <a:latin typeface="fkGroteskNeue"/>
              </a:rPr>
              <a:t>: </a:t>
            </a:r>
            <a:r>
              <a:rPr lang="ko-KR" altLang="en-US" b="0" i="0" dirty="0">
                <a:effectLst/>
                <a:latin typeface="fkGroteskNeue"/>
              </a:rPr>
              <a:t>지정된 예산 내에서 최적의 항공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숙박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교통 옵션 제안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업무 효율성 향상</a:t>
            </a:r>
            <a:r>
              <a:rPr lang="en-US" altLang="ko-KR" b="0" i="0" dirty="0">
                <a:effectLst/>
                <a:latin typeface="fkGroteskNeue"/>
              </a:rPr>
              <a:t>: </a:t>
            </a:r>
            <a:r>
              <a:rPr lang="ko-KR" altLang="en-US" b="0" i="0" dirty="0">
                <a:effectLst/>
                <a:latin typeface="fkGroteskNeue"/>
              </a:rPr>
              <a:t>출장 예약</a:t>
            </a:r>
            <a:r>
              <a:rPr lang="en-US" altLang="ko-KR" b="0" i="0" dirty="0">
                <a:effectLst/>
                <a:latin typeface="fkGroteskNeue"/>
              </a:rPr>
              <a:t>·</a:t>
            </a:r>
            <a:r>
              <a:rPr lang="ko-KR" altLang="en-US" b="0" i="0" dirty="0">
                <a:effectLst/>
                <a:latin typeface="fkGroteskNeue"/>
              </a:rPr>
              <a:t>전자 결재 자동화로 불필요한 경비지출관리 과정 </a:t>
            </a:r>
            <a:r>
              <a:rPr lang="en-US" altLang="ko-KR" b="0" i="0" dirty="0">
                <a:effectLst/>
                <a:latin typeface="fkGroteskNeue"/>
              </a:rPr>
              <a:t>50% </a:t>
            </a:r>
            <a:r>
              <a:rPr lang="ko-KR" altLang="en-US" b="0" i="0" dirty="0">
                <a:effectLst/>
                <a:latin typeface="fkGroteskNeue"/>
              </a:rPr>
              <a:t>이상 절감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영수증 자동 관리</a:t>
            </a:r>
            <a:r>
              <a:rPr lang="en-US" altLang="ko-KR" b="0" i="0" dirty="0">
                <a:effectLst/>
                <a:latin typeface="fkGroteskNeue"/>
              </a:rPr>
              <a:t>: </a:t>
            </a:r>
            <a:r>
              <a:rPr lang="en" altLang="ko-KR" b="0" i="0" dirty="0">
                <a:effectLst/>
                <a:latin typeface="fkGroteskNeue"/>
              </a:rPr>
              <a:t>OCR </a:t>
            </a:r>
            <a:r>
              <a:rPr lang="ko-KR" altLang="en-US" b="0" i="0" dirty="0">
                <a:effectLst/>
                <a:latin typeface="fkGroteskNeue"/>
              </a:rPr>
              <a:t>기술을 활용한 영수증 자동 분석 및 등록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기업 시스템 통합</a:t>
            </a:r>
            <a:r>
              <a:rPr lang="en-US" altLang="ko-KR" b="0" i="0" dirty="0">
                <a:effectLst/>
                <a:latin typeface="fkGroteskNeue"/>
              </a:rPr>
              <a:t>: </a:t>
            </a:r>
            <a:r>
              <a:rPr lang="ko-KR" altLang="en-US" b="0" i="0" dirty="0">
                <a:effectLst/>
                <a:latin typeface="fkGroteskNeue"/>
              </a:rPr>
              <a:t>워크스페이스 자동 연동으로 출장 기록 및 경비 관리 일원화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F54FB4-691D-0256-D789-12A3BEEAC564}"/>
              </a:ext>
            </a:extLst>
          </p:cNvPr>
          <p:cNvSpPr txBox="1"/>
          <p:nvPr/>
        </p:nvSpPr>
        <p:spPr>
          <a:xfrm>
            <a:off x="10715625" y="4757738"/>
            <a:ext cx="2757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>
                <a:effectLst/>
                <a:latin typeface="fkGroteskNeue"/>
              </a:rPr>
              <a:t>클라우드 기반 웹 플랫폼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702F81-FE40-DC1B-2CF5-885F01761562}"/>
              </a:ext>
            </a:extLst>
          </p:cNvPr>
          <p:cNvSpPr txBox="1"/>
          <p:nvPr/>
        </p:nvSpPr>
        <p:spPr>
          <a:xfrm>
            <a:off x="10704196" y="2185989"/>
            <a:ext cx="2514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기업별 맞춤형 설정</a:t>
            </a:r>
            <a:r>
              <a:rPr lang="en-US" altLang="ko-KR" b="0" i="0" dirty="0">
                <a:effectLst/>
                <a:latin typeface="fkGroteskNeue"/>
              </a:rPr>
              <a:t>: </a:t>
            </a:r>
            <a:r>
              <a:rPr lang="ko-KR" altLang="en-US" b="0" i="0" dirty="0">
                <a:effectLst/>
                <a:latin typeface="fkGroteskNeue"/>
              </a:rPr>
              <a:t>기업 정책과 예산에 맞는 커스터마이징</a:t>
            </a:r>
            <a:endParaRPr lang="en-US" altLang="ko-KR" b="0" i="0" dirty="0">
              <a:effectLst/>
              <a:latin typeface="fkGroteskNeu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개인화된 </a:t>
            </a:r>
            <a:r>
              <a:rPr lang="en" altLang="ko-KR" b="0" i="0" dirty="0">
                <a:effectLst/>
                <a:latin typeface="fkGroteskNeue"/>
              </a:rPr>
              <a:t>AI </a:t>
            </a:r>
            <a:r>
              <a:rPr lang="ko-KR" altLang="en-US" b="0" i="0" dirty="0">
                <a:effectLst/>
                <a:latin typeface="fkGroteskNeue"/>
              </a:rPr>
              <a:t>비서 서비스</a:t>
            </a:r>
            <a:r>
              <a:rPr lang="en-US" altLang="ko-KR" b="0" i="0" dirty="0">
                <a:effectLst/>
                <a:latin typeface="fkGroteskNeue"/>
              </a:rPr>
              <a:t>: </a:t>
            </a:r>
            <a:r>
              <a:rPr lang="ko-KR" altLang="en-US" b="0" i="0" dirty="0">
                <a:effectLst/>
                <a:latin typeface="fkGroteskNeue"/>
              </a:rPr>
              <a:t>사용자별 선호도 학습 및 맞춤형 추천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ko-KR" altLang="en-US" b="0" i="0" dirty="0">
              <a:effectLst/>
              <a:latin typeface="fkGrotesk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1B3D13-FEC1-184B-72E9-C56CAC3E3FB6}"/>
              </a:ext>
            </a:extLst>
          </p:cNvPr>
          <p:cNvSpPr txBox="1"/>
          <p:nvPr/>
        </p:nvSpPr>
        <p:spPr>
          <a:xfrm>
            <a:off x="9329738" y="7400925"/>
            <a:ext cx="6472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b="0" i="0" dirty="0">
                <a:effectLst/>
                <a:latin typeface="fkGroteskNeue"/>
              </a:rPr>
              <a:t>SaaS </a:t>
            </a:r>
            <a:r>
              <a:rPr lang="ko-KR" altLang="en-US" b="0" i="0" dirty="0">
                <a:effectLst/>
                <a:latin typeface="fkGroteskNeue"/>
              </a:rPr>
              <a:t>구독 모델</a:t>
            </a:r>
            <a:r>
              <a:rPr lang="en-US" altLang="ko-KR" b="0" i="0" dirty="0">
                <a:effectLst/>
                <a:latin typeface="fkGroteskNeue"/>
              </a:rPr>
              <a:t>: </a:t>
            </a:r>
            <a:r>
              <a:rPr lang="ko-KR" altLang="en-US" b="0" i="0" dirty="0">
                <a:effectLst/>
                <a:latin typeface="fkGroteskNeue"/>
              </a:rPr>
              <a:t>월간</a:t>
            </a:r>
            <a:r>
              <a:rPr lang="en-US" altLang="ko-KR" b="0" i="0" dirty="0">
                <a:effectLst/>
                <a:latin typeface="fkGroteskNeue"/>
              </a:rPr>
              <a:t>/</a:t>
            </a:r>
            <a:r>
              <a:rPr lang="ko-KR" altLang="en-US" b="0" i="0" dirty="0">
                <a:effectLst/>
                <a:latin typeface="fkGroteskNeue"/>
              </a:rPr>
              <a:t>연간 구독 형태의 소프트웨어 서비스 제공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23EFD8-DDC5-E7EC-366B-260DF6814C19}"/>
              </a:ext>
            </a:extLst>
          </p:cNvPr>
          <p:cNvSpPr txBox="1"/>
          <p:nvPr/>
        </p:nvSpPr>
        <p:spPr>
          <a:xfrm>
            <a:off x="4043363" y="4757738"/>
            <a:ext cx="32432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" altLang="ko-KR" b="0" i="0" dirty="0">
                <a:effectLst/>
                <a:latin typeface="fkGroteskNeue"/>
              </a:rPr>
              <a:t>OCR </a:t>
            </a:r>
            <a:r>
              <a:rPr lang="ko-KR" altLang="en-US" b="0" i="0" dirty="0">
                <a:effectLst/>
                <a:latin typeface="fkGroteskNeue"/>
              </a:rPr>
              <a:t>및 데이터 처리 기술</a:t>
            </a:r>
            <a:r>
              <a:rPr lang="en-US" altLang="ko-KR" b="0" i="0" dirty="0">
                <a:effectLst/>
                <a:latin typeface="fkGroteskNeue"/>
              </a:rPr>
              <a:t>: </a:t>
            </a:r>
            <a:r>
              <a:rPr lang="ko-KR" altLang="en-US" b="0" i="0" dirty="0">
                <a:effectLst/>
                <a:latin typeface="fkGroteskNeue"/>
              </a:rPr>
              <a:t>영수증 인식 및 처리 시스템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dirty="0">
                <a:latin typeface="fkGroteskNeue"/>
              </a:rPr>
              <a:t>한국어 맞춤 </a:t>
            </a:r>
            <a:r>
              <a:rPr lang="en-US" altLang="ko-KR" dirty="0">
                <a:latin typeface="fkGroteskNeue"/>
              </a:rPr>
              <a:t>LLM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클라우드 인프라</a:t>
            </a:r>
            <a:r>
              <a:rPr lang="en-US" altLang="ko-KR" b="0" i="0" dirty="0">
                <a:effectLst/>
                <a:latin typeface="fkGroteskNeue"/>
              </a:rPr>
              <a:t>: </a:t>
            </a:r>
            <a:r>
              <a:rPr lang="ko-KR" altLang="en-US" b="0" i="0" dirty="0">
                <a:effectLst/>
                <a:latin typeface="fkGroteskNeue"/>
              </a:rPr>
              <a:t>확장 가능한 서버 및 데이터 저장소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ko-KR" altLang="en-US" b="0" i="0" dirty="0">
              <a:effectLst/>
              <a:latin typeface="fkGroteskNeu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00306D-6B83-AE1B-CA7B-D86E4390FD3E}"/>
              </a:ext>
            </a:extLst>
          </p:cNvPr>
          <p:cNvSpPr txBox="1"/>
          <p:nvPr/>
        </p:nvSpPr>
        <p:spPr>
          <a:xfrm>
            <a:off x="4043363" y="2185989"/>
            <a:ext cx="29860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" altLang="ko-KR" b="0" i="0" dirty="0">
                <a:effectLst/>
                <a:latin typeface="fkGroteskNeue"/>
              </a:rPr>
              <a:t>AI </a:t>
            </a:r>
            <a:r>
              <a:rPr lang="ko-KR" altLang="en-US" b="0" i="0" dirty="0">
                <a:effectLst/>
                <a:latin typeface="fkGroteskNeue"/>
              </a:rPr>
              <a:t>에이전트 개발</a:t>
            </a:r>
            <a:r>
              <a:rPr lang="en-US" altLang="ko-KR" b="0" i="0" dirty="0">
                <a:effectLst/>
                <a:latin typeface="fkGroteskNeue"/>
              </a:rPr>
              <a:t>: </a:t>
            </a:r>
            <a:r>
              <a:rPr lang="ko-KR" altLang="en-US" b="0" i="0" dirty="0">
                <a:effectLst/>
                <a:latin typeface="fkGroteskNeue"/>
              </a:rPr>
              <a:t>출장 자동화 인공지능 개발 및 고도화</a:t>
            </a:r>
            <a:r>
              <a:rPr lang="en-US" altLang="ko-KR" b="0" i="0" u="none" strike="noStrike" dirty="0">
                <a:effectLst/>
                <a:latin typeface="berkeleyMono"/>
                <a:hlinkClick r:id="rId4"/>
              </a:rPr>
              <a:t>3</a:t>
            </a:r>
            <a:endParaRPr lang="ko-KR" alt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플랫폼 유지보수</a:t>
            </a:r>
            <a:r>
              <a:rPr lang="en-US" altLang="ko-KR" b="0" i="0" dirty="0">
                <a:effectLst/>
                <a:latin typeface="fkGroteskNeue"/>
              </a:rPr>
              <a:t>: </a:t>
            </a:r>
            <a:r>
              <a:rPr lang="ko-KR" altLang="en-US" b="0" i="0" dirty="0">
                <a:effectLst/>
                <a:latin typeface="fkGroteskNeue"/>
              </a:rPr>
              <a:t>시스템 안정성 및 보안 유지</a:t>
            </a:r>
          </a:p>
          <a:p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61C827-3542-E8C6-051A-9F35FB05B833}"/>
              </a:ext>
            </a:extLst>
          </p:cNvPr>
          <p:cNvSpPr txBox="1"/>
          <p:nvPr/>
        </p:nvSpPr>
        <p:spPr>
          <a:xfrm>
            <a:off x="942975" y="2486025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개발팀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301145-AD6D-21A4-F8D6-BAFE230583F0}"/>
              </a:ext>
            </a:extLst>
          </p:cNvPr>
          <p:cNvSpPr txBox="1"/>
          <p:nvPr/>
        </p:nvSpPr>
        <p:spPr>
          <a:xfrm>
            <a:off x="985838" y="7500938"/>
            <a:ext cx="6800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>
                <a:effectLst/>
                <a:latin typeface="fkGroteskNeue"/>
              </a:rPr>
              <a:t>클라우드 서버 및 인프라 비용</a:t>
            </a:r>
            <a:r>
              <a:rPr lang="en-US" altLang="ko-KR" b="0" i="0" dirty="0">
                <a:effectLst/>
                <a:latin typeface="fkGroteskNeue"/>
              </a:rPr>
              <a:t>: </a:t>
            </a:r>
            <a:r>
              <a:rPr lang="ko-KR" altLang="en-US" b="0" i="0" dirty="0">
                <a:effectLst/>
                <a:latin typeface="fkGroteskNeue"/>
              </a:rPr>
              <a:t>서비스 운영을 위한 클라우드 비용</a:t>
            </a:r>
          </a:p>
          <a:p>
            <a:r>
              <a:rPr lang="ko-KR" altLang="en-US" b="0" i="0" dirty="0">
                <a:effectLst/>
                <a:latin typeface="fkGroteskNeue"/>
              </a:rPr>
              <a:t>마케팅 및 영업 비용</a:t>
            </a:r>
            <a:r>
              <a:rPr lang="en-US" altLang="ko-KR" b="0" i="0" dirty="0">
                <a:effectLst/>
                <a:latin typeface="fkGroteskNeue"/>
              </a:rPr>
              <a:t>: </a:t>
            </a:r>
            <a:r>
              <a:rPr lang="ko-KR" altLang="en-US" b="0" i="0">
                <a:effectLst/>
                <a:latin typeface="fkGroteskNeue"/>
              </a:rPr>
              <a:t>기업 고객 확보를 위한 마케팅 활동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190</Words>
  <Application>Microsoft Macintosh PowerPoint</Application>
  <PresentationFormat>사용자 지정</PresentationFormat>
  <Paragraphs>23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berkeleyMono</vt:lpstr>
      <vt:lpstr>fkGroteskNeue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최명재</cp:lastModifiedBy>
  <cp:revision>2</cp:revision>
  <dcterms:created xsi:type="dcterms:W3CDTF">2025-04-27T10:44:52Z</dcterms:created>
  <dcterms:modified xsi:type="dcterms:W3CDTF">2025-05-08T06:53:16Z</dcterms:modified>
</cp:coreProperties>
</file>