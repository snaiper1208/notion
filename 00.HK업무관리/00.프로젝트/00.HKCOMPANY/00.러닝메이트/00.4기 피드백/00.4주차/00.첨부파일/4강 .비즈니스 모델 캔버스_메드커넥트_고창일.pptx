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91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7BCD15-FFF4-3581-2E07-786862972F8C}"/>
              </a:ext>
            </a:extLst>
          </p:cNvPr>
          <p:cNvSpPr txBox="1"/>
          <p:nvPr/>
        </p:nvSpPr>
        <p:spPr>
          <a:xfrm>
            <a:off x="13953867" y="1894873"/>
            <a:ext cx="291310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미국</a:t>
            </a:r>
            <a:r>
              <a:rPr lang="en-US" altLang="ko-KR" sz="1400" dirty="0"/>
              <a:t>, </a:t>
            </a:r>
            <a:r>
              <a:rPr lang="ko-KR" altLang="en-US" sz="1400" dirty="0"/>
              <a:t>호주 등 해외 안경점 </a:t>
            </a:r>
            <a:r>
              <a:rPr lang="en-US" altLang="ko-KR" sz="1400" dirty="0"/>
              <a:t>(</a:t>
            </a:r>
            <a:r>
              <a:rPr lang="ko-KR" altLang="en-US" sz="1400" dirty="0"/>
              <a:t>한인 안경원 및 로컬 안경점 포함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소규모 렌즈 가공이 어려운 안경 매장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6ED3C-4596-41B0-D9DD-9612B0ECB2E6}"/>
              </a:ext>
            </a:extLst>
          </p:cNvPr>
          <p:cNvSpPr txBox="1"/>
          <p:nvPr/>
        </p:nvSpPr>
        <p:spPr>
          <a:xfrm>
            <a:off x="7268863" y="2028221"/>
            <a:ext cx="302431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한국산 고품질 맞춤 렌즈를 저렴한 가격에 신속하게 공급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 AI </a:t>
            </a:r>
            <a:r>
              <a:rPr lang="ko-KR" altLang="en-US" sz="1400" dirty="0"/>
              <a:t>기반의 다국어 서비스로 언어 장벽 해소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수출</a:t>
            </a:r>
            <a:r>
              <a:rPr lang="en-US" altLang="ko-KR" sz="1400" dirty="0"/>
              <a:t>·</a:t>
            </a:r>
            <a:r>
              <a:rPr lang="ko-KR" altLang="en-US" sz="1400" dirty="0"/>
              <a:t>통관</a:t>
            </a:r>
            <a:r>
              <a:rPr lang="en-US" altLang="ko-KR" sz="1400" dirty="0"/>
              <a:t>·</a:t>
            </a:r>
            <a:r>
              <a:rPr lang="ko-KR" altLang="en-US" sz="1400" dirty="0"/>
              <a:t>결제까지 통합된 주문관리 서비스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AI </a:t>
            </a:r>
            <a:r>
              <a:rPr lang="ko-KR" altLang="en-US" sz="1400" dirty="0"/>
              <a:t>기반의 편리한 맞춤 주문서 기능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1B3FB-243A-FCDA-166E-AC838FCBFD68}"/>
              </a:ext>
            </a:extLst>
          </p:cNvPr>
          <p:cNvSpPr txBox="1"/>
          <p:nvPr/>
        </p:nvSpPr>
        <p:spPr>
          <a:xfrm>
            <a:off x="10574296" y="4297834"/>
            <a:ext cx="2993423" cy="1673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 OPT CONNECT </a:t>
            </a:r>
            <a:r>
              <a:rPr lang="ko-KR" altLang="en-US" sz="1400" dirty="0"/>
              <a:t>웹</a:t>
            </a:r>
            <a:r>
              <a:rPr lang="en-US" altLang="ko-KR" sz="1400" dirty="0"/>
              <a:t>/</a:t>
            </a:r>
            <a:r>
              <a:rPr lang="ko-KR" altLang="en-US" sz="1400" dirty="0"/>
              <a:t>모바일 플랫폼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현지 </a:t>
            </a:r>
            <a:r>
              <a:rPr lang="en-US" altLang="ko-KR" sz="1400" dirty="0"/>
              <a:t>B2B </a:t>
            </a:r>
            <a:r>
              <a:rPr lang="ko-KR" altLang="en-US" sz="1400" dirty="0"/>
              <a:t>세일즈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협력 </a:t>
            </a:r>
            <a:r>
              <a:rPr lang="ko-KR" altLang="en-US" sz="1400" dirty="0" err="1"/>
              <a:t>유통사</a:t>
            </a:r>
            <a:r>
              <a:rPr lang="ko-KR" altLang="en-US" sz="1400" dirty="0"/>
              <a:t> 네트워크 영업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임상 세미나</a:t>
            </a:r>
            <a:r>
              <a:rPr lang="en-US" altLang="ko-KR" sz="1400" dirty="0"/>
              <a:t>, SNS </a:t>
            </a:r>
            <a:r>
              <a:rPr lang="ko-KR" altLang="en-US" sz="1400" dirty="0"/>
              <a:t>광고</a:t>
            </a:r>
            <a:r>
              <a:rPr lang="en-US" altLang="ko-KR" sz="1400" dirty="0"/>
              <a:t>, </a:t>
            </a:r>
            <a:r>
              <a:rPr lang="ko-KR" altLang="en-US" sz="1400" dirty="0"/>
              <a:t>타겟 이메일 마케팅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3349B-9393-8708-A3F6-5BFE5E69EB0B}"/>
              </a:ext>
            </a:extLst>
          </p:cNvPr>
          <p:cNvSpPr txBox="1"/>
          <p:nvPr/>
        </p:nvSpPr>
        <p:spPr>
          <a:xfrm>
            <a:off x="10574295" y="1793532"/>
            <a:ext cx="2993423" cy="1349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고객 전담 </a:t>
            </a:r>
            <a:r>
              <a:rPr lang="en-US" altLang="ko-KR" sz="1400" dirty="0"/>
              <a:t>CS </a:t>
            </a:r>
            <a:r>
              <a:rPr lang="ko-KR" altLang="en-US" sz="1400" dirty="0"/>
              <a:t>매니저 배정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실시간 채팅 및 자동 번역 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상담주문 이력 기반 맞춤형 재구매 안내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4FD0CF-5681-DE68-62BB-31612CFD1721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1967081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8263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8D31FB1-0FD6-23C5-E091-1F5224347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094781"/>
              </p:ext>
            </p:extLst>
          </p:nvPr>
        </p:nvGraphicFramePr>
        <p:xfrm>
          <a:off x="9164251" y="6925996"/>
          <a:ext cx="6751251" cy="1336802"/>
        </p:xfrm>
        <a:graphic>
          <a:graphicData uri="http://schemas.openxmlformats.org/drawingml/2006/table">
            <a:tbl>
              <a:tblPr/>
              <a:tblGrid>
                <a:gridCol w="6751251">
                  <a:extLst>
                    <a:ext uri="{9D8B030D-6E8A-4147-A177-3AD203B41FA5}">
                      <a16:colId xmlns:a16="http://schemas.microsoft.com/office/drawing/2014/main" val="3841267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현지 판매가 대비 </a:t>
                      </a:r>
                      <a:r>
                        <a:rPr lang="en-US" altLang="ko-KR" sz="1400" dirty="0"/>
                        <a:t>40% </a:t>
                      </a:r>
                      <a:r>
                        <a:rPr lang="ko-KR" altLang="en-US" sz="1400" dirty="0"/>
                        <a:t>매출 </a:t>
                      </a:r>
                      <a:r>
                        <a:rPr lang="ko-KR" altLang="en-US" sz="1400" dirty="0" err="1"/>
                        <a:t>마진률</a:t>
                      </a:r>
                      <a:endParaRPr lang="en-US" altLang="ko-KR" sz="14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주문 건 별 </a:t>
                      </a:r>
                      <a:r>
                        <a:rPr lang="en-US" altLang="ko-KR" sz="1400" dirty="0"/>
                        <a:t>20%</a:t>
                      </a:r>
                      <a:r>
                        <a:rPr lang="ko-KR" altLang="en-US" sz="1400" dirty="0"/>
                        <a:t> 중개 수수료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공급업체 부담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긴급제작 서비스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고객 부담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신규 거래처 주문 우선 공급자 배치 서비스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공급업체 중 희망자 한하여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67375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868FA73-8C7F-C4D2-17FB-E8319CA287BB}"/>
              </a:ext>
            </a:extLst>
          </p:cNvPr>
          <p:cNvSpPr txBox="1"/>
          <p:nvPr/>
        </p:nvSpPr>
        <p:spPr>
          <a:xfrm>
            <a:off x="3926659" y="4474859"/>
            <a:ext cx="3129048" cy="102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플랫폼 개발 및 운영 인력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국내 렌즈 가공사 파트너 네트워크</a:t>
            </a:r>
            <a:r>
              <a:rPr lang="en-US" altLang="ko-KR" sz="14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AI </a:t>
            </a:r>
            <a:r>
              <a:rPr lang="ko-KR" altLang="en-US" sz="1400" dirty="0"/>
              <a:t>기반 번역 및 주문 자동화 엔진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42DEBF3-FEB0-6720-FA3C-C154CAEDD11C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3687477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10815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30300A3-7151-5B0B-2F19-FD8A448EC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13424"/>
              </p:ext>
            </p:extLst>
          </p:nvPr>
        </p:nvGraphicFramePr>
        <p:xfrm>
          <a:off x="3988445" y="2089149"/>
          <a:ext cx="3067262" cy="1016762"/>
        </p:xfrm>
        <a:graphic>
          <a:graphicData uri="http://schemas.openxmlformats.org/drawingml/2006/table">
            <a:tbl>
              <a:tblPr/>
              <a:tblGrid>
                <a:gridCol w="3067262">
                  <a:extLst>
                    <a:ext uri="{9D8B030D-6E8A-4147-A177-3AD203B41FA5}">
                      <a16:colId xmlns:a16="http://schemas.microsoft.com/office/drawing/2014/main" val="3583168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주문 자동화 시스템 개발 및 운영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해외 고객 영업 및 계약관리</a:t>
                      </a:r>
                      <a:endParaRPr lang="en-US" altLang="ko-KR" sz="14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dirty="0"/>
                        <a:t>FDA/</a:t>
                      </a:r>
                      <a:r>
                        <a:rPr lang="ko-KR" altLang="en-US" sz="1400" dirty="0"/>
                        <a:t>통관 대응 및 물류 </a:t>
                      </a:r>
                      <a:r>
                        <a:rPr lang="en-US" altLang="ko-KR" sz="1400" dirty="0"/>
                        <a:t>API </a:t>
                      </a:r>
                      <a:r>
                        <a:rPr lang="ko-KR" altLang="en-US" sz="1400" dirty="0"/>
                        <a:t>연동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823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E752B9C-93F9-B24E-F9F7-CEE096934CF3}"/>
              </a:ext>
            </a:extLst>
          </p:cNvPr>
          <p:cNvSpPr txBox="1"/>
          <p:nvPr/>
        </p:nvSpPr>
        <p:spPr>
          <a:xfrm>
            <a:off x="755619" y="2141094"/>
            <a:ext cx="3024316" cy="2319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국내 렌즈 가공업체 및 </a:t>
            </a:r>
            <a:r>
              <a:rPr lang="ko-KR" altLang="en-US" sz="1400" dirty="0" err="1"/>
              <a:t>안경사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안경광학과 교수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안경산업진흥원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특송사</a:t>
            </a:r>
            <a:r>
              <a:rPr lang="en-US" altLang="ko-KR" sz="1400" dirty="0"/>
              <a:t>(UPS, DHL, FedEx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PG</a:t>
            </a:r>
            <a:r>
              <a:rPr lang="ko-KR" altLang="en-US" sz="1400" dirty="0"/>
              <a:t>사 및 통관 대행 업체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해외 현지 </a:t>
            </a:r>
            <a:r>
              <a:rPr lang="ko-KR" altLang="en-US" sz="1400" dirty="0" err="1"/>
              <a:t>안경사</a:t>
            </a:r>
            <a:r>
              <a:rPr lang="ko-KR" altLang="en-US" sz="1400" dirty="0"/>
              <a:t> 학회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한인 </a:t>
            </a:r>
            <a:r>
              <a:rPr lang="ko-KR" altLang="en-US" sz="1400" dirty="0" err="1"/>
              <a:t>안경사</a:t>
            </a:r>
            <a:r>
              <a:rPr lang="ko-KR" altLang="en-US" sz="1400" dirty="0"/>
              <a:t> 협회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BBFE5AA-0D1C-990C-8B41-2DFD269C6A50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104764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12324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CFB501C-E186-34FE-FF39-7ADE52964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646482"/>
              </p:ext>
            </p:extLst>
          </p:nvPr>
        </p:nvGraphicFramePr>
        <p:xfrm>
          <a:off x="755619" y="7004961"/>
          <a:ext cx="7804686" cy="1336802"/>
        </p:xfrm>
        <a:graphic>
          <a:graphicData uri="http://schemas.openxmlformats.org/drawingml/2006/table">
            <a:tbl>
              <a:tblPr/>
              <a:tblGrid>
                <a:gridCol w="7804686">
                  <a:extLst>
                    <a:ext uri="{9D8B030D-6E8A-4147-A177-3AD203B41FA5}">
                      <a16:colId xmlns:a16="http://schemas.microsoft.com/office/drawing/2014/main" val="1886977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플랫폼 개발 및 유지보수 비용</a:t>
                      </a:r>
                      <a:endParaRPr lang="en-US" altLang="ko-KR" sz="14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해외 영업 인력 및 마케팅 비용</a:t>
                      </a:r>
                      <a:endParaRPr lang="en-US" altLang="ko-KR" sz="14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dirty="0"/>
                        <a:t>AI </a:t>
                      </a:r>
                      <a:r>
                        <a:rPr lang="ko-KR" altLang="en-US" sz="1400" dirty="0"/>
                        <a:t>번역 엔진 유지 및 고객지원 운영비</a:t>
                      </a:r>
                      <a:endParaRPr lang="en-US" altLang="ko-KR" sz="14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/>
                        <a:t>현지 법인설립 및 직접생산 설비 구축 비용</a:t>
                      </a:r>
                      <a:endParaRPr lang="en-US" altLang="ko-KR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4179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219</Words>
  <Application>Microsoft Office PowerPoint</Application>
  <PresentationFormat>사용자 지정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CHANGIL KO</cp:lastModifiedBy>
  <cp:revision>2</cp:revision>
  <dcterms:created xsi:type="dcterms:W3CDTF">2025-04-27T10:44:52Z</dcterms:created>
  <dcterms:modified xsi:type="dcterms:W3CDTF">2025-05-10T12:36:19Z</dcterms:modified>
</cp:coreProperties>
</file>