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autoCompressPictures="0">
  <p:sldMasterIdLst>
    <p:sldMasterId id="2147483648" r:id="rId1"/>
  </p:sldMasterIdLst>
  <p:notesMasterIdLst>
    <p:notesMasterId r:id="rId2"/>
  </p:notesMasterIdLst>
  <p:sldIdLst>
    <p:sldId id="256" r:id="rId3"/>
    <p:sldId id="259" r:id="rId4"/>
    <p:sldId id="260" r:id="rId5"/>
  </p:sldIdLst>
  <p:sldSz cx="17556480" cy="9875520"/>
  <p:notesSz cx="9875520" cy="1755648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prnPr scaleToFitPaper="1"/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216" y="312"/>
      </p:cViewPr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2" Type="http://schemas.openxmlformats.org/officeDocument/2006/relationships/notesMaster" Target="notesMasters/notesMaster1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presProps" Target="presProps.xml"  /><Relationship Id="rId7" Type="http://schemas.openxmlformats.org/officeDocument/2006/relationships/viewProps" Target="viewProps.xml"  /><Relationship Id="rId8" Type="http://schemas.openxmlformats.org/officeDocument/2006/relationships/theme" Target="theme/theme1.xml"  /><Relationship Id="rId9" Type="http://schemas.openxmlformats.org/officeDocument/2006/relationships/tableStyles" Target="tableStyles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lvl="0"/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lvl="0"/>
            <a:fld id="{5282F153-3F37-0F45-9E97-73ACFA13230C}" type="datetime1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lvl="0"/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2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3.xml" 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theme" Target="../theme/theme1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image" Target="../media/image1.png"  /><Relationship Id="rId2" Type="http://schemas.openxmlformats.org/officeDocument/2006/relationships/slideLayout" Target="../slideLayouts/slideLayout1.xml"  /><Relationship Id="rId3" Type="http://schemas.openxmlformats.org/officeDocument/2006/relationships/notesSlide" Target="../notesSlides/notesSlide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2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image" Target="../media/image3.png"  /><Relationship Id="rId2" Type="http://schemas.openxmlformats.org/officeDocument/2006/relationships/slideLayout" Target="../slideLayouts/slideLayout1.xml"  /><Relationship Id="rId3" Type="http://schemas.openxmlformats.org/officeDocument/2006/relationships/notesSlide" Target="../notesSlides/notesSlide3.xml" 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4" name="가로 글상자 3"/>
          <p:cNvSpPr txBox="1"/>
          <p:nvPr/>
        </p:nvSpPr>
        <p:spPr>
          <a:xfrm>
            <a:off x="13937616" y="1870998"/>
            <a:ext cx="2944090" cy="2279997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en-US" altLang="ko-KR"/>
              <a:t>-</a:t>
            </a:r>
            <a:r>
              <a:rPr lang="ko-KR" altLang="en-US"/>
              <a:t> 캐릭터에 관심이 많은 유아동</a:t>
            </a:r>
            <a:endParaRPr lang="ko-KR" altLang="en-US"/>
          </a:p>
          <a:p>
            <a:pPr lvl="0">
              <a:defRPr/>
            </a:pPr>
            <a:r>
              <a:rPr lang="en-US" altLang="ko-KR"/>
              <a:t>-</a:t>
            </a:r>
            <a:r>
              <a:rPr lang="ko-KR" altLang="en-US"/>
              <a:t> 가족과 피크닉을 즐기는 </a:t>
            </a:r>
            <a:r>
              <a:rPr lang="en-US" altLang="ko-KR"/>
              <a:t>30~40</a:t>
            </a:r>
            <a:r>
              <a:rPr lang="ko-KR" altLang="en-US"/>
              <a:t>대 남성</a:t>
            </a:r>
            <a:r>
              <a:rPr lang="en-US" altLang="ko-KR"/>
              <a:t>,</a:t>
            </a:r>
            <a:r>
              <a:rPr lang="ko-KR" altLang="en-US"/>
              <a:t> 여성</a:t>
            </a:r>
            <a:endParaRPr lang="ko-KR" altLang="en-US"/>
          </a:p>
          <a:p>
            <a:pPr lvl="0">
              <a:defRPr/>
            </a:pPr>
            <a:r>
              <a:rPr lang="en-US" altLang="ko-KR"/>
              <a:t>-</a:t>
            </a:r>
            <a:r>
              <a:rPr lang="ko-KR" altLang="en-US"/>
              <a:t> 물놀이 레져를 즐기는 </a:t>
            </a:r>
            <a:r>
              <a:rPr lang="en-US" altLang="ko-KR"/>
              <a:t>20~50</a:t>
            </a:r>
            <a:r>
              <a:rPr lang="ko-KR" altLang="en-US"/>
              <a:t>대 남녀</a:t>
            </a:r>
            <a:endParaRPr lang="ko-KR" altLang="en-US"/>
          </a:p>
          <a:p>
            <a:pPr lvl="0">
              <a:defRPr/>
            </a:pPr>
            <a:r>
              <a:rPr lang="en-US" altLang="ko-KR"/>
              <a:t>-</a:t>
            </a:r>
            <a:r>
              <a:rPr lang="ko-KR" altLang="en-US"/>
              <a:t> 개성을 표현하고 싶은 남녀 학생</a:t>
            </a:r>
            <a:endParaRPr lang="ko-KR" altLang="en-US"/>
          </a:p>
        </p:txBody>
      </p:sp>
      <p:sp>
        <p:nvSpPr>
          <p:cNvPr id="5" name="가로 글상자 4"/>
          <p:cNvSpPr txBox="1"/>
          <p:nvPr/>
        </p:nvSpPr>
        <p:spPr>
          <a:xfrm>
            <a:off x="7241252" y="1870998"/>
            <a:ext cx="2655456" cy="2556222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en-US" altLang="ko-KR"/>
              <a:t>-</a:t>
            </a:r>
            <a:r>
              <a:rPr lang="ko-KR" altLang="en-US"/>
              <a:t> 기존 클로그 보다 안정적인 착용이 가능한 기능성</a:t>
            </a:r>
            <a:endParaRPr lang="ko-KR" altLang="en-US"/>
          </a:p>
          <a:p>
            <a:pPr lvl="0">
              <a:defRPr/>
            </a:pPr>
            <a:r>
              <a:rPr lang="en-US" altLang="ko-KR"/>
              <a:t>-</a:t>
            </a:r>
            <a:r>
              <a:rPr lang="ko-KR" altLang="en-US"/>
              <a:t> 다이얼밴드로 기존 클로그와 차별되는 디자인</a:t>
            </a:r>
            <a:endParaRPr lang="ko-KR" altLang="en-US"/>
          </a:p>
          <a:p>
            <a:pPr lvl="0">
              <a:defRPr/>
            </a:pPr>
            <a:r>
              <a:rPr lang="en-US" altLang="ko-KR"/>
              <a:t>-</a:t>
            </a:r>
            <a:r>
              <a:rPr lang="ko-KR" altLang="en-US"/>
              <a:t> 다이얼 지비츠를 이용한 깔끔하고 고급스러운 신발 꾸미기</a:t>
            </a:r>
            <a:endParaRPr lang="ko-KR" altLang="en-US"/>
          </a:p>
        </p:txBody>
      </p:sp>
      <p:sp>
        <p:nvSpPr>
          <p:cNvPr id="6" name="가로 글상자 5"/>
          <p:cNvSpPr txBox="1"/>
          <p:nvPr/>
        </p:nvSpPr>
        <p:spPr>
          <a:xfrm>
            <a:off x="10618297" y="4309976"/>
            <a:ext cx="3001818" cy="1184044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en-US" altLang="ko-KR"/>
              <a:t>-</a:t>
            </a:r>
            <a:r>
              <a:rPr lang="ko-KR" altLang="en-US"/>
              <a:t> 쿠팡</a:t>
            </a:r>
            <a:r>
              <a:rPr lang="en-US" altLang="ko-KR"/>
              <a:t>,</a:t>
            </a:r>
            <a:r>
              <a:rPr lang="ko-KR" altLang="en-US"/>
              <a:t> 스마트스토어 등</a:t>
            </a:r>
            <a:endParaRPr lang="ko-KR" altLang="en-US"/>
          </a:p>
          <a:p>
            <a:pPr lvl="0">
              <a:defRPr/>
            </a:pPr>
            <a:r>
              <a:rPr lang="en-US" altLang="ko-KR"/>
              <a:t>-</a:t>
            </a:r>
            <a:r>
              <a:rPr lang="ko-KR" altLang="en-US"/>
              <a:t> 자체 온라인쇼핑몰</a:t>
            </a:r>
            <a:endParaRPr lang="ko-KR" altLang="en-US"/>
          </a:p>
          <a:p>
            <a:pPr lvl="0">
              <a:defRPr/>
            </a:pPr>
            <a:r>
              <a:rPr lang="en-US" altLang="ko-KR"/>
              <a:t>-</a:t>
            </a:r>
            <a:r>
              <a:rPr lang="ko-KR" altLang="en-US"/>
              <a:t> 자체 오프라인 직영 매장</a:t>
            </a:r>
            <a:endParaRPr lang="ko-KR" altLang="en-US"/>
          </a:p>
          <a:p>
            <a:pPr lvl="0">
              <a:defRPr/>
            </a:pPr>
            <a:r>
              <a:rPr lang="en-US" altLang="ko-KR"/>
              <a:t>-</a:t>
            </a:r>
            <a:r>
              <a:rPr lang="ko-KR" altLang="en-US"/>
              <a:t> 신발 유통판매 매장</a:t>
            </a:r>
            <a:endParaRPr lang="ko-KR" altLang="en-US"/>
          </a:p>
        </p:txBody>
      </p:sp>
      <p:sp>
        <p:nvSpPr>
          <p:cNvPr id="7" name="가로 글상자 6"/>
          <p:cNvSpPr txBox="1"/>
          <p:nvPr/>
        </p:nvSpPr>
        <p:spPr>
          <a:xfrm>
            <a:off x="10517274" y="1870997"/>
            <a:ext cx="2727614" cy="1460848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en-US" altLang="ko-KR"/>
              <a:t>-</a:t>
            </a:r>
            <a:r>
              <a:rPr lang="ko-KR" altLang="en-US"/>
              <a:t> 고객 콜센터</a:t>
            </a:r>
            <a:endParaRPr lang="ko-KR" altLang="en-US"/>
          </a:p>
          <a:p>
            <a:pPr lvl="0">
              <a:defRPr/>
            </a:pPr>
            <a:r>
              <a:rPr lang="en-US" altLang="ko-KR"/>
              <a:t>-</a:t>
            </a:r>
            <a:r>
              <a:rPr lang="ko-KR" altLang="en-US"/>
              <a:t> 온라인 고객 문의 게시판</a:t>
            </a:r>
            <a:endParaRPr lang="ko-KR" altLang="en-US"/>
          </a:p>
          <a:p>
            <a:pPr lvl="0">
              <a:defRPr/>
            </a:pPr>
            <a:r>
              <a:rPr lang="en-US" altLang="ko-KR"/>
              <a:t>-</a:t>
            </a:r>
            <a:r>
              <a:rPr lang="ko-KR" altLang="en-US"/>
              <a:t> 오프라인 매장 직접 응대</a:t>
            </a:r>
            <a:endParaRPr lang="ko-KR" altLang="en-US"/>
          </a:p>
        </p:txBody>
      </p:sp>
      <p:sp>
        <p:nvSpPr>
          <p:cNvPr id="8" name="가로 글상자 7"/>
          <p:cNvSpPr txBox="1"/>
          <p:nvPr/>
        </p:nvSpPr>
        <p:spPr>
          <a:xfrm>
            <a:off x="9131820" y="7008726"/>
            <a:ext cx="7749888" cy="637944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en-US" altLang="ko-KR"/>
              <a:t>-</a:t>
            </a:r>
            <a:r>
              <a:rPr lang="ko-KR" altLang="en-US"/>
              <a:t> 클로그 판매 수익</a:t>
            </a:r>
            <a:endParaRPr lang="ko-KR" altLang="en-US"/>
          </a:p>
          <a:p>
            <a:pPr lvl="0">
              <a:defRPr/>
            </a:pPr>
            <a:r>
              <a:rPr lang="en-US" altLang="ko-KR"/>
              <a:t>-</a:t>
            </a:r>
            <a:r>
              <a:rPr lang="ko-KR" altLang="en-US"/>
              <a:t> 다이얼지비츠 판매 수익</a:t>
            </a:r>
            <a:endParaRPr lang="ko-KR" altLang="en-US"/>
          </a:p>
        </p:txBody>
      </p:sp>
      <p:sp>
        <p:nvSpPr>
          <p:cNvPr id="9" name="가로 글상자 8"/>
          <p:cNvSpPr txBox="1"/>
          <p:nvPr/>
        </p:nvSpPr>
        <p:spPr>
          <a:xfrm>
            <a:off x="3979661" y="4309976"/>
            <a:ext cx="2814204" cy="2555644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en-US" altLang="ko-KR"/>
              <a:t>-</a:t>
            </a:r>
            <a:r>
              <a:rPr lang="ko-KR" altLang="en-US"/>
              <a:t> 지식재산권</a:t>
            </a:r>
            <a:r>
              <a:rPr lang="en-US" altLang="ko-KR"/>
              <a:t>(</a:t>
            </a:r>
            <a:r>
              <a:rPr lang="ko-KR" altLang="en-US"/>
              <a:t>다이얼밴드</a:t>
            </a:r>
            <a:r>
              <a:rPr lang="en-US" altLang="ko-KR"/>
              <a:t>,</a:t>
            </a:r>
            <a:r>
              <a:rPr lang="ko-KR" altLang="en-US"/>
              <a:t> 다이얼 지비츠 관련 특허권</a:t>
            </a:r>
            <a:r>
              <a:rPr lang="en-US" altLang="ko-KR"/>
              <a:t>,</a:t>
            </a:r>
            <a:r>
              <a:rPr lang="ko-KR" altLang="en-US"/>
              <a:t> 클로그 관련 디자인권</a:t>
            </a:r>
            <a:r>
              <a:rPr lang="en-US" altLang="ko-KR"/>
              <a:t>)</a:t>
            </a:r>
            <a:endParaRPr lang="en-US" altLang="ko-KR"/>
          </a:p>
          <a:p>
            <a:pPr lvl="0">
              <a:defRPr/>
            </a:pPr>
            <a:r>
              <a:rPr lang="en-US" altLang="ko-KR"/>
              <a:t>-</a:t>
            </a:r>
            <a:r>
              <a:rPr lang="ko-KR" altLang="en-US"/>
              <a:t> 건물</a:t>
            </a:r>
            <a:r>
              <a:rPr lang="en-US" altLang="ko-KR"/>
              <a:t>(</a:t>
            </a:r>
            <a:r>
              <a:rPr lang="ko-KR" altLang="en-US"/>
              <a:t>본사 사무실</a:t>
            </a:r>
            <a:r>
              <a:rPr lang="en-US" altLang="ko-KR"/>
              <a:t>,</a:t>
            </a:r>
            <a:r>
              <a:rPr lang="ko-KR" altLang="en-US"/>
              <a:t> 제조 공장</a:t>
            </a:r>
            <a:r>
              <a:rPr lang="en-US" altLang="ko-KR"/>
              <a:t>,</a:t>
            </a:r>
            <a:r>
              <a:rPr lang="ko-KR" altLang="en-US"/>
              <a:t> 오프라인 매장 등</a:t>
            </a:r>
            <a:r>
              <a:rPr lang="en-US" altLang="ko-KR"/>
              <a:t>)</a:t>
            </a:r>
            <a:endParaRPr lang="en-US" altLang="ko-KR"/>
          </a:p>
          <a:p>
            <a:pPr lvl="0">
              <a:defRPr/>
            </a:pPr>
            <a:r>
              <a:rPr lang="en-US" altLang="ko-KR"/>
              <a:t>-</a:t>
            </a:r>
            <a:r>
              <a:rPr lang="ko-KR" altLang="en-US"/>
              <a:t> 핵심 인력</a:t>
            </a:r>
            <a:r>
              <a:rPr lang="en-US" altLang="ko-KR"/>
              <a:t>(</a:t>
            </a:r>
            <a:r>
              <a:rPr lang="ko-KR" altLang="en-US"/>
              <a:t>디자인</a:t>
            </a:r>
            <a:r>
              <a:rPr lang="en-US" altLang="ko-KR"/>
              <a:t>,</a:t>
            </a:r>
            <a:r>
              <a:rPr lang="ko-KR" altLang="en-US"/>
              <a:t>제품개발</a:t>
            </a:r>
            <a:r>
              <a:rPr lang="en-US" altLang="ko-KR"/>
              <a:t>,</a:t>
            </a:r>
            <a:r>
              <a:rPr lang="ko-KR" altLang="en-US"/>
              <a:t> 마케팅 부서 등</a:t>
            </a:r>
            <a:r>
              <a:rPr lang="en-US" altLang="ko-KR"/>
              <a:t>)</a:t>
            </a:r>
            <a:endParaRPr lang="en-US" altLang="ko-KR"/>
          </a:p>
        </p:txBody>
      </p:sp>
      <p:sp>
        <p:nvSpPr>
          <p:cNvPr id="10" name="가로 글상자 9"/>
          <p:cNvSpPr txBox="1"/>
          <p:nvPr/>
        </p:nvSpPr>
        <p:spPr>
          <a:xfrm>
            <a:off x="3979660" y="1870998"/>
            <a:ext cx="3117273" cy="1737072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en-US" altLang="ko-KR"/>
              <a:t>-</a:t>
            </a:r>
            <a:r>
              <a:rPr lang="ko-KR" altLang="en-US"/>
              <a:t> 클로그 디자인 개발</a:t>
            </a:r>
            <a:endParaRPr lang="ko-KR" altLang="en-US"/>
          </a:p>
          <a:p>
            <a:pPr lvl="0">
              <a:defRPr/>
            </a:pPr>
            <a:r>
              <a:rPr lang="en-US" altLang="ko-KR"/>
              <a:t>-</a:t>
            </a:r>
            <a:r>
              <a:rPr lang="ko-KR" altLang="en-US"/>
              <a:t> 다이얼 지비츠 디자인 개발</a:t>
            </a:r>
            <a:endParaRPr lang="ko-KR" altLang="en-US"/>
          </a:p>
          <a:p>
            <a:pPr lvl="0">
              <a:defRPr/>
            </a:pPr>
            <a:r>
              <a:rPr lang="en-US" altLang="ko-KR"/>
              <a:t>-</a:t>
            </a:r>
            <a:r>
              <a:rPr lang="ko-KR" altLang="en-US"/>
              <a:t> 생산 제품 관리</a:t>
            </a:r>
            <a:endParaRPr lang="ko-KR" altLang="en-US"/>
          </a:p>
          <a:p>
            <a:pPr lvl="0">
              <a:defRPr/>
            </a:pPr>
            <a:r>
              <a:rPr lang="en-US" altLang="ko-KR"/>
              <a:t>-</a:t>
            </a:r>
            <a:r>
              <a:rPr lang="ko-KR" altLang="en-US"/>
              <a:t> 전략적 특허관리</a:t>
            </a:r>
            <a:endParaRPr lang="ko-KR" altLang="en-US"/>
          </a:p>
          <a:p>
            <a:pPr lvl="0">
              <a:defRPr/>
            </a:pPr>
            <a:r>
              <a:rPr lang="en-US" altLang="ko-KR"/>
              <a:t>-</a:t>
            </a:r>
            <a:r>
              <a:rPr lang="ko-KR" altLang="en-US"/>
              <a:t> 신제품 개발</a:t>
            </a:r>
            <a:endParaRPr lang="ko-KR" altLang="en-US"/>
          </a:p>
          <a:p>
            <a:pPr lvl="0">
              <a:defRPr/>
            </a:pPr>
            <a:r>
              <a:rPr lang="en-US" altLang="ko-KR"/>
              <a:t>-</a:t>
            </a:r>
            <a:r>
              <a:rPr lang="ko-KR" altLang="en-US"/>
              <a:t> 오프라인 매장 관리</a:t>
            </a:r>
            <a:endParaRPr lang="ko-KR" altLang="en-US"/>
          </a:p>
        </p:txBody>
      </p:sp>
      <p:sp>
        <p:nvSpPr>
          <p:cNvPr id="11" name="가로 글상자 10"/>
          <p:cNvSpPr txBox="1"/>
          <p:nvPr/>
        </p:nvSpPr>
        <p:spPr>
          <a:xfrm>
            <a:off x="718069" y="1870998"/>
            <a:ext cx="3059546" cy="1737072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en-US" altLang="ko-KR"/>
              <a:t>-</a:t>
            </a:r>
            <a:r>
              <a:rPr lang="ko-KR" altLang="en-US"/>
              <a:t> 자재 공급업체</a:t>
            </a:r>
            <a:endParaRPr lang="ko-KR" altLang="en-US"/>
          </a:p>
          <a:p>
            <a:pPr lvl="0">
              <a:defRPr/>
            </a:pPr>
            <a:r>
              <a:rPr lang="en-US" altLang="ko-KR"/>
              <a:t>-</a:t>
            </a:r>
            <a:r>
              <a:rPr lang="ko-KR" altLang="en-US"/>
              <a:t> 물류업체</a:t>
            </a:r>
            <a:endParaRPr lang="ko-KR" altLang="en-US"/>
          </a:p>
          <a:p>
            <a:pPr lvl="0">
              <a:defRPr/>
            </a:pPr>
            <a:r>
              <a:rPr lang="en-US" altLang="ko-KR"/>
              <a:t>-</a:t>
            </a:r>
            <a:r>
              <a:rPr lang="ko-KR" altLang="en-US"/>
              <a:t> 유통업체</a:t>
            </a:r>
            <a:r>
              <a:rPr lang="en-US" altLang="ko-KR"/>
              <a:t>,</a:t>
            </a:r>
            <a:r>
              <a:rPr lang="ko-KR" altLang="en-US"/>
              <a:t> 위탁판매 채널</a:t>
            </a:r>
            <a:endParaRPr lang="ko-KR" altLang="en-US"/>
          </a:p>
          <a:p>
            <a:pPr lvl="0">
              <a:defRPr/>
            </a:pPr>
            <a:r>
              <a:rPr lang="en-US" altLang="ko-KR"/>
              <a:t>-</a:t>
            </a:r>
            <a:r>
              <a:rPr lang="ko-KR" altLang="en-US"/>
              <a:t> 마케팅업체</a:t>
            </a:r>
            <a:endParaRPr lang="ko-KR" altLang="en-US"/>
          </a:p>
          <a:p>
            <a:pPr lvl="0">
              <a:defRPr/>
            </a:pPr>
            <a:r>
              <a:rPr lang="en-US" altLang="ko-KR"/>
              <a:t>-</a:t>
            </a:r>
            <a:r>
              <a:rPr lang="ko-KR" altLang="en-US"/>
              <a:t> 캐릭터 콘텐츠업체</a:t>
            </a:r>
            <a:endParaRPr lang="ko-KR" altLang="en-US"/>
          </a:p>
          <a:p>
            <a:pPr lvl="0">
              <a:defRPr/>
            </a:pPr>
            <a:r>
              <a:rPr lang="en-US" altLang="ko-KR"/>
              <a:t>-</a:t>
            </a:r>
            <a:r>
              <a:rPr lang="ko-KR" altLang="en-US"/>
              <a:t> 특허법인</a:t>
            </a:r>
            <a:endParaRPr lang="ko-KR" altLang="en-US"/>
          </a:p>
        </p:txBody>
      </p:sp>
      <p:sp>
        <p:nvSpPr>
          <p:cNvPr id="12" name="가로 글상자 11"/>
          <p:cNvSpPr txBox="1"/>
          <p:nvPr/>
        </p:nvSpPr>
        <p:spPr>
          <a:xfrm>
            <a:off x="718069" y="7008726"/>
            <a:ext cx="7966364" cy="1457094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en-US" altLang="ko-KR"/>
              <a:t>-</a:t>
            </a:r>
            <a:r>
              <a:rPr lang="ko-KR" altLang="en-US"/>
              <a:t> 본사</a:t>
            </a:r>
            <a:r>
              <a:rPr lang="en-US" altLang="ko-KR"/>
              <a:t>,</a:t>
            </a:r>
            <a:r>
              <a:rPr lang="ko-KR" altLang="en-US"/>
              <a:t> 공장</a:t>
            </a:r>
            <a:r>
              <a:rPr lang="en-US" altLang="ko-KR"/>
              <a:t>,</a:t>
            </a:r>
            <a:r>
              <a:rPr lang="ko-KR" altLang="en-US"/>
              <a:t> 오프라인 매장 임대료</a:t>
            </a:r>
            <a:r>
              <a:rPr lang="en-US" altLang="ko-KR"/>
              <a:t>,</a:t>
            </a:r>
            <a:r>
              <a:rPr lang="ko-KR" altLang="en-US"/>
              <a:t> 인건비</a:t>
            </a:r>
            <a:endParaRPr lang="ko-KR" altLang="en-US"/>
          </a:p>
          <a:p>
            <a:pPr lvl="0">
              <a:defRPr/>
            </a:pPr>
            <a:r>
              <a:rPr lang="en-US" altLang="ko-KR"/>
              <a:t>-</a:t>
            </a:r>
            <a:r>
              <a:rPr lang="ko-KR" altLang="en-US"/>
              <a:t> 원자재</a:t>
            </a:r>
            <a:r>
              <a:rPr lang="en-US" altLang="ko-KR"/>
              <a:t>,</a:t>
            </a:r>
            <a:r>
              <a:rPr lang="ko-KR" altLang="en-US"/>
              <a:t> 공장 운영비</a:t>
            </a:r>
            <a:r>
              <a:rPr lang="en-US" altLang="ko-KR"/>
              <a:t>,</a:t>
            </a:r>
            <a:r>
              <a:rPr lang="ko-KR" altLang="en-US"/>
              <a:t> 위탁 판매채널 수수료</a:t>
            </a:r>
            <a:r>
              <a:rPr lang="en-US" altLang="ko-KR"/>
              <a:t>,</a:t>
            </a:r>
            <a:r>
              <a:rPr lang="ko-KR" altLang="en-US"/>
              <a:t> 온라인쇼핑몰 유지 관리비</a:t>
            </a:r>
            <a:r>
              <a:rPr lang="en-US" altLang="ko-KR"/>
              <a:t>,</a:t>
            </a:r>
            <a:r>
              <a:rPr lang="ko-KR" altLang="en-US"/>
              <a:t> 오프라인 매장 운영비 등</a:t>
            </a:r>
            <a:endParaRPr lang="ko-KR" altLang="en-US"/>
          </a:p>
          <a:p>
            <a:pPr lvl="0">
              <a:defRPr/>
            </a:pPr>
            <a:r>
              <a:rPr lang="en-US" altLang="ko-KR"/>
              <a:t>-</a:t>
            </a:r>
            <a:r>
              <a:rPr lang="ko-KR" altLang="en-US"/>
              <a:t> 마케팅비</a:t>
            </a:r>
            <a:r>
              <a:rPr lang="en-US" altLang="ko-KR"/>
              <a:t>(</a:t>
            </a:r>
            <a:r>
              <a:rPr lang="ko-KR" altLang="en-US"/>
              <a:t>각종 매체 광고비</a:t>
            </a:r>
            <a:r>
              <a:rPr lang="en-US" altLang="ko-KR"/>
              <a:t>,</a:t>
            </a:r>
            <a:r>
              <a:rPr lang="ko-KR" altLang="en-US"/>
              <a:t> 연애인 및 인플루언서 모델료 등</a:t>
            </a:r>
            <a:r>
              <a:rPr lang="en-US" altLang="ko-KR"/>
              <a:t>)</a:t>
            </a:r>
            <a:endParaRPr lang="en-US" altLang="ko-KR"/>
          </a:p>
          <a:p>
            <a:pPr lvl="0">
              <a:defRPr/>
            </a:pPr>
            <a:r>
              <a:rPr lang="en-US" altLang="ko-KR"/>
              <a:t>-</a:t>
            </a:r>
            <a:r>
              <a:rPr lang="ko-KR" altLang="en-US"/>
              <a:t> 지재권 관련</a:t>
            </a:r>
            <a:r>
              <a:rPr lang="en-US" altLang="ko-KR"/>
              <a:t>(</a:t>
            </a:r>
            <a:r>
              <a:rPr lang="ko-KR" altLang="en-US"/>
              <a:t>특허</a:t>
            </a:r>
            <a:r>
              <a:rPr lang="en-US" altLang="ko-KR"/>
              <a:t>,</a:t>
            </a:r>
            <a:r>
              <a:rPr lang="ko-KR" altLang="en-US"/>
              <a:t> 디자인 등 변리사 수임료</a:t>
            </a:r>
            <a:r>
              <a:rPr lang="en-US" altLang="ko-KR"/>
              <a:t>,</a:t>
            </a:r>
            <a:r>
              <a:rPr lang="ko-KR" altLang="en-US"/>
              <a:t> 캐릭터 저작권 사용료</a:t>
            </a:r>
            <a:r>
              <a:rPr lang="en-US" altLang="ko-KR"/>
              <a:t>)</a:t>
            </a:r>
            <a:endParaRPr lang="en-US" altLang="ko-K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>mangoboard.net</ep:Company>
  <ep:Words>159</ep:Words>
  <ep:PresentationFormat>On-screen Show (16:9)</ep:PresentationFormat>
  <ep:Paragraphs>35</ep:Paragraphs>
  <ep:Slides>3</ep:Slides>
  <ep:Notes>3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ep:HeadingPairs>
  <ep:TitlesOfParts>
    <vt:vector size="4" baseType="lpstr">
      <vt:lpstr>Office Theme</vt:lpstr>
      <vt:lpstr>슬라이드 1</vt:lpstr>
      <vt:lpstr>슬라이드 2</vt:lpstr>
      <vt:lpstr>슬라이드 3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2025-04-27T10:44:52.000</dcterms:created>
  <dc:creator>mangoboard.net_48059005</dc:creator>
  <cp:lastModifiedBy>A</cp:lastModifiedBy>
  <dcterms:modified xsi:type="dcterms:W3CDTF">2025-05-09T14:40:28.013</dcterms:modified>
  <cp:revision>10</cp:revision>
  <dc:subject>Presentation</dc:subject>
  <dc:title>러닝메이트 워크북v2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