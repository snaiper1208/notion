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40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474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9097C1-8035-B6A2-578C-817030F51E89}"/>
              </a:ext>
            </a:extLst>
          </p:cNvPr>
          <p:cNvSpPr txBox="1"/>
          <p:nvPr/>
        </p:nvSpPr>
        <p:spPr>
          <a:xfrm>
            <a:off x="14111786" y="2197289"/>
            <a:ext cx="2825086" cy="3358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 dirty="0" err="1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몰입독서자</a:t>
            </a:r>
            <a:r>
              <a:rPr kumimoji="1"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(</a:t>
            </a:r>
            <a:r>
              <a:rPr kumimoji="1" lang="ko-KR" altLang="en-US" sz="1600" b="1" dirty="0" err="1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텍스트힙</a:t>
            </a:r>
            <a:r>
              <a:rPr kumimoji="1"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성향</a:t>
            </a:r>
            <a:r>
              <a:rPr kumimoji="1"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연령대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: 25~39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세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(</a:t>
            </a:r>
            <a:r>
              <a:rPr lang="en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MZ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세대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소득수준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: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월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200~400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만 원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(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직장인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프리랜서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</a:p>
          <a:p>
            <a:pPr>
              <a:lnSpc>
                <a:spcPct val="200000"/>
              </a:lnSpc>
            </a:pPr>
            <a:r>
              <a:rPr kumimoji="1" lang="ko-KR" altLang="en-US" sz="1600" b="1" dirty="0" err="1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감성독서자</a:t>
            </a:r>
            <a:r>
              <a:rPr kumimoji="1"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(</a:t>
            </a:r>
            <a:r>
              <a:rPr kumimoji="1" lang="ko-KR" altLang="en-US" sz="1600" b="1" dirty="0" err="1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인플루언서</a:t>
            </a:r>
            <a:r>
              <a:rPr kumimoji="1"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주 사용 목적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: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감성적인 독서 연출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en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SNS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콘텐츠 생성</a:t>
            </a:r>
            <a:endParaRPr kumimoji="1" lang="en-US" altLang="ko-KR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학습</a:t>
            </a:r>
            <a:r>
              <a:rPr kumimoji="1"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/</a:t>
            </a:r>
            <a:r>
              <a:rPr kumimoji="1"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공부형 사용자</a:t>
            </a:r>
            <a:endParaRPr kumimoji="1" lang="en-US" altLang="ko-KR" sz="1600" b="1" dirty="0"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라이프스타일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: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공부 및 필사 중심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자격증 공부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시험 준비 중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(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필사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노트 필기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  <a:endParaRPr kumimoji="1" lang="ko-KR" altLang="en-US" sz="1200" dirty="0">
              <a:highlight>
                <a:srgbClr val="FFFF00"/>
              </a:highlight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C271A-05E3-7A5F-D5B2-8D39B1EA0B45}"/>
              </a:ext>
            </a:extLst>
          </p:cNvPr>
          <p:cNvSpPr txBox="1"/>
          <p:nvPr/>
        </p:nvSpPr>
        <p:spPr>
          <a:xfrm>
            <a:off x="7470624" y="1937981"/>
            <a:ext cx="2825086" cy="4128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인체공학적 설계</a:t>
            </a:r>
            <a:endParaRPr lang="en-US" altLang="ko-KR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오래 읽어도 편안하고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터치 없이 몰입을 유지하는 독서 경험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250000"/>
              </a:lnSpc>
            </a:pP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휴대성과 유연성</a:t>
            </a:r>
            <a:endParaRPr lang="en-US" altLang="ko-KR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언제 어디서나 편안하고 스마트하게 유지되는 독서라이프 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250000"/>
              </a:lnSpc>
            </a:pP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감성디자인</a:t>
            </a:r>
            <a:endParaRPr lang="en-US" altLang="ko-KR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책 읽는 공간을 아름답게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감성적으로 완성</a:t>
            </a:r>
            <a:endParaRPr kumimoji="1"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endParaRPr kumimoji="1" lang="ko-KR" altLang="en-US" sz="1200" b="1" dirty="0">
              <a:highlight>
                <a:srgbClr val="FFFF00"/>
              </a:highlight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E47B4-D425-7997-07A4-A6ECFA4C6375}"/>
              </a:ext>
            </a:extLst>
          </p:cNvPr>
          <p:cNvSpPr txBox="1"/>
          <p:nvPr/>
        </p:nvSpPr>
        <p:spPr>
          <a:xfrm>
            <a:off x="10711968" y="4435139"/>
            <a:ext cx="29658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인스타그램 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(</a:t>
            </a:r>
            <a:r>
              <a:rPr lang="ko-KR" altLang="en-US" sz="1600" b="1" dirty="0" err="1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북스타그램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)</a:t>
            </a:r>
          </a:p>
          <a:p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감성적 가치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+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실제 사용 장면</a:t>
            </a:r>
            <a:endParaRPr lang="en-US" altLang="ko-KR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유튜브 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(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리뷰 영상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)</a:t>
            </a:r>
          </a:p>
          <a:p>
            <a:r>
              <a:rPr kumimoji="1"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kumimoji="1"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기능 시각화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+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신뢰도 확보</a:t>
            </a:r>
            <a:endParaRPr lang="en-US" altLang="ko-KR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크라우드펀딩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(</a:t>
            </a:r>
            <a:r>
              <a:rPr lang="ko-KR" altLang="en-US" sz="1600" b="1" dirty="0" err="1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와디즈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)</a:t>
            </a:r>
          </a:p>
          <a:p>
            <a:r>
              <a:rPr kumimoji="1"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kumimoji="1"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2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혁신성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 강조 </a:t>
            </a:r>
            <a:r>
              <a:rPr lang="en-US" altLang="ko-KR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+ </a:t>
            </a:r>
            <a:r>
              <a:rPr lang="ko-KR" altLang="en-US" sz="1200" dirty="0">
                <a:latin typeface="NanumSquare" panose="020B0600000101010101" pitchFamily="34" charset="-127"/>
                <a:ea typeface="NanumSquare" panose="020B0600000101010101" pitchFamily="34" charset="-127"/>
              </a:rPr>
              <a:t>초기 반응 검증</a:t>
            </a:r>
            <a:endParaRPr kumimoji="1" lang="ko-KR" altLang="en-US" sz="12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AF652B-7A51-802A-FDAA-FAF063630B13}"/>
              </a:ext>
            </a:extLst>
          </p:cNvPr>
          <p:cNvSpPr txBox="1"/>
          <p:nvPr/>
        </p:nvSpPr>
        <p:spPr>
          <a:xfrm>
            <a:off x="10667092" y="1863025"/>
            <a:ext cx="2825086" cy="1164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몰입 독서 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챌린지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고객 인터뷰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en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SNS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감성 인증 이벤트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사용 팁 뉴스레터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신제품 테스트 초대</a:t>
            </a:r>
            <a:endParaRPr kumimoji="1" lang="ko-KR" altLang="en-US" sz="1600" dirty="0">
              <a:highlight>
                <a:srgbClr val="FFFF00"/>
              </a:highlight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42827-F132-8D8D-9369-04B03880A077}"/>
              </a:ext>
            </a:extLst>
          </p:cNvPr>
          <p:cNvSpPr txBox="1"/>
          <p:nvPr/>
        </p:nvSpPr>
        <p:spPr>
          <a:xfrm>
            <a:off x="9123528" y="7073062"/>
            <a:ext cx="7813344" cy="1210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제품 판매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프리미엄 독서대 본체 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+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반지형 컨트롤러 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+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액세서리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전용 거치대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구독 서비스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뉴스레터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+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몰입독서 커뮤니티 운영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B2B 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제휴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북카페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/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도서관 제휴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+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서점 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콜라보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굿즈</a:t>
            </a:r>
            <a:endParaRPr lang="ko-KR" altLang="en-US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CD47B8-CF6F-7C30-82C6-1BBFCB59541A}"/>
              </a:ext>
            </a:extLst>
          </p:cNvPr>
          <p:cNvSpPr txBox="1"/>
          <p:nvPr/>
        </p:nvSpPr>
        <p:spPr>
          <a:xfrm>
            <a:off x="4048836" y="4401241"/>
            <a:ext cx="2909996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설계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특허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상표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디자인 저작권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제조 파트너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창고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크라우드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펀딩</a:t>
            </a:r>
            <a:endParaRPr lang="ko-KR" altLang="en-US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4722BF-8FB5-DB5C-F87E-4A5B67E37A82}"/>
              </a:ext>
            </a:extLst>
          </p:cNvPr>
          <p:cNvSpPr txBox="1"/>
          <p:nvPr/>
        </p:nvSpPr>
        <p:spPr>
          <a:xfrm>
            <a:off x="4088575" y="1860397"/>
            <a:ext cx="2995816" cy="153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제품구현</a:t>
            </a:r>
            <a:endParaRPr lang="en-US" altLang="ko-KR" sz="1600" b="1" dirty="0"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기능적 완성도 및 내구성 확보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친환경 소재 사용 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-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감성적 디자인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92CB9C-2587-3D1F-978D-ED1CCB623974}"/>
              </a:ext>
            </a:extLst>
          </p:cNvPr>
          <p:cNvSpPr txBox="1"/>
          <p:nvPr/>
        </p:nvSpPr>
        <p:spPr>
          <a:xfrm>
            <a:off x="799317" y="1937981"/>
            <a:ext cx="2995816" cy="301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Bold" panose="020B0600000101010101" pitchFamily="34" charset="-127"/>
                <a:ea typeface="NanumSquare Bold" panose="020B0600000101010101" pitchFamily="34" charset="-127"/>
              </a:rPr>
              <a:t>소프트웨어 개발 파트너</a:t>
            </a:r>
            <a:endParaRPr lang="en" altLang="ko-KR" sz="1600" b="1" dirty="0"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600" b="1" dirty="0">
                <a:latin typeface="NanumSquare Bold" panose="020B0600000101010101" pitchFamily="34" charset="-127"/>
                <a:ea typeface="NanumSquare Bold" panose="020B0600000101010101" pitchFamily="34" charset="-127"/>
              </a:rPr>
              <a:t>OEM/ODM </a:t>
            </a:r>
            <a:r>
              <a:rPr lang="ko-KR" altLang="en-US" sz="1600" b="1" dirty="0">
                <a:latin typeface="NanumSquare Bold" panose="020B0600000101010101" pitchFamily="34" charset="-127"/>
                <a:ea typeface="NanumSquare Bold" panose="020B0600000101010101" pitchFamily="34" charset="-127"/>
              </a:rPr>
              <a:t>제조 파트너</a:t>
            </a:r>
            <a:endParaRPr lang="en-US" altLang="ko-KR" sz="1600" b="1" dirty="0"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Bold" panose="020B0600000101010101" pitchFamily="34" charset="-127"/>
                <a:ea typeface="NanumSquare Bold" panose="020B0600000101010101" pitchFamily="34" charset="-127"/>
              </a:rPr>
              <a:t>원자재 공급 파트너 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(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친환경 소재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latin typeface="NanumSquare Bold" panose="020B0600000101010101" pitchFamily="34" charset="-127"/>
                <a:ea typeface="NanumSquare Bold" panose="020B0600000101010101" pitchFamily="34" charset="-127"/>
              </a:rPr>
              <a:t>인플루언서</a:t>
            </a:r>
            <a:r>
              <a:rPr lang="ko-KR" altLang="en-US" sz="1600" b="1" dirty="0">
                <a:latin typeface="NanumSquare Bold" panose="020B0600000101010101" pitchFamily="34" charset="-127"/>
                <a:ea typeface="NanumSquare Bold" panose="020B0600000101010101" pitchFamily="34" charset="-127"/>
              </a:rPr>
              <a:t> 파트너 </a:t>
            </a:r>
            <a:endParaRPr lang="en-US" altLang="ko-KR" sz="1600" b="1" dirty="0"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(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북스타그램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북튜버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>
                <a:latin typeface="NanumSquare Bold" panose="020B0600000101010101" pitchFamily="34" charset="-127"/>
                <a:ea typeface="NanumSquare Bold" panose="020B0600000101010101" pitchFamily="34" charset="-127"/>
              </a:rPr>
              <a:t>크라우드펀딩</a:t>
            </a:r>
            <a:r>
              <a:rPr lang="ko-KR" altLang="en-US" sz="1600" b="1" dirty="0">
                <a:latin typeface="NanumSquare Bold" panose="020B0600000101010101" pitchFamily="34" charset="-127"/>
                <a:ea typeface="NanumSquare Bold" panose="020B0600000101010101" pitchFamily="34" charset="-127"/>
              </a:rPr>
              <a:t> 플랫폼 </a:t>
            </a:r>
            <a:endParaRPr lang="en-US" altLang="ko-KR" sz="1600" b="1" dirty="0"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(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와디즈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킥스타터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ko-KR" altLang="en-US" sz="1600" b="1" dirty="0"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269D72-E86C-C805-73D1-2ABF113148F8}"/>
              </a:ext>
            </a:extLst>
          </p:cNvPr>
          <p:cNvSpPr txBox="1"/>
          <p:nvPr/>
        </p:nvSpPr>
        <p:spPr>
          <a:xfrm>
            <a:off x="1021323" y="6953714"/>
            <a:ext cx="3718092" cy="1164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제품 개발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디자인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특허 출원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프로토타입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제조 및 공급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생산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품질 관리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포장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유통 및 판매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플랫폼 수수료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배송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E55F6C-4B98-6A9A-AFDA-9D72D582103F}"/>
              </a:ext>
            </a:extLst>
          </p:cNvPr>
          <p:cNvSpPr txBox="1"/>
          <p:nvPr/>
        </p:nvSpPr>
        <p:spPr>
          <a:xfrm>
            <a:off x="4739415" y="6953714"/>
            <a:ext cx="3718092" cy="1164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운영 관리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인건비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임대료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법무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마케팅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en-US" altLang="ko-KR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sns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광고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600" dirty="0" err="1">
                <a:latin typeface="NanumSquare" panose="020B0600000101010101" pitchFamily="34" charset="-127"/>
                <a:ea typeface="NanumSquare" panose="020B0600000101010101" pitchFamily="34" charset="-127"/>
              </a:rPr>
              <a:t>인플루언서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협업</a:t>
            </a:r>
            <a:endParaRPr lang="en-US" altLang="ko-KR" sz="16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고객 서비스</a:t>
            </a:r>
            <a:r>
              <a:rPr lang="en-US" alt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</a:t>
            </a:r>
            <a:r>
              <a:rPr lang="ko-KR" altLang="en-US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뉴스레터</a:t>
            </a:r>
            <a:r>
              <a:rPr lang="en-US" altLang="ko-KR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,</a:t>
            </a:r>
            <a:r>
              <a:rPr lang="ko-KR" altLang="en-US" sz="1600" dirty="0">
                <a:latin typeface="NanumSquare" panose="020B0600000101010101" pitchFamily="34" charset="-127"/>
                <a:ea typeface="NanumSquare" panose="020B0600000101010101" pitchFamily="34" charset="-127"/>
              </a:rPr>
              <a:t> 고객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289</Words>
  <Application>Microsoft Macintosh PowerPoint</Application>
  <PresentationFormat>사용자 지정</PresentationFormat>
  <Paragraphs>44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NanumSquare</vt:lpstr>
      <vt:lpstr>NanumSquare Bold</vt:lpstr>
      <vt:lpstr>NanumSquare ExtraBold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hannah son</cp:lastModifiedBy>
  <cp:revision>2</cp:revision>
  <dcterms:created xsi:type="dcterms:W3CDTF">2025-04-27T10:44:52Z</dcterms:created>
  <dcterms:modified xsi:type="dcterms:W3CDTF">2025-05-10T12:03:06Z</dcterms:modified>
</cp:coreProperties>
</file>